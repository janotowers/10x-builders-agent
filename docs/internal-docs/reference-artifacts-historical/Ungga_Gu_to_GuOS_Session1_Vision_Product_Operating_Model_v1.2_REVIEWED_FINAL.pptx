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78" r:id="rId2"/>
    <p:sldId id="257" r:id="rId3"/>
    <p:sldId id="258" r:id="rId4"/>
    <p:sldId id="256" r:id="rId5"/>
    <p:sldId id="281" r:id="rId6"/>
    <p:sldId id="260" r:id="rId7"/>
    <p:sldId id="261" r:id="rId8"/>
    <p:sldId id="262" r:id="rId9"/>
    <p:sldId id="279" r:id="rId10"/>
    <p:sldId id="283" r:id="rId11"/>
    <p:sldId id="284" r:id="rId12"/>
    <p:sldId id="285" r:id="rId13"/>
    <p:sldId id="268" r:id="rId14"/>
    <p:sldId id="266" r:id="rId15"/>
    <p:sldId id="267" r:id="rId16"/>
    <p:sldId id="286" r:id="rId17"/>
    <p:sldId id="270" r:id="rId18"/>
    <p:sldId id="287" r:id="rId19"/>
    <p:sldId id="271" r:id="rId20"/>
    <p:sldId id="272" r:id="rId21"/>
    <p:sldId id="273" r:id="rId22"/>
    <p:sldId id="288" r:id="rId23"/>
    <p:sldId id="275" r:id="rId24"/>
    <p:sldId id="276" r:id="rId25"/>
    <p:sldId id="277" r:id="rId26"/>
    <p:sldId id="269" r:id="rId27"/>
  </p:sldIdLst>
  <p:sldSz cx="12192000" cy="6858000"/>
  <p:notesSz cx="6858000" cy="12192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2CCB"/>
    <a:srgbClr val="746F93"/>
    <a:srgbClr val="CC99FF"/>
    <a:srgbClr val="99FFCC"/>
    <a:srgbClr val="CCECFF"/>
    <a:srgbClr val="9A4D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730" autoAdjust="0"/>
  </p:normalViewPr>
  <p:slideViewPr>
    <p:cSldViewPr snapToGrid="0">
      <p:cViewPr varScale="1">
        <p:scale>
          <a:sx n="83" d="100"/>
          <a:sy n="83" d="100"/>
        </p:scale>
        <p:origin x="851" y="60"/>
      </p:cViewPr>
      <p:guideLst/>
    </p:cSldViewPr>
  </p:slideViewPr>
  <p:notesTextViewPr>
    <p:cViewPr>
      <p:scale>
        <a:sx n="1" d="1"/>
        <a:sy n="1" d="1"/>
      </p:scale>
      <p:origin x="0" y="0"/>
    </p:cViewPr>
  </p:notesTextViewPr>
  <p:sorterViewPr>
    <p:cViewPr>
      <p:scale>
        <a:sx n="100" d="100"/>
        <a:sy n="100" d="100"/>
      </p:scale>
      <p:origin x="0" y="-179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Aptos"/>
              </a:rPr>
              <a:t>Click to move the slide</a:t>
            </a: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43F3A9F3-843A-4B2A-9A9E-4B2DD53A41DA}" type="slidenum">
              <a:rPr lang="en-US" sz="1400" b="0" u="none" strike="noStrike">
                <a:solidFill>
                  <a:srgbClr val="000000"/>
                </a:solidFill>
                <a:effectLst/>
                <a:uFillTx/>
                <a:latin typeface="Times New Roman"/>
              </a:rPr>
              <a:t>‹Nº›</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5459F-DC8B-F635-B56A-FA046FBA9E9F}"/>
            </a:ext>
          </a:extLst>
        </p:cNvPr>
        <p:cNvGrpSpPr/>
        <p:nvPr/>
      </p:nvGrpSpPr>
      <p:grpSpPr>
        <a:xfrm>
          <a:off x="0" y="0"/>
          <a:ext cx="0" cy="0"/>
          <a:chOff x="0" y="0"/>
          <a:chExt cx="0" cy="0"/>
        </a:xfrm>
      </p:grpSpPr>
      <p:sp>
        <p:nvSpPr>
          <p:cNvPr id="660" name="PlaceHolder 1">
            <a:extLst>
              <a:ext uri="{FF2B5EF4-FFF2-40B4-BE49-F238E27FC236}">
                <a16:creationId xmlns:a16="http://schemas.microsoft.com/office/drawing/2014/main" id="{A4A0B371-7A77-AAA8-25CD-5CA1A81D4572}"/>
              </a:ext>
            </a:extLst>
          </p:cNvPr>
          <p:cNvSpPr>
            <a:spLocks noGrp="1" noRot="1" noChangeAspect="1"/>
          </p:cNvSpPr>
          <p:nvPr>
            <p:ph type="sldImg"/>
          </p:nvPr>
        </p:nvSpPr>
        <p:spPr>
          <a:xfrm>
            <a:off x="685800" y="1143000"/>
            <a:ext cx="5486400" cy="3086100"/>
          </a:xfrm>
          <a:prstGeom prst="rect">
            <a:avLst/>
          </a:prstGeom>
          <a:ln w="0">
            <a:noFill/>
          </a:ln>
        </p:spPr>
      </p:sp>
      <p:sp>
        <p:nvSpPr>
          <p:cNvPr id="661" name="PlaceHolder 2">
            <a:extLst>
              <a:ext uri="{FF2B5EF4-FFF2-40B4-BE49-F238E27FC236}">
                <a16:creationId xmlns:a16="http://schemas.microsoft.com/office/drawing/2014/main" id="{EEFDB51C-38E5-5CBC-4D32-211F92D90DD7}"/>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dirty="0">
                <a:solidFill>
                  <a:srgbClr val="000000"/>
                </a:solidFill>
                <a:effectLst/>
                <a:uFillTx/>
                <a:latin typeface="Arial"/>
              </a:rPr>
              <a:t>Gu → Gu OS — Session 1</a:t>
            </a:r>
          </a:p>
          <a:p>
            <a:pPr indent="0">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err="1">
                <a:solidFill>
                  <a:srgbClr val="000000"/>
                </a:solidFill>
                <a:effectLst/>
                <a:uFillTx/>
                <a:latin typeface="Arial"/>
              </a:rPr>
              <a:t>Abrir</a:t>
            </a:r>
            <a:r>
              <a:rPr lang="en-US" sz="2000" b="0" u="none" strike="noStrike" dirty="0">
                <a:solidFill>
                  <a:srgbClr val="000000"/>
                </a:solidFill>
                <a:effectLst/>
                <a:uFillTx/>
                <a:latin typeface="Arial"/>
              </a:rPr>
              <a:t> la </a:t>
            </a:r>
            <a:r>
              <a:rPr lang="en-US" sz="2000" b="0" u="none" strike="noStrike" dirty="0" err="1">
                <a:solidFill>
                  <a:srgbClr val="000000"/>
                </a:solidFill>
                <a:effectLst/>
                <a:uFillTx/>
                <a:latin typeface="Arial"/>
              </a:rPr>
              <a:t>sesión</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aclarando</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que</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ésta</a:t>
            </a:r>
            <a:r>
              <a:rPr lang="en-US" sz="2000" b="0" u="none" strike="noStrike" dirty="0">
                <a:solidFill>
                  <a:srgbClr val="000000"/>
                </a:solidFill>
                <a:effectLst/>
                <a:uFillTx/>
                <a:latin typeface="Arial"/>
              </a:rPr>
              <a:t> no es </a:t>
            </a:r>
            <a:r>
              <a:rPr lang="en-US" sz="2000" b="0" u="none" strike="noStrike" dirty="0" err="1">
                <a:solidFill>
                  <a:srgbClr val="000000"/>
                </a:solidFill>
                <a:effectLst/>
                <a:uFillTx/>
                <a:latin typeface="Arial"/>
              </a:rPr>
              <a:t>una</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sesión</a:t>
            </a:r>
            <a:r>
              <a:rPr lang="en-US" sz="2000" b="0" u="none" strike="noStrike" dirty="0">
                <a:solidFill>
                  <a:srgbClr val="000000"/>
                </a:solidFill>
                <a:effectLst/>
                <a:uFillTx/>
                <a:latin typeface="Arial"/>
              </a:rPr>
              <a:t> para </a:t>
            </a:r>
            <a:r>
              <a:rPr lang="en-US" sz="2000" b="0" u="none" strike="noStrike" dirty="0" err="1">
                <a:solidFill>
                  <a:srgbClr val="000000"/>
                </a:solidFill>
                <a:effectLst/>
                <a:uFillTx/>
                <a:latin typeface="Arial"/>
              </a:rPr>
              <a:t>aprobar</a:t>
            </a:r>
            <a:r>
              <a:rPr lang="en-US" sz="2000" b="0" u="none" strike="noStrike" dirty="0">
                <a:solidFill>
                  <a:srgbClr val="000000"/>
                </a:solidFill>
                <a:effectLst/>
                <a:uFillTx/>
                <a:latin typeface="Arial"/>
              </a:rPr>
              <a:t> un roadmap </a:t>
            </a:r>
            <a:r>
              <a:rPr lang="en-US" sz="2000" b="0" u="none" strike="noStrike" dirty="0" err="1">
                <a:solidFill>
                  <a:srgbClr val="000000"/>
                </a:solidFill>
                <a:effectLst/>
                <a:uFillTx/>
                <a:latin typeface="Arial"/>
              </a:rPr>
              <a:t>cerrado</a:t>
            </a:r>
            <a:r>
              <a:rPr lang="en-US" sz="2000" b="0" u="none" strike="noStrike" dirty="0">
                <a:solidFill>
                  <a:srgbClr val="000000"/>
                </a:solidFill>
                <a:effectLst/>
                <a:uFillTx/>
                <a:latin typeface="Arial"/>
              </a:rPr>
              <a:t>. Es para </a:t>
            </a:r>
            <a:r>
              <a:rPr lang="en-US" sz="2000" b="0" u="none" strike="noStrike" dirty="0" err="1">
                <a:solidFill>
                  <a:srgbClr val="000000"/>
                </a:solidFill>
                <a:effectLst/>
                <a:uFillTx/>
                <a:latin typeface="Arial"/>
              </a:rPr>
              <a:t>alinear</a:t>
            </a:r>
            <a:r>
              <a:rPr lang="en-US" sz="2000" b="0" u="none" strike="noStrike" dirty="0">
                <a:solidFill>
                  <a:srgbClr val="000000"/>
                </a:solidFill>
                <a:effectLst/>
                <a:uFillTx/>
                <a:latin typeface="Arial"/>
              </a:rPr>
              <a:t> la </a:t>
            </a:r>
            <a:r>
              <a:rPr lang="en-US" sz="2000" b="0" u="none" strike="noStrike" dirty="0" err="1">
                <a:solidFill>
                  <a:srgbClr val="000000"/>
                </a:solidFill>
                <a:effectLst/>
                <a:uFillTx/>
                <a:latin typeface="Arial"/>
              </a:rPr>
              <a:t>tesis</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por</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qué</a:t>
            </a:r>
            <a:r>
              <a:rPr lang="en-US" sz="2000" b="0" u="none" strike="noStrike" dirty="0">
                <a:solidFill>
                  <a:srgbClr val="000000"/>
                </a:solidFill>
                <a:effectLst/>
                <a:uFillTx/>
                <a:latin typeface="Arial"/>
              </a:rPr>
              <a:t> Gu </a:t>
            </a:r>
            <a:r>
              <a:rPr lang="en-US" sz="2000" b="0" u="none" strike="noStrike" dirty="0" err="1">
                <a:solidFill>
                  <a:srgbClr val="000000"/>
                </a:solidFill>
                <a:effectLst/>
                <a:uFillTx/>
                <a:latin typeface="Arial"/>
              </a:rPr>
              <a:t>necesita</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evolucionar</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hacia</a:t>
            </a:r>
            <a:r>
              <a:rPr lang="en-US" sz="2000" b="0" u="none" strike="noStrike" dirty="0">
                <a:solidFill>
                  <a:srgbClr val="000000"/>
                </a:solidFill>
                <a:effectLst/>
                <a:uFillTx/>
                <a:latin typeface="Arial"/>
              </a:rPr>
              <a:t> Gu OS, </a:t>
            </a:r>
            <a:r>
              <a:rPr lang="en-US" sz="2000" b="0" u="none" strike="noStrike" dirty="0" err="1">
                <a:solidFill>
                  <a:srgbClr val="000000"/>
                </a:solidFill>
                <a:effectLst/>
                <a:uFillTx/>
                <a:latin typeface="Arial"/>
              </a:rPr>
              <a:t>qué</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responsabilidades</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debería</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tomar</a:t>
            </a:r>
            <a:r>
              <a:rPr lang="en-US" sz="2000" b="0" u="none" strike="noStrike" dirty="0">
                <a:solidFill>
                  <a:srgbClr val="000000"/>
                </a:solidFill>
                <a:effectLst/>
                <a:uFillTx/>
                <a:latin typeface="Arial"/>
              </a:rPr>
              <a:t>, y </a:t>
            </a:r>
            <a:r>
              <a:rPr lang="en-US" sz="2000" b="0" u="none" strike="noStrike" dirty="0" err="1">
                <a:solidFill>
                  <a:srgbClr val="000000"/>
                </a:solidFill>
                <a:effectLst/>
                <a:uFillTx/>
                <a:latin typeface="Arial"/>
              </a:rPr>
              <a:t>cómo</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deberíamos</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pensar</a:t>
            </a:r>
            <a:r>
              <a:rPr lang="en-US" sz="2000" b="0" u="none" strike="noStrike" dirty="0">
                <a:solidFill>
                  <a:srgbClr val="000000"/>
                </a:solidFill>
                <a:effectLst/>
                <a:uFillTx/>
                <a:latin typeface="Arial"/>
              </a:rPr>
              <a:t> las </a:t>
            </a:r>
            <a:r>
              <a:rPr lang="en-US" sz="2000" b="0" u="none" strike="noStrike" dirty="0" err="1">
                <a:solidFill>
                  <a:srgbClr val="000000"/>
                </a:solidFill>
                <a:effectLst/>
                <a:uFillTx/>
                <a:latin typeface="Arial"/>
              </a:rPr>
              <a:t>siguientes</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capacidades</a:t>
            </a:r>
            <a:r>
              <a:rPr lang="en-US" sz="2000" b="0" u="none" strike="noStrike" dirty="0">
                <a:solidFill>
                  <a:srgbClr val="000000"/>
                </a:solidFill>
                <a:effectLst/>
                <a:uFillTx/>
                <a:latin typeface="Arial"/>
              </a:rPr>
              <a:t>.</a:t>
            </a:r>
          </a:p>
        </p:txBody>
      </p:sp>
      <p:sp>
        <p:nvSpPr>
          <p:cNvPr id="662" name="PlaceHolder 3">
            <a:extLst>
              <a:ext uri="{FF2B5EF4-FFF2-40B4-BE49-F238E27FC236}">
                <a16:creationId xmlns:a16="http://schemas.microsoft.com/office/drawing/2014/main" id="{BDF17D4B-2860-B81D-A935-F9CB4D1EB3FB}"/>
              </a:ext>
            </a:extLst>
          </p:cNvPr>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B3B5820-88DE-4351-9085-D94FA578269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10808204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3" name="PlaceHolder 1"/>
          <p:cNvSpPr>
            <a:spLocks noGrp="1" noRot="1" noChangeAspect="1"/>
          </p:cNvSpPr>
          <p:nvPr>
            <p:ph type="sldImg"/>
          </p:nvPr>
        </p:nvSpPr>
        <p:spPr>
          <a:xfrm>
            <a:off x="685800" y="1143000"/>
            <a:ext cx="5486400" cy="3086100"/>
          </a:xfrm>
          <a:prstGeom prst="rect">
            <a:avLst/>
          </a:prstGeom>
          <a:ln w="0">
            <a:noFill/>
          </a:ln>
        </p:spPr>
      </p:sp>
      <p:sp>
        <p:nvSpPr>
          <p:cNvPr id="6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dirty="0">
                <a:solidFill>
                  <a:srgbClr val="000000"/>
                </a:solidFill>
                <a:effectLst/>
                <a:uFillTx/>
                <a:latin typeface="Arial"/>
              </a:rPr>
              <a:t>Gu → Gu OS — Session 1</a:t>
            </a:r>
          </a:p>
          <a:p>
            <a:pPr indent="0">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err="1">
                <a:solidFill>
                  <a:srgbClr val="000000"/>
                </a:solidFill>
                <a:effectLst/>
                <a:uFillTx/>
                <a:latin typeface="Arial"/>
              </a:rPr>
              <a:t>Enfatizar</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que</a:t>
            </a:r>
            <a:r>
              <a:rPr lang="en-US" sz="2000" b="0" u="none" strike="noStrike" dirty="0">
                <a:solidFill>
                  <a:srgbClr val="000000"/>
                </a:solidFill>
                <a:effectLst/>
                <a:uFillTx/>
                <a:latin typeface="Arial"/>
              </a:rPr>
              <a:t> el </a:t>
            </a:r>
            <a:r>
              <a:rPr lang="en-US" sz="2000" b="0" u="none" strike="noStrike" dirty="0" err="1">
                <a:solidFill>
                  <a:srgbClr val="000000"/>
                </a:solidFill>
                <a:effectLst/>
                <a:uFillTx/>
                <a:latin typeface="Arial"/>
              </a:rPr>
              <a:t>objetivo</a:t>
            </a:r>
            <a:r>
              <a:rPr lang="en-US" sz="2000" b="0" u="none" strike="noStrike" dirty="0">
                <a:solidFill>
                  <a:srgbClr val="000000"/>
                </a:solidFill>
                <a:effectLst/>
                <a:uFillTx/>
                <a:latin typeface="Arial"/>
              </a:rPr>
              <a:t> es </a:t>
            </a:r>
            <a:r>
              <a:rPr lang="en-US" sz="2000" b="0" u="none" strike="noStrike" dirty="0" err="1">
                <a:solidFill>
                  <a:srgbClr val="000000"/>
                </a:solidFill>
                <a:effectLst/>
                <a:uFillTx/>
                <a:latin typeface="Arial"/>
              </a:rPr>
              <a:t>crear</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claridad</a:t>
            </a:r>
            <a:r>
              <a:rPr lang="en-US" sz="2000" b="0" u="none" strike="noStrike" dirty="0">
                <a:solidFill>
                  <a:srgbClr val="000000"/>
                </a:solidFill>
                <a:effectLst/>
                <a:uFillTx/>
                <a:latin typeface="Arial"/>
              </a:rPr>
              <a:t> y </a:t>
            </a:r>
            <a:r>
              <a:rPr lang="en-US" sz="2000" b="0" u="none" strike="noStrike" dirty="0" err="1">
                <a:solidFill>
                  <a:srgbClr val="000000"/>
                </a:solidFill>
                <a:effectLst/>
                <a:uFillTx/>
                <a:latin typeface="Arial"/>
              </a:rPr>
              <a:t>mejores</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preguntas</a:t>
            </a:r>
            <a:r>
              <a:rPr lang="en-US" sz="2000" b="0" u="none" strike="noStrike" dirty="0">
                <a:solidFill>
                  <a:srgbClr val="000000"/>
                </a:solidFill>
                <a:effectLst/>
                <a:uFillTx/>
                <a:latin typeface="Arial"/>
              </a:rPr>
              <a:t>. No </a:t>
            </a:r>
            <a:r>
              <a:rPr lang="en-US" sz="2000" b="0" u="none" strike="noStrike" dirty="0" err="1">
                <a:solidFill>
                  <a:srgbClr val="000000"/>
                </a:solidFill>
                <a:effectLst/>
                <a:uFillTx/>
                <a:latin typeface="Arial"/>
              </a:rPr>
              <a:t>necesitamos</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que</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todos</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salgan</a:t>
            </a:r>
            <a:r>
              <a:rPr lang="en-US" sz="2000" b="0" u="none" strike="noStrike" dirty="0">
                <a:solidFill>
                  <a:srgbClr val="000000"/>
                </a:solidFill>
                <a:effectLst/>
                <a:uFillTx/>
                <a:latin typeface="Arial"/>
              </a:rPr>
              <a:t> con </a:t>
            </a:r>
            <a:r>
              <a:rPr lang="en-US" sz="2000" b="0" u="none" strike="noStrike" dirty="0" err="1">
                <a:solidFill>
                  <a:srgbClr val="000000"/>
                </a:solidFill>
                <a:effectLst/>
                <a:uFillTx/>
                <a:latin typeface="Arial"/>
              </a:rPr>
              <a:t>todas</a:t>
            </a:r>
            <a:r>
              <a:rPr lang="en-US" sz="2000" b="0" u="none" strike="noStrike" dirty="0">
                <a:solidFill>
                  <a:srgbClr val="000000"/>
                </a:solidFill>
                <a:effectLst/>
                <a:uFillTx/>
                <a:latin typeface="Arial"/>
              </a:rPr>
              <a:t> las </a:t>
            </a:r>
            <a:r>
              <a:rPr lang="en-US" sz="2000" b="0" u="none" strike="noStrike" dirty="0" err="1">
                <a:solidFill>
                  <a:srgbClr val="000000"/>
                </a:solidFill>
                <a:effectLst/>
                <a:uFillTx/>
                <a:latin typeface="Arial"/>
              </a:rPr>
              <a:t>respuestas</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necesitamos</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que</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todos</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entiendan</a:t>
            </a:r>
            <a:r>
              <a:rPr lang="en-US" sz="2000" b="0" u="none" strike="noStrike" dirty="0">
                <a:solidFill>
                  <a:srgbClr val="000000"/>
                </a:solidFill>
                <a:effectLst/>
                <a:uFillTx/>
                <a:latin typeface="Arial"/>
              </a:rPr>
              <a:t> el </a:t>
            </a:r>
            <a:r>
              <a:rPr lang="en-US" sz="2000" b="0" u="none" strike="noStrike" dirty="0" err="1">
                <a:solidFill>
                  <a:srgbClr val="000000"/>
                </a:solidFill>
                <a:effectLst/>
                <a:uFillTx/>
                <a:latin typeface="Arial"/>
              </a:rPr>
              <a:t>problema</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correcto</a:t>
            </a:r>
            <a:r>
              <a:rPr lang="en-US" sz="2000" b="0" u="none" strike="noStrike" dirty="0">
                <a:solidFill>
                  <a:srgbClr val="000000"/>
                </a:solidFill>
                <a:effectLst/>
                <a:uFillTx/>
                <a:latin typeface="Arial"/>
              </a:rPr>
              <a:t>.</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s-MX" sz="2000" dirty="0"/>
              <a:t>“Antes de empezar, esto no es una presentación de una lista de nuevas </a:t>
            </a:r>
            <a:r>
              <a:rPr lang="es-MX" sz="2000" dirty="0" err="1"/>
              <a:t>features</a:t>
            </a:r>
            <a:r>
              <a:rPr lang="es-MX" sz="2000" dirty="0"/>
              <a:t> ni una especificación cerrada. Lo que quiero es que negocio, producto e ingeniería compartamos el mismo modelo mental de hacia dónde está evolucionando </a:t>
            </a:r>
            <a:r>
              <a:rPr lang="es-MX" sz="2000" dirty="0" err="1"/>
              <a:t>Gu</a:t>
            </a:r>
            <a:r>
              <a:rPr lang="es-MX" sz="2000" dirty="0"/>
              <a:t>, qué principios deberían guiar nuestras decisiones y qué preguntas todavía tenemos que resolver. Parte de lo que veremos ya existe, parte está evolucionando y parte es hipótesis que tenemos que desafiar juntos.”</a:t>
            </a:r>
          </a:p>
          <a:p>
            <a:pPr indent="0">
              <a:lnSpc>
                <a:spcPct val="100000"/>
              </a:lnSpc>
              <a:buNone/>
            </a:pPr>
            <a:endParaRPr lang="es-MX" sz="2000" b="0" u="none" strike="noStrike" dirty="0">
              <a:solidFill>
                <a:srgbClr val="000000"/>
              </a:solidFill>
              <a:effectLst/>
              <a:uFillTx/>
              <a:latin typeface="Arial"/>
            </a:endParaRPr>
          </a:p>
          <a:p>
            <a:pPr indent="0">
              <a:lnSpc>
                <a:spcPct val="100000"/>
              </a:lnSpc>
              <a:buNone/>
            </a:pPr>
            <a:endParaRPr lang="en-US" sz="2000" b="0" u="none" strike="noStrike" dirty="0">
              <a:solidFill>
                <a:srgbClr val="000000"/>
              </a:solidFill>
              <a:effectLst/>
              <a:uFillTx/>
              <a:latin typeface="Arial"/>
            </a:endParaRPr>
          </a:p>
        </p:txBody>
      </p:sp>
      <p:sp>
        <p:nvSpPr>
          <p:cNvPr id="665"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971155F-D51F-4356-B9E7-4878D60DC964}"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 name="PlaceHolder 1"/>
          <p:cNvSpPr>
            <a:spLocks noGrp="1" noRot="1" noChangeAspect="1"/>
          </p:cNvSpPr>
          <p:nvPr>
            <p:ph type="sldImg"/>
          </p:nvPr>
        </p:nvSpPr>
        <p:spPr>
          <a:xfrm>
            <a:off x="685800" y="1143000"/>
            <a:ext cx="5486400" cy="3086100"/>
          </a:xfrm>
          <a:prstGeom prst="rect">
            <a:avLst/>
          </a:prstGeom>
          <a:ln w="0">
            <a:noFill/>
          </a:ln>
        </p:spPr>
      </p:sp>
      <p:sp>
        <p:nvSpPr>
          <p:cNvPr id="6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dirty="0">
                <a:solidFill>
                  <a:srgbClr val="000000"/>
                </a:solidFill>
                <a:effectLst/>
                <a:uFillTx/>
                <a:latin typeface="Arial"/>
              </a:rPr>
              <a:t>Gu → Gu OS — Session 1</a:t>
            </a:r>
          </a:p>
          <a:p>
            <a:pPr indent="0">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Esta slide es el </a:t>
            </a:r>
            <a:r>
              <a:rPr lang="en-US" sz="2000" b="0" u="none" strike="noStrike" dirty="0" err="1">
                <a:solidFill>
                  <a:srgbClr val="000000"/>
                </a:solidFill>
                <a:effectLst/>
                <a:uFillTx/>
                <a:latin typeface="Arial"/>
              </a:rPr>
              <a:t>puente</a:t>
            </a:r>
            <a:r>
              <a:rPr lang="en-US" sz="2000" b="0" u="none" strike="noStrike" dirty="0">
                <a:solidFill>
                  <a:srgbClr val="000000"/>
                </a:solidFill>
                <a:effectLst/>
                <a:uFillTx/>
                <a:latin typeface="Arial"/>
              </a:rPr>
              <a:t>. No </a:t>
            </a:r>
            <a:r>
              <a:rPr lang="en-US" sz="2000" b="0" u="none" strike="noStrike" dirty="0" err="1">
                <a:solidFill>
                  <a:srgbClr val="000000"/>
                </a:solidFill>
                <a:effectLst/>
                <a:uFillTx/>
                <a:latin typeface="Arial"/>
              </a:rPr>
              <a:t>estamos</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construyendo</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otro</a:t>
            </a:r>
            <a:r>
              <a:rPr lang="en-US" sz="2000" b="0" u="none" strike="noStrike" dirty="0">
                <a:solidFill>
                  <a:srgbClr val="000000"/>
                </a:solidFill>
                <a:effectLst/>
                <a:uFillTx/>
                <a:latin typeface="Arial"/>
              </a:rPr>
              <a:t> CRM con IA. Estamos </a:t>
            </a:r>
            <a:r>
              <a:rPr lang="en-US" sz="2000" b="0" u="none" strike="noStrike" dirty="0" err="1">
                <a:solidFill>
                  <a:srgbClr val="000000"/>
                </a:solidFill>
                <a:effectLst/>
                <a:uFillTx/>
                <a:latin typeface="Arial"/>
              </a:rPr>
              <a:t>tratando</a:t>
            </a:r>
            <a:r>
              <a:rPr lang="en-US" sz="2000" b="0" u="none" strike="noStrike" dirty="0">
                <a:solidFill>
                  <a:srgbClr val="000000"/>
                </a:solidFill>
                <a:effectLst/>
                <a:uFillTx/>
                <a:latin typeface="Arial"/>
              </a:rPr>
              <a:t> de </a:t>
            </a:r>
            <a:r>
              <a:rPr lang="en-US" sz="2000" b="0" u="none" strike="noStrike" dirty="0" err="1">
                <a:solidFill>
                  <a:srgbClr val="000000"/>
                </a:solidFill>
                <a:effectLst/>
                <a:uFillTx/>
                <a:latin typeface="Arial"/>
              </a:rPr>
              <a:t>que</a:t>
            </a:r>
            <a:r>
              <a:rPr lang="en-US" sz="2000" b="0" u="none" strike="noStrike" dirty="0">
                <a:solidFill>
                  <a:srgbClr val="000000"/>
                </a:solidFill>
                <a:effectLst/>
                <a:uFillTx/>
                <a:latin typeface="Arial"/>
              </a:rPr>
              <a:t> partes de la </a:t>
            </a:r>
            <a:r>
              <a:rPr lang="en-US" sz="2000" b="0" u="none" strike="noStrike" dirty="0" err="1">
                <a:solidFill>
                  <a:srgbClr val="000000"/>
                </a:solidFill>
                <a:effectLst/>
                <a:uFillTx/>
                <a:latin typeface="Arial"/>
              </a:rPr>
              <a:t>operación</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inmobiliaria</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sean</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delegables</a:t>
            </a:r>
            <a:r>
              <a:rPr lang="en-US" sz="2000" b="0" u="none" strike="noStrike" dirty="0">
                <a:solidFill>
                  <a:srgbClr val="000000"/>
                </a:solidFill>
                <a:effectLst/>
                <a:uFillTx/>
                <a:latin typeface="Arial"/>
              </a:rPr>
              <a:t> a Gu con control, </a:t>
            </a:r>
            <a:r>
              <a:rPr lang="en-US" sz="2000" b="0" u="none" strike="noStrike" dirty="0" err="1">
                <a:solidFill>
                  <a:srgbClr val="000000"/>
                </a:solidFill>
                <a:effectLst/>
                <a:uFillTx/>
                <a:latin typeface="Arial"/>
              </a:rPr>
              <a:t>evidencia</a:t>
            </a:r>
            <a:r>
              <a:rPr lang="en-US" sz="2000" b="0" u="none" strike="noStrike" dirty="0">
                <a:solidFill>
                  <a:srgbClr val="000000"/>
                </a:solidFill>
                <a:effectLst/>
                <a:uFillTx/>
                <a:latin typeface="Arial"/>
              </a:rPr>
              <a:t> y </a:t>
            </a:r>
            <a:r>
              <a:rPr lang="en-US" sz="2000" b="0" u="none" strike="noStrike" dirty="0" err="1">
                <a:solidFill>
                  <a:srgbClr val="000000"/>
                </a:solidFill>
                <a:effectLst/>
                <a:uFillTx/>
                <a:latin typeface="Arial"/>
              </a:rPr>
              <a:t>límites</a:t>
            </a:r>
            <a:r>
              <a:rPr lang="en-US" sz="2000" b="0" u="none" strike="noStrike" dirty="0">
                <a:solidFill>
                  <a:srgbClr val="000000"/>
                </a:solidFill>
                <a:effectLst/>
                <a:uFillTx/>
                <a:latin typeface="Arial"/>
              </a:rPr>
              <a:t>.</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s-MX" sz="2000" dirty="0"/>
              <a:t>“La diferencia no es que </a:t>
            </a:r>
            <a:r>
              <a:rPr lang="es-MX" sz="2000" dirty="0" err="1"/>
              <a:t>Gu</a:t>
            </a:r>
            <a:r>
              <a:rPr lang="es-MX" sz="2000" dirty="0"/>
              <a:t> OS sea simplemente un agente más poderoso. </a:t>
            </a:r>
            <a:r>
              <a:rPr lang="es-MX" sz="2000" dirty="0" err="1"/>
              <a:t>Gu</a:t>
            </a:r>
            <a:r>
              <a:rPr lang="es-MX" sz="2000" dirty="0"/>
              <a:t> es el </a:t>
            </a:r>
            <a:r>
              <a:rPr lang="es-MX" sz="2000" dirty="0" err="1"/>
              <a:t>coworker</a:t>
            </a:r>
            <a:r>
              <a:rPr lang="es-MX" sz="2000" dirty="0"/>
              <a:t>; </a:t>
            </a:r>
            <a:r>
              <a:rPr lang="es-MX" sz="2000" dirty="0" err="1"/>
              <a:t>Gu</a:t>
            </a:r>
            <a:r>
              <a:rPr lang="es-MX" sz="2000" dirty="0"/>
              <a:t> OS es la infraestructura que permite que ese </a:t>
            </a:r>
            <a:r>
              <a:rPr lang="es-MX" sz="2000" dirty="0" err="1"/>
              <a:t>coworker</a:t>
            </a:r>
            <a:r>
              <a:rPr lang="es-MX" sz="2000" dirty="0"/>
              <a:t> mantenga contexto, estado, responsabilidad, reglas y continuidad a través del negocio.”</a:t>
            </a:r>
          </a:p>
          <a:p>
            <a:pPr indent="0">
              <a:lnSpc>
                <a:spcPct val="100000"/>
              </a:lnSpc>
              <a:buNone/>
            </a:pPr>
            <a:endParaRPr lang="en-US" sz="2000" b="0" u="none" strike="noStrike" dirty="0">
              <a:solidFill>
                <a:srgbClr val="000000"/>
              </a:solidFill>
              <a:effectLst/>
              <a:uFillTx/>
              <a:latin typeface="Arial"/>
            </a:endParaRPr>
          </a:p>
        </p:txBody>
      </p:sp>
      <p:sp>
        <p:nvSpPr>
          <p:cNvPr id="668"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6FE12F7-0FF4-4B7D-BEC5-0918167C9090}"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217488" y="812800"/>
            <a:ext cx="7124700" cy="4008438"/>
          </a:xfrm>
        </p:spPr>
      </p:sp>
      <p:sp>
        <p:nvSpPr>
          <p:cNvPr id="3" name="Marcador de notas 2"/>
          <p:cNvSpPr>
            <a:spLocks noGrp="1"/>
          </p:cNvSpPr>
          <p:nvPr>
            <p:ph type="body" idx="1"/>
          </p:nvPr>
        </p:nvSpPr>
        <p:spPr/>
        <p:txBody>
          <a:bodyPr/>
          <a:lstStyle/>
          <a:p>
            <a:pPr indent="0">
              <a:buNone/>
            </a:pPr>
            <a:r>
              <a:rPr lang="en-US" sz="1200" b="0" u="none" strike="noStrike" dirty="0">
                <a:solidFill>
                  <a:srgbClr val="000000"/>
                </a:solidFill>
                <a:effectLst/>
                <a:uFillTx/>
                <a:latin typeface="+mn-lt"/>
              </a:rPr>
              <a:t>Gu → Gu OS — Session 1</a:t>
            </a:r>
          </a:p>
          <a:p>
            <a:pPr indent="0">
              <a:buNone/>
            </a:pPr>
            <a:endParaRPr lang="en-US" sz="1200" b="0" u="none" strike="noStrike" dirty="0">
              <a:solidFill>
                <a:srgbClr val="000000"/>
              </a:solidFill>
              <a:effectLst/>
              <a:uFillTx/>
              <a:latin typeface="+mn-lt"/>
            </a:endParaRPr>
          </a:p>
          <a:p>
            <a:pPr indent="0">
              <a:lnSpc>
                <a:spcPct val="100000"/>
              </a:lnSpc>
              <a:buNone/>
            </a:pPr>
            <a:r>
              <a:rPr lang="en-US" sz="1200" b="0" u="none" strike="noStrike" dirty="0">
                <a:solidFill>
                  <a:srgbClr val="000000"/>
                </a:solidFill>
                <a:effectLst/>
                <a:uFillTx/>
                <a:latin typeface="+mn-lt"/>
              </a:rPr>
              <a:t>El punto no es </a:t>
            </a:r>
            <a:r>
              <a:rPr lang="en-US" sz="1200" b="0" u="none" strike="noStrike" dirty="0" err="1">
                <a:solidFill>
                  <a:srgbClr val="000000"/>
                </a:solidFill>
                <a:effectLst/>
                <a:uFillTx/>
                <a:latin typeface="+mn-lt"/>
              </a:rPr>
              <a:t>que</a:t>
            </a:r>
            <a:r>
              <a:rPr lang="en-US" sz="1200" b="0" u="none" strike="noStrike" dirty="0">
                <a:solidFill>
                  <a:srgbClr val="000000"/>
                </a:solidFill>
                <a:effectLst/>
                <a:uFillTx/>
                <a:latin typeface="+mn-lt"/>
              </a:rPr>
              <a:t> las </a:t>
            </a:r>
            <a:r>
              <a:rPr lang="en-US" sz="1200" b="0" u="none" strike="noStrike" dirty="0" err="1">
                <a:solidFill>
                  <a:srgbClr val="000000"/>
                </a:solidFill>
                <a:effectLst/>
                <a:uFillTx/>
                <a:latin typeface="+mn-lt"/>
              </a:rPr>
              <a:t>inmobiliarias</a:t>
            </a:r>
            <a:r>
              <a:rPr lang="en-US" sz="1200" b="0" u="none" strike="noStrike" dirty="0">
                <a:solidFill>
                  <a:srgbClr val="000000"/>
                </a:solidFill>
                <a:effectLst/>
                <a:uFillTx/>
                <a:latin typeface="+mn-lt"/>
              </a:rPr>
              <a:t> no </a:t>
            </a:r>
            <a:r>
              <a:rPr lang="en-US" sz="1200" b="0" u="none" strike="noStrike" dirty="0" err="1">
                <a:solidFill>
                  <a:srgbClr val="000000"/>
                </a:solidFill>
                <a:effectLst/>
                <a:uFillTx/>
                <a:latin typeface="+mn-lt"/>
              </a:rPr>
              <a:t>tengan</a:t>
            </a:r>
            <a:r>
              <a:rPr lang="en-US" sz="1200" b="0" u="none" strike="noStrike" dirty="0">
                <a:solidFill>
                  <a:srgbClr val="000000"/>
                </a:solidFill>
                <a:effectLst/>
                <a:uFillTx/>
                <a:latin typeface="+mn-lt"/>
              </a:rPr>
              <a:t> </a:t>
            </a:r>
            <a:r>
              <a:rPr lang="en-US" sz="1200" b="0" u="none" strike="noStrike" dirty="0" err="1">
                <a:solidFill>
                  <a:srgbClr val="000000"/>
                </a:solidFill>
                <a:effectLst/>
                <a:uFillTx/>
                <a:latin typeface="+mn-lt"/>
              </a:rPr>
              <a:t>herramientas</a:t>
            </a:r>
            <a:r>
              <a:rPr lang="en-US" sz="1200" b="0" u="none" strike="noStrike" dirty="0">
                <a:solidFill>
                  <a:srgbClr val="000000"/>
                </a:solidFill>
                <a:effectLst/>
                <a:uFillTx/>
                <a:latin typeface="+mn-lt"/>
              </a:rPr>
              <a:t>. Tienen </a:t>
            </a:r>
            <a:r>
              <a:rPr lang="en-US" sz="1200" b="0" u="none" strike="noStrike" dirty="0" err="1">
                <a:solidFill>
                  <a:srgbClr val="000000"/>
                </a:solidFill>
                <a:effectLst/>
                <a:uFillTx/>
                <a:latin typeface="+mn-lt"/>
              </a:rPr>
              <a:t>demasiadas</a:t>
            </a:r>
            <a:r>
              <a:rPr lang="en-US" sz="1200" b="0" u="none" strike="noStrike" dirty="0">
                <a:solidFill>
                  <a:srgbClr val="000000"/>
                </a:solidFill>
                <a:effectLst/>
                <a:uFillTx/>
                <a:latin typeface="+mn-lt"/>
              </a:rPr>
              <a:t> </a:t>
            </a:r>
            <a:r>
              <a:rPr lang="en-US" sz="1200" b="0" u="none" strike="noStrike" dirty="0" err="1">
                <a:solidFill>
                  <a:srgbClr val="000000"/>
                </a:solidFill>
                <a:effectLst/>
                <a:uFillTx/>
                <a:latin typeface="+mn-lt"/>
              </a:rPr>
              <a:t>herramientas</a:t>
            </a:r>
            <a:r>
              <a:rPr lang="en-US" sz="1200" b="0" u="none" strike="noStrike" dirty="0">
                <a:solidFill>
                  <a:srgbClr val="000000"/>
                </a:solidFill>
                <a:effectLst/>
                <a:uFillTx/>
                <a:latin typeface="+mn-lt"/>
              </a:rPr>
              <a:t> </a:t>
            </a:r>
            <a:r>
              <a:rPr lang="en-US" sz="1200" b="0" u="none" strike="noStrike" dirty="0" err="1">
                <a:solidFill>
                  <a:srgbClr val="000000"/>
                </a:solidFill>
                <a:effectLst/>
                <a:uFillTx/>
                <a:latin typeface="+mn-lt"/>
              </a:rPr>
              <a:t>desconectadas</a:t>
            </a:r>
            <a:r>
              <a:rPr lang="en-US" sz="1200" b="0" u="none" strike="noStrike" dirty="0">
                <a:solidFill>
                  <a:srgbClr val="000000"/>
                </a:solidFill>
                <a:effectLst/>
                <a:uFillTx/>
                <a:latin typeface="+mn-lt"/>
              </a:rPr>
              <a:t>. La </a:t>
            </a:r>
            <a:r>
              <a:rPr lang="en-US" sz="1200" b="0" u="none" strike="noStrike" dirty="0" err="1">
                <a:solidFill>
                  <a:srgbClr val="000000"/>
                </a:solidFill>
                <a:effectLst/>
                <a:uFillTx/>
                <a:latin typeface="+mn-lt"/>
              </a:rPr>
              <a:t>oportunidad</a:t>
            </a:r>
            <a:r>
              <a:rPr lang="en-US" sz="1200" b="0" u="none" strike="noStrike" dirty="0">
                <a:solidFill>
                  <a:srgbClr val="000000"/>
                </a:solidFill>
                <a:effectLst/>
                <a:uFillTx/>
                <a:latin typeface="+mn-lt"/>
              </a:rPr>
              <a:t> es </a:t>
            </a:r>
            <a:r>
              <a:rPr lang="en-US" sz="1200" b="0" u="none" strike="noStrike" dirty="0" err="1">
                <a:solidFill>
                  <a:srgbClr val="000000"/>
                </a:solidFill>
                <a:effectLst/>
                <a:uFillTx/>
                <a:latin typeface="+mn-lt"/>
              </a:rPr>
              <a:t>que</a:t>
            </a:r>
            <a:r>
              <a:rPr lang="en-US" sz="1200" b="0" u="none" strike="noStrike" dirty="0">
                <a:solidFill>
                  <a:srgbClr val="000000"/>
                </a:solidFill>
                <a:effectLst/>
                <a:uFillTx/>
                <a:latin typeface="+mn-lt"/>
              </a:rPr>
              <a:t> Gu </a:t>
            </a:r>
            <a:r>
              <a:rPr lang="en-US" sz="1200" b="0" u="none" strike="noStrike" dirty="0" err="1">
                <a:solidFill>
                  <a:srgbClr val="000000"/>
                </a:solidFill>
                <a:effectLst/>
                <a:uFillTx/>
                <a:latin typeface="+mn-lt"/>
              </a:rPr>
              <a:t>deje</a:t>
            </a:r>
            <a:r>
              <a:rPr lang="en-US" sz="1200" b="0" u="none" strike="noStrike" dirty="0">
                <a:solidFill>
                  <a:srgbClr val="000000"/>
                </a:solidFill>
                <a:effectLst/>
                <a:uFillTx/>
                <a:latin typeface="+mn-lt"/>
              </a:rPr>
              <a:t> de ser </a:t>
            </a:r>
            <a:r>
              <a:rPr lang="en-US" sz="1200" b="0" u="none" strike="noStrike" dirty="0" err="1">
                <a:solidFill>
                  <a:srgbClr val="000000"/>
                </a:solidFill>
                <a:effectLst/>
                <a:uFillTx/>
                <a:latin typeface="+mn-lt"/>
              </a:rPr>
              <a:t>solamente</a:t>
            </a:r>
            <a:r>
              <a:rPr lang="en-US" sz="1200" b="0" u="none" strike="noStrike" dirty="0">
                <a:solidFill>
                  <a:srgbClr val="000000"/>
                </a:solidFill>
                <a:effectLst/>
                <a:uFillTx/>
                <a:latin typeface="+mn-lt"/>
              </a:rPr>
              <a:t> </a:t>
            </a:r>
            <a:r>
              <a:rPr lang="en-US" sz="1200" b="0" u="none" strike="noStrike" dirty="0" err="1">
                <a:solidFill>
                  <a:srgbClr val="000000"/>
                </a:solidFill>
                <a:effectLst/>
                <a:uFillTx/>
                <a:latin typeface="+mn-lt"/>
              </a:rPr>
              <a:t>otra</a:t>
            </a:r>
            <a:r>
              <a:rPr lang="en-US" sz="1200" b="0" u="none" strike="noStrike" dirty="0">
                <a:solidFill>
                  <a:srgbClr val="000000"/>
                </a:solidFill>
                <a:effectLst/>
                <a:uFillTx/>
                <a:latin typeface="+mn-lt"/>
              </a:rPr>
              <a:t> </a:t>
            </a:r>
            <a:r>
              <a:rPr lang="en-US" sz="1200" b="0" u="none" strike="noStrike" dirty="0" err="1">
                <a:solidFill>
                  <a:srgbClr val="000000"/>
                </a:solidFill>
                <a:effectLst/>
                <a:uFillTx/>
                <a:latin typeface="+mn-lt"/>
              </a:rPr>
              <a:t>herramienta</a:t>
            </a:r>
            <a:r>
              <a:rPr lang="en-US" sz="1200" b="0" u="none" strike="noStrike" dirty="0">
                <a:solidFill>
                  <a:srgbClr val="000000"/>
                </a:solidFill>
                <a:effectLst/>
                <a:uFillTx/>
                <a:latin typeface="+mn-lt"/>
              </a:rPr>
              <a:t> y </a:t>
            </a:r>
            <a:r>
              <a:rPr lang="en-US" sz="1200" b="0" u="none" strike="noStrike" dirty="0" err="1">
                <a:solidFill>
                  <a:srgbClr val="000000"/>
                </a:solidFill>
                <a:effectLst/>
                <a:uFillTx/>
                <a:latin typeface="+mn-lt"/>
              </a:rPr>
              <a:t>empiece</a:t>
            </a:r>
            <a:r>
              <a:rPr lang="en-US" sz="1200" b="0" u="none" strike="noStrike" dirty="0">
                <a:solidFill>
                  <a:srgbClr val="000000"/>
                </a:solidFill>
                <a:effectLst/>
                <a:uFillTx/>
                <a:latin typeface="+mn-lt"/>
              </a:rPr>
              <a:t> a </a:t>
            </a:r>
            <a:r>
              <a:rPr lang="en-US" sz="1200" b="0" u="none" strike="noStrike" dirty="0" err="1">
                <a:solidFill>
                  <a:srgbClr val="000000"/>
                </a:solidFill>
                <a:effectLst/>
                <a:uFillTx/>
                <a:latin typeface="+mn-lt"/>
              </a:rPr>
              <a:t>asumir</a:t>
            </a:r>
            <a:r>
              <a:rPr lang="en-US" sz="1200" b="0" u="none" strike="noStrike" dirty="0">
                <a:solidFill>
                  <a:srgbClr val="000000"/>
                </a:solidFill>
                <a:effectLst/>
                <a:uFillTx/>
                <a:latin typeface="+mn-lt"/>
              </a:rPr>
              <a:t> </a:t>
            </a:r>
            <a:r>
              <a:rPr lang="en-US" sz="1200" b="0" u="none" strike="noStrike" dirty="0" err="1">
                <a:solidFill>
                  <a:srgbClr val="000000"/>
                </a:solidFill>
                <a:effectLst/>
                <a:uFillTx/>
                <a:latin typeface="+mn-lt"/>
              </a:rPr>
              <a:t>responsabilidad</a:t>
            </a:r>
            <a:r>
              <a:rPr lang="en-US" sz="1200" b="0" u="none" strike="noStrike" dirty="0">
                <a:solidFill>
                  <a:srgbClr val="000000"/>
                </a:solidFill>
                <a:effectLst/>
                <a:uFillTx/>
                <a:latin typeface="+mn-lt"/>
              </a:rPr>
              <a:t> </a:t>
            </a:r>
            <a:r>
              <a:rPr lang="en-US" sz="1200" b="0" u="none" strike="noStrike" dirty="0" err="1">
                <a:solidFill>
                  <a:srgbClr val="000000"/>
                </a:solidFill>
                <a:effectLst/>
                <a:uFillTx/>
                <a:latin typeface="+mn-lt"/>
              </a:rPr>
              <a:t>por</a:t>
            </a:r>
            <a:r>
              <a:rPr lang="en-US" sz="1200" b="0" u="none" strike="noStrike" dirty="0">
                <a:solidFill>
                  <a:srgbClr val="000000"/>
                </a:solidFill>
                <a:effectLst/>
                <a:uFillTx/>
                <a:latin typeface="+mn-lt"/>
              </a:rPr>
              <a:t> </a:t>
            </a:r>
            <a:r>
              <a:rPr lang="en-US" sz="1200" b="0" u="none" strike="noStrike" dirty="0" err="1">
                <a:solidFill>
                  <a:srgbClr val="000000"/>
                </a:solidFill>
                <a:effectLst/>
                <a:uFillTx/>
                <a:latin typeface="+mn-lt"/>
              </a:rPr>
              <a:t>que</a:t>
            </a:r>
            <a:r>
              <a:rPr lang="en-US" sz="1200" b="0" u="none" strike="noStrike" dirty="0">
                <a:solidFill>
                  <a:srgbClr val="000000"/>
                </a:solidFill>
                <a:effectLst/>
                <a:uFillTx/>
                <a:latin typeface="+mn-lt"/>
              </a:rPr>
              <a:t> el </a:t>
            </a:r>
            <a:r>
              <a:rPr lang="en-US" sz="1200" b="0" u="none" strike="noStrike" dirty="0" err="1">
                <a:solidFill>
                  <a:srgbClr val="000000"/>
                </a:solidFill>
                <a:effectLst/>
                <a:uFillTx/>
                <a:latin typeface="+mn-lt"/>
              </a:rPr>
              <a:t>trabajo</a:t>
            </a:r>
            <a:r>
              <a:rPr lang="en-US" sz="1200" b="0" u="none" strike="noStrike" dirty="0">
                <a:solidFill>
                  <a:srgbClr val="000000"/>
                </a:solidFill>
                <a:effectLst/>
                <a:uFillTx/>
                <a:latin typeface="+mn-lt"/>
              </a:rPr>
              <a:t> </a:t>
            </a:r>
            <a:r>
              <a:rPr lang="en-US" sz="1200" b="0" u="none" strike="noStrike" dirty="0" err="1">
                <a:solidFill>
                  <a:srgbClr val="000000"/>
                </a:solidFill>
                <a:effectLst/>
                <a:uFillTx/>
                <a:latin typeface="+mn-lt"/>
              </a:rPr>
              <a:t>avance</a:t>
            </a:r>
            <a:r>
              <a:rPr lang="en-US" sz="1200" b="0" u="none" strike="noStrike" dirty="0">
                <a:solidFill>
                  <a:srgbClr val="000000"/>
                </a:solidFill>
                <a:effectLst/>
                <a:uFillTx/>
                <a:latin typeface="+mn-lt"/>
              </a:rPr>
              <a:t>.</a:t>
            </a:r>
          </a:p>
          <a:p>
            <a:endParaRPr lang="es-MX" dirty="0"/>
          </a:p>
        </p:txBody>
      </p:sp>
      <p:sp>
        <p:nvSpPr>
          <p:cNvPr id="4" name="Marcador de número de diapositiva 3"/>
          <p:cNvSpPr>
            <a:spLocks noGrp="1"/>
          </p:cNvSpPr>
          <p:nvPr>
            <p:ph type="sldNum" idx="3"/>
          </p:nvPr>
        </p:nvSpPr>
        <p:spPr/>
        <p:txBody>
          <a:bodyPr/>
          <a:lstStyle/>
          <a:p>
            <a:pPr indent="0" algn="r">
              <a:buNone/>
            </a:pPr>
            <a:fld id="{43F3A9F3-843A-4B2A-9A9E-4B2DD53A41DA}" type="slidenum">
              <a:rPr lang="en-US" sz="1400" b="0" u="none" strike="noStrike" smtClean="0">
                <a:solidFill>
                  <a:srgbClr val="000000"/>
                </a:solidFill>
                <a:effectLst/>
                <a:uFillTx/>
                <a:latin typeface="Times New Roman"/>
              </a:rPr>
              <a:t>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1220240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 name="PlaceHolder 1"/>
          <p:cNvSpPr>
            <a:spLocks noGrp="1" noRot="1" noChangeAspect="1"/>
          </p:cNvSpPr>
          <p:nvPr>
            <p:ph type="sldImg"/>
          </p:nvPr>
        </p:nvSpPr>
        <p:spPr>
          <a:xfrm>
            <a:off x="685800" y="1143000"/>
            <a:ext cx="5486400" cy="3086100"/>
          </a:xfrm>
          <a:prstGeom prst="rect">
            <a:avLst/>
          </a:prstGeom>
          <a:ln w="0">
            <a:noFill/>
          </a:ln>
        </p:spPr>
      </p:sp>
      <p:sp>
        <p:nvSpPr>
          <p:cNvPr id="6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dirty="0">
                <a:solidFill>
                  <a:srgbClr val="000000"/>
                </a:solidFill>
                <a:effectLst/>
                <a:uFillTx/>
                <a:latin typeface="Arial"/>
              </a:rPr>
              <a:t>Gu → Gu OS — Session 1</a:t>
            </a:r>
          </a:p>
          <a:p>
            <a:pPr indent="0">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Ser </a:t>
            </a:r>
            <a:r>
              <a:rPr lang="en-US" sz="2000" b="0" u="none" strike="noStrike" dirty="0" err="1">
                <a:solidFill>
                  <a:srgbClr val="000000"/>
                </a:solidFill>
                <a:effectLst/>
                <a:uFillTx/>
                <a:latin typeface="Arial"/>
              </a:rPr>
              <a:t>muy</a:t>
            </a:r>
            <a:r>
              <a:rPr lang="en-US" sz="2000" b="0" u="none" strike="noStrike" dirty="0">
                <a:solidFill>
                  <a:srgbClr val="000000"/>
                </a:solidFill>
                <a:effectLst/>
                <a:uFillTx/>
                <a:latin typeface="Arial"/>
              </a:rPr>
              <a:t> claro: Gu actual </a:t>
            </a:r>
            <a:r>
              <a:rPr lang="en-US" sz="2000" b="0" u="none" strike="noStrike" dirty="0" err="1">
                <a:solidFill>
                  <a:srgbClr val="000000"/>
                </a:solidFill>
                <a:effectLst/>
                <a:uFillTx/>
                <a:latin typeface="Arial"/>
              </a:rPr>
              <a:t>ya</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hace</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trabajo</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valioso</a:t>
            </a:r>
            <a:r>
              <a:rPr lang="en-US" sz="2000" b="0" u="none" strike="noStrike" dirty="0">
                <a:solidFill>
                  <a:srgbClr val="000000"/>
                </a:solidFill>
                <a:effectLst/>
                <a:uFillTx/>
                <a:latin typeface="Arial"/>
              </a:rPr>
              <a:t>. Pero el </a:t>
            </a:r>
            <a:r>
              <a:rPr lang="en-US" sz="2000" b="0" u="none" strike="noStrike" dirty="0" err="1">
                <a:solidFill>
                  <a:srgbClr val="000000"/>
                </a:solidFill>
                <a:effectLst/>
                <a:uFillTx/>
                <a:latin typeface="Arial"/>
              </a:rPr>
              <a:t>seguimiento</a:t>
            </a:r>
            <a:r>
              <a:rPr lang="en-US" sz="2000" b="0" u="none" strike="noStrike" dirty="0">
                <a:solidFill>
                  <a:srgbClr val="000000"/>
                </a:solidFill>
                <a:effectLst/>
                <a:uFillTx/>
                <a:latin typeface="Arial"/>
              </a:rPr>
              <a:t> actual no es </a:t>
            </a:r>
            <a:r>
              <a:rPr lang="en-US" sz="2000" b="0" u="none" strike="noStrike" dirty="0" err="1">
                <a:solidFill>
                  <a:srgbClr val="000000"/>
                </a:solidFill>
                <a:effectLst/>
                <a:uFillTx/>
                <a:latin typeface="Arial"/>
              </a:rPr>
              <a:t>todavía</a:t>
            </a:r>
            <a:r>
              <a:rPr lang="en-US" sz="2000" b="0" u="none" strike="noStrike" dirty="0">
                <a:solidFill>
                  <a:srgbClr val="000000"/>
                </a:solidFill>
                <a:effectLst/>
                <a:uFillTx/>
                <a:latin typeface="Arial"/>
              </a:rPr>
              <a:t> el </a:t>
            </a:r>
            <a:r>
              <a:rPr lang="en-US" sz="2000" b="0" u="none" strike="noStrike" dirty="0" err="1">
                <a:solidFill>
                  <a:srgbClr val="000000"/>
                </a:solidFill>
                <a:effectLst/>
                <a:uFillTx/>
                <a:latin typeface="Arial"/>
              </a:rPr>
              <a:t>modelo</a:t>
            </a:r>
            <a:r>
              <a:rPr lang="en-US" sz="2000" b="0" u="none" strike="noStrike" dirty="0">
                <a:solidFill>
                  <a:srgbClr val="000000"/>
                </a:solidFill>
                <a:effectLst/>
                <a:uFillTx/>
                <a:latin typeface="Arial"/>
              </a:rPr>
              <a:t> Gu OS. </a:t>
            </a:r>
            <a:r>
              <a:rPr lang="en-US" sz="2000" b="0" u="none" strike="noStrike" dirty="0" err="1">
                <a:solidFill>
                  <a:srgbClr val="000000"/>
                </a:solidFill>
                <a:effectLst/>
                <a:uFillTx/>
                <a:latin typeface="Arial"/>
              </a:rPr>
              <a:t>Tenemos</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reglas</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útiles</a:t>
            </a:r>
            <a:r>
              <a:rPr lang="en-US" sz="2000" b="0" u="none" strike="noStrike" dirty="0">
                <a:solidFill>
                  <a:srgbClr val="000000"/>
                </a:solidFill>
                <a:effectLst/>
                <a:uFillTx/>
                <a:latin typeface="Arial"/>
              </a:rPr>
              <a:t>, no </a:t>
            </a:r>
            <a:r>
              <a:rPr lang="en-US" sz="2000" b="0" u="none" strike="noStrike" dirty="0" err="1">
                <a:solidFill>
                  <a:srgbClr val="000000"/>
                </a:solidFill>
                <a:effectLst/>
                <a:uFillTx/>
                <a:latin typeface="Arial"/>
              </a:rPr>
              <a:t>una</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gestión</a:t>
            </a:r>
            <a:r>
              <a:rPr lang="en-US" sz="2000" b="0" u="none" strike="noStrike" dirty="0">
                <a:solidFill>
                  <a:srgbClr val="000000"/>
                </a:solidFill>
                <a:effectLst/>
                <a:uFillTx/>
                <a:latin typeface="Arial"/>
              </a:rPr>
              <a:t> contextual de </a:t>
            </a:r>
            <a:r>
              <a:rPr lang="en-US" sz="2000" b="0" u="none" strike="noStrike" dirty="0" err="1">
                <a:solidFill>
                  <a:srgbClr val="000000"/>
                </a:solidFill>
                <a:effectLst/>
                <a:uFillTx/>
                <a:latin typeface="Arial"/>
              </a:rPr>
              <a:t>oportunidad</a:t>
            </a:r>
            <a:r>
              <a:rPr lang="en-US" sz="2000" b="0" u="none" strike="noStrike" dirty="0">
                <a:solidFill>
                  <a:srgbClr val="000000"/>
                </a:solidFill>
                <a:effectLst/>
                <a:uFillTx/>
                <a:latin typeface="Arial"/>
              </a:rPr>
              <a:t>. La </a:t>
            </a:r>
            <a:r>
              <a:rPr lang="en-US" sz="2000" b="0" u="none" strike="noStrike" dirty="0" err="1">
                <a:solidFill>
                  <a:srgbClr val="000000"/>
                </a:solidFill>
                <a:effectLst/>
                <a:uFillTx/>
                <a:latin typeface="Arial"/>
              </a:rPr>
              <a:t>evolución</a:t>
            </a:r>
            <a:r>
              <a:rPr lang="en-US" sz="2000" b="0" u="none" strike="noStrike" dirty="0">
                <a:solidFill>
                  <a:srgbClr val="000000"/>
                </a:solidFill>
                <a:effectLst/>
                <a:uFillTx/>
                <a:latin typeface="Arial"/>
              </a:rPr>
              <a:t> es pasar de timers </a:t>
            </a:r>
            <a:r>
              <a:rPr lang="en-US" sz="2000" b="0" u="none" strike="noStrike" dirty="0" err="1">
                <a:solidFill>
                  <a:srgbClr val="000000"/>
                </a:solidFill>
                <a:effectLst/>
                <a:uFillTx/>
                <a:latin typeface="Arial"/>
              </a:rPr>
              <a:t>fijos</a:t>
            </a:r>
            <a:r>
              <a:rPr lang="en-US" sz="2000" b="0" u="none" strike="noStrike" dirty="0">
                <a:solidFill>
                  <a:srgbClr val="000000"/>
                </a:solidFill>
                <a:effectLst/>
                <a:uFillTx/>
                <a:latin typeface="Arial"/>
              </a:rPr>
              <a:t> a </a:t>
            </a:r>
            <a:r>
              <a:rPr lang="en-US" sz="2000" b="0" u="none" strike="noStrike" dirty="0" err="1">
                <a:solidFill>
                  <a:srgbClr val="000000"/>
                </a:solidFill>
                <a:effectLst/>
                <a:uFillTx/>
                <a:latin typeface="Arial"/>
              </a:rPr>
              <a:t>decisiones</a:t>
            </a:r>
            <a:r>
              <a:rPr lang="en-US" sz="2000" b="0" u="none" strike="noStrike" dirty="0">
                <a:solidFill>
                  <a:srgbClr val="000000"/>
                </a:solidFill>
                <a:effectLst/>
                <a:uFillTx/>
                <a:latin typeface="Arial"/>
              </a:rPr>
              <a:t> de </a:t>
            </a:r>
            <a:r>
              <a:rPr lang="en-US" sz="2000" b="0" u="none" strike="noStrike" dirty="0" err="1">
                <a:solidFill>
                  <a:srgbClr val="000000"/>
                </a:solidFill>
                <a:effectLst/>
                <a:uFillTx/>
                <a:latin typeface="Arial"/>
              </a:rPr>
              <a:t>siguiente</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acción</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basadas</a:t>
            </a:r>
            <a:r>
              <a:rPr lang="en-US" sz="2000" b="0" u="none" strike="noStrike" dirty="0">
                <a:solidFill>
                  <a:srgbClr val="000000"/>
                </a:solidFill>
                <a:effectLst/>
                <a:uFillTx/>
                <a:latin typeface="Arial"/>
              </a:rPr>
              <a:t> en el </a:t>
            </a:r>
            <a:r>
              <a:rPr lang="en-US" sz="2000" b="0" u="none" strike="noStrike" dirty="0" err="1">
                <a:solidFill>
                  <a:srgbClr val="000000"/>
                </a:solidFill>
                <a:effectLst/>
                <a:uFillTx/>
                <a:latin typeface="Arial"/>
              </a:rPr>
              <a:t>caso</a:t>
            </a:r>
            <a:r>
              <a:rPr lang="en-US" sz="2000" b="0" u="none" strike="noStrike" dirty="0">
                <a:solidFill>
                  <a:srgbClr val="000000"/>
                </a:solidFill>
                <a:effectLst/>
                <a:uFillTx/>
                <a:latin typeface="Arial"/>
              </a:rPr>
              <a:t>.</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Nota:</a:t>
            </a:r>
          </a:p>
          <a:p>
            <a:pPr marL="342900" indent="-342900">
              <a:lnSpc>
                <a:spcPct val="100000"/>
              </a:lnSpc>
              <a:buFontTx/>
              <a:buChar char="-"/>
            </a:pPr>
            <a:r>
              <a:rPr lang="es-MX" sz="2000" dirty="0" err="1"/>
              <a:t>Relationship</a:t>
            </a:r>
            <a:r>
              <a:rPr lang="es-MX" sz="2000" dirty="0"/>
              <a:t> </a:t>
            </a:r>
            <a:r>
              <a:rPr lang="es-MX" sz="2000" dirty="0" err="1"/>
              <a:t>Operations</a:t>
            </a:r>
            <a:r>
              <a:rPr lang="es-MX" sz="2000" dirty="0"/>
              <a:t> debería mantener viva cada oportunidad y decidir qué hacer después según su estado, contexto, eventos y políticas. El Lead </a:t>
            </a:r>
            <a:r>
              <a:rPr lang="es-MX" sz="2000" dirty="0" err="1"/>
              <a:t>Opportunity</a:t>
            </a:r>
            <a:r>
              <a:rPr lang="es-MX" sz="2000" dirty="0"/>
              <a:t> Case sería la unidad durable que mantiene esa responsabilidad.</a:t>
            </a:r>
          </a:p>
          <a:p>
            <a:r>
              <a:rPr lang="en-US" sz="2000" b="0" u="none" strike="noStrike" dirty="0">
                <a:solidFill>
                  <a:srgbClr val="000000"/>
                </a:solidFill>
                <a:effectLst/>
                <a:uFillTx/>
                <a:latin typeface="Arial"/>
              </a:rPr>
              <a:t>- </a:t>
            </a:r>
            <a:r>
              <a:rPr lang="es-MX" sz="2000" b="1" dirty="0" err="1"/>
              <a:t>Gu</a:t>
            </a:r>
            <a:r>
              <a:rPr lang="es-MX" sz="2000" b="1" dirty="0"/>
              <a:t> OS / </a:t>
            </a:r>
            <a:r>
              <a:rPr lang="es-MX" sz="2000" b="1" dirty="0" err="1"/>
              <a:t>Relationship</a:t>
            </a:r>
            <a:r>
              <a:rPr lang="es-MX" sz="2000" b="1" dirty="0"/>
              <a:t> </a:t>
            </a:r>
            <a:r>
              <a:rPr lang="es-MX" sz="2000" b="1" dirty="0" err="1"/>
              <a:t>Operations</a:t>
            </a:r>
            <a:endParaRPr lang="es-MX" sz="2000" b="1" dirty="0"/>
          </a:p>
          <a:p>
            <a:r>
              <a:rPr lang="es-MX" sz="2000" dirty="0"/>
              <a:t>El salto no consiste en agregar más </a:t>
            </a:r>
            <a:r>
              <a:rPr lang="es-MX" sz="2000" dirty="0" err="1"/>
              <a:t>timers</a:t>
            </a:r>
            <a:r>
              <a:rPr lang="es-MX" sz="2000" dirty="0"/>
              <a:t>. Consiste en que el sistema pueda preguntar:</a:t>
            </a:r>
          </a:p>
          <a:p>
            <a:r>
              <a:rPr lang="es-MX" sz="2000" b="1" dirty="0"/>
              <a:t>“¿Qué necesita esta oportunidad ahora para avanzar?”</a:t>
            </a:r>
            <a:endParaRPr lang="es-MX" sz="2000" dirty="0"/>
          </a:p>
          <a:p>
            <a:r>
              <a:rPr lang="es-MX" sz="2000" dirty="0"/>
              <a:t>y decidir entre:</a:t>
            </a:r>
          </a:p>
          <a:p>
            <a:pPr marL="342900" lvl="0" indent="-342900">
              <a:buFont typeface="Arial" panose="020B0604020202020204" pitchFamily="34" charset="0"/>
              <a:buChar char="•"/>
            </a:pPr>
            <a:r>
              <a:rPr lang="es-MX" sz="2000" dirty="0"/>
              <a:t>contactar; </a:t>
            </a:r>
          </a:p>
          <a:p>
            <a:pPr marL="342900" lvl="0" indent="-342900">
              <a:buFont typeface="Arial" panose="020B0604020202020204" pitchFamily="34" charset="0"/>
              <a:buChar char="•"/>
            </a:pPr>
            <a:r>
              <a:rPr lang="es-MX" sz="2000" dirty="0"/>
              <a:t>esperar; </a:t>
            </a:r>
          </a:p>
          <a:p>
            <a:pPr marL="342900" lvl="0" indent="-342900">
              <a:buFont typeface="Arial" panose="020B0604020202020204" pitchFamily="34" charset="0"/>
              <a:buChar char="•"/>
            </a:pPr>
            <a:r>
              <a:rPr lang="es-MX" sz="2000" dirty="0"/>
              <a:t>buscar nuevamente; </a:t>
            </a:r>
          </a:p>
          <a:p>
            <a:pPr marL="342900" lvl="0" indent="-342900">
              <a:buFont typeface="Arial" panose="020B0604020202020204" pitchFamily="34" charset="0"/>
              <a:buChar char="•"/>
            </a:pPr>
            <a:r>
              <a:rPr lang="es-MX" sz="2000" dirty="0"/>
              <a:t>presentar un nuevo match; </a:t>
            </a:r>
          </a:p>
          <a:p>
            <a:pPr marL="342900" lvl="0" indent="-342900">
              <a:buFont typeface="Arial" panose="020B0604020202020204" pitchFamily="34" charset="0"/>
              <a:buChar char="•"/>
            </a:pPr>
            <a:r>
              <a:rPr lang="es-MX" sz="2000" dirty="0"/>
              <a:t>coordinar visita; </a:t>
            </a:r>
          </a:p>
          <a:p>
            <a:pPr marL="342900" lvl="0" indent="-342900">
              <a:buFont typeface="Arial" panose="020B0604020202020204" pitchFamily="34" charset="0"/>
              <a:buChar char="•"/>
            </a:pPr>
            <a:r>
              <a:rPr lang="es-MX" sz="2000" dirty="0"/>
              <a:t>involucrar al asesor; </a:t>
            </a:r>
          </a:p>
          <a:p>
            <a:pPr marL="342900" lvl="0" indent="-342900">
              <a:buFont typeface="Arial" panose="020B0604020202020204" pitchFamily="34" charset="0"/>
              <a:buChar char="•"/>
            </a:pPr>
            <a:r>
              <a:rPr lang="es-MX" sz="2000" dirty="0"/>
              <a:t>disparar otro trabajo; </a:t>
            </a:r>
          </a:p>
          <a:p>
            <a:pPr marL="342900" lvl="0" indent="-342900">
              <a:buFont typeface="Arial" panose="020B0604020202020204" pitchFamily="34" charset="0"/>
              <a:buChar char="•"/>
            </a:pPr>
            <a:r>
              <a:rPr lang="es-MX" sz="2000" dirty="0"/>
              <a:t>o no hacer nada todavía.</a:t>
            </a:r>
          </a:p>
          <a:p>
            <a:pPr marL="0" indent="0">
              <a:lnSpc>
                <a:spcPct val="100000"/>
              </a:lnSpc>
              <a:buFontTx/>
              <a:buNone/>
            </a:pPr>
            <a:endParaRPr lang="en-US" sz="2000" b="0" u="none" strike="noStrike" dirty="0">
              <a:solidFill>
                <a:srgbClr val="000000"/>
              </a:solidFill>
              <a:effectLst/>
              <a:uFillTx/>
              <a:latin typeface="Arial"/>
            </a:endParaRPr>
          </a:p>
          <a:p>
            <a:r>
              <a:rPr lang="es-MX" sz="2000" b="1" dirty="0"/>
              <a:t>TAKEAWAY</a:t>
            </a:r>
            <a:endParaRPr lang="es-MX" sz="2000" dirty="0"/>
          </a:p>
          <a:p>
            <a:r>
              <a:rPr lang="es-MX" sz="2000" b="0" dirty="0"/>
              <a:t>Automatizar un seguimiento no es lo mismo que asumir responsabilidad por la oportunidad.</a:t>
            </a:r>
          </a:p>
          <a:p>
            <a:pPr marL="0" indent="0">
              <a:lnSpc>
                <a:spcPct val="100000"/>
              </a:lnSpc>
              <a:buFontTx/>
              <a:buNone/>
            </a:pPr>
            <a:endParaRPr lang="en-US" sz="2000" b="0" u="none" strike="noStrike" dirty="0">
              <a:solidFill>
                <a:srgbClr val="000000"/>
              </a:solidFill>
              <a:effectLst/>
              <a:uFillTx/>
              <a:latin typeface="Arial"/>
            </a:endParaRPr>
          </a:p>
        </p:txBody>
      </p:sp>
      <p:sp>
        <p:nvSpPr>
          <p:cNvPr id="674"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F266EAE-5C21-4D69-AAE6-A3F81292EFD3}" type="slidenum">
              <a:rPr lang="en-US" sz="1200" b="0" u="none" strike="noStrike">
                <a:solidFill>
                  <a:schemeClr val="dk1"/>
                </a:solidFill>
                <a:effectLst/>
                <a:uFillTx/>
                <a:latin typeface="+mn-lt"/>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 name="PlaceHolder 1"/>
          <p:cNvSpPr>
            <a:spLocks noGrp="1" noRot="1" noChangeAspect="1"/>
          </p:cNvSpPr>
          <p:nvPr>
            <p:ph type="sldImg"/>
          </p:nvPr>
        </p:nvSpPr>
        <p:spPr>
          <a:xfrm>
            <a:off x="685800" y="1143000"/>
            <a:ext cx="5486400" cy="3086100"/>
          </a:xfrm>
          <a:prstGeom prst="rect">
            <a:avLst/>
          </a:prstGeom>
          <a:ln w="0">
            <a:noFill/>
          </a:ln>
        </p:spPr>
      </p:sp>
      <p:sp>
        <p:nvSpPr>
          <p:cNvPr id="6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dirty="0">
                <a:solidFill>
                  <a:srgbClr val="000000"/>
                </a:solidFill>
                <a:effectLst/>
                <a:uFillTx/>
                <a:latin typeface="Arial"/>
              </a:rPr>
              <a:t>Gu → Gu OS — Session 1</a:t>
            </a:r>
          </a:p>
          <a:p>
            <a:pPr indent="0">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Este es </a:t>
            </a:r>
            <a:r>
              <a:rPr lang="en-US" sz="2000" b="0" u="none" strike="noStrike" dirty="0" err="1">
                <a:solidFill>
                  <a:srgbClr val="000000"/>
                </a:solidFill>
                <a:effectLst/>
                <a:uFillTx/>
                <a:latin typeface="Arial"/>
              </a:rPr>
              <a:t>probablemente</a:t>
            </a:r>
            <a:r>
              <a:rPr lang="en-US" sz="2000" b="0" u="none" strike="noStrike" dirty="0">
                <a:solidFill>
                  <a:srgbClr val="000000"/>
                </a:solidFill>
                <a:effectLst/>
                <a:uFillTx/>
                <a:latin typeface="Arial"/>
              </a:rPr>
              <a:t> el </a:t>
            </a:r>
            <a:r>
              <a:rPr lang="en-US" sz="2000" b="0" u="none" strike="noStrike" dirty="0" err="1">
                <a:solidFill>
                  <a:srgbClr val="000000"/>
                </a:solidFill>
                <a:effectLst/>
                <a:uFillTx/>
                <a:latin typeface="Arial"/>
              </a:rPr>
              <a:t>concepto</a:t>
            </a:r>
            <a:r>
              <a:rPr lang="en-US" sz="2000" b="0" u="none" strike="noStrike" dirty="0">
                <a:solidFill>
                  <a:srgbClr val="000000"/>
                </a:solidFill>
                <a:effectLst/>
                <a:uFillTx/>
                <a:latin typeface="Arial"/>
              </a:rPr>
              <a:t> más </a:t>
            </a:r>
            <a:r>
              <a:rPr lang="en-US" sz="2000" b="0" u="none" strike="noStrike" dirty="0" err="1">
                <a:solidFill>
                  <a:srgbClr val="000000"/>
                </a:solidFill>
                <a:effectLst/>
                <a:uFillTx/>
                <a:latin typeface="Arial"/>
              </a:rPr>
              <a:t>importante</a:t>
            </a:r>
            <a:r>
              <a:rPr lang="en-US" sz="2000" b="0" u="none" strike="noStrike" dirty="0">
                <a:solidFill>
                  <a:srgbClr val="000000"/>
                </a:solidFill>
                <a:effectLst/>
                <a:uFillTx/>
                <a:latin typeface="Arial"/>
              </a:rPr>
              <a:t> para </a:t>
            </a:r>
            <a:r>
              <a:rPr lang="en-US" sz="2000" b="0" u="none" strike="noStrike" dirty="0" err="1">
                <a:solidFill>
                  <a:srgbClr val="000000"/>
                </a:solidFill>
                <a:effectLst/>
                <a:uFillTx/>
                <a:latin typeface="Arial"/>
              </a:rPr>
              <a:t>ingeniería</a:t>
            </a:r>
            <a:r>
              <a:rPr lang="en-US" sz="2000" b="0" u="none" strike="noStrike" dirty="0">
                <a:solidFill>
                  <a:srgbClr val="000000"/>
                </a:solidFill>
                <a:effectLst/>
                <a:uFillTx/>
                <a:latin typeface="Arial"/>
              </a:rPr>
              <a:t> y </a:t>
            </a:r>
            <a:r>
              <a:rPr lang="en-US" sz="2000" b="0" u="none" strike="noStrike" dirty="0" err="1">
                <a:solidFill>
                  <a:srgbClr val="000000"/>
                </a:solidFill>
                <a:effectLst/>
                <a:uFillTx/>
                <a:latin typeface="Arial"/>
              </a:rPr>
              <a:t>producto</a:t>
            </a:r>
            <a:r>
              <a:rPr lang="en-US" sz="2000" b="0" u="none" strike="noStrike" dirty="0">
                <a:solidFill>
                  <a:srgbClr val="000000"/>
                </a:solidFill>
                <a:effectLst/>
                <a:uFillTx/>
                <a:latin typeface="Arial"/>
              </a:rPr>
              <a:t>. No </a:t>
            </a:r>
            <a:r>
              <a:rPr lang="en-US" sz="2000" b="0" u="none" strike="noStrike" dirty="0" err="1">
                <a:solidFill>
                  <a:srgbClr val="000000"/>
                </a:solidFill>
                <a:effectLst/>
                <a:uFillTx/>
                <a:latin typeface="Arial"/>
              </a:rPr>
              <a:t>podemos</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pedirle</a:t>
            </a:r>
            <a:r>
              <a:rPr lang="en-US" sz="2000" b="0" u="none" strike="noStrike" dirty="0">
                <a:solidFill>
                  <a:srgbClr val="000000"/>
                </a:solidFill>
                <a:effectLst/>
                <a:uFillTx/>
                <a:latin typeface="Arial"/>
              </a:rPr>
              <a:t> al chat history </a:t>
            </a:r>
            <a:r>
              <a:rPr lang="en-US" sz="2000" b="0" u="none" strike="noStrike" dirty="0" err="1">
                <a:solidFill>
                  <a:srgbClr val="000000"/>
                </a:solidFill>
                <a:effectLst/>
                <a:uFillTx/>
                <a:latin typeface="Arial"/>
              </a:rPr>
              <a:t>que</a:t>
            </a:r>
            <a:r>
              <a:rPr lang="en-US" sz="2000" b="0" u="none" strike="noStrike" dirty="0">
                <a:solidFill>
                  <a:srgbClr val="000000"/>
                </a:solidFill>
                <a:effectLst/>
                <a:uFillTx/>
                <a:latin typeface="Arial"/>
              </a:rPr>
              <a:t> sea CRM, workflow state, </a:t>
            </a:r>
            <a:r>
              <a:rPr lang="en-US" sz="2000" b="0" u="none" strike="noStrike" dirty="0" err="1">
                <a:solidFill>
                  <a:srgbClr val="000000"/>
                </a:solidFill>
                <a:effectLst/>
                <a:uFillTx/>
                <a:latin typeface="Arial"/>
              </a:rPr>
              <a:t>auditoría</a:t>
            </a:r>
            <a:r>
              <a:rPr lang="en-US" sz="2000" b="0" u="none" strike="noStrike" dirty="0">
                <a:solidFill>
                  <a:srgbClr val="000000"/>
                </a:solidFill>
                <a:effectLst/>
                <a:uFillTx/>
                <a:latin typeface="Arial"/>
              </a:rPr>
              <a:t> y memoria al </a:t>
            </a:r>
            <a:r>
              <a:rPr lang="en-US" sz="2000" b="0" u="none" strike="noStrike" dirty="0" err="1">
                <a:solidFill>
                  <a:srgbClr val="000000"/>
                </a:solidFill>
                <a:effectLst/>
                <a:uFillTx/>
                <a:latin typeface="Arial"/>
              </a:rPr>
              <a:t>mismo</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tiempo</a:t>
            </a:r>
            <a:r>
              <a:rPr lang="en-US" sz="2000" b="0" u="none" strike="noStrike" dirty="0">
                <a:solidFill>
                  <a:srgbClr val="000000"/>
                </a:solidFill>
                <a:effectLst/>
                <a:uFillTx/>
                <a:latin typeface="Arial"/>
              </a:rPr>
              <a:t>. El </a:t>
            </a:r>
            <a:r>
              <a:rPr lang="en-US" sz="2000" b="0" u="none" strike="noStrike" dirty="0" err="1">
                <a:solidFill>
                  <a:srgbClr val="000000"/>
                </a:solidFill>
                <a:effectLst/>
                <a:uFillTx/>
                <a:latin typeface="Arial"/>
              </a:rPr>
              <a:t>trabajo</a:t>
            </a:r>
            <a:r>
              <a:rPr lang="en-US" sz="2000" b="0" u="none" strike="noStrike" dirty="0">
                <a:solidFill>
                  <a:srgbClr val="000000"/>
                </a:solidFill>
                <a:effectLst/>
                <a:uFillTx/>
                <a:latin typeface="Arial"/>
              </a:rPr>
              <a:t> real </a:t>
            </a:r>
            <a:r>
              <a:rPr lang="en-US" sz="2000" b="0" u="none" strike="noStrike" dirty="0" err="1">
                <a:solidFill>
                  <a:srgbClr val="000000"/>
                </a:solidFill>
                <a:effectLst/>
                <a:uFillTx/>
                <a:latin typeface="Arial"/>
              </a:rPr>
              <a:t>necesita</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una</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representación</a:t>
            </a:r>
            <a:r>
              <a:rPr lang="en-US" sz="2000" b="0" u="none" strike="noStrike" dirty="0">
                <a:solidFill>
                  <a:srgbClr val="000000"/>
                </a:solidFill>
                <a:effectLst/>
                <a:uFillTx/>
                <a:latin typeface="Arial"/>
              </a:rPr>
              <a:t> durable y </a:t>
            </a:r>
            <a:r>
              <a:rPr lang="en-US" sz="2000" b="0" u="none" strike="noStrike" dirty="0" err="1">
                <a:solidFill>
                  <a:srgbClr val="000000"/>
                </a:solidFill>
                <a:effectLst/>
                <a:uFillTx/>
                <a:latin typeface="Arial"/>
              </a:rPr>
              <a:t>explícita</a:t>
            </a:r>
            <a:r>
              <a:rPr lang="en-US" sz="2000" b="0" u="none" strike="noStrike" dirty="0">
                <a:solidFill>
                  <a:srgbClr val="000000"/>
                </a:solidFill>
                <a:effectLst/>
                <a:uFillTx/>
                <a:latin typeface="Arial"/>
              </a:rPr>
              <a:t>.</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a:t>
            </a:r>
          </a:p>
          <a:p>
            <a:pPr indent="0">
              <a:lnSpc>
                <a:spcPct val="100000"/>
              </a:lnSpc>
              <a:buNone/>
            </a:pPr>
            <a:r>
              <a:rPr lang="en-US" sz="2000" b="0" u="none" strike="noStrike" dirty="0" err="1">
                <a:solidFill>
                  <a:srgbClr val="000000"/>
                </a:solidFill>
                <a:effectLst/>
                <a:uFillTx/>
                <a:latin typeface="Arial"/>
              </a:rPr>
              <a:t>Notas</a:t>
            </a:r>
            <a:r>
              <a:rPr lang="en-US" sz="2000" b="0" u="none" strike="noStrike" dirty="0">
                <a:solidFill>
                  <a:srgbClr val="000000"/>
                </a:solidFill>
                <a:effectLst/>
                <a:uFillTx/>
                <a:latin typeface="Arial"/>
              </a:rPr>
              <a:t>:</a:t>
            </a:r>
          </a:p>
          <a:p>
            <a:r>
              <a:rPr lang="en-US" sz="2000" b="0" u="none" strike="noStrike" dirty="0">
                <a:solidFill>
                  <a:srgbClr val="000000"/>
                </a:solidFill>
                <a:effectLst/>
                <a:uFillTx/>
                <a:latin typeface="Arial"/>
              </a:rPr>
              <a:t>- </a:t>
            </a:r>
            <a:r>
              <a:rPr lang="es-MX" sz="2000" b="0" u="none" strike="noStrike" dirty="0">
                <a:solidFill>
                  <a:srgbClr val="000000"/>
                </a:solidFill>
                <a:effectLst/>
                <a:uFillTx/>
                <a:latin typeface="Arial"/>
              </a:rPr>
              <a:t>E</a:t>
            </a:r>
            <a:r>
              <a:rPr lang="es-MX" sz="2000" dirty="0"/>
              <a:t>l estado operacional no se deriva únicamente de la conversación. Sabemos que también se construye con:</a:t>
            </a:r>
          </a:p>
          <a:p>
            <a:pPr marL="342900" lvl="0" indent="-342900">
              <a:buFont typeface="Arial" panose="020B0604020202020204" pitchFamily="34" charset="0"/>
              <a:buChar char="•"/>
            </a:pPr>
            <a:r>
              <a:rPr lang="es-MX" sz="2000" dirty="0"/>
              <a:t>datos estructurados,</a:t>
            </a:r>
          </a:p>
          <a:p>
            <a:pPr marL="342900" lvl="0" indent="-342900">
              <a:buFont typeface="Arial" panose="020B0604020202020204" pitchFamily="34" charset="0"/>
              <a:buChar char="•"/>
            </a:pPr>
            <a:r>
              <a:rPr lang="es-MX" sz="2000" dirty="0"/>
              <a:t>eventos,</a:t>
            </a:r>
          </a:p>
          <a:p>
            <a:pPr marL="342900" lvl="0" indent="-342900">
              <a:buFont typeface="Arial" panose="020B0604020202020204" pitchFamily="34" charset="0"/>
              <a:buChar char="•"/>
            </a:pPr>
            <a:r>
              <a:rPr lang="es-MX" sz="2000" dirty="0"/>
              <a:t>sistemas externos, </a:t>
            </a:r>
          </a:p>
          <a:p>
            <a:pPr marL="342900" lvl="0" indent="-342900">
              <a:buFont typeface="Arial" panose="020B0604020202020204" pitchFamily="34" charset="0"/>
              <a:buChar char="•"/>
            </a:pPr>
            <a:r>
              <a:rPr lang="es-MX" sz="2000" dirty="0"/>
              <a:t>decisiones humanas,</a:t>
            </a:r>
          </a:p>
          <a:p>
            <a:pPr marL="342900" lvl="0" indent="-342900">
              <a:buFont typeface="Arial" panose="020B0604020202020204" pitchFamily="34" charset="0"/>
              <a:buChar char="•"/>
            </a:pPr>
            <a:r>
              <a:rPr lang="es-MX" sz="2000" dirty="0"/>
              <a:t>Evidencia,</a:t>
            </a:r>
          </a:p>
          <a:p>
            <a:pPr marL="342900" lvl="0" indent="-342900">
              <a:buFont typeface="Arial" panose="020B0604020202020204" pitchFamily="34" charset="0"/>
              <a:buChar char="•"/>
            </a:pPr>
            <a:r>
              <a:rPr lang="es-MX" sz="2000" dirty="0"/>
              <a:t>etc.</a:t>
            </a:r>
          </a:p>
          <a:p>
            <a:pPr indent="0">
              <a:lnSpc>
                <a:spcPct val="100000"/>
              </a:lnSpc>
              <a:buNone/>
            </a:pPr>
            <a:endParaRPr lang="en-US" sz="2000" b="0" u="none" strike="noStrike" dirty="0">
              <a:solidFill>
                <a:srgbClr val="000000"/>
              </a:solidFill>
              <a:effectLst/>
              <a:uFillTx/>
              <a:latin typeface="Arial"/>
            </a:endParaRPr>
          </a:p>
        </p:txBody>
      </p:sp>
      <p:sp>
        <p:nvSpPr>
          <p:cNvPr id="677"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FC92011-824B-4558-903B-24DDDDCCFD98}"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 name="PlaceHolder 1"/>
          <p:cNvSpPr>
            <a:spLocks noGrp="1" noRot="1" noChangeAspect="1"/>
          </p:cNvSpPr>
          <p:nvPr>
            <p:ph type="sldImg"/>
          </p:nvPr>
        </p:nvSpPr>
        <p:spPr>
          <a:xfrm>
            <a:off x="685800" y="1143000"/>
            <a:ext cx="5486400" cy="3086100"/>
          </a:xfrm>
          <a:prstGeom prst="rect">
            <a:avLst/>
          </a:prstGeom>
          <a:ln w="0">
            <a:noFill/>
          </a:ln>
        </p:spPr>
      </p:sp>
      <p:sp>
        <p:nvSpPr>
          <p:cNvPr id="67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dirty="0">
                <a:solidFill>
                  <a:srgbClr val="000000"/>
                </a:solidFill>
                <a:effectLst/>
                <a:uFillTx/>
                <a:latin typeface="Arial"/>
              </a:rPr>
              <a:t>Gu → Gu OS — Session 1</a:t>
            </a:r>
          </a:p>
          <a:p>
            <a:pPr indent="0">
              <a:buNone/>
            </a:pPr>
            <a:endParaRPr lang="en-US" sz="2000" b="0" u="none" strike="noStrike" dirty="0">
              <a:solidFill>
                <a:srgbClr val="000000"/>
              </a:solidFill>
              <a:effectLst/>
              <a:uFillTx/>
              <a:latin typeface="Arial"/>
            </a:endParaRPr>
          </a:p>
          <a:p>
            <a:pPr indent="0">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No </a:t>
            </a:r>
            <a:r>
              <a:rPr lang="en-US" sz="2000" b="0" u="none" strike="noStrike" dirty="0" err="1">
                <a:solidFill>
                  <a:srgbClr val="000000"/>
                </a:solidFill>
                <a:effectLst/>
                <a:uFillTx/>
                <a:latin typeface="Arial"/>
              </a:rPr>
              <a:t>necesitamos</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crear</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marcas</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separadas</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como</a:t>
            </a:r>
            <a:r>
              <a:rPr lang="en-US" sz="2000" b="0" u="none" strike="noStrike" dirty="0">
                <a:solidFill>
                  <a:srgbClr val="000000"/>
                </a:solidFill>
                <a:effectLst/>
                <a:uFillTx/>
                <a:latin typeface="Arial"/>
              </a:rPr>
              <a:t> Gu CRM, Gu Marketing o Gu Brain. </a:t>
            </a:r>
            <a:r>
              <a:rPr lang="en-US" sz="2000" b="0" u="none" strike="noStrike" dirty="0" err="1">
                <a:solidFill>
                  <a:srgbClr val="000000"/>
                </a:solidFill>
                <a:effectLst/>
                <a:uFillTx/>
                <a:latin typeface="Arial"/>
              </a:rPr>
              <a:t>Internamente</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sí</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puede</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haber</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subsistemas</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pero</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comercialmente</a:t>
            </a:r>
            <a:r>
              <a:rPr lang="en-US" sz="2000" b="0" u="none" strike="noStrike" dirty="0">
                <a:solidFill>
                  <a:srgbClr val="000000"/>
                </a:solidFill>
                <a:effectLst/>
                <a:uFillTx/>
                <a:latin typeface="Arial"/>
              </a:rPr>
              <a:t> la </a:t>
            </a:r>
            <a:r>
              <a:rPr lang="en-US" sz="2000" b="0" u="none" strike="noStrike" dirty="0" err="1">
                <a:solidFill>
                  <a:srgbClr val="000000"/>
                </a:solidFill>
                <a:effectLst/>
                <a:uFillTx/>
                <a:latin typeface="Arial"/>
              </a:rPr>
              <a:t>claridad</a:t>
            </a:r>
            <a:r>
              <a:rPr lang="en-US" sz="2000" b="0" u="none" strike="noStrike" dirty="0">
                <a:solidFill>
                  <a:srgbClr val="000000"/>
                </a:solidFill>
                <a:effectLst/>
                <a:uFillTx/>
                <a:latin typeface="Arial"/>
              </a:rPr>
              <a:t> es: </a:t>
            </a:r>
            <a:r>
              <a:rPr lang="en-US" sz="2000" b="0" u="none" strike="noStrike" dirty="0" err="1">
                <a:solidFill>
                  <a:srgbClr val="000000"/>
                </a:solidFill>
                <a:effectLst/>
                <a:uFillTx/>
                <a:latin typeface="Arial"/>
              </a:rPr>
              <a:t>trabajo</a:t>
            </a:r>
            <a:r>
              <a:rPr lang="en-US" sz="2000" b="0" u="none" strike="noStrike" dirty="0">
                <a:solidFill>
                  <a:srgbClr val="000000"/>
                </a:solidFill>
                <a:effectLst/>
                <a:uFillTx/>
                <a:latin typeface="Arial"/>
              </a:rPr>
              <a:t> con Gu, y Gu OS lo </a:t>
            </a:r>
            <a:r>
              <a:rPr lang="en-US" sz="2000" b="0" u="none" strike="noStrike" dirty="0" err="1">
                <a:solidFill>
                  <a:srgbClr val="000000"/>
                </a:solidFill>
                <a:effectLst/>
                <a:uFillTx/>
                <a:latin typeface="Arial"/>
              </a:rPr>
              <a:t>habilita</a:t>
            </a:r>
            <a:r>
              <a:rPr lang="en-US" sz="2000" b="0" u="none" strike="noStrike" dirty="0">
                <a:solidFill>
                  <a:srgbClr val="000000"/>
                </a:solidFill>
                <a:effectLst/>
                <a:uFillTx/>
                <a:latin typeface="Arial"/>
              </a:rPr>
              <a:t>.</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s-MX" sz="2000" dirty="0"/>
              <a:t>“No es solamente </a:t>
            </a:r>
            <a:r>
              <a:rPr lang="es-MX" sz="2000" dirty="0" err="1"/>
              <a:t>runtime</a:t>
            </a:r>
            <a:r>
              <a:rPr lang="es-MX" sz="2000" dirty="0"/>
              <a:t> ni </a:t>
            </a:r>
            <a:r>
              <a:rPr lang="es-MX" sz="2000" dirty="0" err="1"/>
              <a:t>workflow</a:t>
            </a:r>
            <a:r>
              <a:rPr lang="es-MX" sz="2000" dirty="0"/>
              <a:t> </a:t>
            </a:r>
            <a:r>
              <a:rPr lang="es-MX" sz="2000" dirty="0" err="1"/>
              <a:t>engine</a:t>
            </a:r>
            <a:r>
              <a:rPr lang="es-MX" sz="2000" dirty="0"/>
              <a:t>; es el entorno donde estas responsabilidades se vuelven coherentes.”</a:t>
            </a:r>
          </a:p>
          <a:p>
            <a:pPr indent="0">
              <a:lnSpc>
                <a:spcPct val="100000"/>
              </a:lnSpc>
              <a:buNone/>
            </a:pPr>
            <a:endParaRPr lang="es-MX" sz="2000" dirty="0"/>
          </a:p>
          <a:p>
            <a:pPr indent="0">
              <a:lnSpc>
                <a:spcPct val="100000"/>
              </a:lnSpc>
              <a:buNone/>
            </a:pPr>
            <a:r>
              <a:rPr lang="es-MX" sz="2000" dirty="0"/>
              <a:t>“Comercialmente queremos mantener algo muy simple: el usuario trabaja con </a:t>
            </a:r>
            <a:r>
              <a:rPr lang="es-MX" sz="2000" dirty="0" err="1"/>
              <a:t>Gu</a:t>
            </a:r>
            <a:r>
              <a:rPr lang="es-MX" sz="2000" dirty="0"/>
              <a:t>. Pero para que </a:t>
            </a:r>
            <a:r>
              <a:rPr lang="es-MX" sz="2000" dirty="0" err="1"/>
              <a:t>Gu</a:t>
            </a:r>
            <a:r>
              <a:rPr lang="es-MX" sz="2000" dirty="0"/>
              <a:t> pueda asumir responsabilidad real detrás tiene que existir </a:t>
            </a:r>
            <a:r>
              <a:rPr lang="es-MX" sz="2000" dirty="0" err="1"/>
              <a:t>Gu</a:t>
            </a:r>
            <a:r>
              <a:rPr lang="es-MX" sz="2000" dirty="0"/>
              <a:t> OS. Ese entorno mantiene la verdad operacional del trabajo, permite ejecutar, gobierna qué puede hacerse, aporta inteligencia y contexto, mantiene continuidad aunque pasen días o cambien las condiciones, verifica resultados y puede movilizar recursos más allá de una sola inmobiliaria. Estas no son productos separados; son responsabilidades y subsistemas de un mismo </a:t>
            </a:r>
            <a:r>
              <a:rPr lang="es-MX" sz="2000" dirty="0" err="1"/>
              <a:t>Gu</a:t>
            </a:r>
            <a:r>
              <a:rPr lang="es-MX" sz="2000" dirty="0"/>
              <a:t> OS.”</a:t>
            </a:r>
          </a:p>
          <a:p>
            <a:pPr indent="0">
              <a:lnSpc>
                <a:spcPct val="100000"/>
              </a:lnSpc>
              <a:buNone/>
            </a:pPr>
            <a:endParaRPr lang="es-MX" sz="2000" dirty="0"/>
          </a:p>
          <a:p>
            <a:pPr indent="0">
              <a:lnSpc>
                <a:spcPct val="100000"/>
              </a:lnSpc>
              <a:buNone/>
            </a:pPr>
            <a:r>
              <a:rPr lang="es-MX" sz="2000" dirty="0"/>
              <a:t>“La simplicidad externa exige sofisticación interna.”</a:t>
            </a:r>
          </a:p>
          <a:p>
            <a:pPr indent="0">
              <a:lnSpc>
                <a:spcPct val="100000"/>
              </a:lnSpc>
              <a:buNone/>
            </a:pPr>
            <a:endParaRPr lang="es-MX" sz="2000" dirty="0"/>
          </a:p>
          <a:p>
            <a:pPr indent="0">
              <a:lnSpc>
                <a:spcPct val="100000"/>
              </a:lnSpc>
              <a:buNone/>
            </a:pPr>
            <a:endParaRPr lang="es-MX"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a:t>
            </a:r>
          </a:p>
          <a:p>
            <a:pPr indent="0">
              <a:lnSpc>
                <a:spcPct val="100000"/>
              </a:lnSpc>
              <a:buNone/>
            </a:pPr>
            <a:r>
              <a:rPr lang="en-US" sz="2000" b="0" u="none" strike="noStrike" dirty="0" err="1">
                <a:solidFill>
                  <a:srgbClr val="000000"/>
                </a:solidFill>
                <a:effectLst/>
                <a:uFillTx/>
                <a:latin typeface="Arial"/>
              </a:rPr>
              <a:t>Notas</a:t>
            </a:r>
            <a:r>
              <a:rPr lang="en-US" sz="2000" b="0" u="none" strike="noStrike" dirty="0">
                <a:solidFill>
                  <a:srgbClr val="000000"/>
                </a:solidFill>
                <a:effectLst/>
                <a:uFillTx/>
                <a:latin typeface="Arial"/>
              </a:rPr>
              <a:t>:</a:t>
            </a:r>
          </a:p>
          <a:p>
            <a:pPr indent="0">
              <a:lnSpc>
                <a:spcPct val="100000"/>
              </a:lnSpc>
              <a:buNone/>
            </a:pPr>
            <a:endParaRPr lang="en-US" sz="2000" b="0" u="none" strike="noStrike" dirty="0">
              <a:solidFill>
                <a:srgbClr val="000000"/>
              </a:solidFill>
              <a:effectLst/>
              <a:uFillTx/>
              <a:latin typeface="Arial"/>
            </a:endParaRPr>
          </a:p>
          <a:p>
            <a:r>
              <a:rPr lang="en-US" sz="2000" b="0" u="none" strike="noStrike" dirty="0">
                <a:solidFill>
                  <a:srgbClr val="000000"/>
                </a:solidFill>
                <a:effectLst/>
                <a:uFillTx/>
                <a:latin typeface="Arial"/>
              </a:rPr>
              <a:t>- En </a:t>
            </a:r>
            <a:r>
              <a:rPr lang="en-US" sz="2000" b="0" u="none" strike="noStrike" dirty="0" err="1">
                <a:solidFill>
                  <a:srgbClr val="000000"/>
                </a:solidFill>
                <a:effectLst/>
                <a:uFillTx/>
                <a:latin typeface="Arial"/>
              </a:rPr>
              <a:t>Verificaciòn</a:t>
            </a:r>
            <a:r>
              <a:rPr lang="en-US" sz="2000" b="0" u="none" strike="noStrike" dirty="0">
                <a:solidFill>
                  <a:srgbClr val="000000"/>
                </a:solidFill>
                <a:effectLst/>
                <a:uFillTx/>
                <a:latin typeface="Arial"/>
              </a:rPr>
              <a:t>:</a:t>
            </a:r>
            <a:endParaRPr lang="es-MX" sz="2000" b="1" dirty="0"/>
          </a:p>
          <a:p>
            <a:pPr lvl="0"/>
            <a:r>
              <a:rPr lang="es-MX" sz="2000" b="1" dirty="0"/>
              <a:t>Evidencia</a:t>
            </a:r>
            <a:r>
              <a:rPr lang="es-MX" sz="2000" dirty="0"/>
              <a:t> = la prueba de que algo ocurrió.</a:t>
            </a:r>
            <a:br>
              <a:rPr lang="es-MX" sz="2000" dirty="0"/>
            </a:br>
            <a:r>
              <a:rPr lang="es-MX" sz="2000" dirty="0"/>
              <a:t>Ejemplos: un mensaje enviado, una cita creada, un documento firmado, una publicación confirmada por </a:t>
            </a:r>
            <a:r>
              <a:rPr lang="es-MX" sz="2000" dirty="0" err="1"/>
              <a:t>EasyBroker</a:t>
            </a:r>
            <a:r>
              <a:rPr lang="es-MX" sz="2000" dirty="0"/>
              <a:t>, un </a:t>
            </a:r>
            <a:r>
              <a:rPr lang="es-MX" sz="2000" dirty="0" err="1"/>
              <a:t>webhook</a:t>
            </a:r>
            <a:r>
              <a:rPr lang="es-MX" sz="2000" dirty="0"/>
              <a:t> recibido, una foto del inmueble cargada. </a:t>
            </a:r>
          </a:p>
          <a:p>
            <a:pPr lvl="0"/>
            <a:endParaRPr lang="es-MX" sz="2000" b="1" dirty="0"/>
          </a:p>
          <a:p>
            <a:pPr lvl="0"/>
            <a:r>
              <a:rPr lang="es-MX" sz="2000" b="1" dirty="0" err="1"/>
              <a:t>Completion</a:t>
            </a:r>
            <a:r>
              <a:rPr lang="es-MX" sz="2000" b="1" dirty="0"/>
              <a:t> (de acuerdo a lo definido, </a:t>
            </a:r>
            <a:r>
              <a:rPr lang="es-MX" sz="2000" b="1" dirty="0" err="1"/>
              <a:t>ie</a:t>
            </a:r>
            <a:r>
              <a:rPr lang="es-MX" sz="2000" b="1" dirty="0"/>
              <a:t>. criterios de </a:t>
            </a:r>
            <a:r>
              <a:rPr lang="es-MX" sz="2000" b="1" dirty="0" err="1"/>
              <a:t>finalizaciòn</a:t>
            </a:r>
            <a:r>
              <a:rPr lang="es-MX" sz="2000" b="1" dirty="0"/>
              <a:t>)</a:t>
            </a:r>
            <a:r>
              <a:rPr lang="es-MX" sz="2000" dirty="0"/>
              <a:t> = si el trabajo satisface las condiciones que definimos para considerarlo correctamente terminado.</a:t>
            </a:r>
            <a:br>
              <a:rPr lang="es-MX" sz="2000" dirty="0"/>
            </a:br>
            <a:r>
              <a:rPr lang="es-MX" sz="2000" dirty="0"/>
              <a:t>Ejemplo: no basta con que “se haya intentado publicar” una propiedad; para dar el </a:t>
            </a:r>
            <a:r>
              <a:rPr lang="es-MX" sz="2000" dirty="0" err="1"/>
              <a:t>work</a:t>
            </a:r>
            <a:r>
              <a:rPr lang="es-MX" sz="2000" dirty="0"/>
              <a:t> </a:t>
            </a:r>
            <a:r>
              <a:rPr lang="es-MX" sz="2000" dirty="0" err="1"/>
              <a:t>item</a:t>
            </a:r>
            <a:r>
              <a:rPr lang="es-MX" sz="2000" dirty="0"/>
              <a:t> por completo quizá debe existir </a:t>
            </a:r>
            <a:r>
              <a:rPr lang="es-MX" sz="1200" kern="1200" dirty="0" err="1">
                <a:solidFill>
                  <a:schemeClr val="tx1"/>
                </a:solidFill>
                <a:latin typeface="+mn-lt"/>
                <a:ea typeface="+mn-ea"/>
                <a:cs typeface="+mn-cs"/>
              </a:rPr>
              <a:t>listing_id</a:t>
            </a:r>
            <a:r>
              <a:rPr lang="es-MX" sz="2000" dirty="0"/>
              <a:t>, status publicado y confirmación del portal. La evidencia alimenta esta validación. </a:t>
            </a:r>
          </a:p>
          <a:p>
            <a:pPr lvl="0"/>
            <a:endParaRPr lang="es-MX" sz="2000" b="1" dirty="0"/>
          </a:p>
          <a:p>
            <a:pPr lvl="0"/>
            <a:r>
              <a:rPr lang="es-MX" sz="2000" b="1" dirty="0"/>
              <a:t>Resultados reales</a:t>
            </a:r>
            <a:r>
              <a:rPr lang="es-MX" sz="2000" dirty="0"/>
              <a:t> = qué ocurrió en el negocio después de la acción, que puede estar fuera del control directo de </a:t>
            </a:r>
            <a:r>
              <a:rPr lang="es-MX" sz="2000" dirty="0" err="1"/>
              <a:t>Gu</a:t>
            </a:r>
            <a:r>
              <a:rPr lang="es-MX" sz="2000" dirty="0"/>
              <a:t>.</a:t>
            </a:r>
            <a:br>
              <a:rPr lang="es-MX" sz="2000" dirty="0"/>
            </a:br>
            <a:r>
              <a:rPr lang="es-MX" sz="2000" dirty="0"/>
              <a:t>Ejemplos: el prospecto asistió a la visita, hizo una oferta, se cerró la operación, la campaña produjo visitas efectivas, el propietario aceptó el precio. </a:t>
            </a:r>
          </a:p>
          <a:p>
            <a:endParaRPr lang="es-MX" sz="2000" dirty="0"/>
          </a:p>
          <a:p>
            <a:r>
              <a:rPr lang="es-MX" sz="2000" dirty="0"/>
              <a:t>Un ejemplo en </a:t>
            </a:r>
            <a:r>
              <a:rPr lang="es-MX" sz="2000" dirty="0" err="1"/>
              <a:t>Relationship</a:t>
            </a:r>
            <a:r>
              <a:rPr lang="es-MX" sz="2000" dirty="0"/>
              <a:t> </a:t>
            </a:r>
            <a:r>
              <a:rPr lang="es-MX" sz="2000" dirty="0" err="1"/>
              <a:t>Operations</a:t>
            </a:r>
            <a:r>
              <a:rPr lang="es-MX" sz="2000" dirty="0"/>
              <a:t>:</a:t>
            </a:r>
          </a:p>
          <a:p>
            <a:r>
              <a:rPr lang="es-MX" sz="2000" dirty="0" err="1"/>
              <a:t>Gu</a:t>
            </a:r>
            <a:r>
              <a:rPr lang="es-MX" sz="2000" dirty="0"/>
              <a:t> envía </a:t>
            </a:r>
            <a:r>
              <a:rPr lang="es-MX" sz="2000" dirty="0" err="1"/>
              <a:t>follow</a:t>
            </a:r>
            <a:r>
              <a:rPr lang="es-MX" sz="2000" dirty="0"/>
              <a:t>-up.</a:t>
            </a:r>
            <a:br>
              <a:rPr lang="es-MX" sz="2000" dirty="0"/>
            </a:br>
            <a:r>
              <a:rPr lang="es-MX" sz="2000" b="1" dirty="0"/>
              <a:t>Evidencia:</a:t>
            </a:r>
            <a:r>
              <a:rPr lang="es-MX" sz="2000" dirty="0"/>
              <a:t> WhatsApp confirmó </a:t>
            </a:r>
            <a:r>
              <a:rPr lang="es-MX" sz="2000" dirty="0" err="1"/>
              <a:t>delivery</a:t>
            </a:r>
            <a:r>
              <a:rPr lang="es-MX" sz="2000" dirty="0"/>
              <a:t>.</a:t>
            </a:r>
            <a:br>
              <a:rPr lang="es-MX" sz="2000" dirty="0"/>
            </a:br>
            <a:r>
              <a:rPr lang="es-MX" sz="2000" b="1" dirty="0" err="1"/>
              <a:t>Completion</a:t>
            </a:r>
            <a:r>
              <a:rPr lang="es-MX" sz="2000" b="1" dirty="0"/>
              <a:t>:</a:t>
            </a:r>
            <a:r>
              <a:rPr lang="es-MX" sz="2000" dirty="0"/>
              <a:t> el </a:t>
            </a:r>
            <a:r>
              <a:rPr lang="es-MX" sz="2000" dirty="0" err="1"/>
              <a:t>work</a:t>
            </a:r>
            <a:r>
              <a:rPr lang="es-MX" sz="2000" dirty="0"/>
              <a:t> </a:t>
            </a:r>
            <a:r>
              <a:rPr lang="es-MX" sz="2000" dirty="0" err="1"/>
              <a:t>item</a:t>
            </a:r>
            <a:r>
              <a:rPr lang="es-MX" sz="2000" dirty="0"/>
              <a:t> “enviar seguimiento” quedó ejecutado correctamente.</a:t>
            </a:r>
            <a:br>
              <a:rPr lang="es-MX" sz="2000" dirty="0"/>
            </a:br>
            <a:r>
              <a:rPr lang="es-MX" sz="2000" b="1" dirty="0"/>
              <a:t>Resultado real:</a:t>
            </a:r>
            <a:r>
              <a:rPr lang="es-MX" sz="2000" dirty="0"/>
              <a:t> el prospecto respondió, pidió una visita y finalmente asistió.</a:t>
            </a:r>
          </a:p>
          <a:p>
            <a:endParaRPr lang="es-MX" sz="2000" dirty="0"/>
          </a:p>
          <a:p>
            <a:r>
              <a:rPr lang="es-MX" sz="2000" dirty="0"/>
              <a:t>Y en </a:t>
            </a:r>
            <a:r>
              <a:rPr lang="es-MX" sz="2000" dirty="0" err="1"/>
              <a:t>Property</a:t>
            </a:r>
            <a:r>
              <a:rPr lang="es-MX" sz="2000" dirty="0"/>
              <a:t> </a:t>
            </a:r>
            <a:r>
              <a:rPr lang="es-MX" sz="2000" dirty="0" err="1"/>
              <a:t>Onboarding</a:t>
            </a:r>
            <a:r>
              <a:rPr lang="es-MX" sz="2000" dirty="0"/>
              <a:t>:</a:t>
            </a:r>
          </a:p>
          <a:p>
            <a:r>
              <a:rPr lang="es-MX" sz="2000" dirty="0" err="1"/>
              <a:t>Gu</a:t>
            </a:r>
            <a:r>
              <a:rPr lang="es-MX" sz="2000" dirty="0"/>
              <a:t> publica la propiedad.</a:t>
            </a:r>
            <a:br>
              <a:rPr lang="es-MX" sz="2000" dirty="0"/>
            </a:br>
            <a:r>
              <a:rPr lang="es-MX" sz="2000" b="1" dirty="0"/>
              <a:t>Evidencia:</a:t>
            </a:r>
            <a:r>
              <a:rPr lang="es-MX" sz="2000" dirty="0"/>
              <a:t> API devuelve ID y status publicado.</a:t>
            </a:r>
            <a:br>
              <a:rPr lang="es-MX" sz="2000" dirty="0"/>
            </a:br>
            <a:r>
              <a:rPr lang="es-MX" sz="2000" b="1" dirty="0" err="1"/>
              <a:t>Completion</a:t>
            </a:r>
            <a:r>
              <a:rPr lang="es-MX" sz="2000" b="1" dirty="0"/>
              <a:t>:</a:t>
            </a:r>
            <a:r>
              <a:rPr lang="es-MX" sz="2000" dirty="0"/>
              <a:t> se cumplieron todos los criterios requeridos para publicación.</a:t>
            </a:r>
            <a:br>
              <a:rPr lang="es-MX" sz="2000" dirty="0"/>
            </a:br>
            <a:r>
              <a:rPr lang="es-MX" sz="2000" b="1" dirty="0"/>
              <a:t>Resultado real:</a:t>
            </a:r>
            <a:r>
              <a:rPr lang="es-MX" sz="2000" dirty="0"/>
              <a:t> la propiedad empieza a generar consultas, visitas o eventualmente una transacción.</a:t>
            </a:r>
          </a:p>
          <a:p>
            <a:endParaRPr lang="es-MX" sz="2000" dirty="0"/>
          </a:p>
          <a:p>
            <a:r>
              <a:rPr lang="es-MX" sz="2000" dirty="0"/>
              <a:t>La distinción más importante es:</a:t>
            </a:r>
          </a:p>
          <a:p>
            <a:r>
              <a:rPr lang="es-MX" sz="2000" b="1" dirty="0" err="1"/>
              <a:t>Evidence</a:t>
            </a:r>
            <a:r>
              <a:rPr lang="es-MX" sz="2000" b="1" dirty="0"/>
              <a:t> proves </a:t>
            </a:r>
            <a:r>
              <a:rPr lang="es-MX" sz="2000" b="1" dirty="0" err="1"/>
              <a:t>what</a:t>
            </a:r>
            <a:r>
              <a:rPr lang="es-MX" sz="2000" b="1" dirty="0"/>
              <a:t> </a:t>
            </a:r>
            <a:r>
              <a:rPr lang="es-MX" sz="2000" b="1" dirty="0" err="1"/>
              <a:t>Gu</a:t>
            </a:r>
            <a:r>
              <a:rPr lang="es-MX" sz="2000" b="1" dirty="0"/>
              <a:t> </a:t>
            </a:r>
            <a:r>
              <a:rPr lang="es-MX" sz="2000" b="1" dirty="0" err="1"/>
              <a:t>did</a:t>
            </a:r>
            <a:r>
              <a:rPr lang="es-MX" sz="2000" b="1" dirty="0"/>
              <a:t>.</a:t>
            </a:r>
            <a:br>
              <a:rPr lang="es-MX" sz="2000" b="1" dirty="0"/>
            </a:br>
            <a:r>
              <a:rPr lang="es-MX" sz="2000" b="1" dirty="0" err="1"/>
              <a:t>Verification</a:t>
            </a:r>
            <a:r>
              <a:rPr lang="es-MX" sz="2000" b="1" dirty="0"/>
              <a:t> determines </a:t>
            </a:r>
            <a:r>
              <a:rPr lang="es-MX" sz="2000" b="1" dirty="0" err="1"/>
              <a:t>whether</a:t>
            </a:r>
            <a:r>
              <a:rPr lang="es-MX" sz="2000" b="1" dirty="0"/>
              <a:t> the </a:t>
            </a:r>
            <a:r>
              <a:rPr lang="es-MX" sz="2000" b="1" dirty="0" err="1"/>
              <a:t>work</a:t>
            </a:r>
            <a:r>
              <a:rPr lang="es-MX" sz="2000" b="1" dirty="0"/>
              <a:t> </a:t>
            </a:r>
            <a:r>
              <a:rPr lang="es-MX" sz="2000" b="1" dirty="0" err="1"/>
              <a:t>is</a:t>
            </a:r>
            <a:r>
              <a:rPr lang="es-MX" sz="2000" b="1" dirty="0"/>
              <a:t> Complete.</a:t>
            </a:r>
            <a:br>
              <a:rPr lang="es-MX" sz="2000" b="1" dirty="0"/>
            </a:br>
            <a:r>
              <a:rPr lang="es-MX" sz="2000" b="1" dirty="0" err="1"/>
              <a:t>Outcomes</a:t>
            </a:r>
            <a:r>
              <a:rPr lang="es-MX" sz="2000" b="1" dirty="0"/>
              <a:t> (Resultado Real) </a:t>
            </a:r>
            <a:r>
              <a:rPr lang="es-MX" sz="2000" b="1" dirty="0" err="1"/>
              <a:t>tell</a:t>
            </a:r>
            <a:r>
              <a:rPr lang="es-MX" sz="2000" b="1" dirty="0"/>
              <a:t> </a:t>
            </a:r>
            <a:r>
              <a:rPr lang="es-MX" sz="2000" b="1" dirty="0" err="1"/>
              <a:t>us</a:t>
            </a:r>
            <a:r>
              <a:rPr lang="es-MX" sz="2000" b="1" dirty="0"/>
              <a:t> </a:t>
            </a:r>
            <a:r>
              <a:rPr lang="es-MX" sz="2000" b="1" dirty="0" err="1"/>
              <a:t>what</a:t>
            </a:r>
            <a:r>
              <a:rPr lang="es-MX" sz="2000" b="1" dirty="0"/>
              <a:t> </a:t>
            </a:r>
            <a:r>
              <a:rPr lang="es-MX" sz="2000" b="1" dirty="0" err="1"/>
              <a:t>happened</a:t>
            </a:r>
            <a:r>
              <a:rPr lang="es-MX" sz="2000" b="1" dirty="0"/>
              <a:t> in the </a:t>
            </a:r>
            <a:r>
              <a:rPr lang="es-MX" sz="2000" b="1" dirty="0" err="1"/>
              <a:t>business</a:t>
            </a:r>
            <a:r>
              <a:rPr lang="es-MX" sz="2000" b="1" dirty="0"/>
              <a:t>.</a:t>
            </a:r>
            <a:endParaRPr lang="es-MX" sz="2000" dirty="0"/>
          </a:p>
          <a:p>
            <a:r>
              <a:rPr lang="es-MX" sz="2000" dirty="0"/>
              <a:t>Eso además conecta perfectamente con el </a:t>
            </a:r>
            <a:r>
              <a:rPr lang="es-MX" sz="2000" i="1" dirty="0" err="1"/>
              <a:t>Outcome</a:t>
            </a:r>
            <a:r>
              <a:rPr lang="es-MX" sz="2000" i="1" dirty="0"/>
              <a:t> Loop</a:t>
            </a:r>
            <a:r>
              <a:rPr lang="es-MX" sz="2000" dirty="0"/>
              <a:t>: </a:t>
            </a:r>
            <a:r>
              <a:rPr lang="es-MX" sz="2000" dirty="0" err="1"/>
              <a:t>Gu</a:t>
            </a:r>
            <a:r>
              <a:rPr lang="es-MX" sz="2000" dirty="0"/>
              <a:t> puede ejecutar algo correctamente y, aun así, el resultado de negocio puede no ser bueno. Ambos datos importan.</a:t>
            </a:r>
          </a:p>
          <a:p>
            <a:pPr indent="0">
              <a:lnSpc>
                <a:spcPct val="100000"/>
              </a:lnSpc>
              <a:buNone/>
            </a:pPr>
            <a:endParaRPr lang="en-US" sz="2000" b="0" u="none" strike="noStrike" dirty="0">
              <a:solidFill>
                <a:srgbClr val="000000"/>
              </a:solidFill>
              <a:effectLst/>
              <a:uFillTx/>
              <a:latin typeface="Arial"/>
            </a:endParaRPr>
          </a:p>
        </p:txBody>
      </p:sp>
      <p:sp>
        <p:nvSpPr>
          <p:cNvPr id="680"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4F02858-BC57-4ABB-8A24-516376AF44D2}"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pPr indent="0">
              <a:buNone/>
            </a:pPr>
            <a:r>
              <a:rPr lang="en-US" sz="1200" b="0" u="none" strike="noStrike" dirty="0">
                <a:solidFill>
                  <a:srgbClr val="000000"/>
                </a:solidFill>
                <a:effectLst/>
                <a:uFillTx/>
                <a:latin typeface="+mn-lt"/>
              </a:rPr>
              <a:t>Gu → Gu OS — Session 1</a:t>
            </a:r>
          </a:p>
          <a:p>
            <a:pPr indent="0">
              <a:buNone/>
            </a:pPr>
            <a:endParaRPr lang="en-US" sz="1200" b="0" u="none" strike="noStrike" dirty="0">
              <a:solidFill>
                <a:srgbClr val="000000"/>
              </a:solidFill>
              <a:effectLst/>
              <a:uFillTx/>
              <a:latin typeface="+mn-lt"/>
            </a:endParaRPr>
          </a:p>
          <a:p>
            <a:pPr indent="0">
              <a:lnSpc>
                <a:spcPct val="100000"/>
              </a:lnSpc>
              <a:buNone/>
            </a:pPr>
            <a:r>
              <a:rPr lang="en-US" sz="1200" b="0" u="none" strike="noStrike" dirty="0">
                <a:solidFill>
                  <a:srgbClr val="000000"/>
                </a:solidFill>
                <a:effectLst/>
                <a:uFillTx/>
                <a:latin typeface="+mn-lt"/>
              </a:rPr>
              <a:t>Este loop </a:t>
            </a:r>
            <a:r>
              <a:rPr lang="en-US" sz="1200" b="0" u="none" strike="noStrike" dirty="0" err="1">
                <a:solidFill>
                  <a:srgbClr val="000000"/>
                </a:solidFill>
                <a:effectLst/>
                <a:uFillTx/>
                <a:latin typeface="+mn-lt"/>
              </a:rPr>
              <a:t>ayuda</a:t>
            </a:r>
            <a:r>
              <a:rPr lang="en-US" sz="1200" b="0" u="none" strike="noStrike" dirty="0">
                <a:solidFill>
                  <a:srgbClr val="000000"/>
                </a:solidFill>
                <a:effectLst/>
                <a:uFillTx/>
                <a:latin typeface="+mn-lt"/>
              </a:rPr>
              <a:t> a </a:t>
            </a:r>
            <a:r>
              <a:rPr lang="en-US" sz="1200" b="0" u="none" strike="noStrike" dirty="0" err="1">
                <a:solidFill>
                  <a:srgbClr val="000000"/>
                </a:solidFill>
                <a:effectLst/>
                <a:uFillTx/>
                <a:latin typeface="+mn-lt"/>
              </a:rPr>
              <a:t>evitar</a:t>
            </a:r>
            <a:r>
              <a:rPr lang="en-US" sz="1200" b="0" u="none" strike="noStrike" dirty="0">
                <a:solidFill>
                  <a:srgbClr val="000000"/>
                </a:solidFill>
                <a:effectLst/>
                <a:uFillTx/>
                <a:latin typeface="+mn-lt"/>
              </a:rPr>
              <a:t> </a:t>
            </a:r>
            <a:r>
              <a:rPr lang="en-US" sz="1200" b="0" u="none" strike="noStrike" dirty="0" err="1">
                <a:solidFill>
                  <a:srgbClr val="000000"/>
                </a:solidFill>
                <a:effectLst/>
                <a:uFillTx/>
                <a:latin typeface="+mn-lt"/>
              </a:rPr>
              <a:t>dispersión</a:t>
            </a:r>
            <a:r>
              <a:rPr lang="en-US" sz="1200" b="0" u="none" strike="noStrike" dirty="0">
                <a:solidFill>
                  <a:srgbClr val="000000"/>
                </a:solidFill>
                <a:effectLst/>
                <a:uFillTx/>
                <a:latin typeface="+mn-lt"/>
              </a:rPr>
              <a:t>. Relationship Operations </a:t>
            </a:r>
            <a:r>
              <a:rPr lang="en-US" sz="1200" b="0" u="none" strike="noStrike" dirty="0" err="1">
                <a:solidFill>
                  <a:srgbClr val="000000"/>
                </a:solidFill>
                <a:effectLst/>
                <a:uFillTx/>
                <a:latin typeface="+mn-lt"/>
              </a:rPr>
              <a:t>vive</a:t>
            </a:r>
            <a:r>
              <a:rPr lang="en-US" sz="1200" b="0" u="none" strike="noStrike" dirty="0">
                <a:solidFill>
                  <a:srgbClr val="000000"/>
                </a:solidFill>
                <a:effectLst/>
                <a:uFillTx/>
                <a:latin typeface="+mn-lt"/>
              </a:rPr>
              <a:t> </a:t>
            </a:r>
            <a:r>
              <a:rPr lang="en-US" sz="1200" b="0" u="none" strike="noStrike" dirty="0" err="1">
                <a:solidFill>
                  <a:srgbClr val="000000"/>
                </a:solidFill>
                <a:effectLst/>
                <a:uFillTx/>
                <a:latin typeface="+mn-lt"/>
              </a:rPr>
              <a:t>sobre</a:t>
            </a:r>
            <a:r>
              <a:rPr lang="en-US" sz="1200" b="0" u="none" strike="noStrike" dirty="0">
                <a:solidFill>
                  <a:srgbClr val="000000"/>
                </a:solidFill>
                <a:effectLst/>
                <a:uFillTx/>
                <a:latin typeface="+mn-lt"/>
              </a:rPr>
              <a:t> </a:t>
            </a:r>
            <a:r>
              <a:rPr lang="en-US" sz="1200" b="0" u="none" strike="noStrike" dirty="0" err="1">
                <a:solidFill>
                  <a:srgbClr val="000000"/>
                </a:solidFill>
                <a:effectLst/>
                <a:uFillTx/>
                <a:latin typeface="+mn-lt"/>
              </a:rPr>
              <a:t>todo</a:t>
            </a:r>
            <a:r>
              <a:rPr lang="en-US" sz="1200" b="0" u="none" strike="noStrike" dirty="0">
                <a:solidFill>
                  <a:srgbClr val="000000"/>
                </a:solidFill>
                <a:effectLst/>
                <a:uFillTx/>
                <a:latin typeface="+mn-lt"/>
              </a:rPr>
              <a:t> en Conversion, </a:t>
            </a:r>
            <a:r>
              <a:rPr lang="en-US" sz="1200" b="0" u="none" strike="noStrike" dirty="0" err="1">
                <a:solidFill>
                  <a:srgbClr val="000000"/>
                </a:solidFill>
                <a:effectLst/>
                <a:uFillTx/>
                <a:latin typeface="+mn-lt"/>
              </a:rPr>
              <a:t>pero</a:t>
            </a:r>
            <a:r>
              <a:rPr lang="en-US" sz="1200" b="0" u="none" strike="noStrike" dirty="0">
                <a:solidFill>
                  <a:srgbClr val="000000"/>
                </a:solidFill>
                <a:effectLst/>
                <a:uFillTx/>
                <a:latin typeface="+mn-lt"/>
              </a:rPr>
              <a:t> </a:t>
            </a:r>
            <a:r>
              <a:rPr lang="en-US" sz="1200" b="0" u="none" strike="noStrike" dirty="0" err="1">
                <a:solidFill>
                  <a:srgbClr val="000000"/>
                </a:solidFill>
                <a:effectLst/>
                <a:uFillTx/>
                <a:latin typeface="+mn-lt"/>
              </a:rPr>
              <a:t>conecta</a:t>
            </a:r>
            <a:r>
              <a:rPr lang="en-US" sz="1200" b="0" u="none" strike="noStrike" dirty="0">
                <a:solidFill>
                  <a:srgbClr val="000000"/>
                </a:solidFill>
                <a:effectLst/>
                <a:uFillTx/>
                <a:latin typeface="+mn-lt"/>
              </a:rPr>
              <a:t> con Property, Transaction y Outcome Feedback. Demand Operations </a:t>
            </a:r>
            <a:r>
              <a:rPr lang="en-US" sz="1200" b="0" u="none" strike="noStrike" dirty="0" err="1">
                <a:solidFill>
                  <a:srgbClr val="000000"/>
                </a:solidFill>
                <a:effectLst/>
                <a:uFillTx/>
                <a:latin typeface="+mn-lt"/>
              </a:rPr>
              <a:t>vive</a:t>
            </a:r>
            <a:r>
              <a:rPr lang="en-US" sz="1200" b="0" u="none" strike="noStrike" dirty="0">
                <a:solidFill>
                  <a:srgbClr val="000000"/>
                </a:solidFill>
                <a:effectLst/>
                <a:uFillTx/>
                <a:latin typeface="+mn-lt"/>
              </a:rPr>
              <a:t> upstream, </a:t>
            </a:r>
            <a:r>
              <a:rPr lang="en-US" sz="1200" b="0" u="none" strike="noStrike" dirty="0" err="1">
                <a:solidFill>
                  <a:srgbClr val="000000"/>
                </a:solidFill>
                <a:effectLst/>
                <a:uFillTx/>
                <a:latin typeface="+mn-lt"/>
              </a:rPr>
              <a:t>pero</a:t>
            </a:r>
            <a:r>
              <a:rPr lang="en-US" sz="1200" b="0" u="none" strike="noStrike" dirty="0">
                <a:solidFill>
                  <a:srgbClr val="000000"/>
                </a:solidFill>
                <a:effectLst/>
                <a:uFillTx/>
                <a:latin typeface="+mn-lt"/>
              </a:rPr>
              <a:t> </a:t>
            </a:r>
            <a:r>
              <a:rPr lang="en-US" sz="1200" b="0" u="none" strike="noStrike" dirty="0" err="1">
                <a:solidFill>
                  <a:srgbClr val="000000"/>
                </a:solidFill>
                <a:effectLst/>
                <a:uFillTx/>
                <a:latin typeface="+mn-lt"/>
              </a:rPr>
              <a:t>sólo</a:t>
            </a:r>
            <a:r>
              <a:rPr lang="en-US" sz="1200" b="0" u="none" strike="noStrike" dirty="0">
                <a:solidFill>
                  <a:srgbClr val="000000"/>
                </a:solidFill>
                <a:effectLst/>
                <a:uFillTx/>
                <a:latin typeface="+mn-lt"/>
              </a:rPr>
              <a:t> es </a:t>
            </a:r>
            <a:r>
              <a:rPr lang="en-US" sz="1200" b="0" u="none" strike="noStrike" dirty="0" err="1">
                <a:solidFill>
                  <a:srgbClr val="000000"/>
                </a:solidFill>
                <a:effectLst/>
                <a:uFillTx/>
                <a:latin typeface="+mn-lt"/>
              </a:rPr>
              <a:t>valiosa</a:t>
            </a:r>
            <a:r>
              <a:rPr lang="en-US" sz="1200" b="0" u="none" strike="noStrike" dirty="0">
                <a:solidFill>
                  <a:srgbClr val="000000"/>
                </a:solidFill>
                <a:effectLst/>
                <a:uFillTx/>
                <a:latin typeface="+mn-lt"/>
              </a:rPr>
              <a:t> </a:t>
            </a:r>
            <a:r>
              <a:rPr lang="en-US" sz="1200" b="0" u="none" strike="noStrike" dirty="0" err="1">
                <a:solidFill>
                  <a:srgbClr val="000000"/>
                </a:solidFill>
                <a:effectLst/>
                <a:uFillTx/>
                <a:latin typeface="+mn-lt"/>
              </a:rPr>
              <a:t>si</a:t>
            </a:r>
            <a:r>
              <a:rPr lang="en-US" sz="1200" b="0" u="none" strike="noStrike" dirty="0">
                <a:solidFill>
                  <a:srgbClr val="000000"/>
                </a:solidFill>
                <a:effectLst/>
                <a:uFillTx/>
                <a:latin typeface="+mn-lt"/>
              </a:rPr>
              <a:t> </a:t>
            </a:r>
            <a:r>
              <a:rPr lang="en-US" sz="1200" b="0" u="none" strike="noStrike" dirty="0" err="1">
                <a:solidFill>
                  <a:srgbClr val="000000"/>
                </a:solidFill>
                <a:effectLst/>
                <a:uFillTx/>
                <a:latin typeface="+mn-lt"/>
              </a:rPr>
              <a:t>aprende</a:t>
            </a:r>
            <a:r>
              <a:rPr lang="en-US" sz="1200" b="0" u="none" strike="noStrike" dirty="0">
                <a:solidFill>
                  <a:srgbClr val="000000"/>
                </a:solidFill>
                <a:effectLst/>
                <a:uFillTx/>
                <a:latin typeface="+mn-lt"/>
              </a:rPr>
              <a:t> de las visitas y </a:t>
            </a:r>
            <a:r>
              <a:rPr lang="en-US" sz="1200" b="0" u="none" strike="noStrike" dirty="0" err="1">
                <a:solidFill>
                  <a:srgbClr val="000000"/>
                </a:solidFill>
                <a:effectLst/>
                <a:uFillTx/>
                <a:latin typeface="+mn-lt"/>
              </a:rPr>
              <a:t>transacciones</a:t>
            </a:r>
            <a:r>
              <a:rPr lang="en-US" sz="1200" b="0" u="none" strike="noStrike" dirty="0">
                <a:solidFill>
                  <a:srgbClr val="000000"/>
                </a:solidFill>
                <a:effectLst/>
                <a:uFillTx/>
                <a:latin typeface="+mn-lt"/>
              </a:rPr>
              <a:t> downstream.</a:t>
            </a:r>
          </a:p>
          <a:p>
            <a:endParaRPr lang="en-US" dirty="0"/>
          </a:p>
          <a:p>
            <a:r>
              <a:rPr lang="es-MX" dirty="0"/>
              <a:t>“Primero quiero separar la lógica económica de la arquitectura. Este es el ciclo donde nuestros clientes generan ingresos. Hoy entramos principalmente por Conversión, pero la oportunidad es conectar progresivamente todo el </a:t>
            </a:r>
            <a:r>
              <a:rPr lang="es-MX" dirty="0" err="1"/>
              <a:t>loop</a:t>
            </a:r>
            <a:r>
              <a:rPr lang="es-MX" dirty="0"/>
              <a:t>.”</a:t>
            </a:r>
            <a:endParaRPr lang="en-US" dirty="0"/>
          </a:p>
          <a:p>
            <a:endParaRPr lang="en-US" dirty="0"/>
          </a:p>
          <a:p>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FFFFFF"/>
                </a:solidFill>
                <a:latin typeface="Inter" pitchFamily="34" charset="0"/>
                <a:ea typeface="Inter" pitchFamily="34" charset="-122"/>
                <a:cs typeface="Inter" pitchFamily="34" charset="-120"/>
              </a:rPr>
              <a:t>Connect the full revenue loop and feed real-world outcomes back into what happens next.</a:t>
            </a:r>
            <a:endParaRPr lang="en-US" sz="1200" dirty="0"/>
          </a:p>
          <a:p>
            <a:endParaRPr lang="en-US" dirty="0"/>
          </a:p>
          <a:p>
            <a:r>
              <a:rPr lang="en-US" dirty="0" err="1"/>
              <a:t>Notas</a:t>
            </a:r>
            <a:r>
              <a:rPr lang="en-US" dirty="0"/>
              <a:t>:</a:t>
            </a:r>
          </a:p>
          <a:p>
            <a:endParaRPr lang="en-US" dirty="0"/>
          </a:p>
          <a:p>
            <a:r>
              <a:rPr lang="en-US" dirty="0"/>
              <a:t>- </a:t>
            </a:r>
            <a:r>
              <a:rPr lang="es-MX" b="1" dirty="0"/>
              <a:t>Debemos distinguir </a:t>
            </a:r>
            <a:r>
              <a:rPr lang="es-MX" sz="1200" b="1" kern="1200" dirty="0" err="1">
                <a:solidFill>
                  <a:schemeClr val="tx1"/>
                </a:solidFill>
                <a:latin typeface="+mn-lt"/>
                <a:ea typeface="+mn-ea"/>
                <a:cs typeface="+mn-cs"/>
              </a:rPr>
              <a:t>business</a:t>
            </a:r>
            <a:r>
              <a:rPr lang="es-MX" sz="1200" b="1" kern="1200" dirty="0">
                <a:solidFill>
                  <a:schemeClr val="tx1"/>
                </a:solidFill>
                <a:latin typeface="+mn-lt"/>
                <a:ea typeface="+mn-ea"/>
                <a:cs typeface="+mn-cs"/>
              </a:rPr>
              <a:t> </a:t>
            </a:r>
            <a:r>
              <a:rPr lang="es-MX" sz="1200" b="1" kern="1200" dirty="0" err="1">
                <a:solidFill>
                  <a:schemeClr val="tx1"/>
                </a:solidFill>
                <a:latin typeface="+mn-lt"/>
                <a:ea typeface="+mn-ea"/>
                <a:cs typeface="+mn-cs"/>
              </a:rPr>
              <a:t>stages</a:t>
            </a:r>
            <a:r>
              <a:rPr lang="es-MX" b="1" dirty="0"/>
              <a:t> de </a:t>
            </a:r>
            <a:r>
              <a:rPr lang="es-MX" sz="1200" b="1" kern="1200" dirty="0" err="1">
                <a:solidFill>
                  <a:schemeClr val="tx1"/>
                </a:solidFill>
                <a:latin typeface="+mn-lt"/>
                <a:ea typeface="+mn-ea"/>
                <a:cs typeface="+mn-cs"/>
              </a:rPr>
              <a:t>operating</a:t>
            </a:r>
            <a:r>
              <a:rPr lang="es-MX" sz="1200" b="1" kern="1200" dirty="0">
                <a:solidFill>
                  <a:schemeClr val="tx1"/>
                </a:solidFill>
                <a:latin typeface="+mn-lt"/>
                <a:ea typeface="+mn-ea"/>
                <a:cs typeface="+mn-cs"/>
              </a:rPr>
              <a:t> </a:t>
            </a:r>
            <a:r>
              <a:rPr lang="es-MX" sz="1200" b="1" kern="1200" dirty="0" err="1">
                <a:solidFill>
                  <a:schemeClr val="tx1"/>
                </a:solidFill>
                <a:latin typeface="+mn-lt"/>
                <a:ea typeface="+mn-ea"/>
                <a:cs typeface="+mn-cs"/>
              </a:rPr>
              <a:t>domains</a:t>
            </a:r>
            <a:endParaRPr lang="es-MX" b="1" dirty="0"/>
          </a:p>
          <a:p>
            <a:endParaRPr lang="es-MX" dirty="0"/>
          </a:p>
          <a:p>
            <a:r>
              <a:rPr lang="es-MX" dirty="0"/>
              <a:t>El </a:t>
            </a:r>
            <a:r>
              <a:rPr lang="es-MX" dirty="0" err="1"/>
              <a:t>Revenue</a:t>
            </a:r>
            <a:r>
              <a:rPr lang="es-MX" dirty="0"/>
              <a:t> Loop tiene </a:t>
            </a:r>
            <a:r>
              <a:rPr lang="es-MX" b="1" dirty="0"/>
              <a:t>etapas de negocio</a:t>
            </a:r>
            <a:r>
              <a:rPr lang="es-MX" dirty="0"/>
              <a:t>:</a:t>
            </a:r>
          </a:p>
          <a:p>
            <a:pPr marL="171450" indent="-171450">
              <a:buFont typeface="Arial" panose="020B0604020202020204" pitchFamily="34" charset="0"/>
              <a:buChar char="•"/>
            </a:pPr>
            <a:r>
              <a:rPr lang="es-MX" b="1" dirty="0" err="1"/>
              <a:t>Property</a:t>
            </a:r>
            <a:r>
              <a:rPr lang="es-MX" b="1" dirty="0"/>
              <a:t> </a:t>
            </a:r>
            <a:r>
              <a:rPr lang="es-MX" b="1" dirty="0" err="1"/>
              <a:t>Onboarding</a:t>
            </a:r>
            <a:endParaRPr lang="es-MX" b="1" dirty="0"/>
          </a:p>
          <a:p>
            <a:pPr marL="171450" indent="-171450">
              <a:buFont typeface="Arial" panose="020B0604020202020204" pitchFamily="34" charset="0"/>
              <a:buChar char="•"/>
            </a:pPr>
            <a:r>
              <a:rPr lang="es-MX" b="1" dirty="0"/>
              <a:t>Demand </a:t>
            </a:r>
            <a:r>
              <a:rPr lang="es-MX" b="1" dirty="0" err="1"/>
              <a:t>Generation</a:t>
            </a:r>
            <a:endParaRPr lang="es-MX" b="1" dirty="0"/>
          </a:p>
          <a:p>
            <a:pPr marL="171450" indent="-171450">
              <a:buFont typeface="Arial" panose="020B0604020202020204" pitchFamily="34" charset="0"/>
              <a:buChar char="•"/>
            </a:pPr>
            <a:r>
              <a:rPr lang="es-MX" b="1" dirty="0" err="1"/>
              <a:t>Conversion</a:t>
            </a:r>
            <a:endParaRPr lang="es-MX" b="1" dirty="0"/>
          </a:p>
          <a:p>
            <a:pPr marL="171450" indent="-171450">
              <a:buFont typeface="Arial" panose="020B0604020202020204" pitchFamily="34" charset="0"/>
              <a:buChar char="•"/>
            </a:pPr>
            <a:r>
              <a:rPr lang="es-MX" b="1" dirty="0" err="1"/>
              <a:t>Transaction</a:t>
            </a:r>
            <a:endParaRPr lang="es-MX" b="1" dirty="0"/>
          </a:p>
          <a:p>
            <a:pPr marL="171450" indent="-171450">
              <a:buFont typeface="Arial" panose="020B0604020202020204" pitchFamily="34" charset="0"/>
              <a:buChar char="•"/>
            </a:pPr>
            <a:r>
              <a:rPr lang="es-MX" b="1" dirty="0" err="1"/>
              <a:t>Outcome</a:t>
            </a:r>
            <a:r>
              <a:rPr lang="es-MX" b="1" dirty="0"/>
              <a:t> </a:t>
            </a:r>
            <a:r>
              <a:rPr lang="es-MX" b="1" dirty="0" err="1"/>
              <a:t>Feedback</a:t>
            </a:r>
            <a:endParaRPr lang="es-MX" b="1" dirty="0"/>
          </a:p>
          <a:p>
            <a:endParaRPr lang="es-MX" dirty="0"/>
          </a:p>
          <a:p>
            <a:r>
              <a:rPr lang="es-MX" dirty="0"/>
              <a:t>Mientras </a:t>
            </a:r>
            <a:r>
              <a:rPr lang="es-MX" dirty="0" err="1"/>
              <a:t>Gu</a:t>
            </a:r>
            <a:r>
              <a:rPr lang="es-MX" dirty="0"/>
              <a:t> OS puede tener </a:t>
            </a:r>
            <a:r>
              <a:rPr lang="es-MX" b="1" dirty="0"/>
              <a:t>dominios operativos</a:t>
            </a:r>
            <a:r>
              <a:rPr lang="es-MX" dirty="0"/>
              <a:t>:</a:t>
            </a:r>
          </a:p>
          <a:p>
            <a:pPr marL="171450" indent="-171450">
              <a:buFont typeface="Arial" panose="020B0604020202020204" pitchFamily="34" charset="0"/>
              <a:buChar char="•"/>
            </a:pPr>
            <a:r>
              <a:rPr lang="es-MX" b="1" dirty="0" err="1"/>
              <a:t>Property</a:t>
            </a:r>
            <a:r>
              <a:rPr lang="es-MX" b="1" dirty="0"/>
              <a:t> </a:t>
            </a:r>
            <a:r>
              <a:rPr lang="es-MX" b="1" dirty="0" err="1"/>
              <a:t>Operations</a:t>
            </a:r>
            <a:endParaRPr lang="es-MX" b="1" dirty="0"/>
          </a:p>
          <a:p>
            <a:pPr marL="171450" indent="-171450">
              <a:buFont typeface="Arial" panose="020B0604020202020204" pitchFamily="34" charset="0"/>
              <a:buChar char="•"/>
            </a:pPr>
            <a:r>
              <a:rPr lang="es-MX" b="1" dirty="0"/>
              <a:t>Demand </a:t>
            </a:r>
            <a:r>
              <a:rPr lang="es-MX" b="1" dirty="0" err="1"/>
              <a:t>Operations</a:t>
            </a:r>
            <a:endParaRPr lang="es-MX" b="1" dirty="0"/>
          </a:p>
          <a:p>
            <a:pPr marL="171450" indent="-171450">
              <a:buFont typeface="Arial" panose="020B0604020202020204" pitchFamily="34" charset="0"/>
              <a:buChar char="•"/>
            </a:pPr>
            <a:r>
              <a:rPr lang="es-MX" b="1" dirty="0" err="1"/>
              <a:t>Relationship</a:t>
            </a:r>
            <a:r>
              <a:rPr lang="es-MX" b="1" dirty="0"/>
              <a:t> </a:t>
            </a:r>
            <a:r>
              <a:rPr lang="es-MX" b="1" dirty="0" err="1"/>
              <a:t>Operations</a:t>
            </a:r>
            <a:endParaRPr lang="es-MX" b="1" dirty="0"/>
          </a:p>
          <a:p>
            <a:pPr marL="171450" indent="-171450">
              <a:buFont typeface="Arial" panose="020B0604020202020204" pitchFamily="34" charset="0"/>
              <a:buChar char="•"/>
            </a:pPr>
            <a:r>
              <a:rPr lang="es-MX" b="1" dirty="0" err="1"/>
              <a:t>Transaction</a:t>
            </a:r>
            <a:r>
              <a:rPr lang="es-MX" b="1" dirty="0"/>
              <a:t> </a:t>
            </a:r>
            <a:r>
              <a:rPr lang="es-MX" b="1" dirty="0" err="1"/>
              <a:t>Operations</a:t>
            </a:r>
            <a:endParaRPr lang="es-MX" b="1" dirty="0"/>
          </a:p>
          <a:p>
            <a:pPr marL="171450" indent="-171450">
              <a:buFont typeface="Arial" panose="020B0604020202020204" pitchFamily="34" charset="0"/>
              <a:buChar char="•"/>
            </a:pPr>
            <a:r>
              <a:rPr lang="es-MX" b="1" dirty="0"/>
              <a:t>Network </a:t>
            </a:r>
            <a:r>
              <a:rPr lang="es-MX" b="1" dirty="0" err="1"/>
              <a:t>Operations</a:t>
            </a:r>
            <a:endParaRPr lang="es-MX" dirty="0"/>
          </a:p>
          <a:p>
            <a:endParaRPr lang="es-MX" dirty="0"/>
          </a:p>
          <a:p>
            <a:r>
              <a:rPr lang="es-MX" dirty="0"/>
              <a:t>No son la misma taxonomía.</a:t>
            </a:r>
          </a:p>
          <a:p>
            <a:endParaRPr lang="es-MX" dirty="0"/>
          </a:p>
          <a:p>
            <a:r>
              <a:rPr lang="es-MX" dirty="0"/>
              <a:t>Por ejemplo:</a:t>
            </a:r>
          </a:p>
          <a:p>
            <a:r>
              <a:rPr lang="es-MX" sz="1200" kern="1200" dirty="0">
                <a:solidFill>
                  <a:schemeClr val="tx1"/>
                </a:solidFill>
                <a:latin typeface="+mn-lt"/>
                <a:ea typeface="+mn-ea"/>
                <a:cs typeface="+mn-cs"/>
              </a:rPr>
              <a:t>Demand </a:t>
            </a:r>
            <a:r>
              <a:rPr lang="es-MX" sz="1200" kern="1200" dirty="0" err="1">
                <a:solidFill>
                  <a:schemeClr val="tx1"/>
                </a:solidFill>
                <a:latin typeface="+mn-lt"/>
                <a:ea typeface="+mn-ea"/>
                <a:cs typeface="+mn-cs"/>
              </a:rPr>
              <a:t>Generation</a:t>
            </a:r>
            <a:r>
              <a:rPr lang="es-MX" dirty="0"/>
              <a:t> = una parte del ciclo de negocio.</a:t>
            </a:r>
            <a:br>
              <a:rPr lang="es-MX" dirty="0"/>
            </a:br>
            <a:r>
              <a:rPr lang="es-MX" sz="1200" kern="1200" dirty="0">
                <a:solidFill>
                  <a:schemeClr val="tx1"/>
                </a:solidFill>
                <a:latin typeface="+mn-lt"/>
                <a:ea typeface="+mn-ea"/>
                <a:cs typeface="+mn-cs"/>
              </a:rPr>
              <a:t>Demand </a:t>
            </a:r>
            <a:r>
              <a:rPr lang="es-MX" sz="1200" kern="1200" dirty="0" err="1">
                <a:solidFill>
                  <a:schemeClr val="tx1"/>
                </a:solidFill>
                <a:latin typeface="+mn-lt"/>
                <a:ea typeface="+mn-ea"/>
                <a:cs typeface="+mn-cs"/>
              </a:rPr>
              <a:t>Operations</a:t>
            </a:r>
            <a:r>
              <a:rPr lang="es-MX" dirty="0"/>
              <a:t> = el subsistema/domino de </a:t>
            </a:r>
            <a:r>
              <a:rPr lang="es-MX" dirty="0" err="1"/>
              <a:t>Gu</a:t>
            </a:r>
            <a:r>
              <a:rPr lang="es-MX" dirty="0"/>
              <a:t> OS que puede operar esa parte.</a:t>
            </a:r>
          </a:p>
          <a:p>
            <a:endParaRPr lang="es-MX" dirty="0"/>
          </a:p>
          <a:p>
            <a:r>
              <a:rPr lang="es-MX" dirty="0"/>
              <a:t>Igual:</a:t>
            </a:r>
          </a:p>
          <a:p>
            <a:r>
              <a:rPr lang="es-MX" sz="1200" kern="1200" dirty="0" err="1">
                <a:solidFill>
                  <a:schemeClr val="tx1"/>
                </a:solidFill>
                <a:latin typeface="+mn-lt"/>
                <a:ea typeface="+mn-ea"/>
                <a:cs typeface="+mn-cs"/>
              </a:rPr>
              <a:t>Conversion</a:t>
            </a:r>
            <a:r>
              <a:rPr lang="es-MX" dirty="0"/>
              <a:t> = etapa económica.</a:t>
            </a:r>
            <a:br>
              <a:rPr lang="es-MX" dirty="0"/>
            </a:br>
            <a:r>
              <a:rPr lang="es-MX" sz="1200" kern="1200" dirty="0" err="1">
                <a:solidFill>
                  <a:schemeClr val="tx1"/>
                </a:solidFill>
                <a:latin typeface="+mn-lt"/>
                <a:ea typeface="+mn-ea"/>
                <a:cs typeface="+mn-cs"/>
              </a:rPr>
              <a:t>Relationship</a:t>
            </a:r>
            <a:r>
              <a:rPr lang="es-MX" sz="1200" kern="1200" dirty="0">
                <a:solidFill>
                  <a:schemeClr val="tx1"/>
                </a:solidFill>
                <a:latin typeface="+mn-lt"/>
                <a:ea typeface="+mn-ea"/>
                <a:cs typeface="+mn-cs"/>
              </a:rPr>
              <a:t> </a:t>
            </a:r>
            <a:r>
              <a:rPr lang="es-MX" sz="1200" kern="1200" dirty="0" err="1">
                <a:solidFill>
                  <a:schemeClr val="tx1"/>
                </a:solidFill>
                <a:latin typeface="+mn-lt"/>
                <a:ea typeface="+mn-ea"/>
                <a:cs typeface="+mn-cs"/>
              </a:rPr>
              <a:t>Operations</a:t>
            </a:r>
            <a:r>
              <a:rPr lang="es-MX" dirty="0"/>
              <a:t> = dominio que puede encargarse de avanzar las oportunidades durante esa etapa y </a:t>
            </a:r>
            <a:r>
              <a:rPr lang="es-MX" b="1" dirty="0"/>
              <a:t>más allá</a:t>
            </a:r>
            <a:r>
              <a:rPr lang="es-MX" dirty="0"/>
              <a:t>.</a:t>
            </a:r>
          </a:p>
          <a:p>
            <a:r>
              <a:rPr lang="es-MX" dirty="0"/>
              <a:t>Esta distinción me parece </a:t>
            </a:r>
            <a:r>
              <a:rPr lang="es-MX" b="1" dirty="0"/>
              <a:t>muy importante para el equipo de ingeniería</a:t>
            </a:r>
            <a:r>
              <a:rPr lang="es-MX" dirty="0"/>
              <a:t>, porque evita terminar implementando cinco “apps” que corresponden uno-a-uno con las cinco cajas del </a:t>
            </a:r>
            <a:r>
              <a:rPr lang="es-MX" dirty="0" err="1"/>
              <a:t>funnel</a:t>
            </a:r>
            <a:r>
              <a:rPr lang="es-MX" dirty="0"/>
              <a:t>.</a:t>
            </a:r>
          </a:p>
          <a:p>
            <a:endParaRPr lang="en-US" dirty="0"/>
          </a:p>
          <a:p>
            <a:r>
              <a:rPr lang="en-US" dirty="0"/>
              <a:t>- </a:t>
            </a:r>
            <a:r>
              <a:rPr lang="es-MX" dirty="0"/>
              <a:t>“</a:t>
            </a:r>
            <a:r>
              <a:rPr lang="es-MX" dirty="0" err="1"/>
              <a:t>Relationship</a:t>
            </a:r>
            <a:r>
              <a:rPr lang="es-MX" dirty="0"/>
              <a:t> </a:t>
            </a:r>
            <a:r>
              <a:rPr lang="es-MX" dirty="0" err="1"/>
              <a:t>Operations</a:t>
            </a:r>
            <a:r>
              <a:rPr lang="es-MX" dirty="0"/>
              <a:t> nace como evolución de nuestro </a:t>
            </a:r>
            <a:r>
              <a:rPr lang="es-MX" dirty="0" err="1"/>
              <a:t>conversion</a:t>
            </a:r>
            <a:r>
              <a:rPr lang="es-MX" dirty="0"/>
              <a:t> </a:t>
            </a:r>
            <a:r>
              <a:rPr lang="es-MX" dirty="0" err="1"/>
              <a:t>wedge</a:t>
            </a:r>
            <a:r>
              <a:rPr lang="es-MX" dirty="0"/>
              <a:t>, pero conceptualmente no está limitado a una caja del </a:t>
            </a:r>
            <a:r>
              <a:rPr lang="es-MX" dirty="0" err="1"/>
              <a:t>funnel</a:t>
            </a:r>
            <a:r>
              <a:rPr lang="es-MX" dirty="0"/>
              <a:t>. Su responsabilidad es mantener y avanzar la relación/oportunidad mientras ésta siga viva.”</a:t>
            </a:r>
          </a:p>
          <a:p>
            <a:r>
              <a:rPr lang="es-MX" dirty="0"/>
              <a:t>Eso también explica por qué un </a:t>
            </a:r>
            <a:r>
              <a:rPr lang="es-MX" sz="1200" kern="1200" dirty="0">
                <a:solidFill>
                  <a:schemeClr val="tx1"/>
                </a:solidFill>
                <a:latin typeface="+mn-lt"/>
                <a:ea typeface="+mn-ea"/>
                <a:cs typeface="+mn-cs"/>
              </a:rPr>
              <a:t>Lead </a:t>
            </a:r>
            <a:r>
              <a:rPr lang="es-MX" sz="1200" kern="1200" dirty="0" err="1">
                <a:solidFill>
                  <a:schemeClr val="tx1"/>
                </a:solidFill>
                <a:latin typeface="+mn-lt"/>
                <a:ea typeface="+mn-ea"/>
                <a:cs typeface="+mn-cs"/>
              </a:rPr>
              <a:t>Opportunity</a:t>
            </a:r>
            <a:r>
              <a:rPr lang="es-MX" sz="1200" kern="1200" dirty="0">
                <a:solidFill>
                  <a:schemeClr val="tx1"/>
                </a:solidFill>
                <a:latin typeface="+mn-lt"/>
                <a:ea typeface="+mn-ea"/>
                <a:cs typeface="+mn-cs"/>
              </a:rPr>
              <a:t> Case</a:t>
            </a:r>
            <a:r>
              <a:rPr lang="es-MX" dirty="0"/>
              <a:t> puede durar </a:t>
            </a:r>
            <a:r>
              <a:rPr lang="es-MX" b="1" dirty="0"/>
              <a:t>semanas o meses</a:t>
            </a:r>
            <a:r>
              <a:rPr lang="es-MX" dirty="0"/>
              <a:t>.</a:t>
            </a:r>
          </a:p>
          <a:p>
            <a:endParaRPr lang="en-US" dirty="0"/>
          </a:p>
          <a:p>
            <a:r>
              <a:rPr lang="es-MX" dirty="0" err="1"/>
              <a:t>Relationship</a:t>
            </a:r>
            <a:r>
              <a:rPr lang="es-MX" dirty="0"/>
              <a:t> </a:t>
            </a:r>
            <a:r>
              <a:rPr lang="es-MX" dirty="0" err="1"/>
              <a:t>Operations</a:t>
            </a:r>
            <a:r>
              <a:rPr lang="es-MX" dirty="0"/>
              <a:t> </a:t>
            </a:r>
            <a:r>
              <a:rPr lang="es-MX" b="1" dirty="0"/>
              <a:t>no necesariamente termina en la visita</a:t>
            </a:r>
            <a:r>
              <a:rPr lang="es-MX" dirty="0"/>
              <a:t>.</a:t>
            </a:r>
          </a:p>
          <a:p>
            <a:r>
              <a:rPr lang="es-MX" dirty="0"/>
              <a:t>Puede seguir manteniendo continuidad alrededor de:</a:t>
            </a:r>
          </a:p>
          <a:p>
            <a:pPr marL="171450" lvl="0" indent="-171450">
              <a:buFont typeface="Arial" panose="020B0604020202020204" pitchFamily="34" charset="0"/>
              <a:buChar char="•"/>
            </a:pPr>
            <a:r>
              <a:rPr lang="es-MX" dirty="0"/>
              <a:t>visita realizada; </a:t>
            </a:r>
          </a:p>
          <a:p>
            <a:pPr marL="171450" lvl="0" indent="-171450">
              <a:buFont typeface="Arial" panose="020B0604020202020204" pitchFamily="34" charset="0"/>
              <a:buChar char="•"/>
            </a:pPr>
            <a:r>
              <a:rPr lang="es-MX" dirty="0" err="1"/>
              <a:t>feedback</a:t>
            </a:r>
            <a:r>
              <a:rPr lang="es-MX" dirty="0"/>
              <a:t>; </a:t>
            </a:r>
          </a:p>
          <a:p>
            <a:pPr marL="171450" lvl="0" indent="-171450">
              <a:buFont typeface="Arial" panose="020B0604020202020204" pitchFamily="34" charset="0"/>
              <a:buChar char="•"/>
            </a:pPr>
            <a:r>
              <a:rPr lang="es-MX" dirty="0"/>
              <a:t>nuevas propiedades; </a:t>
            </a:r>
          </a:p>
          <a:p>
            <a:pPr marL="171450" lvl="0" indent="-171450">
              <a:buFont typeface="Arial" panose="020B0604020202020204" pitchFamily="34" charset="0"/>
              <a:buChar char="•"/>
            </a:pPr>
            <a:r>
              <a:rPr lang="es-MX" dirty="0"/>
              <a:t>segunda visita; </a:t>
            </a:r>
          </a:p>
          <a:p>
            <a:pPr marL="171450" lvl="0" indent="-171450">
              <a:buFont typeface="Arial" panose="020B0604020202020204" pitchFamily="34" charset="0"/>
              <a:buChar char="•"/>
            </a:pPr>
            <a:r>
              <a:rPr lang="es-MX" dirty="0"/>
              <a:t>negociación; </a:t>
            </a:r>
          </a:p>
          <a:p>
            <a:pPr marL="171450" lvl="0" indent="-171450">
              <a:buFont typeface="Arial" panose="020B0604020202020204" pitchFamily="34" charset="0"/>
              <a:buChar char="•"/>
            </a:pPr>
            <a:r>
              <a:rPr lang="es-MX" dirty="0"/>
              <a:t>documentos; </a:t>
            </a:r>
          </a:p>
          <a:p>
            <a:pPr marL="171450" lvl="0" indent="-171450">
              <a:buFont typeface="Arial" panose="020B0604020202020204" pitchFamily="34" charset="0"/>
              <a:buChar char="•"/>
            </a:pPr>
            <a:r>
              <a:rPr lang="es-MX" dirty="0"/>
              <a:t>seguimiento largo; </a:t>
            </a:r>
          </a:p>
          <a:p>
            <a:pPr marL="171450" lvl="0" indent="-171450">
              <a:buFont typeface="Arial" panose="020B0604020202020204" pitchFamily="34" charset="0"/>
              <a:buChar char="•"/>
            </a:pPr>
            <a:r>
              <a:rPr lang="es-MX" dirty="0"/>
              <a:t>reactivación; </a:t>
            </a:r>
          </a:p>
          <a:p>
            <a:pPr marL="171450" lvl="0" indent="-171450">
              <a:buFont typeface="Arial" panose="020B0604020202020204" pitchFamily="34" charset="0"/>
              <a:buChar char="•"/>
            </a:pPr>
            <a:r>
              <a:rPr lang="es-MX" dirty="0"/>
              <a:t>etc. </a:t>
            </a:r>
          </a:p>
          <a:p>
            <a:r>
              <a:rPr lang="es-MX" dirty="0"/>
              <a:t>Por eso eventualmente RO puede </a:t>
            </a:r>
            <a:r>
              <a:rPr lang="es-MX" b="1" dirty="0"/>
              <a:t>solaparse con parte de </a:t>
            </a:r>
            <a:r>
              <a:rPr lang="es-MX" b="1" dirty="0" err="1"/>
              <a:t>Transaction</a:t>
            </a:r>
            <a:r>
              <a:rPr lang="es-MX" dirty="0"/>
              <a:t>.</a:t>
            </a:r>
          </a:p>
          <a:p>
            <a:endParaRPr lang="es-MX" dirty="0"/>
          </a:p>
          <a:p>
            <a:r>
              <a:rPr lang="es-MX" dirty="0"/>
              <a:t>--</a:t>
            </a:r>
          </a:p>
          <a:p>
            <a:r>
              <a:rPr lang="es-MX" b="1" dirty="0" err="1"/>
              <a:t>Relationship</a:t>
            </a:r>
            <a:r>
              <a:rPr lang="es-MX" b="1" dirty="0"/>
              <a:t> </a:t>
            </a:r>
            <a:r>
              <a:rPr lang="es-MX" b="1" dirty="0" err="1"/>
              <a:t>Operations</a:t>
            </a:r>
            <a:r>
              <a:rPr lang="es-MX" b="1" dirty="0"/>
              <a:t> puede persistir durante parte de la etapa de Transacción, pero no por eso absorbe </a:t>
            </a:r>
            <a:r>
              <a:rPr lang="es-MX" b="1" dirty="0" err="1"/>
              <a:t>Transaction</a:t>
            </a:r>
            <a:r>
              <a:rPr lang="es-MX" b="1" dirty="0"/>
              <a:t> </a:t>
            </a:r>
            <a:r>
              <a:rPr lang="es-MX" b="1" dirty="0" err="1"/>
              <a:t>Operations</a:t>
            </a:r>
            <a:r>
              <a:rPr lang="es-MX" b="1" dirty="0"/>
              <a:t>.</a:t>
            </a:r>
            <a:endParaRPr lang="es-MX" dirty="0"/>
          </a:p>
          <a:p>
            <a:r>
              <a:rPr lang="es-MX" dirty="0"/>
              <a:t>Porque gestionan </a:t>
            </a:r>
            <a:r>
              <a:rPr lang="es-MX" b="1" dirty="0"/>
              <a:t>responsabilidades diferentes</a:t>
            </a:r>
            <a:r>
              <a:rPr lang="es-MX" dirty="0"/>
              <a:t>.</a:t>
            </a:r>
          </a:p>
          <a:p>
            <a:endParaRPr lang="es-MX" b="1" dirty="0"/>
          </a:p>
          <a:p>
            <a:r>
              <a:rPr lang="es-MX" b="1" dirty="0" err="1"/>
              <a:t>Relationship</a:t>
            </a:r>
            <a:r>
              <a:rPr lang="es-MX" b="1" dirty="0"/>
              <a:t> </a:t>
            </a:r>
            <a:r>
              <a:rPr lang="es-MX" b="1" dirty="0" err="1"/>
              <a:t>Operations</a:t>
            </a:r>
            <a:endParaRPr lang="es-MX" b="1" dirty="0"/>
          </a:p>
          <a:p>
            <a:r>
              <a:rPr lang="es-MX" dirty="0"/>
              <a:t>Su objeto principal es:</a:t>
            </a:r>
          </a:p>
          <a:p>
            <a:r>
              <a:rPr lang="es-MX" b="1" dirty="0"/>
              <a:t>la relación y la oportunidad</a:t>
            </a:r>
            <a:endParaRPr lang="es-MX" dirty="0"/>
          </a:p>
          <a:p>
            <a:r>
              <a:rPr lang="es-MX" dirty="0"/>
              <a:t>Preguntas que RO mantiene vivas:</a:t>
            </a:r>
          </a:p>
          <a:p>
            <a:pPr marL="171450" lvl="0" indent="-171450">
              <a:buFont typeface="Arial" panose="020B0604020202020204" pitchFamily="34" charset="0"/>
              <a:buChar char="•"/>
            </a:pPr>
            <a:r>
              <a:rPr lang="es-MX" dirty="0"/>
              <a:t>¿qué quiere esta persona? </a:t>
            </a:r>
          </a:p>
          <a:p>
            <a:pPr marL="171450" lvl="0" indent="-171450">
              <a:buFont typeface="Arial" panose="020B0604020202020204" pitchFamily="34" charset="0"/>
              <a:buChar char="•"/>
            </a:pPr>
            <a:r>
              <a:rPr lang="es-MX" dirty="0"/>
              <a:t>¿qué está esperando? </a:t>
            </a:r>
          </a:p>
          <a:p>
            <a:pPr marL="171450" lvl="0" indent="-171450">
              <a:buFont typeface="Arial" panose="020B0604020202020204" pitchFamily="34" charset="0"/>
              <a:buChar char="•"/>
            </a:pPr>
            <a:r>
              <a:rPr lang="es-MX" dirty="0"/>
              <a:t>¿qué compromiso tenemos con ella? </a:t>
            </a:r>
          </a:p>
          <a:p>
            <a:pPr marL="171450" lvl="0" indent="-171450">
              <a:buFont typeface="Arial" panose="020B0604020202020204" pitchFamily="34" charset="0"/>
              <a:buChar char="•"/>
            </a:pPr>
            <a:r>
              <a:rPr lang="es-MX" dirty="0"/>
              <a:t>¿cuál es la siguiente acción? </a:t>
            </a:r>
          </a:p>
          <a:p>
            <a:pPr marL="171450" lvl="0" indent="-171450">
              <a:buFont typeface="Arial" panose="020B0604020202020204" pitchFamily="34" charset="0"/>
              <a:buChar char="•"/>
            </a:pPr>
            <a:r>
              <a:rPr lang="es-MX" dirty="0"/>
              <a:t>¿qué cambió en su intención? </a:t>
            </a:r>
          </a:p>
          <a:p>
            <a:pPr marL="171450" lvl="0" indent="-171450">
              <a:buFont typeface="Arial" panose="020B0604020202020204" pitchFamily="34" charset="0"/>
              <a:buChar char="•"/>
            </a:pPr>
            <a:r>
              <a:rPr lang="es-MX" dirty="0"/>
              <a:t>¿hay que darle seguimiento? </a:t>
            </a:r>
          </a:p>
          <a:p>
            <a:pPr marL="171450" lvl="0" indent="-171450">
              <a:buFont typeface="Arial" panose="020B0604020202020204" pitchFamily="34" charset="0"/>
              <a:buChar char="•"/>
            </a:pPr>
            <a:r>
              <a:rPr lang="es-MX" dirty="0"/>
              <a:t>¿necesita otra propiedad? </a:t>
            </a:r>
          </a:p>
          <a:p>
            <a:pPr marL="171450" lvl="0" indent="-171450">
              <a:buFont typeface="Arial" panose="020B0604020202020204" pitchFamily="34" charset="0"/>
              <a:buChar char="•"/>
            </a:pPr>
            <a:r>
              <a:rPr lang="es-MX" dirty="0"/>
              <a:t>¿hay una decisión pendiente? </a:t>
            </a:r>
          </a:p>
          <a:p>
            <a:pPr marL="171450" lvl="0" indent="-171450">
              <a:buFont typeface="Arial" panose="020B0604020202020204" pitchFamily="34" charset="0"/>
              <a:buChar char="•"/>
            </a:pPr>
            <a:r>
              <a:rPr lang="es-MX" dirty="0"/>
              <a:t>¿se deterioró la oportunidad? </a:t>
            </a:r>
          </a:p>
          <a:p>
            <a:pPr marL="171450" lvl="0" indent="-171450">
              <a:buFont typeface="Arial" panose="020B0604020202020204" pitchFamily="34" charset="0"/>
              <a:buChar char="•"/>
            </a:pPr>
            <a:r>
              <a:rPr lang="es-MX" dirty="0"/>
              <a:t>¿debemos reactivarla? </a:t>
            </a:r>
          </a:p>
          <a:p>
            <a:endParaRPr lang="es-MX" b="1" dirty="0"/>
          </a:p>
          <a:p>
            <a:r>
              <a:rPr lang="es-MX" b="1" dirty="0" err="1"/>
              <a:t>Transaction</a:t>
            </a:r>
            <a:r>
              <a:rPr lang="es-MX" b="1" dirty="0"/>
              <a:t> </a:t>
            </a:r>
            <a:r>
              <a:rPr lang="es-MX" b="1" dirty="0" err="1"/>
              <a:t>Operations</a:t>
            </a:r>
            <a:endParaRPr lang="es-MX" b="1" dirty="0"/>
          </a:p>
          <a:p>
            <a:r>
              <a:rPr lang="es-MX" dirty="0"/>
              <a:t>Su objeto principal es:</a:t>
            </a:r>
          </a:p>
          <a:p>
            <a:r>
              <a:rPr lang="es-MX" b="1" dirty="0"/>
              <a:t>la operación/transacción concreta</a:t>
            </a:r>
            <a:endParaRPr lang="es-MX" dirty="0"/>
          </a:p>
          <a:p>
            <a:r>
              <a:rPr lang="es-MX" dirty="0"/>
              <a:t>Preguntas que TO mantiene:</a:t>
            </a:r>
          </a:p>
          <a:p>
            <a:pPr marL="171450" lvl="0" indent="-171450">
              <a:buFont typeface="Arial" panose="020B0604020202020204" pitchFamily="34" charset="0"/>
              <a:buChar char="•"/>
            </a:pPr>
            <a:r>
              <a:rPr lang="es-MX" dirty="0"/>
              <a:t>¿qué documentos faltan? </a:t>
            </a:r>
          </a:p>
          <a:p>
            <a:pPr marL="171450" lvl="0" indent="-171450">
              <a:buFont typeface="Arial" panose="020B0604020202020204" pitchFamily="34" charset="0"/>
              <a:buChar char="•"/>
            </a:pPr>
            <a:r>
              <a:rPr lang="es-MX" dirty="0"/>
              <a:t>¿qué oferta está vigente? </a:t>
            </a:r>
          </a:p>
          <a:p>
            <a:pPr marL="171450" lvl="0" indent="-171450">
              <a:buFont typeface="Arial" panose="020B0604020202020204" pitchFamily="34" charset="0"/>
              <a:buChar char="•"/>
            </a:pPr>
            <a:r>
              <a:rPr lang="es-MX" dirty="0"/>
              <a:t>¿qué condiciones fueron aceptadas? </a:t>
            </a:r>
          </a:p>
          <a:p>
            <a:pPr marL="171450" lvl="0" indent="-171450">
              <a:buFont typeface="Arial" panose="020B0604020202020204" pitchFamily="34" charset="0"/>
              <a:buChar char="•"/>
            </a:pPr>
            <a:r>
              <a:rPr lang="es-MX" dirty="0"/>
              <a:t>¿qué autorización falta? </a:t>
            </a:r>
          </a:p>
          <a:p>
            <a:pPr marL="171450" lvl="0" indent="-171450">
              <a:buFont typeface="Arial" panose="020B0604020202020204" pitchFamily="34" charset="0"/>
              <a:buChar char="•"/>
            </a:pPr>
            <a:r>
              <a:rPr lang="es-MX" dirty="0"/>
              <a:t>¿qué financiamiento está pendiente? </a:t>
            </a:r>
          </a:p>
          <a:p>
            <a:pPr marL="171450" lvl="0" indent="-171450">
              <a:buFont typeface="Arial" panose="020B0604020202020204" pitchFamily="34" charset="0"/>
              <a:buChar char="•"/>
            </a:pPr>
            <a:r>
              <a:rPr lang="es-MX" dirty="0"/>
              <a:t>¿qué firma/notaría/proveedor debe intervenir? </a:t>
            </a:r>
          </a:p>
          <a:p>
            <a:pPr marL="171450" lvl="0" indent="-171450">
              <a:buFont typeface="Arial" panose="020B0604020202020204" pitchFamily="34" charset="0"/>
              <a:buChar char="•"/>
            </a:pPr>
            <a:r>
              <a:rPr lang="es-MX" dirty="0"/>
              <a:t>¿qué hito debe cumplirse antes del siguiente? </a:t>
            </a:r>
          </a:p>
          <a:p>
            <a:pPr marL="171450" lvl="0" indent="-171450">
              <a:buFont typeface="Arial" panose="020B0604020202020204" pitchFamily="34" charset="0"/>
              <a:buChar char="•"/>
            </a:pPr>
            <a:r>
              <a:rPr lang="es-MX" dirty="0"/>
              <a:t>¿qué evidencia demuestra cierre? </a:t>
            </a:r>
          </a:p>
          <a:p>
            <a:pPr marL="171450" indent="-171450">
              <a:buFont typeface="Arial" panose="020B0604020202020204" pitchFamily="34" charset="0"/>
              <a:buChar char="•"/>
            </a:pPr>
            <a:r>
              <a:rPr lang="es-MX" dirty="0"/>
              <a:t>Son cosas distintas aunque estén ocurriendo al mismo tiempo.</a:t>
            </a:r>
          </a:p>
          <a:p>
            <a:br>
              <a:rPr lang="es-MX" dirty="0"/>
            </a:br>
            <a:endParaRPr lang="es-MX" dirty="0"/>
          </a:p>
          <a:p>
            <a:r>
              <a:rPr lang="es-MX" b="1" dirty="0"/>
              <a:t>Un ejemplo hace la diferencia muy clara</a:t>
            </a:r>
          </a:p>
          <a:p>
            <a:r>
              <a:rPr lang="es-MX" dirty="0"/>
              <a:t>Imagina que Ana busca un departamento.</a:t>
            </a:r>
          </a:p>
          <a:p>
            <a:endParaRPr lang="es-MX" b="1" dirty="0"/>
          </a:p>
          <a:p>
            <a:r>
              <a:rPr lang="es-MX" b="1" dirty="0" err="1"/>
              <a:t>Relationship</a:t>
            </a:r>
            <a:r>
              <a:rPr lang="es-MX" b="1" dirty="0"/>
              <a:t> </a:t>
            </a:r>
            <a:r>
              <a:rPr lang="es-MX" b="1" dirty="0" err="1"/>
              <a:t>Operations</a:t>
            </a:r>
            <a:endParaRPr lang="es-MX" b="1" dirty="0"/>
          </a:p>
          <a:p>
            <a:r>
              <a:rPr lang="es-MX" dirty="0"/>
              <a:t>Existe un:</a:t>
            </a:r>
          </a:p>
          <a:p>
            <a:r>
              <a:rPr lang="es-MX" b="1" dirty="0"/>
              <a:t>Lead </a:t>
            </a:r>
            <a:r>
              <a:rPr lang="es-MX" b="1" dirty="0" err="1"/>
              <a:t>Opportunity</a:t>
            </a:r>
            <a:r>
              <a:rPr lang="es-MX" b="1" dirty="0"/>
              <a:t> Case — Ana</a:t>
            </a:r>
            <a:endParaRPr lang="es-MX" dirty="0"/>
          </a:p>
          <a:p>
            <a:r>
              <a:rPr lang="es-MX" dirty="0"/>
              <a:t>que puede durar meses.</a:t>
            </a:r>
          </a:p>
          <a:p>
            <a:r>
              <a:rPr lang="es-MX" dirty="0"/>
              <a:t>Sabe:</a:t>
            </a:r>
          </a:p>
          <a:p>
            <a:pPr marL="171450" lvl="0" indent="-171450">
              <a:buFont typeface="Arial" panose="020B0604020202020204" pitchFamily="34" charset="0"/>
              <a:buChar char="•"/>
            </a:pPr>
            <a:r>
              <a:rPr lang="es-MX" dirty="0"/>
              <a:t>qué busca Ana; </a:t>
            </a:r>
          </a:p>
          <a:p>
            <a:pPr marL="171450" lvl="0" indent="-171450">
              <a:buFont typeface="Arial" panose="020B0604020202020204" pitchFamily="34" charset="0"/>
              <a:buChar char="•"/>
            </a:pPr>
            <a:r>
              <a:rPr lang="es-MX" dirty="0"/>
              <a:t>qué propiedades vio; </a:t>
            </a:r>
          </a:p>
          <a:p>
            <a:pPr marL="171450" lvl="0" indent="-171450">
              <a:buFont typeface="Arial" panose="020B0604020202020204" pitchFamily="34" charset="0"/>
              <a:buChar char="•"/>
            </a:pPr>
            <a:r>
              <a:rPr lang="es-MX" dirty="0"/>
              <a:t>qué le gustó; </a:t>
            </a:r>
          </a:p>
          <a:p>
            <a:pPr marL="171450" lvl="0" indent="-171450">
              <a:buFont typeface="Arial" panose="020B0604020202020204" pitchFamily="34" charset="0"/>
              <a:buChar char="•"/>
            </a:pPr>
            <a:r>
              <a:rPr lang="es-MX" dirty="0"/>
              <a:t>qué objeciones tiene; </a:t>
            </a:r>
          </a:p>
          <a:p>
            <a:pPr marL="171450" lvl="0" indent="-171450">
              <a:buFont typeface="Arial" panose="020B0604020202020204" pitchFamily="34" charset="0"/>
              <a:buChar char="•"/>
            </a:pPr>
            <a:r>
              <a:rPr lang="es-MX" dirty="0"/>
              <a:t>qué visitas hizo; </a:t>
            </a:r>
          </a:p>
          <a:p>
            <a:pPr marL="171450" lvl="0" indent="-171450">
              <a:buFont typeface="Arial" panose="020B0604020202020204" pitchFamily="34" charset="0"/>
              <a:buChar char="•"/>
            </a:pPr>
            <a:r>
              <a:rPr lang="es-MX" dirty="0"/>
              <a:t>qué </a:t>
            </a:r>
            <a:r>
              <a:rPr lang="es-MX" dirty="0" err="1"/>
              <a:t>follow</a:t>
            </a:r>
            <a:r>
              <a:rPr lang="es-MX" dirty="0"/>
              <a:t>-ups corresponden; </a:t>
            </a:r>
          </a:p>
          <a:p>
            <a:pPr marL="171450" lvl="0" indent="-171450">
              <a:buFont typeface="Arial" panose="020B0604020202020204" pitchFamily="34" charset="0"/>
              <a:buChar char="•"/>
            </a:pPr>
            <a:r>
              <a:rPr lang="es-MX" dirty="0"/>
              <a:t>qué compromisos existen; </a:t>
            </a:r>
          </a:p>
          <a:p>
            <a:pPr marL="171450" lvl="0" indent="-171450">
              <a:buFont typeface="Arial" panose="020B0604020202020204" pitchFamily="34" charset="0"/>
              <a:buChar char="•"/>
            </a:pPr>
            <a:r>
              <a:rPr lang="es-MX" dirty="0"/>
              <a:t>cuál es la siguiente acción. </a:t>
            </a:r>
          </a:p>
          <a:p>
            <a:r>
              <a:rPr lang="es-MX" dirty="0"/>
              <a:t>Luego Ana hace una oferta por </a:t>
            </a:r>
            <a:r>
              <a:rPr lang="es-MX" dirty="0" err="1"/>
              <a:t>Property</a:t>
            </a:r>
            <a:r>
              <a:rPr lang="es-MX" dirty="0"/>
              <a:t> X.</a:t>
            </a:r>
          </a:p>
          <a:p>
            <a:r>
              <a:rPr lang="es-MX" dirty="0"/>
              <a:t>En ese momento </a:t>
            </a:r>
            <a:r>
              <a:rPr lang="es-MX" dirty="0" err="1"/>
              <a:t>Gu</a:t>
            </a:r>
            <a:r>
              <a:rPr lang="es-MX" dirty="0"/>
              <a:t> OS podría crear:</a:t>
            </a:r>
          </a:p>
          <a:p>
            <a:endParaRPr lang="es-MX" b="1" dirty="0"/>
          </a:p>
          <a:p>
            <a:r>
              <a:rPr lang="es-MX" b="1" dirty="0" err="1"/>
              <a:t>Transaction</a:t>
            </a:r>
            <a:r>
              <a:rPr lang="es-MX" b="1" dirty="0"/>
              <a:t> Case — Ana / </a:t>
            </a:r>
            <a:r>
              <a:rPr lang="es-MX" b="1" dirty="0" err="1"/>
              <a:t>Property</a:t>
            </a:r>
            <a:r>
              <a:rPr lang="es-MX" b="1" dirty="0"/>
              <a:t> X</a:t>
            </a:r>
            <a:endParaRPr lang="es-MX" dirty="0"/>
          </a:p>
          <a:p>
            <a:r>
              <a:rPr lang="es-MX" dirty="0"/>
              <a:t>gestionado dentro de </a:t>
            </a:r>
            <a:r>
              <a:rPr lang="es-MX" b="1" dirty="0" err="1"/>
              <a:t>Transaction</a:t>
            </a:r>
            <a:r>
              <a:rPr lang="es-MX" b="1" dirty="0"/>
              <a:t> </a:t>
            </a:r>
            <a:r>
              <a:rPr lang="es-MX" b="1" dirty="0" err="1"/>
              <a:t>Operations</a:t>
            </a:r>
            <a:r>
              <a:rPr lang="es-MX" dirty="0"/>
              <a:t>.</a:t>
            </a:r>
          </a:p>
          <a:p>
            <a:r>
              <a:rPr lang="es-MX" dirty="0"/>
              <a:t>Ahora existen simultáneamente:</a:t>
            </a:r>
          </a:p>
          <a:p>
            <a:pPr rtl="0"/>
            <a:r>
              <a:rPr lang="es-MX" sz="1200" kern="1200" dirty="0">
                <a:solidFill>
                  <a:schemeClr val="tx1"/>
                </a:solidFill>
                <a:latin typeface="+mn-lt"/>
                <a:ea typeface="+mn-ea"/>
                <a:cs typeface="+mn-cs"/>
              </a:rPr>
              <a:t>Lead </a:t>
            </a:r>
            <a:r>
              <a:rPr lang="es-MX" sz="1200" kern="1200" dirty="0" err="1">
                <a:solidFill>
                  <a:schemeClr val="tx1"/>
                </a:solidFill>
                <a:latin typeface="+mn-lt"/>
                <a:ea typeface="+mn-ea"/>
                <a:cs typeface="+mn-cs"/>
              </a:rPr>
              <a:t>Opportunity</a:t>
            </a:r>
            <a:r>
              <a:rPr lang="es-MX" sz="1200" kern="1200" dirty="0">
                <a:solidFill>
                  <a:schemeClr val="tx1"/>
                </a:solidFill>
                <a:latin typeface="+mn-lt"/>
                <a:ea typeface="+mn-ea"/>
                <a:cs typeface="+mn-cs"/>
              </a:rPr>
              <a:t> Case</a:t>
            </a:r>
          </a:p>
          <a:p>
            <a:pPr rtl="0"/>
            <a:r>
              <a:rPr lang="es-MX" sz="1200" kern="1200" dirty="0" err="1">
                <a:solidFill>
                  <a:schemeClr val="tx1"/>
                </a:solidFill>
                <a:latin typeface="+mn-lt"/>
                <a:ea typeface="+mn-ea"/>
                <a:cs typeface="+mn-cs"/>
              </a:rPr>
              <a:t>Relationship</a:t>
            </a:r>
            <a:r>
              <a:rPr lang="es-MX" sz="1200" kern="1200" dirty="0">
                <a:solidFill>
                  <a:schemeClr val="tx1"/>
                </a:solidFill>
                <a:latin typeface="+mn-lt"/>
                <a:ea typeface="+mn-ea"/>
                <a:cs typeface="+mn-cs"/>
              </a:rPr>
              <a:t> </a:t>
            </a:r>
            <a:r>
              <a:rPr lang="es-MX" sz="1200" kern="1200" dirty="0" err="1">
                <a:solidFill>
                  <a:schemeClr val="tx1"/>
                </a:solidFill>
                <a:latin typeface="+mn-lt"/>
                <a:ea typeface="+mn-ea"/>
                <a:cs typeface="+mn-cs"/>
              </a:rPr>
              <a:t>Operations</a:t>
            </a:r>
            <a:endParaRPr lang="es-MX" sz="1200" kern="1200" dirty="0">
              <a:solidFill>
                <a:schemeClr val="tx1"/>
              </a:solidFill>
              <a:latin typeface="+mn-lt"/>
              <a:ea typeface="+mn-ea"/>
              <a:cs typeface="+mn-cs"/>
            </a:endParaRPr>
          </a:p>
          <a:p>
            <a:pPr rtl="0"/>
            <a:r>
              <a:rPr lang="es-MX" sz="1200" kern="1200" dirty="0">
                <a:solidFill>
                  <a:schemeClr val="tx1"/>
                </a:solidFill>
                <a:latin typeface="+mn-lt"/>
                <a:ea typeface="+mn-ea"/>
                <a:cs typeface="+mn-cs"/>
              </a:rPr>
              <a:t>        │</a:t>
            </a:r>
          </a:p>
          <a:p>
            <a:pPr rtl="0"/>
            <a:r>
              <a:rPr lang="es-MX" sz="1200" kern="1200" dirty="0">
                <a:solidFill>
                  <a:schemeClr val="tx1"/>
                </a:solidFill>
                <a:latin typeface="+mn-lt"/>
                <a:ea typeface="+mn-ea"/>
                <a:cs typeface="+mn-cs"/>
              </a:rPr>
              <a:t>        ├── mantiene relación con Ana</a:t>
            </a:r>
          </a:p>
          <a:p>
            <a:pPr rtl="0"/>
            <a:r>
              <a:rPr lang="es-MX" sz="1200" kern="1200" dirty="0">
                <a:solidFill>
                  <a:schemeClr val="tx1"/>
                </a:solidFill>
                <a:latin typeface="+mn-lt"/>
                <a:ea typeface="+mn-ea"/>
                <a:cs typeface="+mn-cs"/>
              </a:rPr>
              <a:t>        ├── contexto e intención</a:t>
            </a:r>
          </a:p>
          <a:p>
            <a:pPr rtl="0"/>
            <a:r>
              <a:rPr lang="es-MX" sz="1200" kern="1200" dirty="0">
                <a:solidFill>
                  <a:schemeClr val="tx1"/>
                </a:solidFill>
                <a:latin typeface="+mn-lt"/>
                <a:ea typeface="+mn-ea"/>
                <a:cs typeface="+mn-cs"/>
              </a:rPr>
              <a:t>        ├── seguimiento</a:t>
            </a:r>
          </a:p>
          <a:p>
            <a:pPr rtl="0"/>
            <a:r>
              <a:rPr lang="es-MX" sz="1200" kern="1200" dirty="0">
                <a:solidFill>
                  <a:schemeClr val="tx1"/>
                </a:solidFill>
                <a:latin typeface="+mn-lt"/>
                <a:ea typeface="+mn-ea"/>
                <a:cs typeface="+mn-cs"/>
              </a:rPr>
              <a:t>        └── continuidad de oportunidad</a:t>
            </a:r>
          </a:p>
          <a:p>
            <a:pPr rtl="0"/>
            <a:r>
              <a:rPr lang="es-MX" sz="1200" kern="1200" dirty="0">
                <a:solidFill>
                  <a:schemeClr val="tx1"/>
                </a:solidFill>
                <a:latin typeface="+mn-lt"/>
                <a:ea typeface="+mn-ea"/>
                <a:cs typeface="+mn-cs"/>
              </a:rPr>
              <a:t>                │</a:t>
            </a:r>
          </a:p>
          <a:p>
            <a:pPr rtl="0"/>
            <a:r>
              <a:rPr lang="es-MX" sz="1200" kern="1200" dirty="0">
                <a:solidFill>
                  <a:schemeClr val="tx1"/>
                </a:solidFill>
                <a:latin typeface="+mn-lt"/>
                <a:ea typeface="+mn-ea"/>
                <a:cs typeface="+mn-cs"/>
              </a:rPr>
              <a:t>                └────► </a:t>
            </a:r>
            <a:r>
              <a:rPr lang="es-MX" sz="1200" kern="1200" dirty="0" err="1">
                <a:solidFill>
                  <a:schemeClr val="tx1"/>
                </a:solidFill>
                <a:latin typeface="+mn-lt"/>
                <a:ea typeface="+mn-ea"/>
                <a:cs typeface="+mn-cs"/>
              </a:rPr>
              <a:t>Transaction</a:t>
            </a:r>
            <a:r>
              <a:rPr lang="es-MX" sz="1200" kern="1200" dirty="0">
                <a:solidFill>
                  <a:schemeClr val="tx1"/>
                </a:solidFill>
                <a:latin typeface="+mn-lt"/>
                <a:ea typeface="+mn-ea"/>
                <a:cs typeface="+mn-cs"/>
              </a:rPr>
              <a:t> Case</a:t>
            </a:r>
          </a:p>
          <a:p>
            <a:pPr rtl="0"/>
            <a:r>
              <a:rPr lang="es-MX" sz="1200" kern="1200" dirty="0">
                <a:solidFill>
                  <a:schemeClr val="tx1"/>
                </a:solidFill>
                <a:latin typeface="+mn-lt"/>
                <a:ea typeface="+mn-ea"/>
                <a:cs typeface="+mn-cs"/>
              </a:rPr>
              <a:t>                       </a:t>
            </a:r>
            <a:r>
              <a:rPr lang="es-MX" sz="1200" kern="1200" dirty="0" err="1">
                <a:solidFill>
                  <a:schemeClr val="tx1"/>
                </a:solidFill>
                <a:latin typeface="+mn-lt"/>
                <a:ea typeface="+mn-ea"/>
                <a:cs typeface="+mn-cs"/>
              </a:rPr>
              <a:t>Transaction</a:t>
            </a:r>
            <a:r>
              <a:rPr lang="es-MX" sz="1200" kern="1200" dirty="0">
                <a:solidFill>
                  <a:schemeClr val="tx1"/>
                </a:solidFill>
                <a:latin typeface="+mn-lt"/>
                <a:ea typeface="+mn-ea"/>
                <a:cs typeface="+mn-cs"/>
              </a:rPr>
              <a:t> </a:t>
            </a:r>
            <a:r>
              <a:rPr lang="es-MX" sz="1200" kern="1200" dirty="0" err="1">
                <a:solidFill>
                  <a:schemeClr val="tx1"/>
                </a:solidFill>
                <a:latin typeface="+mn-lt"/>
                <a:ea typeface="+mn-ea"/>
                <a:cs typeface="+mn-cs"/>
              </a:rPr>
              <a:t>Operations</a:t>
            </a:r>
            <a:endParaRPr lang="es-MX" sz="1200" kern="1200" dirty="0">
              <a:solidFill>
                <a:schemeClr val="tx1"/>
              </a:solidFill>
              <a:latin typeface="+mn-lt"/>
              <a:ea typeface="+mn-ea"/>
              <a:cs typeface="+mn-cs"/>
            </a:endParaRPr>
          </a:p>
          <a:p>
            <a:pPr rtl="0"/>
            <a:r>
              <a:rPr lang="es-MX" sz="1200" kern="1200" dirty="0">
                <a:solidFill>
                  <a:schemeClr val="tx1"/>
                </a:solidFill>
                <a:latin typeface="+mn-lt"/>
                <a:ea typeface="+mn-ea"/>
                <a:cs typeface="+mn-cs"/>
              </a:rPr>
              <a:t>                       ├── oferta</a:t>
            </a:r>
          </a:p>
          <a:p>
            <a:pPr rtl="0"/>
            <a:r>
              <a:rPr lang="es-MX" sz="1200" kern="1200" dirty="0">
                <a:solidFill>
                  <a:schemeClr val="tx1"/>
                </a:solidFill>
                <a:latin typeface="+mn-lt"/>
                <a:ea typeface="+mn-ea"/>
                <a:cs typeface="+mn-cs"/>
              </a:rPr>
              <a:t>                       ├── documentos</a:t>
            </a:r>
          </a:p>
          <a:p>
            <a:pPr rtl="0"/>
            <a:r>
              <a:rPr lang="es-MX" sz="1200" kern="1200" dirty="0">
                <a:solidFill>
                  <a:schemeClr val="tx1"/>
                </a:solidFill>
                <a:latin typeface="+mn-lt"/>
                <a:ea typeface="+mn-ea"/>
                <a:cs typeface="+mn-cs"/>
              </a:rPr>
              <a:t>                       ├── aprobaciones</a:t>
            </a:r>
          </a:p>
          <a:p>
            <a:pPr rtl="0"/>
            <a:r>
              <a:rPr lang="es-MX" sz="1200" kern="1200" dirty="0">
                <a:solidFill>
                  <a:schemeClr val="tx1"/>
                </a:solidFill>
                <a:latin typeface="+mn-lt"/>
                <a:ea typeface="+mn-ea"/>
                <a:cs typeface="+mn-cs"/>
              </a:rPr>
              <a:t>                       ├── financiamiento</a:t>
            </a:r>
          </a:p>
          <a:p>
            <a:pPr rtl="0"/>
            <a:r>
              <a:rPr lang="es-MX" sz="1200" kern="1200" dirty="0">
                <a:solidFill>
                  <a:schemeClr val="tx1"/>
                </a:solidFill>
                <a:latin typeface="+mn-lt"/>
                <a:ea typeface="+mn-ea"/>
                <a:cs typeface="+mn-cs"/>
              </a:rPr>
              <a:t>                       └── cierre</a:t>
            </a:r>
          </a:p>
          <a:p>
            <a:endParaRPr lang="es-MX" dirty="0"/>
          </a:p>
          <a:p>
            <a:r>
              <a:rPr lang="es-MX" dirty="0"/>
              <a:t>Si la negociación fracasa:</a:t>
            </a:r>
          </a:p>
          <a:p>
            <a:r>
              <a:rPr lang="es-MX" dirty="0" err="1"/>
              <a:t>Transaction</a:t>
            </a:r>
            <a:r>
              <a:rPr lang="es-MX" dirty="0"/>
              <a:t> Case → </a:t>
            </a:r>
            <a:r>
              <a:rPr lang="es-MX" dirty="0" err="1"/>
              <a:t>Closed</a:t>
            </a:r>
            <a:r>
              <a:rPr lang="es-MX" dirty="0"/>
              <a:t> / </a:t>
            </a:r>
            <a:r>
              <a:rPr lang="es-MX" dirty="0" err="1"/>
              <a:t>Failed</a:t>
            </a:r>
            <a:endParaRPr lang="es-MX" dirty="0"/>
          </a:p>
          <a:p>
            <a:r>
              <a:rPr lang="es-MX" dirty="0"/>
              <a:t>pero el </a:t>
            </a:r>
            <a:r>
              <a:rPr lang="es-MX" b="1" dirty="0"/>
              <a:t>Lead </a:t>
            </a:r>
            <a:r>
              <a:rPr lang="es-MX" b="1" dirty="0" err="1"/>
              <a:t>Opportunity</a:t>
            </a:r>
            <a:r>
              <a:rPr lang="es-MX" b="1" dirty="0"/>
              <a:t> Case puede seguir vivo</a:t>
            </a:r>
            <a:r>
              <a:rPr lang="es-MX" dirty="0"/>
              <a:t>:</a:t>
            </a:r>
          </a:p>
          <a:p>
            <a:endParaRPr lang="es-MX" dirty="0"/>
          </a:p>
          <a:p>
            <a:r>
              <a:rPr lang="es-MX" dirty="0"/>
              <a:t>“Ana todavía quiere comprar; debemos encontrar otra propiedad.”</a:t>
            </a:r>
          </a:p>
          <a:p>
            <a:endParaRPr lang="es-MX" dirty="0"/>
          </a:p>
          <a:p>
            <a:r>
              <a:rPr lang="es-MX" dirty="0"/>
              <a:t>Eso demuestra por qué RO no termina necesariamente cuando empieza </a:t>
            </a:r>
            <a:r>
              <a:rPr lang="es-MX" dirty="0" err="1"/>
              <a:t>Transaction</a:t>
            </a:r>
            <a:r>
              <a:rPr lang="es-MX" dirty="0"/>
              <a:t>.</a:t>
            </a:r>
          </a:p>
          <a:p>
            <a:r>
              <a:rPr lang="es-MX" dirty="0"/>
              <a:t>Y también demuestra por qué </a:t>
            </a:r>
            <a:r>
              <a:rPr lang="es-MX" b="1" dirty="0" err="1"/>
              <a:t>Transaction</a:t>
            </a:r>
            <a:r>
              <a:rPr lang="es-MX" b="1" dirty="0"/>
              <a:t> </a:t>
            </a:r>
            <a:r>
              <a:rPr lang="es-MX" b="1" dirty="0" err="1"/>
              <a:t>Operations</a:t>
            </a:r>
            <a:r>
              <a:rPr lang="es-MX" b="1" dirty="0"/>
              <a:t> sí merece existir como dominio separado</a:t>
            </a:r>
            <a:r>
              <a:rPr lang="es-MX" dirty="0"/>
              <a:t>.</a:t>
            </a:r>
          </a:p>
          <a:p>
            <a:endParaRPr lang="es-MX"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es-MX" dirty="0"/>
              <a:t>“El ciclo anterior describe dónde ocurre el valor económico. Pero no queremos convertir cada etapa en una aplicación distinta. </a:t>
            </a:r>
            <a:r>
              <a:rPr lang="es-MX" dirty="0" err="1"/>
              <a:t>Gu</a:t>
            </a:r>
            <a:r>
              <a:rPr lang="es-MX" dirty="0"/>
              <a:t> OS tiene un núcleo común y organiza responsabilidades en dominios operativos. Hay </a:t>
            </a:r>
            <a:r>
              <a:rPr lang="es-MX" dirty="0" err="1"/>
              <a:t>mappings</a:t>
            </a:r>
            <a:r>
              <a:rPr lang="es-MX" dirty="0"/>
              <a:t> principales —</a:t>
            </a:r>
            <a:r>
              <a:rPr lang="es-MX" dirty="0" err="1"/>
              <a:t>Property</a:t>
            </a:r>
            <a:r>
              <a:rPr lang="es-MX" dirty="0"/>
              <a:t> </a:t>
            </a:r>
            <a:r>
              <a:rPr lang="es-MX" dirty="0" err="1"/>
              <a:t>Ops</a:t>
            </a:r>
            <a:r>
              <a:rPr lang="es-MX" dirty="0"/>
              <a:t> con incorporación, Demand </a:t>
            </a:r>
            <a:r>
              <a:rPr lang="es-MX" dirty="0" err="1"/>
              <a:t>Ops</a:t>
            </a:r>
            <a:r>
              <a:rPr lang="es-MX" dirty="0"/>
              <a:t> con generación, </a:t>
            </a:r>
            <a:r>
              <a:rPr lang="es-MX" dirty="0" err="1"/>
              <a:t>Relationship</a:t>
            </a:r>
            <a:r>
              <a:rPr lang="es-MX" dirty="0"/>
              <a:t> </a:t>
            </a:r>
            <a:r>
              <a:rPr lang="es-MX" dirty="0" err="1"/>
              <a:t>Ops</a:t>
            </a:r>
            <a:r>
              <a:rPr lang="es-MX" dirty="0"/>
              <a:t> con conversión y </a:t>
            </a:r>
            <a:r>
              <a:rPr lang="es-MX" dirty="0" err="1"/>
              <a:t>Transaction</a:t>
            </a:r>
            <a:r>
              <a:rPr lang="es-MX" dirty="0"/>
              <a:t> </a:t>
            </a:r>
            <a:r>
              <a:rPr lang="es-MX" dirty="0" err="1"/>
              <a:t>Ops</a:t>
            </a:r>
            <a:r>
              <a:rPr lang="es-MX" dirty="0"/>
              <a:t> con transacción—, pero no son silos. La relación puede continuar durante una transacción; Network </a:t>
            </a:r>
            <a:r>
              <a:rPr lang="es-MX" dirty="0" err="1"/>
              <a:t>Operations</a:t>
            </a:r>
            <a:r>
              <a:rPr lang="es-MX" dirty="0"/>
              <a:t> puede intervenir en varios dominios; y los resultados reales retroalimentan a todos.”</a:t>
            </a:r>
          </a:p>
          <a:p>
            <a:endParaRPr lang="es-MX" dirty="0"/>
          </a:p>
          <a:p>
            <a:r>
              <a:rPr lang="es-MX" dirty="0"/>
              <a:t>Después daría el ejemplo:</a:t>
            </a:r>
          </a:p>
          <a:p>
            <a:r>
              <a:rPr lang="es-MX" dirty="0"/>
              <a:t>“Si Ana empieza una transacción por una propiedad, el </a:t>
            </a:r>
            <a:r>
              <a:rPr lang="es-MX" dirty="0" err="1"/>
              <a:t>Transaction</a:t>
            </a:r>
            <a:r>
              <a:rPr lang="es-MX" dirty="0"/>
              <a:t> Case puede gestionar oferta, documentación y cierre, mientras su Lead </a:t>
            </a:r>
            <a:r>
              <a:rPr lang="es-MX" dirty="0" err="1"/>
              <a:t>Opportunity</a:t>
            </a:r>
            <a:r>
              <a:rPr lang="es-MX" dirty="0"/>
              <a:t> Case continúa preservando la relación. Si esa operación fracasa, la transacción puede terminar y la oportunidad seguir viva.”</a:t>
            </a:r>
          </a:p>
          <a:p>
            <a:endParaRPr lang="es-MX" dirty="0"/>
          </a:p>
          <a:p>
            <a:r>
              <a:rPr lang="es-MX" dirty="0"/>
              <a:t>---</a:t>
            </a:r>
          </a:p>
          <a:p>
            <a:endParaRPr lang="es-MX" dirty="0"/>
          </a:p>
          <a:p>
            <a:r>
              <a:rPr lang="es-MX" dirty="0"/>
              <a:t>“Ahora bien, no debemos cometer el error de convertir cada caja del ciclo en una aplicación independiente. Las etapas del negocio nos dicen dónde ocurre el valor; los dominios operativos nos dicen de qué responsabilidades puede hacerse cargo </a:t>
            </a:r>
            <a:r>
              <a:rPr lang="es-MX" dirty="0" err="1"/>
              <a:t>Gu</a:t>
            </a:r>
            <a:r>
              <a:rPr lang="es-MX" dirty="0"/>
              <a:t> OS. Hay correspondencias principales, pero no son fronteras rígidas.”</a:t>
            </a:r>
          </a:p>
          <a:p>
            <a:endParaRPr lang="es-MX" dirty="0"/>
          </a:p>
          <a:p>
            <a:r>
              <a:rPr lang="es-MX" dirty="0"/>
              <a:t>Ejemplo de RO/</a:t>
            </a:r>
            <a:r>
              <a:rPr lang="es-MX" dirty="0" err="1"/>
              <a:t>Transaction</a:t>
            </a:r>
            <a:r>
              <a:rPr lang="es-MX" dirty="0"/>
              <a:t>:</a:t>
            </a:r>
          </a:p>
          <a:p>
            <a:r>
              <a:rPr lang="es-MX" dirty="0"/>
              <a:t>“Una relación puede continuar durante una transacción. </a:t>
            </a:r>
            <a:r>
              <a:rPr lang="es-MX" dirty="0" err="1"/>
              <a:t>Relationship</a:t>
            </a:r>
            <a:r>
              <a:rPr lang="es-MX" dirty="0"/>
              <a:t> </a:t>
            </a:r>
            <a:r>
              <a:rPr lang="es-MX" dirty="0" err="1"/>
              <a:t>Operations</a:t>
            </a:r>
            <a:r>
              <a:rPr lang="es-MX" dirty="0"/>
              <a:t> mantiene viva la oportunidad; </a:t>
            </a:r>
            <a:r>
              <a:rPr lang="es-MX" dirty="0" err="1"/>
              <a:t>Transaction</a:t>
            </a:r>
            <a:r>
              <a:rPr lang="es-MX" dirty="0"/>
              <a:t> </a:t>
            </a:r>
            <a:r>
              <a:rPr lang="es-MX" dirty="0" err="1"/>
              <a:t>Operations</a:t>
            </a:r>
            <a:r>
              <a:rPr lang="es-MX" dirty="0"/>
              <a:t> se encarga del proceso transaccional concreto.”</a:t>
            </a:r>
          </a:p>
          <a:p>
            <a:endParaRPr lang="en-US" dirty="0"/>
          </a:p>
          <a:p>
            <a:r>
              <a:rPr lang="en-US" dirty="0"/>
              <a:t>---</a:t>
            </a:r>
          </a:p>
          <a:p>
            <a:r>
              <a:rPr lang="en-US" dirty="0" err="1"/>
              <a:t>Objetivo</a:t>
            </a:r>
            <a:r>
              <a:rPr lang="en-US" dirty="0"/>
              <a:t> de la lámina: separar tres conceptos que se pueden confundir: etapas del ciclo de negocio, dominios operativos de Gu OS y casos específicos.
Primero: el Revenue Operating Loop describe dónde ocurre el valor económico. Incorporación de propiedades, generación de demanda, conversión, transacción y outcome feedback son etapas del negocio. No son necesariamente aplicaciones ni módulos independientes.
Segundo: los dominios operativos describen responsabilidades de Gu OS. Property Operations, Demand Operations, Relationship Operations y Transaction Operations reutilizan el mismo núcleo operativo: casos, eventos, trabajo persistente, scheduler, gobernanza, evidencia, HITL y Skills/tools. Cada dominio agrega semántica propia, pero no crea un workflow engine separado.
El mapeo principal es: Property Operations opera la incorporación de propiedades; Demand Operations opera generación de demanda; Relationship Operations opera la conversión y la oportunidad viva; Transaction Operations opera la transacción </a:t>
            </a:r>
            <a:r>
              <a:rPr lang="en-US" dirty="0" err="1"/>
              <a:t>concreta</a:t>
            </a:r>
            <a:r>
              <a:rPr lang="en-US" dirty="0"/>
              <a:t>.</a:t>
            </a:r>
          </a:p>
          <a:p>
            <a:r>
              <a:rPr lang="es-MX" dirty="0" err="1"/>
              <a:t>Relationship</a:t>
            </a:r>
            <a:r>
              <a:rPr lang="es-MX" dirty="0"/>
              <a:t> </a:t>
            </a:r>
            <a:r>
              <a:rPr lang="es-MX" dirty="0" err="1"/>
              <a:t>Operations</a:t>
            </a:r>
            <a:r>
              <a:rPr lang="es-MX" dirty="0"/>
              <a:t> puede mantener viva la relación/oportunidad durante parte de una transacción, mientras </a:t>
            </a:r>
            <a:r>
              <a:rPr lang="es-MX" dirty="0" err="1"/>
              <a:t>Transaction</a:t>
            </a:r>
            <a:r>
              <a:rPr lang="es-MX" dirty="0"/>
              <a:t> </a:t>
            </a:r>
            <a:r>
              <a:rPr lang="es-MX" dirty="0" err="1"/>
              <a:t>Operations</a:t>
            </a:r>
            <a:r>
              <a:rPr lang="es-MX" dirty="0"/>
              <a:t> se responsabiliza del proceso transaccional específico.</a:t>
            </a:r>
          </a:p>
          <a:p>
            <a:endParaRPr lang="es-MX" dirty="0"/>
          </a:p>
          <a:p>
            <a:r>
              <a:rPr lang="es-MX" dirty="0"/>
              <a:t>Ejemplo:</a:t>
            </a:r>
          </a:p>
          <a:p>
            <a:r>
              <a:rPr lang="es-MX" dirty="0"/>
              <a:t>Lead </a:t>
            </a:r>
            <a:r>
              <a:rPr lang="es-MX" dirty="0" err="1"/>
              <a:t>Opportunity</a:t>
            </a:r>
            <a:r>
              <a:rPr lang="es-MX" dirty="0"/>
              <a:t> Case de Ana sigue vivo mientras existe un </a:t>
            </a:r>
            <a:r>
              <a:rPr lang="es-MX" dirty="0" err="1"/>
              <a:t>Transaction</a:t>
            </a:r>
            <a:r>
              <a:rPr lang="es-MX" dirty="0"/>
              <a:t> Case para la oferta sobre </a:t>
            </a:r>
            <a:r>
              <a:rPr lang="es-MX" dirty="0" err="1"/>
              <a:t>Property</a:t>
            </a:r>
            <a:r>
              <a:rPr lang="es-MX" dirty="0"/>
              <a:t> X. Si la transacción fracasa, el </a:t>
            </a:r>
            <a:r>
              <a:rPr lang="es-MX" dirty="0" err="1"/>
              <a:t>Transaction</a:t>
            </a:r>
            <a:r>
              <a:rPr lang="es-MX" dirty="0"/>
              <a:t> Case puede terminar y el Lead </a:t>
            </a:r>
            <a:r>
              <a:rPr lang="es-MX" dirty="0" err="1"/>
              <a:t>Opportunity</a:t>
            </a:r>
            <a:r>
              <a:rPr lang="es-MX" dirty="0"/>
              <a:t> Case continuar buscando otra propiedad.</a:t>
            </a:r>
          </a:p>
          <a:p>
            <a:r>
              <a:rPr lang="en-US" dirty="0"/>
              <a:t>
La parte importante: Relationship Operations puede mantener continuidad durante parte de la transacción, pero no reemplaza Transaction Operations. Ejemplo: Ana busca un departamento. El Lead Opportunity Case mantiene su intención, preferencias, visitas, seguimiento y compromisos. Si Ana hace una oferta por Property X, Gu OS puede crear un Transaction Case para oferta, documentos, financiamiento y cierre. Si esa transacción falla, el Transaction Case puede cerrarse, pero el Lead Opportunity Case puede seguir vivo porque Ana todavía quiere </a:t>
            </a:r>
            <a:r>
              <a:rPr lang="en-US" dirty="0" err="1"/>
              <a:t>comprar</a:t>
            </a:r>
            <a:r>
              <a:rPr lang="en-US" dirty="0"/>
              <a:t>.</a:t>
            </a:r>
          </a:p>
          <a:p>
            <a:endParaRPr lang="en-US" dirty="0"/>
          </a:p>
          <a:p>
            <a:r>
              <a:rPr lang="en-US" dirty="0"/>
              <a:t>Network Operations no corresponde a una sola etapa. Es transversal: inventario compartido puede ayudar en la </a:t>
            </a:r>
            <a:r>
              <a:rPr lang="en-US" i="1" dirty="0"/>
              <a:t>conversión</a:t>
            </a:r>
            <a:r>
              <a:rPr lang="en-US" dirty="0"/>
              <a:t>, </a:t>
            </a:r>
            <a:r>
              <a:rPr lang="en-US" dirty="0" err="1"/>
              <a:t>enrutamiento</a:t>
            </a:r>
            <a:r>
              <a:rPr lang="en-US" dirty="0"/>
              <a:t> </a:t>
            </a:r>
            <a:r>
              <a:rPr lang="en-US" dirty="0" err="1"/>
              <a:t>puede</a:t>
            </a:r>
            <a:r>
              <a:rPr lang="en-US" dirty="0"/>
              <a:t> asignar oportunidades, servicios especializados pueden intervenir en </a:t>
            </a:r>
            <a:r>
              <a:rPr lang="en-US" i="1" dirty="0"/>
              <a:t>transacciones</a:t>
            </a:r>
            <a:r>
              <a:rPr lang="en-US" dirty="0"/>
              <a:t>, y cross-brokerage puede afectar varias partes del </a:t>
            </a:r>
            <a:r>
              <a:rPr lang="en-US" dirty="0" err="1"/>
              <a:t>ciclo</a:t>
            </a:r>
            <a:r>
              <a:rPr lang="en-US" dirty="0"/>
              <a:t>. </a:t>
            </a:r>
            <a:r>
              <a:rPr lang="es-MX" dirty="0"/>
              <a:t>Es esencial porque puede intervenir en:</a:t>
            </a:r>
          </a:p>
          <a:p>
            <a:pPr marL="171450" lvl="0" indent="-171450">
              <a:buFont typeface="Arial" panose="020B0604020202020204" pitchFamily="34" charset="0"/>
              <a:buChar char="•"/>
            </a:pPr>
            <a:r>
              <a:rPr lang="es-MX" dirty="0" err="1"/>
              <a:t>Property</a:t>
            </a:r>
            <a:r>
              <a:rPr lang="es-MX" dirty="0"/>
              <a:t> </a:t>
            </a:r>
            <a:r>
              <a:rPr lang="es-MX" dirty="0" err="1"/>
              <a:t>Ops</a:t>
            </a:r>
            <a:r>
              <a:rPr lang="es-MX" dirty="0"/>
              <a:t>: </a:t>
            </a:r>
            <a:r>
              <a:rPr lang="es-MX" dirty="0" err="1"/>
              <a:t>shared</a:t>
            </a:r>
            <a:r>
              <a:rPr lang="es-MX" dirty="0"/>
              <a:t> </a:t>
            </a:r>
            <a:r>
              <a:rPr lang="es-MX" dirty="0" err="1"/>
              <a:t>inventory</a:t>
            </a:r>
            <a:r>
              <a:rPr lang="es-MX" dirty="0"/>
              <a:t>; </a:t>
            </a:r>
          </a:p>
          <a:p>
            <a:pPr marL="171450" lvl="0" indent="-171450">
              <a:buFont typeface="Arial" panose="020B0604020202020204" pitchFamily="34" charset="0"/>
              <a:buChar char="•"/>
            </a:pPr>
            <a:r>
              <a:rPr lang="es-MX" dirty="0"/>
              <a:t>Demand: distribución/oportunidades; </a:t>
            </a:r>
          </a:p>
          <a:p>
            <a:pPr marL="171450" lvl="0" indent="-171450">
              <a:buFont typeface="Arial" panose="020B0604020202020204" pitchFamily="34" charset="0"/>
              <a:buChar char="•"/>
            </a:pPr>
            <a:r>
              <a:rPr lang="es-MX" dirty="0" err="1"/>
              <a:t>Conversion</a:t>
            </a:r>
            <a:r>
              <a:rPr lang="es-MX" dirty="0"/>
              <a:t>: </a:t>
            </a:r>
            <a:r>
              <a:rPr lang="es-MX" dirty="0" err="1"/>
              <a:t>cross-broker</a:t>
            </a:r>
            <a:r>
              <a:rPr lang="es-MX" dirty="0"/>
              <a:t> </a:t>
            </a:r>
            <a:r>
              <a:rPr lang="es-MX" dirty="0" err="1"/>
              <a:t>matching</a:t>
            </a:r>
            <a:r>
              <a:rPr lang="es-MX" dirty="0"/>
              <a:t>; </a:t>
            </a:r>
          </a:p>
          <a:p>
            <a:pPr marL="171450" lvl="0" indent="-171450">
              <a:buFont typeface="Arial" panose="020B0604020202020204" pitchFamily="34" charset="0"/>
              <a:buChar char="•"/>
            </a:pPr>
            <a:r>
              <a:rPr lang="es-MX" dirty="0" err="1"/>
              <a:t>Transaction</a:t>
            </a:r>
            <a:r>
              <a:rPr lang="es-MX" dirty="0"/>
              <a:t>: </a:t>
            </a:r>
            <a:r>
              <a:rPr lang="es-MX" dirty="0" err="1"/>
              <a:t>commission</a:t>
            </a:r>
            <a:r>
              <a:rPr lang="es-MX" dirty="0"/>
              <a:t> </a:t>
            </a:r>
            <a:r>
              <a:rPr lang="es-MX" dirty="0" err="1"/>
              <a:t>sharing</a:t>
            </a:r>
            <a:r>
              <a:rPr lang="es-MX" dirty="0"/>
              <a:t> / </a:t>
            </a:r>
            <a:r>
              <a:rPr lang="es-MX" dirty="0" err="1"/>
              <a:t>services</a:t>
            </a:r>
            <a:r>
              <a:rPr lang="es-MX" dirty="0"/>
              <a:t>; </a:t>
            </a:r>
          </a:p>
          <a:p>
            <a:pPr marL="171450" lvl="0" indent="-171450">
              <a:buFont typeface="Arial" panose="020B0604020202020204" pitchFamily="34" charset="0"/>
              <a:buChar char="•"/>
            </a:pPr>
            <a:r>
              <a:rPr lang="es-MX" dirty="0"/>
              <a:t>incluso </a:t>
            </a:r>
            <a:r>
              <a:rPr lang="es-MX" dirty="0" err="1"/>
              <a:t>feedback</a:t>
            </a:r>
            <a:r>
              <a:rPr lang="es-MX" dirty="0"/>
              <a:t> de </a:t>
            </a:r>
            <a:r>
              <a:rPr lang="es-MX" dirty="0" err="1"/>
              <a:t>network</a:t>
            </a:r>
            <a:r>
              <a:rPr lang="es-MX" dirty="0"/>
              <a:t> performance.</a:t>
            </a:r>
          </a:p>
          <a:p>
            <a:r>
              <a:rPr lang="en-US" dirty="0"/>
              <a:t>
Outcome Feedback tampoco es una aplicación separada. Es una capacidad horizontal: lo que realmente ocurrió en visitas, campañas, propiedades y transacciones debe regresar al sistema para mejorar las siguientes </a:t>
            </a:r>
            <a:r>
              <a:rPr lang="en-US" dirty="0" err="1"/>
              <a:t>decisiones</a:t>
            </a:r>
            <a:r>
              <a:rPr lang="en-US" dirty="0"/>
              <a:t>.</a:t>
            </a:r>
          </a:p>
          <a:p>
            <a:r>
              <a:rPr lang="es-MX" dirty="0"/>
              <a:t>A diferencia de los dominios, esta es una capacidad que alimenta a varios dominios con resultados reales para mejorar qué hacer después.</a:t>
            </a:r>
            <a:r>
              <a:rPr lang="en-US" dirty="0"/>
              <a:t>
Mensaje clave para el equipo: no estamos diseñando cinco apps nuevas. Estamos diseñando un mismo operating core con dominios que asumen responsabilidades distintas del ciclo de ingresos. Business stages responden “dónde ocurre el valor”; operating domains responden “</a:t>
            </a:r>
            <a:r>
              <a:rPr lang="en-US" dirty="0" err="1"/>
              <a:t>qué</a:t>
            </a:r>
            <a:r>
              <a:rPr lang="en-US" dirty="0"/>
              <a:t> </a:t>
            </a:r>
            <a:r>
              <a:rPr lang="en-US" dirty="0" err="1"/>
              <a:t>responsabilidad</a:t>
            </a:r>
            <a:r>
              <a:rPr lang="en-US" dirty="0"/>
              <a:t> puede asumir Gu OS”.</a:t>
            </a:r>
          </a:p>
          <a:p>
            <a:endParaRPr lang="en-US" dirty="0"/>
          </a:p>
          <a:p>
            <a:r>
              <a:rPr lang="en-US" dirty="0"/>
              <a:t>---</a:t>
            </a:r>
          </a:p>
          <a:p>
            <a:endParaRPr lang="en-US" dirty="0"/>
          </a:p>
          <a:p>
            <a:r>
              <a:rPr lang="es-MX" b="1" dirty="0" err="1"/>
              <a:t>Relationship</a:t>
            </a:r>
            <a:r>
              <a:rPr lang="es-MX" b="1" dirty="0"/>
              <a:t> </a:t>
            </a:r>
            <a:r>
              <a:rPr lang="es-MX" b="1" dirty="0" err="1"/>
              <a:t>Operations</a:t>
            </a:r>
            <a:r>
              <a:rPr lang="es-MX" b="1" dirty="0"/>
              <a:t> puede persistir durante parte de la etapa de Transacción, pero no por eso absorbe </a:t>
            </a:r>
            <a:r>
              <a:rPr lang="es-MX" b="1" dirty="0" err="1"/>
              <a:t>Transaction</a:t>
            </a:r>
            <a:r>
              <a:rPr lang="es-MX" b="1" dirty="0"/>
              <a:t> </a:t>
            </a:r>
            <a:r>
              <a:rPr lang="es-MX" b="1" dirty="0" err="1"/>
              <a:t>Operations</a:t>
            </a:r>
            <a:r>
              <a:rPr lang="es-MX" b="1" dirty="0"/>
              <a:t>.</a:t>
            </a:r>
            <a:endParaRPr lang="es-MX" dirty="0"/>
          </a:p>
          <a:p>
            <a:r>
              <a:rPr lang="es-MX" dirty="0"/>
              <a:t>Porque gestionan </a:t>
            </a:r>
            <a:r>
              <a:rPr lang="es-MX" b="1" dirty="0"/>
              <a:t>responsabilidades diferentes</a:t>
            </a:r>
            <a:r>
              <a:rPr lang="es-MX" dirty="0"/>
              <a:t>.</a:t>
            </a:r>
          </a:p>
          <a:p>
            <a:endParaRPr lang="es-MX" b="1" dirty="0"/>
          </a:p>
          <a:p>
            <a:r>
              <a:rPr lang="es-MX" b="1" dirty="0" err="1"/>
              <a:t>Relationship</a:t>
            </a:r>
            <a:r>
              <a:rPr lang="es-MX" b="1" dirty="0"/>
              <a:t> </a:t>
            </a:r>
            <a:r>
              <a:rPr lang="es-MX" b="1" dirty="0" err="1"/>
              <a:t>Operations</a:t>
            </a:r>
            <a:endParaRPr lang="es-MX" b="1" dirty="0"/>
          </a:p>
          <a:p>
            <a:r>
              <a:rPr lang="es-MX" dirty="0"/>
              <a:t>Su objeto principal es:</a:t>
            </a:r>
          </a:p>
          <a:p>
            <a:r>
              <a:rPr lang="es-MX" b="1" dirty="0"/>
              <a:t>la relación y la oportunidad</a:t>
            </a:r>
            <a:endParaRPr lang="es-MX" dirty="0"/>
          </a:p>
          <a:p>
            <a:r>
              <a:rPr lang="es-MX" dirty="0"/>
              <a:t>Preguntas que RO mantiene vivas:</a:t>
            </a:r>
          </a:p>
          <a:p>
            <a:pPr marL="171450" lvl="0" indent="-171450">
              <a:buFont typeface="Arial" panose="020B0604020202020204" pitchFamily="34" charset="0"/>
              <a:buChar char="•"/>
            </a:pPr>
            <a:r>
              <a:rPr lang="es-MX" dirty="0"/>
              <a:t>¿qué quiere esta persona? </a:t>
            </a:r>
          </a:p>
          <a:p>
            <a:pPr marL="171450" lvl="0" indent="-171450">
              <a:buFont typeface="Arial" panose="020B0604020202020204" pitchFamily="34" charset="0"/>
              <a:buChar char="•"/>
            </a:pPr>
            <a:r>
              <a:rPr lang="es-MX" dirty="0"/>
              <a:t>¿qué está esperando? </a:t>
            </a:r>
          </a:p>
          <a:p>
            <a:pPr marL="171450" lvl="0" indent="-171450">
              <a:buFont typeface="Arial" panose="020B0604020202020204" pitchFamily="34" charset="0"/>
              <a:buChar char="•"/>
            </a:pPr>
            <a:r>
              <a:rPr lang="es-MX" dirty="0"/>
              <a:t>¿qué compromiso tenemos con ella? </a:t>
            </a:r>
          </a:p>
          <a:p>
            <a:pPr marL="171450" lvl="0" indent="-171450">
              <a:buFont typeface="Arial" panose="020B0604020202020204" pitchFamily="34" charset="0"/>
              <a:buChar char="•"/>
            </a:pPr>
            <a:r>
              <a:rPr lang="es-MX" dirty="0"/>
              <a:t>¿cuál es la siguiente acción? </a:t>
            </a:r>
          </a:p>
          <a:p>
            <a:pPr marL="171450" lvl="0" indent="-171450">
              <a:buFont typeface="Arial" panose="020B0604020202020204" pitchFamily="34" charset="0"/>
              <a:buChar char="•"/>
            </a:pPr>
            <a:r>
              <a:rPr lang="es-MX" dirty="0"/>
              <a:t>¿qué cambió en su intención? </a:t>
            </a:r>
          </a:p>
          <a:p>
            <a:pPr marL="171450" lvl="0" indent="-171450">
              <a:buFont typeface="Arial" panose="020B0604020202020204" pitchFamily="34" charset="0"/>
              <a:buChar char="•"/>
            </a:pPr>
            <a:r>
              <a:rPr lang="es-MX" dirty="0"/>
              <a:t>¿hay que darle seguimiento? </a:t>
            </a:r>
          </a:p>
          <a:p>
            <a:pPr marL="171450" lvl="0" indent="-171450">
              <a:buFont typeface="Arial" panose="020B0604020202020204" pitchFamily="34" charset="0"/>
              <a:buChar char="•"/>
            </a:pPr>
            <a:r>
              <a:rPr lang="es-MX" dirty="0"/>
              <a:t>¿necesita otra propiedad? </a:t>
            </a:r>
          </a:p>
          <a:p>
            <a:pPr marL="171450" lvl="0" indent="-171450">
              <a:buFont typeface="Arial" panose="020B0604020202020204" pitchFamily="34" charset="0"/>
              <a:buChar char="•"/>
            </a:pPr>
            <a:r>
              <a:rPr lang="es-MX" dirty="0"/>
              <a:t>¿hay una decisión pendiente? </a:t>
            </a:r>
          </a:p>
          <a:p>
            <a:pPr marL="171450" lvl="0" indent="-171450">
              <a:buFont typeface="Arial" panose="020B0604020202020204" pitchFamily="34" charset="0"/>
              <a:buChar char="•"/>
            </a:pPr>
            <a:r>
              <a:rPr lang="es-MX" dirty="0"/>
              <a:t>¿se deterioró la oportunidad? </a:t>
            </a:r>
          </a:p>
          <a:p>
            <a:pPr marL="171450" lvl="0" indent="-171450">
              <a:buFont typeface="Arial" panose="020B0604020202020204" pitchFamily="34" charset="0"/>
              <a:buChar char="•"/>
            </a:pPr>
            <a:r>
              <a:rPr lang="es-MX" dirty="0"/>
              <a:t>¿debemos reactivarla? </a:t>
            </a:r>
          </a:p>
          <a:p>
            <a:endParaRPr lang="es-MX" b="1" dirty="0"/>
          </a:p>
          <a:p>
            <a:r>
              <a:rPr lang="es-MX" b="1" dirty="0" err="1"/>
              <a:t>Transaction</a:t>
            </a:r>
            <a:r>
              <a:rPr lang="es-MX" b="1" dirty="0"/>
              <a:t> </a:t>
            </a:r>
            <a:r>
              <a:rPr lang="es-MX" b="1" dirty="0" err="1"/>
              <a:t>Operations</a:t>
            </a:r>
            <a:endParaRPr lang="es-MX" b="1" dirty="0"/>
          </a:p>
          <a:p>
            <a:r>
              <a:rPr lang="es-MX" dirty="0"/>
              <a:t>Su objeto principal es:</a:t>
            </a:r>
          </a:p>
          <a:p>
            <a:r>
              <a:rPr lang="es-MX" b="1" dirty="0"/>
              <a:t>la operación/transacción concreta</a:t>
            </a:r>
            <a:endParaRPr lang="es-MX" dirty="0"/>
          </a:p>
          <a:p>
            <a:r>
              <a:rPr lang="es-MX" dirty="0"/>
              <a:t>Preguntas que TO mantiene:</a:t>
            </a:r>
          </a:p>
          <a:p>
            <a:pPr marL="171450" lvl="0" indent="-171450">
              <a:buFont typeface="Arial" panose="020B0604020202020204" pitchFamily="34" charset="0"/>
              <a:buChar char="•"/>
            </a:pPr>
            <a:r>
              <a:rPr lang="es-MX" dirty="0"/>
              <a:t>¿qué documentos faltan? </a:t>
            </a:r>
          </a:p>
          <a:p>
            <a:pPr marL="171450" lvl="0" indent="-171450">
              <a:buFont typeface="Arial" panose="020B0604020202020204" pitchFamily="34" charset="0"/>
              <a:buChar char="•"/>
            </a:pPr>
            <a:r>
              <a:rPr lang="es-MX" dirty="0"/>
              <a:t>¿qué oferta está vigente? </a:t>
            </a:r>
          </a:p>
          <a:p>
            <a:pPr marL="171450" lvl="0" indent="-171450">
              <a:buFont typeface="Arial" panose="020B0604020202020204" pitchFamily="34" charset="0"/>
              <a:buChar char="•"/>
            </a:pPr>
            <a:r>
              <a:rPr lang="es-MX" dirty="0"/>
              <a:t>¿qué condiciones fueron aceptadas? </a:t>
            </a:r>
          </a:p>
          <a:p>
            <a:pPr marL="171450" lvl="0" indent="-171450">
              <a:buFont typeface="Arial" panose="020B0604020202020204" pitchFamily="34" charset="0"/>
              <a:buChar char="•"/>
            </a:pPr>
            <a:r>
              <a:rPr lang="es-MX" dirty="0"/>
              <a:t>¿qué autorización falta? </a:t>
            </a:r>
          </a:p>
          <a:p>
            <a:pPr marL="171450" lvl="0" indent="-171450">
              <a:buFont typeface="Arial" panose="020B0604020202020204" pitchFamily="34" charset="0"/>
              <a:buChar char="•"/>
            </a:pPr>
            <a:r>
              <a:rPr lang="es-MX" dirty="0"/>
              <a:t>¿qué financiamiento está pendiente? </a:t>
            </a:r>
          </a:p>
          <a:p>
            <a:pPr marL="171450" lvl="0" indent="-171450">
              <a:buFont typeface="Arial" panose="020B0604020202020204" pitchFamily="34" charset="0"/>
              <a:buChar char="•"/>
            </a:pPr>
            <a:r>
              <a:rPr lang="es-MX" dirty="0"/>
              <a:t>¿qué firma/notaría/proveedor debe intervenir? </a:t>
            </a:r>
          </a:p>
          <a:p>
            <a:pPr marL="171450" lvl="0" indent="-171450">
              <a:buFont typeface="Arial" panose="020B0604020202020204" pitchFamily="34" charset="0"/>
              <a:buChar char="•"/>
            </a:pPr>
            <a:r>
              <a:rPr lang="es-MX" dirty="0"/>
              <a:t>¿qué hito debe cumplirse antes del siguiente? </a:t>
            </a:r>
          </a:p>
          <a:p>
            <a:pPr marL="171450" lvl="0" indent="-171450">
              <a:buFont typeface="Arial" panose="020B0604020202020204" pitchFamily="34" charset="0"/>
              <a:buChar char="•"/>
            </a:pPr>
            <a:r>
              <a:rPr lang="es-MX" dirty="0"/>
              <a:t>¿qué evidencia demuestra cierre? </a:t>
            </a:r>
          </a:p>
          <a:p>
            <a:pPr marL="171450" indent="-171450">
              <a:buFont typeface="Arial" panose="020B0604020202020204" pitchFamily="34" charset="0"/>
              <a:buChar char="•"/>
            </a:pPr>
            <a:r>
              <a:rPr lang="es-MX" dirty="0"/>
              <a:t>Son cosas distintas aunque estén ocurriendo al mismo tiempo.</a:t>
            </a:r>
          </a:p>
          <a:p>
            <a:br>
              <a:rPr lang="es-MX" dirty="0"/>
            </a:br>
            <a:endParaRPr lang="es-MX" dirty="0"/>
          </a:p>
          <a:p>
            <a:r>
              <a:rPr lang="es-MX" b="1" dirty="0"/>
              <a:t>Un ejemplo hace la diferencia muy clara</a:t>
            </a:r>
          </a:p>
          <a:p>
            <a:r>
              <a:rPr lang="es-MX" dirty="0"/>
              <a:t>Imagina que Ana busca un departamento.</a:t>
            </a:r>
          </a:p>
          <a:p>
            <a:endParaRPr lang="es-MX" b="1" dirty="0"/>
          </a:p>
          <a:p>
            <a:r>
              <a:rPr lang="es-MX" b="1" dirty="0" err="1"/>
              <a:t>Relationship</a:t>
            </a:r>
            <a:r>
              <a:rPr lang="es-MX" b="1" dirty="0"/>
              <a:t> </a:t>
            </a:r>
            <a:r>
              <a:rPr lang="es-MX" b="1" dirty="0" err="1"/>
              <a:t>Operations</a:t>
            </a:r>
            <a:endParaRPr lang="es-MX" b="1" dirty="0"/>
          </a:p>
          <a:p>
            <a:r>
              <a:rPr lang="es-MX" dirty="0"/>
              <a:t>Existe un:</a:t>
            </a:r>
          </a:p>
          <a:p>
            <a:r>
              <a:rPr lang="es-MX" b="1" dirty="0"/>
              <a:t>Lead </a:t>
            </a:r>
            <a:r>
              <a:rPr lang="es-MX" b="1" dirty="0" err="1"/>
              <a:t>Opportunity</a:t>
            </a:r>
            <a:r>
              <a:rPr lang="es-MX" b="1" dirty="0"/>
              <a:t> Case — Ana</a:t>
            </a:r>
            <a:endParaRPr lang="es-MX" dirty="0"/>
          </a:p>
          <a:p>
            <a:r>
              <a:rPr lang="es-MX" dirty="0"/>
              <a:t>que puede durar meses.</a:t>
            </a:r>
          </a:p>
          <a:p>
            <a:r>
              <a:rPr lang="es-MX" dirty="0"/>
              <a:t>Sabe:</a:t>
            </a:r>
          </a:p>
          <a:p>
            <a:pPr marL="171450" lvl="0" indent="-171450">
              <a:buFont typeface="Arial" panose="020B0604020202020204" pitchFamily="34" charset="0"/>
              <a:buChar char="•"/>
            </a:pPr>
            <a:r>
              <a:rPr lang="es-MX" dirty="0"/>
              <a:t>qué busca Ana; </a:t>
            </a:r>
          </a:p>
          <a:p>
            <a:pPr marL="171450" lvl="0" indent="-171450">
              <a:buFont typeface="Arial" panose="020B0604020202020204" pitchFamily="34" charset="0"/>
              <a:buChar char="•"/>
            </a:pPr>
            <a:r>
              <a:rPr lang="es-MX" dirty="0"/>
              <a:t>qué propiedades vio; </a:t>
            </a:r>
          </a:p>
          <a:p>
            <a:pPr marL="171450" lvl="0" indent="-171450">
              <a:buFont typeface="Arial" panose="020B0604020202020204" pitchFamily="34" charset="0"/>
              <a:buChar char="•"/>
            </a:pPr>
            <a:r>
              <a:rPr lang="es-MX" dirty="0"/>
              <a:t>qué le gustó; </a:t>
            </a:r>
          </a:p>
          <a:p>
            <a:pPr marL="171450" lvl="0" indent="-171450">
              <a:buFont typeface="Arial" panose="020B0604020202020204" pitchFamily="34" charset="0"/>
              <a:buChar char="•"/>
            </a:pPr>
            <a:r>
              <a:rPr lang="es-MX" dirty="0"/>
              <a:t>qué objeciones tiene; </a:t>
            </a:r>
          </a:p>
          <a:p>
            <a:pPr marL="171450" lvl="0" indent="-171450">
              <a:buFont typeface="Arial" panose="020B0604020202020204" pitchFamily="34" charset="0"/>
              <a:buChar char="•"/>
            </a:pPr>
            <a:r>
              <a:rPr lang="es-MX" dirty="0"/>
              <a:t>qué visitas hizo; </a:t>
            </a:r>
          </a:p>
          <a:p>
            <a:pPr marL="171450" lvl="0" indent="-171450">
              <a:buFont typeface="Arial" panose="020B0604020202020204" pitchFamily="34" charset="0"/>
              <a:buChar char="•"/>
            </a:pPr>
            <a:r>
              <a:rPr lang="es-MX" dirty="0"/>
              <a:t>qué </a:t>
            </a:r>
            <a:r>
              <a:rPr lang="es-MX" dirty="0" err="1"/>
              <a:t>follow</a:t>
            </a:r>
            <a:r>
              <a:rPr lang="es-MX" dirty="0"/>
              <a:t>-ups corresponden; </a:t>
            </a:r>
          </a:p>
          <a:p>
            <a:pPr marL="171450" lvl="0" indent="-171450">
              <a:buFont typeface="Arial" panose="020B0604020202020204" pitchFamily="34" charset="0"/>
              <a:buChar char="•"/>
            </a:pPr>
            <a:r>
              <a:rPr lang="es-MX" dirty="0"/>
              <a:t>qué compromisos existen; </a:t>
            </a:r>
          </a:p>
          <a:p>
            <a:pPr marL="171450" lvl="0" indent="-171450">
              <a:buFont typeface="Arial" panose="020B0604020202020204" pitchFamily="34" charset="0"/>
              <a:buChar char="•"/>
            </a:pPr>
            <a:r>
              <a:rPr lang="es-MX" dirty="0"/>
              <a:t>cuál es la siguiente acción. </a:t>
            </a:r>
          </a:p>
          <a:p>
            <a:r>
              <a:rPr lang="es-MX" dirty="0"/>
              <a:t>Luego Ana hace una oferta por </a:t>
            </a:r>
            <a:r>
              <a:rPr lang="es-MX" dirty="0" err="1"/>
              <a:t>Property</a:t>
            </a:r>
            <a:r>
              <a:rPr lang="es-MX" dirty="0"/>
              <a:t> X.</a:t>
            </a:r>
          </a:p>
          <a:p>
            <a:r>
              <a:rPr lang="es-MX" dirty="0"/>
              <a:t>En ese momento </a:t>
            </a:r>
            <a:r>
              <a:rPr lang="es-MX" dirty="0" err="1"/>
              <a:t>Gu</a:t>
            </a:r>
            <a:r>
              <a:rPr lang="es-MX" dirty="0"/>
              <a:t> OS podría crear:</a:t>
            </a:r>
          </a:p>
          <a:p>
            <a:endParaRPr lang="es-MX" b="1" dirty="0"/>
          </a:p>
          <a:p>
            <a:r>
              <a:rPr lang="es-MX" b="1" dirty="0" err="1"/>
              <a:t>Transaction</a:t>
            </a:r>
            <a:r>
              <a:rPr lang="es-MX" b="1" dirty="0"/>
              <a:t> Case — Ana / </a:t>
            </a:r>
            <a:r>
              <a:rPr lang="es-MX" b="1" dirty="0" err="1"/>
              <a:t>Property</a:t>
            </a:r>
            <a:r>
              <a:rPr lang="es-MX" b="1" dirty="0"/>
              <a:t> X</a:t>
            </a:r>
            <a:endParaRPr lang="es-MX" dirty="0"/>
          </a:p>
          <a:p>
            <a:r>
              <a:rPr lang="es-MX" dirty="0"/>
              <a:t>gestionado dentro de </a:t>
            </a:r>
            <a:r>
              <a:rPr lang="es-MX" b="1" dirty="0" err="1"/>
              <a:t>Transaction</a:t>
            </a:r>
            <a:r>
              <a:rPr lang="es-MX" b="1" dirty="0"/>
              <a:t> </a:t>
            </a:r>
            <a:r>
              <a:rPr lang="es-MX" b="1" dirty="0" err="1"/>
              <a:t>Operations</a:t>
            </a:r>
            <a:r>
              <a:rPr lang="es-MX" dirty="0"/>
              <a:t>.</a:t>
            </a:r>
          </a:p>
          <a:p>
            <a:r>
              <a:rPr lang="es-MX" dirty="0"/>
              <a:t>Ahora existen simultáneamente:</a:t>
            </a:r>
          </a:p>
          <a:p>
            <a:pPr rtl="0"/>
            <a:r>
              <a:rPr lang="es-MX" sz="1200" kern="1200" dirty="0">
                <a:solidFill>
                  <a:schemeClr val="tx1"/>
                </a:solidFill>
                <a:latin typeface="+mn-lt"/>
                <a:ea typeface="+mn-ea"/>
                <a:cs typeface="+mn-cs"/>
              </a:rPr>
              <a:t>Lead </a:t>
            </a:r>
            <a:r>
              <a:rPr lang="es-MX" sz="1200" kern="1200" dirty="0" err="1">
                <a:solidFill>
                  <a:schemeClr val="tx1"/>
                </a:solidFill>
                <a:latin typeface="+mn-lt"/>
                <a:ea typeface="+mn-ea"/>
                <a:cs typeface="+mn-cs"/>
              </a:rPr>
              <a:t>Opportunity</a:t>
            </a:r>
            <a:r>
              <a:rPr lang="es-MX" sz="1200" kern="1200" dirty="0">
                <a:solidFill>
                  <a:schemeClr val="tx1"/>
                </a:solidFill>
                <a:latin typeface="+mn-lt"/>
                <a:ea typeface="+mn-ea"/>
                <a:cs typeface="+mn-cs"/>
              </a:rPr>
              <a:t> Case</a:t>
            </a:r>
          </a:p>
          <a:p>
            <a:pPr rtl="0"/>
            <a:r>
              <a:rPr lang="es-MX" sz="1200" kern="1200" dirty="0" err="1">
                <a:solidFill>
                  <a:schemeClr val="tx1"/>
                </a:solidFill>
                <a:latin typeface="+mn-lt"/>
                <a:ea typeface="+mn-ea"/>
                <a:cs typeface="+mn-cs"/>
              </a:rPr>
              <a:t>Relationship</a:t>
            </a:r>
            <a:r>
              <a:rPr lang="es-MX" sz="1200" kern="1200" dirty="0">
                <a:solidFill>
                  <a:schemeClr val="tx1"/>
                </a:solidFill>
                <a:latin typeface="+mn-lt"/>
                <a:ea typeface="+mn-ea"/>
                <a:cs typeface="+mn-cs"/>
              </a:rPr>
              <a:t> </a:t>
            </a:r>
            <a:r>
              <a:rPr lang="es-MX" sz="1200" kern="1200" dirty="0" err="1">
                <a:solidFill>
                  <a:schemeClr val="tx1"/>
                </a:solidFill>
                <a:latin typeface="+mn-lt"/>
                <a:ea typeface="+mn-ea"/>
                <a:cs typeface="+mn-cs"/>
              </a:rPr>
              <a:t>Operations</a:t>
            </a:r>
            <a:endParaRPr lang="es-MX" sz="1200" kern="1200" dirty="0">
              <a:solidFill>
                <a:schemeClr val="tx1"/>
              </a:solidFill>
              <a:latin typeface="+mn-lt"/>
              <a:ea typeface="+mn-ea"/>
              <a:cs typeface="+mn-cs"/>
            </a:endParaRPr>
          </a:p>
          <a:p>
            <a:pPr rtl="0"/>
            <a:r>
              <a:rPr lang="es-MX" sz="1200" kern="1200" dirty="0">
                <a:solidFill>
                  <a:schemeClr val="tx1"/>
                </a:solidFill>
                <a:latin typeface="+mn-lt"/>
                <a:ea typeface="+mn-ea"/>
                <a:cs typeface="+mn-cs"/>
              </a:rPr>
              <a:t>        │</a:t>
            </a:r>
          </a:p>
          <a:p>
            <a:pPr rtl="0"/>
            <a:r>
              <a:rPr lang="es-MX" sz="1200" kern="1200" dirty="0">
                <a:solidFill>
                  <a:schemeClr val="tx1"/>
                </a:solidFill>
                <a:latin typeface="+mn-lt"/>
                <a:ea typeface="+mn-ea"/>
                <a:cs typeface="+mn-cs"/>
              </a:rPr>
              <a:t>        ├── mantiene relación con Ana</a:t>
            </a:r>
          </a:p>
          <a:p>
            <a:pPr rtl="0"/>
            <a:r>
              <a:rPr lang="es-MX" sz="1200" kern="1200" dirty="0">
                <a:solidFill>
                  <a:schemeClr val="tx1"/>
                </a:solidFill>
                <a:latin typeface="+mn-lt"/>
                <a:ea typeface="+mn-ea"/>
                <a:cs typeface="+mn-cs"/>
              </a:rPr>
              <a:t>        ├── contexto e intención</a:t>
            </a:r>
          </a:p>
          <a:p>
            <a:pPr rtl="0"/>
            <a:r>
              <a:rPr lang="es-MX" sz="1200" kern="1200" dirty="0">
                <a:solidFill>
                  <a:schemeClr val="tx1"/>
                </a:solidFill>
                <a:latin typeface="+mn-lt"/>
                <a:ea typeface="+mn-ea"/>
                <a:cs typeface="+mn-cs"/>
              </a:rPr>
              <a:t>        ├── seguimiento</a:t>
            </a:r>
          </a:p>
          <a:p>
            <a:pPr rtl="0"/>
            <a:r>
              <a:rPr lang="es-MX" sz="1200" kern="1200" dirty="0">
                <a:solidFill>
                  <a:schemeClr val="tx1"/>
                </a:solidFill>
                <a:latin typeface="+mn-lt"/>
                <a:ea typeface="+mn-ea"/>
                <a:cs typeface="+mn-cs"/>
              </a:rPr>
              <a:t>        └── continuidad de oportunidad</a:t>
            </a:r>
          </a:p>
          <a:p>
            <a:pPr rtl="0"/>
            <a:r>
              <a:rPr lang="es-MX" sz="1200" kern="1200" dirty="0">
                <a:solidFill>
                  <a:schemeClr val="tx1"/>
                </a:solidFill>
                <a:latin typeface="+mn-lt"/>
                <a:ea typeface="+mn-ea"/>
                <a:cs typeface="+mn-cs"/>
              </a:rPr>
              <a:t>                │</a:t>
            </a:r>
          </a:p>
          <a:p>
            <a:pPr rtl="0"/>
            <a:r>
              <a:rPr lang="es-MX" sz="1200" kern="1200" dirty="0">
                <a:solidFill>
                  <a:schemeClr val="tx1"/>
                </a:solidFill>
                <a:latin typeface="+mn-lt"/>
                <a:ea typeface="+mn-ea"/>
                <a:cs typeface="+mn-cs"/>
              </a:rPr>
              <a:t>                └────► </a:t>
            </a:r>
            <a:r>
              <a:rPr lang="es-MX" sz="1200" kern="1200" dirty="0" err="1">
                <a:solidFill>
                  <a:schemeClr val="tx1"/>
                </a:solidFill>
                <a:latin typeface="+mn-lt"/>
                <a:ea typeface="+mn-ea"/>
                <a:cs typeface="+mn-cs"/>
              </a:rPr>
              <a:t>Transaction</a:t>
            </a:r>
            <a:r>
              <a:rPr lang="es-MX" sz="1200" kern="1200" dirty="0">
                <a:solidFill>
                  <a:schemeClr val="tx1"/>
                </a:solidFill>
                <a:latin typeface="+mn-lt"/>
                <a:ea typeface="+mn-ea"/>
                <a:cs typeface="+mn-cs"/>
              </a:rPr>
              <a:t> Case</a:t>
            </a:r>
          </a:p>
          <a:p>
            <a:pPr rtl="0"/>
            <a:r>
              <a:rPr lang="es-MX" sz="1200" kern="1200" dirty="0">
                <a:solidFill>
                  <a:schemeClr val="tx1"/>
                </a:solidFill>
                <a:latin typeface="+mn-lt"/>
                <a:ea typeface="+mn-ea"/>
                <a:cs typeface="+mn-cs"/>
              </a:rPr>
              <a:t>                       </a:t>
            </a:r>
            <a:r>
              <a:rPr lang="es-MX" sz="1200" kern="1200" dirty="0" err="1">
                <a:solidFill>
                  <a:schemeClr val="tx1"/>
                </a:solidFill>
                <a:latin typeface="+mn-lt"/>
                <a:ea typeface="+mn-ea"/>
                <a:cs typeface="+mn-cs"/>
              </a:rPr>
              <a:t>Transaction</a:t>
            </a:r>
            <a:r>
              <a:rPr lang="es-MX" sz="1200" kern="1200" dirty="0">
                <a:solidFill>
                  <a:schemeClr val="tx1"/>
                </a:solidFill>
                <a:latin typeface="+mn-lt"/>
                <a:ea typeface="+mn-ea"/>
                <a:cs typeface="+mn-cs"/>
              </a:rPr>
              <a:t> </a:t>
            </a:r>
            <a:r>
              <a:rPr lang="es-MX" sz="1200" kern="1200" dirty="0" err="1">
                <a:solidFill>
                  <a:schemeClr val="tx1"/>
                </a:solidFill>
                <a:latin typeface="+mn-lt"/>
                <a:ea typeface="+mn-ea"/>
                <a:cs typeface="+mn-cs"/>
              </a:rPr>
              <a:t>Operations</a:t>
            </a:r>
            <a:endParaRPr lang="es-MX" sz="1200" kern="1200" dirty="0">
              <a:solidFill>
                <a:schemeClr val="tx1"/>
              </a:solidFill>
              <a:latin typeface="+mn-lt"/>
              <a:ea typeface="+mn-ea"/>
              <a:cs typeface="+mn-cs"/>
            </a:endParaRPr>
          </a:p>
          <a:p>
            <a:pPr rtl="0"/>
            <a:r>
              <a:rPr lang="es-MX" sz="1200" kern="1200" dirty="0">
                <a:solidFill>
                  <a:schemeClr val="tx1"/>
                </a:solidFill>
                <a:latin typeface="+mn-lt"/>
                <a:ea typeface="+mn-ea"/>
                <a:cs typeface="+mn-cs"/>
              </a:rPr>
              <a:t>                       ├── oferta</a:t>
            </a:r>
          </a:p>
          <a:p>
            <a:pPr rtl="0"/>
            <a:r>
              <a:rPr lang="es-MX" sz="1200" kern="1200" dirty="0">
                <a:solidFill>
                  <a:schemeClr val="tx1"/>
                </a:solidFill>
                <a:latin typeface="+mn-lt"/>
                <a:ea typeface="+mn-ea"/>
                <a:cs typeface="+mn-cs"/>
              </a:rPr>
              <a:t>                       ├── documentos</a:t>
            </a:r>
          </a:p>
          <a:p>
            <a:pPr rtl="0"/>
            <a:r>
              <a:rPr lang="es-MX" sz="1200" kern="1200" dirty="0">
                <a:solidFill>
                  <a:schemeClr val="tx1"/>
                </a:solidFill>
                <a:latin typeface="+mn-lt"/>
                <a:ea typeface="+mn-ea"/>
                <a:cs typeface="+mn-cs"/>
              </a:rPr>
              <a:t>                       ├── aprobaciones</a:t>
            </a:r>
          </a:p>
          <a:p>
            <a:pPr rtl="0"/>
            <a:r>
              <a:rPr lang="es-MX" sz="1200" kern="1200" dirty="0">
                <a:solidFill>
                  <a:schemeClr val="tx1"/>
                </a:solidFill>
                <a:latin typeface="+mn-lt"/>
                <a:ea typeface="+mn-ea"/>
                <a:cs typeface="+mn-cs"/>
              </a:rPr>
              <a:t>                       ├── financiamiento</a:t>
            </a:r>
          </a:p>
          <a:p>
            <a:pPr rtl="0"/>
            <a:r>
              <a:rPr lang="es-MX" sz="1200" kern="1200" dirty="0">
                <a:solidFill>
                  <a:schemeClr val="tx1"/>
                </a:solidFill>
                <a:latin typeface="+mn-lt"/>
                <a:ea typeface="+mn-ea"/>
                <a:cs typeface="+mn-cs"/>
              </a:rPr>
              <a:t>                       └── cierre</a:t>
            </a:r>
          </a:p>
          <a:p>
            <a:endParaRPr lang="es-MX" dirty="0"/>
          </a:p>
          <a:p>
            <a:r>
              <a:rPr lang="es-MX" dirty="0"/>
              <a:t>Si la negociación fracasa:</a:t>
            </a:r>
          </a:p>
          <a:p>
            <a:r>
              <a:rPr lang="es-MX" dirty="0" err="1"/>
              <a:t>Transaction</a:t>
            </a:r>
            <a:r>
              <a:rPr lang="es-MX" dirty="0"/>
              <a:t> Case → </a:t>
            </a:r>
            <a:r>
              <a:rPr lang="es-MX" dirty="0" err="1"/>
              <a:t>Closed</a:t>
            </a:r>
            <a:r>
              <a:rPr lang="es-MX" dirty="0"/>
              <a:t> / </a:t>
            </a:r>
            <a:r>
              <a:rPr lang="es-MX" dirty="0" err="1"/>
              <a:t>Failed</a:t>
            </a:r>
            <a:endParaRPr lang="es-MX" dirty="0"/>
          </a:p>
          <a:p>
            <a:r>
              <a:rPr lang="es-MX" dirty="0"/>
              <a:t>pero el </a:t>
            </a:r>
            <a:r>
              <a:rPr lang="es-MX" b="1" dirty="0"/>
              <a:t>Lead </a:t>
            </a:r>
            <a:r>
              <a:rPr lang="es-MX" b="1" dirty="0" err="1"/>
              <a:t>Opportunity</a:t>
            </a:r>
            <a:r>
              <a:rPr lang="es-MX" b="1" dirty="0"/>
              <a:t> Case puede seguir vivo</a:t>
            </a:r>
            <a:r>
              <a:rPr lang="es-MX" dirty="0"/>
              <a:t>:</a:t>
            </a:r>
          </a:p>
          <a:p>
            <a:endParaRPr lang="es-MX" dirty="0"/>
          </a:p>
          <a:p>
            <a:r>
              <a:rPr lang="es-MX" dirty="0"/>
              <a:t>“Ana todavía quiere comprar; debemos encontrar otra propiedad.”</a:t>
            </a:r>
          </a:p>
          <a:p>
            <a:endParaRPr lang="es-MX" dirty="0"/>
          </a:p>
          <a:p>
            <a:r>
              <a:rPr lang="es-MX" dirty="0"/>
              <a:t>Eso demuestra por qué RO no termina necesariamente cuando empieza </a:t>
            </a:r>
            <a:r>
              <a:rPr lang="es-MX" dirty="0" err="1"/>
              <a:t>Transaction</a:t>
            </a:r>
            <a:r>
              <a:rPr lang="es-MX" dirty="0"/>
              <a:t>.</a:t>
            </a:r>
          </a:p>
          <a:p>
            <a:r>
              <a:rPr lang="es-MX" dirty="0"/>
              <a:t>Y también demuestra por qué </a:t>
            </a:r>
            <a:r>
              <a:rPr lang="es-MX" b="1" dirty="0" err="1"/>
              <a:t>Transaction</a:t>
            </a:r>
            <a:r>
              <a:rPr lang="es-MX" b="1" dirty="0"/>
              <a:t> </a:t>
            </a:r>
            <a:r>
              <a:rPr lang="es-MX" b="1" dirty="0" err="1"/>
              <a:t>Operations</a:t>
            </a:r>
            <a:r>
              <a:rPr lang="es-MX" b="1" dirty="0"/>
              <a:t> sí merece existir como dominio separado</a:t>
            </a:r>
            <a:r>
              <a:rPr lang="es-MX" dirty="0"/>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414A2-6664-B7D6-42F7-219B6F46CAEB}"/>
            </a:ext>
          </a:extLst>
        </p:cNvPr>
        <p:cNvGrpSpPr/>
        <p:nvPr/>
      </p:nvGrpSpPr>
      <p:grpSpPr>
        <a:xfrm>
          <a:off x="0" y="0"/>
          <a:ext cx="0" cy="0"/>
          <a:chOff x="0" y="0"/>
          <a:chExt cx="0" cy="0"/>
        </a:xfrm>
      </p:grpSpPr>
      <p:sp>
        <p:nvSpPr>
          <p:cNvPr id="684" name="PlaceHolder 1">
            <a:extLst>
              <a:ext uri="{FF2B5EF4-FFF2-40B4-BE49-F238E27FC236}">
                <a16:creationId xmlns:a16="http://schemas.microsoft.com/office/drawing/2014/main" id="{841A4256-DF0B-7B5B-EC4A-A3448E04CCA4}"/>
              </a:ext>
            </a:extLst>
          </p:cNvPr>
          <p:cNvSpPr>
            <a:spLocks noGrp="1" noRot="1" noChangeAspect="1"/>
          </p:cNvSpPr>
          <p:nvPr>
            <p:ph type="sldImg"/>
          </p:nvPr>
        </p:nvSpPr>
        <p:spPr>
          <a:xfrm>
            <a:off x="685800" y="1143000"/>
            <a:ext cx="5486400" cy="3086100"/>
          </a:xfrm>
          <a:prstGeom prst="rect">
            <a:avLst/>
          </a:prstGeom>
          <a:ln w="0">
            <a:noFill/>
          </a:ln>
        </p:spPr>
      </p:sp>
      <p:sp>
        <p:nvSpPr>
          <p:cNvPr id="685" name="PlaceHolder 2">
            <a:extLst>
              <a:ext uri="{FF2B5EF4-FFF2-40B4-BE49-F238E27FC236}">
                <a16:creationId xmlns:a16="http://schemas.microsoft.com/office/drawing/2014/main" id="{FD24EE1C-E5C0-804F-52E6-8ED0D432F012}"/>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dirty="0">
                <a:solidFill>
                  <a:srgbClr val="000000"/>
                </a:solidFill>
                <a:effectLst/>
                <a:uFillTx/>
                <a:latin typeface="Arial"/>
              </a:rPr>
              <a:t>Gu → Gu OS — Session 1</a:t>
            </a:r>
          </a:p>
          <a:p>
            <a:pPr indent="0">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err="1">
                <a:solidFill>
                  <a:srgbClr val="000000"/>
                </a:solidFill>
                <a:effectLst/>
                <a:uFillTx/>
                <a:latin typeface="Arial"/>
              </a:rPr>
              <a:t>Éste</a:t>
            </a:r>
            <a:r>
              <a:rPr lang="en-US" sz="2000" b="0" u="none" strike="noStrike" dirty="0">
                <a:solidFill>
                  <a:srgbClr val="000000"/>
                </a:solidFill>
                <a:effectLst/>
                <a:uFillTx/>
                <a:latin typeface="Arial"/>
              </a:rPr>
              <a:t> es el </a:t>
            </a:r>
            <a:r>
              <a:rPr lang="en-US" sz="2000" b="0" u="none" strike="noStrike" dirty="0" err="1">
                <a:solidFill>
                  <a:srgbClr val="000000"/>
                </a:solidFill>
                <a:effectLst/>
                <a:uFillTx/>
                <a:latin typeface="Arial"/>
              </a:rPr>
              <a:t>cambio</a:t>
            </a:r>
            <a:r>
              <a:rPr lang="en-US" sz="2000" b="0" u="none" strike="noStrike" dirty="0">
                <a:solidFill>
                  <a:srgbClr val="000000"/>
                </a:solidFill>
                <a:effectLst/>
                <a:uFillTx/>
                <a:latin typeface="Arial"/>
              </a:rPr>
              <a:t> de </a:t>
            </a:r>
            <a:r>
              <a:rPr lang="en-US" sz="2000" b="0" u="none" strike="noStrike" dirty="0" err="1">
                <a:solidFill>
                  <a:srgbClr val="000000"/>
                </a:solidFill>
                <a:effectLst/>
                <a:uFillTx/>
                <a:latin typeface="Arial"/>
              </a:rPr>
              <a:t>mentalidad</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que</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necesitamos</a:t>
            </a:r>
            <a:r>
              <a:rPr lang="en-US" sz="2000" b="0" u="none" strike="noStrike" dirty="0">
                <a:solidFill>
                  <a:srgbClr val="000000"/>
                </a:solidFill>
                <a:effectLst/>
                <a:uFillTx/>
                <a:latin typeface="Arial"/>
              </a:rPr>
              <a:t> en roadmap. No </a:t>
            </a:r>
            <a:r>
              <a:rPr lang="en-US" sz="2000" b="0" u="none" strike="noStrike" dirty="0" err="1">
                <a:solidFill>
                  <a:srgbClr val="000000"/>
                </a:solidFill>
                <a:effectLst/>
                <a:uFillTx/>
                <a:latin typeface="Arial"/>
              </a:rPr>
              <a:t>preguntamos</a:t>
            </a:r>
            <a:r>
              <a:rPr lang="en-US" sz="2000" b="0" u="none" strike="noStrike" dirty="0">
                <a:solidFill>
                  <a:srgbClr val="000000"/>
                </a:solidFill>
                <a:effectLst/>
                <a:uFillTx/>
                <a:latin typeface="Arial"/>
              </a:rPr>
              <a:t> primero “</a:t>
            </a:r>
            <a:r>
              <a:rPr lang="en-US" sz="2000" b="0" u="none" strike="noStrike" dirty="0" err="1">
                <a:solidFill>
                  <a:srgbClr val="000000"/>
                </a:solidFill>
                <a:effectLst/>
                <a:uFillTx/>
                <a:latin typeface="Arial"/>
              </a:rPr>
              <a:t>qué</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pantalla</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falta</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sino</a:t>
            </a:r>
            <a:r>
              <a:rPr lang="en-US" sz="2000" b="0" u="none" strike="noStrike" dirty="0">
                <a:solidFill>
                  <a:srgbClr val="000000"/>
                </a:solidFill>
                <a:effectLst/>
                <a:uFillTx/>
                <a:latin typeface="Arial"/>
              </a:rPr>
              <a:t> “de </a:t>
            </a:r>
            <a:r>
              <a:rPr lang="en-US" sz="2000" b="0" u="none" strike="noStrike" dirty="0" err="1">
                <a:solidFill>
                  <a:srgbClr val="000000"/>
                </a:solidFill>
                <a:effectLst/>
                <a:uFillTx/>
                <a:latin typeface="Arial"/>
              </a:rPr>
              <a:t>qué</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trabajo</a:t>
            </a:r>
            <a:r>
              <a:rPr lang="en-US" sz="2000" b="0" u="none" strike="noStrike" dirty="0">
                <a:solidFill>
                  <a:srgbClr val="000000"/>
                </a:solidFill>
                <a:effectLst/>
                <a:uFillTx/>
                <a:latin typeface="Arial"/>
              </a:rPr>
              <a:t> real </a:t>
            </a:r>
            <a:r>
              <a:rPr lang="en-US" sz="2000" b="0" u="none" strike="noStrike" dirty="0" err="1">
                <a:solidFill>
                  <a:srgbClr val="000000"/>
                </a:solidFill>
                <a:effectLst/>
                <a:uFillTx/>
                <a:latin typeface="Arial"/>
              </a:rPr>
              <a:t>puede</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hacerse</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responsable</a:t>
            </a:r>
            <a:r>
              <a:rPr lang="en-US" sz="2000" b="0" u="none" strike="noStrike" dirty="0">
                <a:solidFill>
                  <a:srgbClr val="000000"/>
                </a:solidFill>
                <a:effectLst/>
                <a:uFillTx/>
                <a:latin typeface="Arial"/>
              </a:rPr>
              <a:t> Gu”.</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a:t>
            </a:r>
          </a:p>
          <a:p>
            <a:pPr indent="0">
              <a:lnSpc>
                <a:spcPct val="100000"/>
              </a:lnSpc>
              <a:buNone/>
            </a:pPr>
            <a:endParaRPr lang="en-US" sz="2000" b="0" u="none" strike="noStrike" dirty="0">
              <a:solidFill>
                <a:srgbClr val="000000"/>
              </a:solidFill>
              <a:effectLst/>
              <a:uFillTx/>
              <a:latin typeface="Arial"/>
            </a:endParaRPr>
          </a:p>
          <a:p>
            <a:r>
              <a:rPr lang="es-MX" sz="2000" dirty="0"/>
              <a:t>“Enviar un mensaje puede ser una acción. Obtener una confirmación con reintentos y espera puede ser un Work Item. Mantener viva una oportunidad durante semanas o meses es un Lead </a:t>
            </a:r>
            <a:r>
              <a:rPr lang="es-MX" sz="2000" dirty="0" err="1"/>
              <a:t>Opportunity</a:t>
            </a:r>
            <a:r>
              <a:rPr lang="es-MX" sz="2000" dirty="0"/>
              <a:t> Case. Y </a:t>
            </a:r>
            <a:r>
              <a:rPr lang="es-MX" sz="2000" dirty="0" err="1"/>
              <a:t>Relationship</a:t>
            </a:r>
            <a:r>
              <a:rPr lang="es-MX" sz="2000" dirty="0"/>
              <a:t> </a:t>
            </a:r>
            <a:r>
              <a:rPr lang="es-MX" sz="2000" dirty="0" err="1"/>
              <a:t>Operations</a:t>
            </a:r>
            <a:r>
              <a:rPr lang="es-MX" sz="2000" dirty="0"/>
              <a:t> es el dominio que reúne los Case </a:t>
            </a:r>
            <a:r>
              <a:rPr lang="es-MX" sz="2000" dirty="0" err="1"/>
              <a:t>types</a:t>
            </a:r>
            <a:r>
              <a:rPr lang="es-MX" sz="2000" dirty="0"/>
              <a:t>, capacidades, políticas y conocimiento necesarios para asumir esa responsabilidad.”</a:t>
            </a:r>
          </a:p>
          <a:p>
            <a:endParaRPr lang="es-MX" sz="2000" dirty="0"/>
          </a:p>
          <a:p>
            <a:r>
              <a:rPr lang="es-MX" sz="2000" dirty="0"/>
              <a:t>Y podrías añadir:</a:t>
            </a:r>
          </a:p>
          <a:p>
            <a:r>
              <a:rPr lang="es-MX" sz="2000" dirty="0"/>
              <a:t>“No todo tiene que convertirse en Case. Precisamente queremos usar la abstracción más pequeña que sea suficiente para el trabajo.”</a:t>
            </a:r>
          </a:p>
          <a:p>
            <a:pPr indent="0">
              <a:lnSpc>
                <a:spcPct val="100000"/>
              </a:lnSpc>
              <a:buNone/>
            </a:pPr>
            <a:endParaRPr lang="en-US" sz="2000" b="0" u="none" strike="noStrike" dirty="0">
              <a:solidFill>
                <a:srgbClr val="000000"/>
              </a:solidFill>
              <a:effectLst/>
              <a:uFillTx/>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s-MX" sz="2000" dirty="0"/>
              <a:t>“La durabilidad tiene un costo de complejidad; la introducimos cuando el trabajo realmente la necesita.”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MX" sz="2000" dirty="0"/>
          </a:p>
          <a:p>
            <a:pPr marL="0" marR="0" lvl="0" indent="0" algn="l" defTabSz="914400" rtl="0" eaLnBrk="1" fontAlgn="auto" latinLnBrk="0" hangingPunct="1">
              <a:lnSpc>
                <a:spcPct val="100000"/>
              </a:lnSpc>
              <a:spcBef>
                <a:spcPts val="0"/>
              </a:spcBef>
              <a:spcAft>
                <a:spcPts val="0"/>
              </a:spcAft>
              <a:buClrTx/>
              <a:buSzTx/>
              <a:buFontTx/>
              <a:buNone/>
              <a:tabLst/>
              <a:defRPr/>
            </a:pPr>
            <a:r>
              <a:rPr lang="es-MX" sz="2000"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MX" sz="2000" dirty="0"/>
          </a:p>
          <a:p>
            <a:pPr marL="0" marR="0" lvl="0" indent="0" algn="l" defTabSz="914400" rtl="0" eaLnBrk="1" fontAlgn="auto" latinLnBrk="0" hangingPunct="1">
              <a:lnSpc>
                <a:spcPct val="100000"/>
              </a:lnSpc>
              <a:spcBef>
                <a:spcPts val="0"/>
              </a:spcBef>
              <a:spcAft>
                <a:spcPts val="0"/>
              </a:spcAft>
              <a:buClrTx/>
              <a:buSzTx/>
              <a:buFontTx/>
              <a:buNone/>
              <a:tabLst/>
              <a:defRPr/>
            </a:pPr>
            <a:r>
              <a:rPr lang="es-MX" sz="2000" dirty="0"/>
              <a:t>Sobre los ejemplos se podría decir: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MX" sz="2000" dirty="0"/>
          </a:p>
          <a:p>
            <a:r>
              <a:rPr lang="es-MX" sz="2000" dirty="0"/>
              <a:t>“Fíjense en la diferencia entre enviar una solicitud de aprobación y conseguir que el precio quede definido y aprobado. Lo primero puede ser una acción inmediata. Lo segundo es un Work Item que puede esperar una respuesta, reintentarse y necesitar evidencia. Y ambos son sólo una parte del Case completo de incorporar esa propiedad hasta dejarla publicada.”</a:t>
            </a:r>
          </a:p>
          <a:p>
            <a:endParaRPr lang="es-MX" sz="2000" dirty="0"/>
          </a:p>
          <a:p>
            <a:r>
              <a:rPr lang="es-MX" sz="2000" dirty="0"/>
              <a:t>Después:</a:t>
            </a:r>
          </a:p>
          <a:p>
            <a:r>
              <a:rPr lang="es-MX" sz="2000" dirty="0"/>
              <a:t>“Lo mismo ocurre con </a:t>
            </a:r>
            <a:r>
              <a:rPr lang="es-MX" sz="2000" dirty="0" err="1"/>
              <a:t>EasyBroker</a:t>
            </a:r>
            <a:r>
              <a:rPr lang="es-MX" sz="2000" dirty="0"/>
              <a:t>: crear el borrador puede ser una acción; garantizar que la propiedad quede correctamente publicada es trabajo durable.”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MX" sz="2000" dirty="0"/>
          </a:p>
          <a:p>
            <a:pPr indent="0">
              <a:lnSpc>
                <a:spcPct val="100000"/>
              </a:lnSpc>
              <a:buNone/>
            </a:pPr>
            <a:r>
              <a:rPr lang="en-US" sz="2000" b="0" u="none" strike="noStrike" dirty="0">
                <a:solidFill>
                  <a:srgbClr val="000000"/>
                </a:solidFill>
                <a:effectLst/>
                <a:uFillTx/>
                <a:latin typeface="Arial"/>
              </a:rPr>
              <a:t>--</a:t>
            </a:r>
          </a:p>
          <a:p>
            <a:pPr indent="0">
              <a:lnSpc>
                <a:spcPct val="100000"/>
              </a:lnSpc>
              <a:buNone/>
            </a:pPr>
            <a:r>
              <a:rPr lang="en-US" sz="2000" b="0" u="none" strike="noStrike" dirty="0" err="1">
                <a:solidFill>
                  <a:srgbClr val="000000"/>
                </a:solidFill>
                <a:effectLst/>
                <a:uFillTx/>
                <a:latin typeface="Arial"/>
              </a:rPr>
              <a:t>Notas</a:t>
            </a:r>
            <a:r>
              <a:rPr lang="en-US" sz="2000" b="0" u="none" strike="noStrike" dirty="0">
                <a:solidFill>
                  <a:srgbClr val="000000"/>
                </a:solidFill>
                <a:effectLst/>
                <a:uFillTx/>
                <a:latin typeface="Arial"/>
              </a:rPr>
              <a:t>:</a:t>
            </a:r>
          </a:p>
          <a:p>
            <a:pPr indent="0">
              <a:lnSpc>
                <a:spcPct val="100000"/>
              </a:lnSpc>
              <a:buNone/>
            </a:pPr>
            <a:endParaRPr lang="en-US" sz="2000" b="0" u="none" strike="noStrike" dirty="0">
              <a:solidFill>
                <a:srgbClr val="000000"/>
              </a:solidFill>
              <a:effectLst/>
              <a:uFillTx/>
              <a:latin typeface="Arial"/>
            </a:endParaRPr>
          </a:p>
          <a:p>
            <a:r>
              <a:rPr lang="en-US" sz="2000" b="0" u="none" strike="noStrike" dirty="0">
                <a:solidFill>
                  <a:srgbClr val="000000"/>
                </a:solidFill>
                <a:effectLst/>
                <a:uFillTx/>
                <a:latin typeface="Arial"/>
              </a:rPr>
              <a:t>- La idea es </a:t>
            </a:r>
            <a:r>
              <a:rPr lang="es-MX" sz="2000" dirty="0"/>
              <a:t>mostrar </a:t>
            </a:r>
            <a:r>
              <a:rPr lang="es-MX" sz="2000" b="1" dirty="0"/>
              <a:t>un aumento de alcance, duración y responsabilidad operacional</a:t>
            </a:r>
            <a:r>
              <a:rPr lang="es-MX" sz="2000" dirty="0"/>
              <a:t>, y en cierta medida una relación de composición:</a:t>
            </a:r>
          </a:p>
          <a:p>
            <a:pPr marL="342900" indent="-342900">
              <a:buFont typeface="Arial" panose="020B0604020202020204" pitchFamily="34" charset="0"/>
              <a:buChar char="•"/>
            </a:pPr>
            <a:r>
              <a:rPr lang="es-MX" sz="2000" dirty="0"/>
              <a:t>un Dominio organiza tipos de Cases y capacidades;</a:t>
            </a:r>
          </a:p>
          <a:p>
            <a:pPr marL="342900" indent="-342900">
              <a:buFont typeface="Arial" panose="020B0604020202020204" pitchFamily="34" charset="0"/>
              <a:buChar char="•"/>
            </a:pPr>
            <a:r>
              <a:rPr lang="es-MX" sz="2000" dirty="0"/>
              <a:t>un Case puede contener/generar Work </a:t>
            </a:r>
            <a:r>
              <a:rPr lang="es-MX" sz="2000" dirty="0" err="1"/>
              <a:t>Items</a:t>
            </a:r>
            <a:r>
              <a:rPr lang="es-MX" sz="2000" dirty="0"/>
              <a:t>;</a:t>
            </a:r>
          </a:p>
          <a:p>
            <a:pPr marL="342900" indent="-342900">
              <a:buFont typeface="Arial" panose="020B0604020202020204" pitchFamily="34" charset="0"/>
              <a:buChar char="•"/>
            </a:pPr>
            <a:r>
              <a:rPr lang="es-MX" sz="2000" dirty="0"/>
              <a:t>un Work Item puede terminar ejecutando acciones, </a:t>
            </a:r>
            <a:r>
              <a:rPr lang="es-MX" sz="2000" dirty="0" err="1"/>
              <a:t>Skills</a:t>
            </a:r>
            <a:r>
              <a:rPr lang="es-MX" sz="2000" dirty="0"/>
              <a:t> o </a:t>
            </a:r>
            <a:r>
              <a:rPr lang="es-MX" sz="2000" dirty="0" err="1"/>
              <a:t>tools</a:t>
            </a:r>
            <a:r>
              <a:rPr lang="es-MX" sz="2000" dirty="0"/>
              <a:t>.</a:t>
            </a:r>
          </a:p>
          <a:p>
            <a:pPr indent="0">
              <a:lnSpc>
                <a:spcPct val="100000"/>
              </a:lnSpc>
              <a:buNone/>
            </a:pPr>
            <a:endParaRPr lang="en-US" sz="2000" b="0" u="none" strike="noStrike" dirty="0">
              <a:solidFill>
                <a:srgbClr val="000000"/>
              </a:solidFill>
              <a:effectLst/>
              <a:uFillTx/>
              <a:latin typeface="Arial"/>
            </a:endParaRPr>
          </a:p>
          <a:p>
            <a:r>
              <a:rPr lang="en-US" sz="2000" b="0" u="none" strike="noStrike" dirty="0">
                <a:solidFill>
                  <a:srgbClr val="000000"/>
                </a:solidFill>
                <a:effectLst/>
                <a:uFillTx/>
                <a:latin typeface="Arial"/>
              </a:rPr>
              <a:t>- </a:t>
            </a:r>
            <a:r>
              <a:rPr lang="es-MX" sz="2000" b="1" dirty="0"/>
              <a:t>Un matiz técnico</a:t>
            </a:r>
          </a:p>
          <a:p>
            <a:r>
              <a:rPr lang="es-MX" sz="2000" dirty="0"/>
              <a:t>Yo evitaría equiparar completamente:</a:t>
            </a:r>
          </a:p>
          <a:p>
            <a:r>
              <a:rPr lang="es-MX" sz="1200" kern="1200" dirty="0">
                <a:solidFill>
                  <a:schemeClr val="tx1"/>
                </a:solidFill>
                <a:latin typeface="+mn-lt"/>
                <a:ea typeface="+mn-ea"/>
                <a:cs typeface="+mn-cs"/>
              </a:rPr>
              <a:t>Acción = turno</a:t>
            </a:r>
            <a:endParaRPr lang="es-MX" sz="2000" dirty="0"/>
          </a:p>
          <a:p>
            <a:r>
              <a:rPr lang="es-MX" sz="2000" dirty="0"/>
              <a:t>porque un turno conversacional puede disparar bastante </a:t>
            </a:r>
            <a:r>
              <a:rPr lang="es-MX" sz="2000" dirty="0" err="1"/>
              <a:t>reasoning</a:t>
            </a:r>
            <a:r>
              <a:rPr lang="es-MX" sz="2000" dirty="0"/>
              <a:t> y varias acciones, y una acción proactiva puede ocurrir sin ningún turno del usuario.</a:t>
            </a:r>
          </a:p>
          <a:p>
            <a:r>
              <a:rPr lang="es-MX" sz="2000" dirty="0"/>
              <a:t>Por eso usaría como unidad conceptual </a:t>
            </a:r>
            <a:r>
              <a:rPr lang="es-MX" sz="2000" b="1" dirty="0"/>
              <a:t>acción</a:t>
            </a:r>
            <a:r>
              <a:rPr lang="es-MX" sz="2000" dirty="0"/>
              <a:t>, no </a:t>
            </a:r>
            <a:r>
              <a:rPr lang="es-MX" sz="1200" kern="1200" dirty="0" err="1">
                <a:solidFill>
                  <a:schemeClr val="tx1"/>
                </a:solidFill>
                <a:latin typeface="+mn-lt"/>
                <a:ea typeface="+mn-ea"/>
                <a:cs typeface="+mn-cs"/>
              </a:rPr>
              <a:t>turn</a:t>
            </a:r>
            <a:r>
              <a:rPr lang="es-MX" sz="2000" dirty="0"/>
              <a:t>.</a:t>
            </a:r>
          </a:p>
          <a:p>
            <a:endParaRPr lang="es-MX" sz="2000" dirty="0"/>
          </a:p>
          <a:p>
            <a:r>
              <a:rPr lang="es-MX" sz="2000" dirty="0"/>
              <a:t>- La definición:</a:t>
            </a:r>
          </a:p>
          <a:p>
            <a:r>
              <a:rPr lang="es-MX" sz="2000" b="1" dirty="0"/>
              <a:t>Unidad acotada de ejecución (...) con un resultado inmediato. Puede involucrar una o varias </a:t>
            </a:r>
            <a:r>
              <a:rPr lang="es-MX" sz="2000" b="1" dirty="0" err="1"/>
              <a:t>skills</a:t>
            </a:r>
            <a:r>
              <a:rPr lang="es-MX" sz="2000" b="1" dirty="0"/>
              <a:t>/</a:t>
            </a:r>
            <a:r>
              <a:rPr lang="es-MX" sz="2000" b="1" dirty="0" err="1"/>
              <a:t>tools</a:t>
            </a:r>
            <a:r>
              <a:rPr lang="es-MX" sz="2000" b="1" dirty="0"/>
              <a:t> sin requerir continuidad durable propia.</a:t>
            </a:r>
            <a:endParaRPr lang="es-MX" sz="2000" dirty="0"/>
          </a:p>
          <a:p>
            <a:r>
              <a:rPr lang="es-MX" sz="2000" dirty="0"/>
              <a:t>es mucho mejor.</a:t>
            </a:r>
          </a:p>
          <a:p>
            <a:r>
              <a:rPr lang="es-MX" sz="2000" dirty="0"/>
              <a:t>Y responde correctamente a: </a:t>
            </a:r>
            <a:r>
              <a:rPr lang="es-MX" sz="2000" b="1" dirty="0"/>
              <a:t>una acción no equivale necesariamente a una </a:t>
            </a:r>
            <a:r>
              <a:rPr lang="es-MX" sz="2000" b="1" dirty="0" err="1"/>
              <a:t>tool</a:t>
            </a:r>
            <a:r>
              <a:rPr lang="es-MX" sz="2000" b="1" dirty="0"/>
              <a:t> </a:t>
            </a:r>
            <a:r>
              <a:rPr lang="es-MX" sz="2000" b="1" dirty="0" err="1"/>
              <a:t>call</a:t>
            </a:r>
            <a:r>
              <a:rPr lang="es-MX" sz="2000" dirty="0"/>
              <a:t>.</a:t>
            </a:r>
          </a:p>
          <a:p>
            <a:r>
              <a:rPr lang="es-MX" sz="2000" dirty="0"/>
              <a:t>Una acción puede implicar:</a:t>
            </a:r>
          </a:p>
          <a:p>
            <a:r>
              <a:rPr lang="es-MX" sz="2000" dirty="0"/>
              <a:t>razonamiento → </a:t>
            </a:r>
            <a:r>
              <a:rPr lang="es-MX" sz="2000" dirty="0" err="1"/>
              <a:t>tool</a:t>
            </a:r>
            <a:r>
              <a:rPr lang="es-MX" sz="2000" dirty="0"/>
              <a:t> A → evaluar resultado → </a:t>
            </a:r>
            <a:r>
              <a:rPr lang="es-MX" sz="2000" dirty="0" err="1"/>
              <a:t>tool</a:t>
            </a:r>
            <a:r>
              <a:rPr lang="es-MX" sz="2000" dirty="0"/>
              <a:t> B → producir resultado</a:t>
            </a:r>
          </a:p>
          <a:p>
            <a:r>
              <a:rPr lang="es-MX" sz="2000" dirty="0"/>
              <a:t>dentro de una misma ejecución lógica.</a:t>
            </a:r>
          </a:p>
          <a:p>
            <a:r>
              <a:rPr lang="es-MX" sz="2000" dirty="0"/>
              <a:t>La clave es:</a:t>
            </a:r>
          </a:p>
          <a:p>
            <a:r>
              <a:rPr lang="es-MX" sz="2000" b="1" dirty="0"/>
              <a:t>no necesita preservar por sí misma una obligación durable para continuar después.</a:t>
            </a:r>
            <a:endParaRPr lang="es-MX" sz="2000" dirty="0"/>
          </a:p>
          <a:p>
            <a:r>
              <a:rPr lang="es-MX" sz="2000" dirty="0"/>
              <a:t>Ese es el </a:t>
            </a:r>
            <a:r>
              <a:rPr lang="es-MX" sz="2000" dirty="0" err="1"/>
              <a:t>boundary</a:t>
            </a:r>
            <a:r>
              <a:rPr lang="es-MX" sz="2000" dirty="0"/>
              <a:t> importante.</a:t>
            </a:r>
          </a:p>
          <a:p>
            <a:endParaRPr lang="es-MX" sz="2000" dirty="0"/>
          </a:p>
          <a:p>
            <a:pPr marL="0" indent="0">
              <a:lnSpc>
                <a:spcPct val="100000"/>
              </a:lnSpc>
              <a:buFontTx/>
              <a:buNone/>
            </a:pPr>
            <a:r>
              <a:rPr lang="es-MX" sz="2000" dirty="0"/>
              <a:t>- Case y Work Item pueden ser </a:t>
            </a:r>
            <a:r>
              <a:rPr lang="es-MX" sz="2000" dirty="0" err="1"/>
              <a:t>first-class</a:t>
            </a:r>
            <a:r>
              <a:rPr lang="es-MX" sz="2000" dirty="0"/>
              <a:t> durable </a:t>
            </a:r>
            <a:r>
              <a:rPr lang="es-MX" sz="2000" dirty="0" err="1"/>
              <a:t>objects</a:t>
            </a:r>
            <a:r>
              <a:rPr lang="es-MX" sz="2000" dirty="0"/>
              <a:t> de </a:t>
            </a:r>
            <a:r>
              <a:rPr lang="es-MX" sz="2000" dirty="0" err="1"/>
              <a:t>Gu</a:t>
            </a:r>
            <a:r>
              <a:rPr lang="es-MX" sz="2000" dirty="0"/>
              <a:t> OS; “</a:t>
            </a:r>
            <a:r>
              <a:rPr lang="es-MX" sz="2000" dirty="0" err="1"/>
              <a:t>Action</a:t>
            </a:r>
            <a:r>
              <a:rPr lang="es-MX" sz="2000" dirty="0"/>
              <a:t>” puede ser una unidad conceptual de ejecución y no necesariamente una tabla/entidad persistida equivalente.</a:t>
            </a:r>
          </a:p>
          <a:p>
            <a:pPr marL="0" indent="0">
              <a:lnSpc>
                <a:spcPct val="100000"/>
              </a:lnSpc>
              <a:buFontTx/>
              <a:buNone/>
            </a:pPr>
            <a:endParaRPr lang="es-MX" sz="2000" b="0" u="none" strike="noStrike" dirty="0">
              <a:solidFill>
                <a:srgbClr val="000000"/>
              </a:solidFill>
              <a:effectLst/>
              <a:uFillTx/>
              <a:latin typeface="Arial"/>
            </a:endParaRPr>
          </a:p>
          <a:p>
            <a:pPr marL="0" indent="0">
              <a:lnSpc>
                <a:spcPct val="100000"/>
              </a:lnSpc>
              <a:buFontTx/>
              <a:buNone/>
            </a:pPr>
            <a:endParaRPr lang="es-MX" sz="2000" b="0" u="none" strike="noStrike" dirty="0">
              <a:solidFill>
                <a:srgbClr val="000000"/>
              </a:solidFill>
              <a:effectLst/>
              <a:uFillTx/>
              <a:latin typeface="Arial"/>
            </a:endParaRPr>
          </a:p>
          <a:p>
            <a:pPr marL="0" indent="0">
              <a:lnSpc>
                <a:spcPct val="100000"/>
              </a:lnSpc>
              <a:buFontTx/>
              <a:buNone/>
            </a:pPr>
            <a:endParaRPr lang="en-US" sz="2000" b="0" u="none" strike="noStrike" dirty="0">
              <a:solidFill>
                <a:srgbClr val="000000"/>
              </a:solidFill>
              <a:effectLst/>
              <a:uFillTx/>
              <a:latin typeface="Arial"/>
            </a:endParaRPr>
          </a:p>
        </p:txBody>
      </p:sp>
      <p:sp>
        <p:nvSpPr>
          <p:cNvPr id="686" name="PlaceHolder 3">
            <a:extLst>
              <a:ext uri="{FF2B5EF4-FFF2-40B4-BE49-F238E27FC236}">
                <a16:creationId xmlns:a16="http://schemas.microsoft.com/office/drawing/2014/main" id="{C52AAB69-2AAD-3417-670C-F0A6BE6ACFE5}"/>
              </a:ext>
            </a:extLst>
          </p:cNvPr>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5D58422-E9AD-4E8D-B956-A6463BAD832D}"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16427814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DEB6E-8A42-A80F-7E9C-151BC5DDB234}"/>
            </a:ext>
          </a:extLst>
        </p:cNvPr>
        <p:cNvGrpSpPr/>
        <p:nvPr/>
      </p:nvGrpSpPr>
      <p:grpSpPr>
        <a:xfrm>
          <a:off x="0" y="0"/>
          <a:ext cx="0" cy="0"/>
          <a:chOff x="0" y="0"/>
          <a:chExt cx="0" cy="0"/>
        </a:xfrm>
      </p:grpSpPr>
      <p:sp>
        <p:nvSpPr>
          <p:cNvPr id="687" name="PlaceHolder 1">
            <a:extLst>
              <a:ext uri="{FF2B5EF4-FFF2-40B4-BE49-F238E27FC236}">
                <a16:creationId xmlns:a16="http://schemas.microsoft.com/office/drawing/2014/main" id="{06C674B7-111D-5C71-FA81-1405FD96B7FC}"/>
              </a:ext>
            </a:extLst>
          </p:cNvPr>
          <p:cNvSpPr>
            <a:spLocks noGrp="1" noRot="1" noChangeAspect="1"/>
          </p:cNvSpPr>
          <p:nvPr>
            <p:ph type="sldImg"/>
          </p:nvPr>
        </p:nvSpPr>
        <p:spPr>
          <a:xfrm>
            <a:off x="685800" y="1143000"/>
            <a:ext cx="5486400" cy="3086100"/>
          </a:xfrm>
          <a:prstGeom prst="rect">
            <a:avLst/>
          </a:prstGeom>
          <a:ln w="0">
            <a:noFill/>
          </a:ln>
        </p:spPr>
      </p:sp>
      <p:sp>
        <p:nvSpPr>
          <p:cNvPr id="688" name="PlaceHolder 2">
            <a:extLst>
              <a:ext uri="{FF2B5EF4-FFF2-40B4-BE49-F238E27FC236}">
                <a16:creationId xmlns:a16="http://schemas.microsoft.com/office/drawing/2014/main" id="{B3EB500B-F341-F640-8C3B-5B8AA6A94466}"/>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dirty="0">
                <a:solidFill>
                  <a:srgbClr val="000000"/>
                </a:solidFill>
                <a:effectLst/>
                <a:uFillTx/>
                <a:latin typeface="Arial"/>
              </a:rPr>
              <a:t>Gu → Gu OS — Session 1</a:t>
            </a:r>
          </a:p>
          <a:p>
            <a:pPr indent="0">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Aclarar </a:t>
            </a:r>
            <a:r>
              <a:rPr lang="en-US" sz="2000" b="0" u="none" strike="noStrike" dirty="0" err="1">
                <a:solidFill>
                  <a:srgbClr val="000000"/>
                </a:solidFill>
                <a:effectLst/>
                <a:uFillTx/>
                <a:latin typeface="Arial"/>
              </a:rPr>
              <a:t>que</a:t>
            </a:r>
            <a:r>
              <a:rPr lang="en-US" sz="2000" b="0" u="none" strike="noStrike" dirty="0">
                <a:solidFill>
                  <a:srgbClr val="000000"/>
                </a:solidFill>
                <a:effectLst/>
                <a:uFillTx/>
                <a:latin typeface="Arial"/>
              </a:rPr>
              <a:t> no </a:t>
            </a:r>
            <a:r>
              <a:rPr lang="en-US" sz="2000" b="0" u="none" strike="noStrike" dirty="0" err="1">
                <a:solidFill>
                  <a:srgbClr val="000000"/>
                </a:solidFill>
                <a:effectLst/>
                <a:uFillTx/>
                <a:latin typeface="Arial"/>
              </a:rPr>
              <a:t>queremos</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convertir</a:t>
            </a:r>
            <a:r>
              <a:rPr lang="en-US" sz="2000" b="0" u="none" strike="noStrike" dirty="0">
                <a:solidFill>
                  <a:srgbClr val="000000"/>
                </a:solidFill>
                <a:effectLst/>
                <a:uFillTx/>
                <a:latin typeface="Arial"/>
              </a:rPr>
              <a:t> Gu OS en un BPM </a:t>
            </a:r>
            <a:r>
              <a:rPr lang="en-US" sz="2000" b="0" u="none" strike="noStrike" dirty="0" err="1">
                <a:solidFill>
                  <a:srgbClr val="000000"/>
                </a:solidFill>
                <a:effectLst/>
                <a:uFillTx/>
                <a:latin typeface="Arial"/>
              </a:rPr>
              <a:t>rígido</a:t>
            </a:r>
            <a:r>
              <a:rPr lang="en-US" sz="2000" b="0" u="none" strike="noStrike" dirty="0">
                <a:solidFill>
                  <a:srgbClr val="000000"/>
                </a:solidFill>
                <a:effectLst/>
                <a:uFillTx/>
                <a:latin typeface="Arial"/>
              </a:rPr>
              <a:t>. Un Lead Opportunity Case </a:t>
            </a:r>
            <a:r>
              <a:rPr lang="en-US" sz="2000" b="0" u="none" strike="noStrike" dirty="0" err="1">
                <a:solidFill>
                  <a:srgbClr val="000000"/>
                </a:solidFill>
                <a:effectLst/>
                <a:uFillTx/>
                <a:latin typeface="Arial"/>
              </a:rPr>
              <a:t>puede</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durar</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semanas</a:t>
            </a:r>
            <a:r>
              <a:rPr lang="en-US" sz="2000" b="0" u="none" strike="noStrike" dirty="0">
                <a:solidFill>
                  <a:srgbClr val="000000"/>
                </a:solidFill>
                <a:effectLst/>
                <a:uFillTx/>
                <a:latin typeface="Arial"/>
              </a:rPr>
              <a:t> o meses y </a:t>
            </a:r>
            <a:r>
              <a:rPr lang="en-US" sz="2000" b="0" u="none" strike="noStrike" dirty="0" err="1">
                <a:solidFill>
                  <a:srgbClr val="000000"/>
                </a:solidFill>
                <a:effectLst/>
                <a:uFillTx/>
                <a:latin typeface="Arial"/>
              </a:rPr>
              <a:t>tomar</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rutas</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muy</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diferentes</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según</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respuestas</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inventario</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eventos</a:t>
            </a:r>
            <a:r>
              <a:rPr lang="en-US" sz="2000" b="0" u="none" strike="noStrike" dirty="0">
                <a:solidFill>
                  <a:srgbClr val="000000"/>
                </a:solidFill>
                <a:effectLst/>
                <a:uFillTx/>
                <a:latin typeface="Arial"/>
              </a:rPr>
              <a:t> y </a:t>
            </a:r>
            <a:r>
              <a:rPr lang="en-US" sz="2000" b="0" u="none" strike="noStrike" dirty="0" err="1">
                <a:solidFill>
                  <a:srgbClr val="000000"/>
                </a:solidFill>
                <a:effectLst/>
                <a:uFillTx/>
                <a:latin typeface="Arial"/>
              </a:rPr>
              <a:t>permisos</a:t>
            </a:r>
            <a:r>
              <a:rPr lang="en-US" sz="2000" b="0" u="none" strike="noStrike" dirty="0">
                <a:solidFill>
                  <a:srgbClr val="000000"/>
                </a:solidFill>
                <a:effectLst/>
                <a:uFillTx/>
                <a:latin typeface="Arial"/>
              </a:rPr>
              <a:t>.</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endParaRPr lang="en-US" sz="2000" b="0" u="none" strike="noStrike" dirty="0">
              <a:solidFill>
                <a:srgbClr val="000000"/>
              </a:solidFill>
              <a:effectLst/>
              <a:uFillTx/>
              <a:latin typeface="Arial"/>
            </a:endParaRPr>
          </a:p>
          <a:p>
            <a:r>
              <a:rPr lang="es-MX" sz="2000" dirty="0"/>
              <a:t>“Durable no significa que conozcamos de antemano todo el camino. Lo durable es el compromiso del Case: su objetivo, estado, participantes, límites y criterios de finalización. Cuando llega un evento, vence un </a:t>
            </a:r>
            <a:r>
              <a:rPr lang="es-MX" sz="2000" dirty="0" err="1"/>
              <a:t>wake</a:t>
            </a:r>
            <a:r>
              <a:rPr lang="es-MX" sz="2000" dirty="0"/>
              <a:t>-up o interviene una persona, el sistema puede reevaluar qué necesita el Case ahora. Ese trabajo puede ser una acción, un Work Item, una espera, una decisión humana, trabajo paralelo o incluso otro Case. Lo que ocurra genera evidencia y actualiza el estado; después el Case puede volver a evaluarse cuando la realidad cambie.”</a:t>
            </a:r>
          </a:p>
          <a:p>
            <a:endParaRPr lang="es-MX" sz="2000" dirty="0"/>
          </a:p>
          <a:p>
            <a:r>
              <a:rPr lang="es-MX" sz="2000" dirty="0"/>
              <a:t>Y luego el ejemplo de </a:t>
            </a:r>
            <a:r>
              <a:rPr lang="es-MX" sz="2000" dirty="0" err="1"/>
              <a:t>Relationship</a:t>
            </a:r>
            <a:r>
              <a:rPr lang="es-MX" sz="2000" dirty="0"/>
              <a:t> </a:t>
            </a:r>
            <a:r>
              <a:rPr lang="es-MX" sz="2000" dirty="0" err="1"/>
              <a:t>Operations</a:t>
            </a:r>
            <a:r>
              <a:rPr lang="es-MX" sz="2000" dirty="0"/>
              <a:t>:</a:t>
            </a:r>
          </a:p>
          <a:p>
            <a:r>
              <a:rPr lang="es-MX" sz="2000" dirty="0"/>
              <a:t>“Un Lead </a:t>
            </a:r>
            <a:r>
              <a:rPr lang="es-MX" sz="2000" dirty="0" err="1"/>
              <a:t>Opportunity</a:t>
            </a:r>
            <a:r>
              <a:rPr lang="es-MX" sz="2000" dirty="0"/>
              <a:t> Case no debería codificar el camino feliz ‘mensaje → 24 horas → </a:t>
            </a:r>
            <a:r>
              <a:rPr lang="es-MX" sz="2000" dirty="0" err="1"/>
              <a:t>follow</a:t>
            </a:r>
            <a:r>
              <a:rPr lang="es-MX" sz="2000" dirty="0"/>
              <a:t>-up → visita’. Puede durar semanas o meses y tomar rutas distintas según lo que responda el prospecto, cambie el inventario, aparezca una nueva oportunidad o sea necesaria una decisión humana.”</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2000" b="1" u="none" strike="noStrike" dirty="0">
                <a:solidFill>
                  <a:srgbClr val="5F2CCB"/>
                </a:solidFill>
                <a:effectLst/>
                <a:uFillTx/>
                <a:latin typeface="Aptos"/>
                <a:ea typeface="Aptos"/>
              </a:rPr>
              <a:t>Firme donde la realidad es dura. Flexible donde la inteligencia puede elegir.</a:t>
            </a:r>
          </a:p>
          <a:p>
            <a:r>
              <a:rPr lang="es-MX" sz="2000" dirty="0"/>
              <a:t>Es una traducción muy efectiva de nuestro principio arquitectónico y resume muy bien:</a:t>
            </a:r>
          </a:p>
          <a:p>
            <a:pPr marL="342900" indent="-342900">
              <a:buFont typeface="Arial" panose="020B0604020202020204" pitchFamily="34" charset="0"/>
              <a:buChar char="•"/>
            </a:pPr>
            <a:r>
              <a:rPr lang="es-MX" sz="2000" b="1" dirty="0"/>
              <a:t>determinístico: </a:t>
            </a:r>
            <a:r>
              <a:rPr lang="es-MX" sz="2000" dirty="0" err="1"/>
              <a:t>permissions</a:t>
            </a:r>
            <a:r>
              <a:rPr lang="es-MX" sz="2000" dirty="0"/>
              <a:t>, </a:t>
            </a:r>
            <a:r>
              <a:rPr lang="es-MX" sz="2000" dirty="0" err="1"/>
              <a:t>invariants</a:t>
            </a:r>
            <a:r>
              <a:rPr lang="es-MX" sz="2000" dirty="0"/>
              <a:t>, </a:t>
            </a:r>
            <a:r>
              <a:rPr lang="es-MX" sz="2000" dirty="0" err="1"/>
              <a:t>approvals</a:t>
            </a:r>
            <a:r>
              <a:rPr lang="es-MX" sz="2000" dirty="0"/>
              <a:t>, </a:t>
            </a:r>
            <a:r>
              <a:rPr lang="es-MX" sz="2000" dirty="0" err="1"/>
              <a:t>evidence</a:t>
            </a:r>
            <a:r>
              <a:rPr lang="es-MX" sz="2000" dirty="0"/>
              <a:t> </a:t>
            </a:r>
            <a:r>
              <a:rPr lang="es-MX" sz="2000" dirty="0" err="1"/>
              <a:t>requirements</a:t>
            </a:r>
            <a:r>
              <a:rPr lang="es-MX" sz="2000" dirty="0"/>
              <a:t>, </a:t>
            </a:r>
            <a:r>
              <a:rPr lang="es-MX" sz="2000" dirty="0" err="1"/>
              <a:t>business</a:t>
            </a:r>
            <a:r>
              <a:rPr lang="es-MX" sz="2000" dirty="0"/>
              <a:t> </a:t>
            </a:r>
            <a:r>
              <a:rPr lang="es-MX" sz="2000" dirty="0" err="1"/>
              <a:t>commitments</a:t>
            </a:r>
            <a:r>
              <a:rPr lang="es-MX" sz="2000" dirty="0"/>
              <a:t>.</a:t>
            </a:r>
          </a:p>
          <a:p>
            <a:pPr marL="342900" indent="-342900">
              <a:buFont typeface="Arial" panose="020B0604020202020204" pitchFamily="34" charset="0"/>
              <a:buChar char="•"/>
            </a:pPr>
            <a:r>
              <a:rPr lang="es-MX" sz="2000" b="1" dirty="0"/>
              <a:t>adaptativo: </a:t>
            </a:r>
            <a:r>
              <a:rPr lang="es-MX" sz="2000" dirty="0" err="1"/>
              <a:t>planning</a:t>
            </a:r>
            <a:r>
              <a:rPr lang="es-MX" sz="2000" dirty="0"/>
              <a:t>, </a:t>
            </a:r>
            <a:r>
              <a:rPr lang="es-MX" sz="2000" dirty="0" err="1"/>
              <a:t>routing</a:t>
            </a:r>
            <a:r>
              <a:rPr lang="es-MX" sz="2000" dirty="0"/>
              <a:t>, </a:t>
            </a:r>
            <a:r>
              <a:rPr lang="es-MX" sz="2000" dirty="0" err="1"/>
              <a:t>decomposition</a:t>
            </a:r>
            <a:r>
              <a:rPr lang="es-MX" sz="2000" dirty="0"/>
              <a:t>, </a:t>
            </a:r>
            <a:r>
              <a:rPr lang="es-MX" sz="2000" dirty="0" err="1"/>
              <a:t>tool</a:t>
            </a:r>
            <a:r>
              <a:rPr lang="es-MX" sz="2000" dirty="0"/>
              <a:t> </a:t>
            </a:r>
            <a:r>
              <a:rPr lang="es-MX" sz="2000" dirty="0" err="1"/>
              <a:t>selection</a:t>
            </a:r>
            <a:r>
              <a:rPr lang="es-MX" sz="2000" dirty="0"/>
              <a:t>, </a:t>
            </a:r>
            <a:r>
              <a:rPr lang="es-MX" sz="2000" dirty="0" err="1"/>
              <a:t>follow</a:t>
            </a:r>
            <a:r>
              <a:rPr lang="es-MX" sz="2000" dirty="0"/>
              <a:t>-up </a:t>
            </a:r>
            <a:r>
              <a:rPr lang="es-MX" sz="2000" dirty="0" err="1"/>
              <a:t>strategy</a:t>
            </a:r>
            <a:r>
              <a:rPr lang="es-MX" sz="2000" dirty="0"/>
              <a:t>, </a:t>
            </a:r>
            <a:r>
              <a:rPr lang="es-MX" sz="2000" dirty="0" err="1"/>
              <a:t>parallelization</a:t>
            </a:r>
            <a:r>
              <a:rPr lang="es-MX" sz="2000"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u="none" strike="noStrike" dirty="0">
              <a:solidFill>
                <a:srgbClr val="000000"/>
              </a:solidFill>
              <a:effectLst/>
              <a:uFillTx/>
              <a:latin typeface="+mn-lt"/>
            </a:endParaRPr>
          </a:p>
          <a:p>
            <a:r>
              <a:rPr lang="es-MX" sz="2000" dirty="0"/>
              <a:t>Usaría un </a:t>
            </a:r>
            <a:r>
              <a:rPr lang="es-MX" sz="1200" kern="1200" dirty="0">
                <a:solidFill>
                  <a:schemeClr val="tx1"/>
                </a:solidFill>
                <a:latin typeface="+mn-lt"/>
                <a:ea typeface="+mn-ea"/>
                <a:cs typeface="+mn-cs"/>
              </a:rPr>
              <a:t>Lead </a:t>
            </a:r>
            <a:r>
              <a:rPr lang="es-MX" sz="1200" kern="1200" dirty="0" err="1">
                <a:solidFill>
                  <a:schemeClr val="tx1"/>
                </a:solidFill>
                <a:latin typeface="+mn-lt"/>
                <a:ea typeface="+mn-ea"/>
                <a:cs typeface="+mn-cs"/>
              </a:rPr>
              <a:t>Opportunity</a:t>
            </a:r>
            <a:r>
              <a:rPr lang="es-MX" sz="1200" kern="1200" dirty="0">
                <a:solidFill>
                  <a:schemeClr val="tx1"/>
                </a:solidFill>
                <a:latin typeface="+mn-lt"/>
                <a:ea typeface="+mn-ea"/>
                <a:cs typeface="+mn-cs"/>
              </a:rPr>
              <a:t> Case</a:t>
            </a:r>
            <a:r>
              <a:rPr lang="es-MX" sz="2000" dirty="0"/>
              <a:t>, porque complementa </a:t>
            </a:r>
            <a:r>
              <a:rPr lang="es-MX" sz="2000" dirty="0" err="1"/>
              <a:t>Property</a:t>
            </a:r>
            <a:r>
              <a:rPr lang="es-MX" sz="2000" dirty="0"/>
              <a:t> </a:t>
            </a:r>
            <a:r>
              <a:rPr lang="es-MX" sz="2000" dirty="0" err="1"/>
              <a:t>Optioning</a:t>
            </a:r>
            <a:r>
              <a:rPr lang="es-MX" sz="2000" dirty="0"/>
              <a:t> de la </a:t>
            </a:r>
            <a:r>
              <a:rPr lang="es-MX" sz="2000" dirty="0" err="1"/>
              <a:t>slide</a:t>
            </a:r>
            <a:r>
              <a:rPr lang="es-MX" sz="2000" dirty="0"/>
              <a:t> anterior:</a:t>
            </a:r>
          </a:p>
          <a:p>
            <a:endParaRPr lang="es-MX" sz="2000" dirty="0"/>
          </a:p>
          <a:p>
            <a:r>
              <a:rPr lang="es-MX" sz="2000" dirty="0"/>
              <a:t>“Supongamos que tenemos una oportunidad de un comprador. Lo durable no es una secuencia como mensaje → esperar 24 horas → buscar → agendar. Lo durable es la responsabilidad: quién es el prospecto, qué buscamos lograr, qué sabemos, qué está pendiente, qué podemos hacer y cómo sabremos que avanzó.”</a:t>
            </a:r>
          </a:p>
          <a:p>
            <a:endParaRPr lang="es-MX" sz="2000" dirty="0"/>
          </a:p>
          <a:p>
            <a:r>
              <a:rPr lang="es-MX" sz="2000" dirty="0"/>
              <a:t>Luego:</a:t>
            </a:r>
          </a:p>
          <a:p>
            <a:r>
              <a:rPr lang="es-MX" sz="2000" dirty="0"/>
              <a:t>“Llega un mensaje, vence un </a:t>
            </a:r>
            <a:r>
              <a:rPr lang="es-MX" sz="1200" kern="1200" dirty="0" err="1">
                <a:solidFill>
                  <a:schemeClr val="tx1"/>
                </a:solidFill>
                <a:latin typeface="+mn-lt"/>
                <a:ea typeface="+mn-ea"/>
                <a:cs typeface="+mn-cs"/>
              </a:rPr>
              <a:t>next_action_at</a:t>
            </a:r>
            <a:r>
              <a:rPr lang="es-MX" sz="1200" kern="1200" dirty="0">
                <a:solidFill>
                  <a:schemeClr val="tx1"/>
                </a:solidFill>
                <a:latin typeface="+mn-lt"/>
                <a:ea typeface="+mn-ea"/>
                <a:cs typeface="+mn-cs"/>
              </a:rPr>
              <a:t> (</a:t>
            </a:r>
            <a:r>
              <a:rPr lang="es-MX" sz="1200" kern="1200" dirty="0" err="1">
                <a:solidFill>
                  <a:schemeClr val="tx1"/>
                </a:solidFill>
                <a:latin typeface="+mn-lt"/>
                <a:ea typeface="+mn-ea"/>
                <a:cs typeface="+mn-cs"/>
              </a:rPr>
              <a:t>ie</a:t>
            </a:r>
            <a:r>
              <a:rPr lang="es-MX" sz="1200" kern="1200" dirty="0">
                <a:solidFill>
                  <a:schemeClr val="tx1"/>
                </a:solidFill>
                <a:latin typeface="+mn-lt"/>
                <a:ea typeface="+mn-ea"/>
                <a:cs typeface="+mn-cs"/>
              </a:rPr>
              <a:t>, </a:t>
            </a:r>
            <a:r>
              <a:rPr lang="es-MX" sz="1200" kern="1200" dirty="0" err="1">
                <a:solidFill>
                  <a:schemeClr val="tx1"/>
                </a:solidFill>
                <a:latin typeface="+mn-lt"/>
                <a:ea typeface="+mn-ea"/>
                <a:cs typeface="+mn-cs"/>
              </a:rPr>
              <a:t>wake</a:t>
            </a:r>
            <a:r>
              <a:rPr lang="es-MX" sz="1200" kern="1200" dirty="0">
                <a:solidFill>
                  <a:schemeClr val="tx1"/>
                </a:solidFill>
                <a:latin typeface="+mn-lt"/>
                <a:ea typeface="+mn-ea"/>
                <a:cs typeface="+mn-cs"/>
              </a:rPr>
              <a:t>-up programado)</a:t>
            </a:r>
            <a:r>
              <a:rPr lang="es-MX" sz="2000" dirty="0"/>
              <a:t> o interviene una persona. Eso despierta el Case. El supervisor pregunta: ‘¿qué necesita esta oportunidad ahora?’. Puede decidir buscar nuevas propiedades, contactar, esperar, crear un Work Item, pedir una decisión humana o incluso iniciar otro Case. Después el resultado actualiza la verdad operacional y volvemos a evaluar cuando corresponda.”</a:t>
            </a:r>
          </a:p>
          <a:p>
            <a:endParaRPr lang="es-MX" sz="2000" dirty="0"/>
          </a:p>
          <a:p>
            <a:r>
              <a:rPr lang="es-MX" sz="2000" dirty="0"/>
              <a:t>Y rematas:</a:t>
            </a:r>
          </a:p>
          <a:p>
            <a:r>
              <a:rPr lang="es-MX" sz="2000" b="1" dirty="0"/>
              <a:t>“Durable es la responsabilidad; dinámico puede ser el camino.”</a:t>
            </a:r>
          </a:p>
          <a:p>
            <a:endParaRPr lang="es-MX" sz="2000" b="1" dirty="0"/>
          </a:p>
          <a:p>
            <a:endParaRPr lang="es-MX" sz="2000" b="1" dirty="0"/>
          </a:p>
          <a:p>
            <a:r>
              <a:rPr lang="es-MX" b="1" dirty="0"/>
              <a:t>El Grafo de trabajo </a:t>
            </a:r>
            <a:r>
              <a:rPr lang="es-MX" dirty="0"/>
              <a:t>estructura el trabajo.</a:t>
            </a:r>
          </a:p>
          <a:p>
            <a:r>
              <a:rPr lang="es-MX" dirty="0"/>
              <a:t>Y dentro de ese Grafo puede haber trabajo que sea ejecutado por distintos tipos de </a:t>
            </a:r>
            <a:r>
              <a:rPr lang="es-MX" dirty="0" err="1"/>
              <a:t>executor</a:t>
            </a:r>
            <a:r>
              <a:rPr lang="es-MX" dirty="0"/>
              <a:t>, por ejemplo:</a:t>
            </a:r>
          </a:p>
          <a:p>
            <a:pPr lvl="0"/>
            <a:r>
              <a:rPr lang="es-MX" b="1" dirty="0"/>
              <a:t>determinístico</a:t>
            </a:r>
            <a:r>
              <a:rPr lang="es-MX" dirty="0"/>
              <a:t> </a:t>
            </a:r>
          </a:p>
          <a:p>
            <a:pPr lvl="1"/>
            <a:r>
              <a:rPr lang="es-MX" dirty="0"/>
              <a:t>reglas, </a:t>
            </a:r>
          </a:p>
          <a:p>
            <a:pPr lvl="1"/>
            <a:r>
              <a:rPr lang="es-MX" dirty="0" err="1"/>
              <a:t>jobs</a:t>
            </a:r>
            <a:r>
              <a:rPr lang="es-MX" dirty="0"/>
              <a:t>, </a:t>
            </a:r>
          </a:p>
          <a:p>
            <a:pPr lvl="1"/>
            <a:r>
              <a:rPr lang="es-MX" dirty="0"/>
              <a:t>integraciones, </a:t>
            </a:r>
          </a:p>
          <a:p>
            <a:pPr lvl="1"/>
            <a:r>
              <a:rPr lang="es-MX" dirty="0"/>
              <a:t>validaciones fijas </a:t>
            </a:r>
          </a:p>
          <a:p>
            <a:pPr lvl="0"/>
            <a:r>
              <a:rPr lang="es-MX" b="1" dirty="0"/>
              <a:t>IA</a:t>
            </a:r>
            <a:r>
              <a:rPr lang="es-MX" dirty="0"/>
              <a:t> </a:t>
            </a:r>
          </a:p>
          <a:p>
            <a:pPr lvl="1"/>
            <a:r>
              <a:rPr lang="es-MX" dirty="0"/>
              <a:t>razonamiento, </a:t>
            </a:r>
          </a:p>
          <a:p>
            <a:pPr lvl="1"/>
            <a:r>
              <a:rPr lang="es-MX" dirty="0"/>
              <a:t>clasificación, </a:t>
            </a:r>
          </a:p>
          <a:p>
            <a:pPr lvl="1"/>
            <a:r>
              <a:rPr lang="es-MX" dirty="0"/>
              <a:t>selección de siguiente acción, </a:t>
            </a:r>
          </a:p>
          <a:p>
            <a:pPr lvl="1"/>
            <a:r>
              <a:rPr lang="es-MX" dirty="0"/>
              <a:t>redacción, </a:t>
            </a:r>
          </a:p>
          <a:p>
            <a:pPr lvl="1"/>
            <a:r>
              <a:rPr lang="es-MX" dirty="0"/>
              <a:t>interpretación </a:t>
            </a:r>
          </a:p>
          <a:p>
            <a:pPr lvl="0"/>
            <a:r>
              <a:rPr lang="es-MX" b="1" dirty="0"/>
              <a:t>humano</a:t>
            </a:r>
            <a:r>
              <a:rPr lang="es-MX" dirty="0"/>
              <a:t> </a:t>
            </a:r>
          </a:p>
          <a:p>
            <a:pPr lvl="1"/>
            <a:r>
              <a:rPr lang="es-MX" dirty="0"/>
              <a:t>aprobación, </a:t>
            </a:r>
          </a:p>
          <a:p>
            <a:pPr lvl="1"/>
            <a:r>
              <a:rPr lang="es-MX" dirty="0"/>
              <a:t>decisión, </a:t>
            </a:r>
          </a:p>
          <a:p>
            <a:pPr lvl="1"/>
            <a:r>
              <a:rPr lang="es-MX" dirty="0"/>
              <a:t>revisión, </a:t>
            </a:r>
          </a:p>
          <a:p>
            <a:pPr lvl="1"/>
            <a:r>
              <a:rPr lang="es-MX" dirty="0"/>
              <a:t>intervención comercial, </a:t>
            </a:r>
          </a:p>
          <a:p>
            <a:pPr lvl="1"/>
            <a:r>
              <a:rPr lang="es-MX" dirty="0"/>
              <a:t>negociación </a:t>
            </a:r>
          </a:p>
          <a:p>
            <a:r>
              <a:rPr lang="es-MX" dirty="0"/>
              <a:t>Entonces sí:</a:t>
            </a:r>
          </a:p>
          <a:p>
            <a:r>
              <a:rPr lang="es-MX" b="1" dirty="0"/>
              <a:t>el punto de los múltiples </a:t>
            </a:r>
            <a:r>
              <a:rPr lang="es-MX" b="1" dirty="0" err="1"/>
              <a:t>executors</a:t>
            </a:r>
            <a:r>
              <a:rPr lang="es-MX" b="1" dirty="0"/>
              <a:t> es una consecuencia natural de este modelo</a:t>
            </a:r>
            <a:r>
              <a:rPr lang="es-MX" dirty="0"/>
              <a:t>.</a:t>
            </a:r>
          </a:p>
          <a:p>
            <a:br>
              <a:rPr lang="es-MX" dirty="0"/>
            </a:br>
            <a:r>
              <a:rPr lang="es-MX" b="1" dirty="0"/>
              <a:t>Cómo lo diría en una frase</a:t>
            </a:r>
          </a:p>
          <a:p>
            <a:r>
              <a:rPr lang="es-MX" dirty="0"/>
              <a:t>Podrías explicarlo así verbalmente:</a:t>
            </a:r>
          </a:p>
          <a:p>
            <a:r>
              <a:rPr lang="es-MX" dirty="0"/>
              <a:t>“El Caso conserva la responsabilidad. El Supervisor decide qué trabajo hace falta. Y ese trabajo puede materializarse en un grafo cuyos nodos sean ejecutados por IA, por lógica determinística o por humanos, según el tipo de tarea, el riesgo y la política.”</a:t>
            </a:r>
          </a:p>
          <a:p>
            <a:endParaRPr lang="es-MX" sz="2000" b="1" dirty="0"/>
          </a:p>
          <a:p>
            <a:r>
              <a:rPr lang="es-MX" sz="2000" b="1" dirty="0"/>
              <a:t>--</a:t>
            </a:r>
          </a:p>
          <a:p>
            <a:r>
              <a:rPr lang="es-MX" sz="2000" b="1" dirty="0"/>
              <a:t>Hay una sutileza arquitectónica que ahora esta </a:t>
            </a:r>
            <a:r>
              <a:rPr lang="es-MX" sz="2000" b="1" dirty="0" err="1"/>
              <a:t>slide</a:t>
            </a:r>
            <a:r>
              <a:rPr lang="es-MX" sz="2000" b="1" dirty="0"/>
              <a:t> representa muy bien</a:t>
            </a:r>
          </a:p>
          <a:p>
            <a:r>
              <a:rPr lang="es-MX" sz="2000" dirty="0"/>
              <a:t>El Supervisor </a:t>
            </a:r>
            <a:r>
              <a:rPr lang="es-MX" sz="2000" b="1" dirty="0"/>
              <a:t>no conserva la memoria operacional</a:t>
            </a:r>
            <a:r>
              <a:rPr lang="es-MX" sz="2000" dirty="0"/>
              <a:t>. Puede incluso cambiar el modelo, </a:t>
            </a:r>
            <a:r>
              <a:rPr lang="es-MX" sz="2000" dirty="0" err="1"/>
              <a:t>implementation</a:t>
            </a:r>
            <a:r>
              <a:rPr lang="es-MX" sz="2000" dirty="0"/>
              <a:t> o </a:t>
            </a:r>
            <a:r>
              <a:rPr lang="es-MX" sz="2000" dirty="0" err="1"/>
              <a:t>strategy</a:t>
            </a:r>
            <a:r>
              <a:rPr lang="es-MX" sz="2000" dirty="0"/>
              <a:t> en el futuro.</a:t>
            </a:r>
          </a:p>
          <a:p>
            <a:endParaRPr lang="es-MX" sz="2000" dirty="0"/>
          </a:p>
          <a:p>
            <a:r>
              <a:rPr lang="es-MX" sz="2000" dirty="0"/>
              <a:t>Mientras el Case mantenga:</a:t>
            </a:r>
          </a:p>
          <a:p>
            <a:r>
              <a:rPr lang="es-MX" sz="2000" dirty="0"/>
              <a:t>objetivo + </a:t>
            </a:r>
            <a:r>
              <a:rPr lang="es-MX" sz="2000" dirty="0" err="1"/>
              <a:t>state</a:t>
            </a:r>
            <a:r>
              <a:rPr lang="es-MX" sz="2000" dirty="0"/>
              <a:t> + </a:t>
            </a:r>
            <a:r>
              <a:rPr lang="es-MX" sz="2000" dirty="0" err="1"/>
              <a:t>commitments</a:t>
            </a:r>
            <a:r>
              <a:rPr lang="es-MX" sz="2000" dirty="0"/>
              <a:t> + </a:t>
            </a:r>
            <a:r>
              <a:rPr lang="es-MX" sz="2000" dirty="0" err="1"/>
              <a:t>permissions</a:t>
            </a:r>
            <a:r>
              <a:rPr lang="es-MX" sz="2000" dirty="0"/>
              <a:t> + </a:t>
            </a:r>
            <a:r>
              <a:rPr lang="es-MX" sz="2000" dirty="0" err="1"/>
              <a:t>evidence</a:t>
            </a:r>
            <a:r>
              <a:rPr lang="es-MX" sz="2000" dirty="0"/>
              <a:t>,</a:t>
            </a:r>
          </a:p>
          <a:p>
            <a:r>
              <a:rPr lang="es-MX" sz="2000" dirty="0"/>
              <a:t>otra ejecución inteligente puede continuar el trabajo.</a:t>
            </a:r>
          </a:p>
          <a:p>
            <a:endParaRPr lang="es-MX" sz="2000" dirty="0"/>
          </a:p>
          <a:p>
            <a:r>
              <a:rPr lang="es-MX" sz="2000" dirty="0"/>
              <a:t>Eso es una propiedad arquitectónica muy importante, porque desacopla:</a:t>
            </a:r>
          </a:p>
          <a:p>
            <a:r>
              <a:rPr lang="es-MX" sz="2000" b="1" dirty="0"/>
              <a:t>durabilidad del negocio</a:t>
            </a:r>
            <a:endParaRPr lang="es-MX" sz="2000" dirty="0"/>
          </a:p>
          <a:p>
            <a:r>
              <a:rPr lang="es-MX" sz="2000" dirty="0"/>
              <a:t>de</a:t>
            </a:r>
          </a:p>
          <a:p>
            <a:r>
              <a:rPr lang="es-MX" sz="2000" b="1" dirty="0"/>
              <a:t>la ejecución concreta del agente</a:t>
            </a:r>
            <a:r>
              <a:rPr lang="es-MX" sz="2000" dirty="0"/>
              <a:t>.</a:t>
            </a:r>
          </a:p>
          <a:p>
            <a:r>
              <a:rPr lang="es-MX" sz="2000" dirty="0"/>
              <a:t>Y conecta directamente con nuestra distinción entre </a:t>
            </a:r>
            <a:r>
              <a:rPr lang="es-MX" sz="2000" dirty="0" err="1"/>
              <a:t>Gu</a:t>
            </a:r>
            <a:r>
              <a:rPr lang="es-MX" sz="2000" dirty="0"/>
              <a:t> OS Case </a:t>
            </a:r>
            <a:r>
              <a:rPr lang="es-MX" sz="2000" dirty="0" err="1"/>
              <a:t>state</a:t>
            </a:r>
            <a:r>
              <a:rPr lang="es-MX" sz="2000" dirty="0"/>
              <a:t> y los </a:t>
            </a:r>
            <a:r>
              <a:rPr lang="es-MX" sz="2000" dirty="0" err="1"/>
              <a:t>checkpoints</a:t>
            </a:r>
            <a:r>
              <a:rPr lang="es-MX" sz="2000" dirty="0"/>
              <a:t>/</a:t>
            </a:r>
            <a:r>
              <a:rPr lang="es-MX" sz="2000" dirty="0" err="1"/>
              <a:t>runtime</a:t>
            </a:r>
            <a:r>
              <a:rPr lang="es-MX" sz="2000" dirty="0"/>
              <a:t> </a:t>
            </a:r>
            <a:r>
              <a:rPr lang="es-MX" sz="2000" dirty="0" err="1"/>
              <a:t>state</a:t>
            </a:r>
            <a:r>
              <a:rPr lang="es-MX" sz="2000" dirty="0"/>
              <a:t> de </a:t>
            </a:r>
            <a:r>
              <a:rPr lang="es-MX" sz="2000" dirty="0" err="1"/>
              <a:t>LangGraph</a:t>
            </a:r>
            <a:r>
              <a:rPr lang="es-MX" sz="2000" dirty="0"/>
              <a:t>.</a:t>
            </a:r>
          </a:p>
          <a:p>
            <a:endParaRPr lang="es-MX" sz="2000" dirty="0"/>
          </a:p>
          <a:p>
            <a:pPr indent="0">
              <a:lnSpc>
                <a:spcPct val="100000"/>
              </a:lnSpc>
              <a:buNone/>
            </a:pPr>
            <a:r>
              <a:rPr lang="en-US" sz="2000" b="0" u="none" strike="noStrike" dirty="0">
                <a:solidFill>
                  <a:srgbClr val="000000"/>
                </a:solidFill>
                <a:effectLst/>
                <a:uFillTx/>
                <a:latin typeface="Arial"/>
              </a:rPr>
              <a:t>---</a:t>
            </a:r>
          </a:p>
          <a:p>
            <a:pPr indent="0">
              <a:lnSpc>
                <a:spcPct val="100000"/>
              </a:lnSpc>
              <a:buNone/>
            </a:pPr>
            <a:r>
              <a:rPr lang="es-MX" sz="2000" dirty="0"/>
              <a:t>Matiz técnico adicional: una </a:t>
            </a:r>
            <a:r>
              <a:rPr lang="es-MX" sz="2000" dirty="0" err="1"/>
              <a:t>Action</a:t>
            </a:r>
            <a:r>
              <a:rPr lang="es-MX" sz="2000" dirty="0"/>
              <a:t> o Skill podría consultar el Brain directamente durante su ejecución. Por ejemplo, una Skill podría buscar antecedentes sobre una zona o relación. Pero eso es </a:t>
            </a:r>
            <a:r>
              <a:rPr lang="es-MX" sz="2000" b="1" dirty="0" err="1"/>
              <a:t>retrieval</a:t>
            </a:r>
            <a:r>
              <a:rPr lang="es-MX" sz="2000" b="1" dirty="0"/>
              <a:t> durante la ejecución</a:t>
            </a:r>
            <a:r>
              <a:rPr lang="es-MX" sz="2000" dirty="0"/>
              <a:t>, pero el Brain no orquesta el Case. </a:t>
            </a:r>
          </a:p>
          <a:p>
            <a:pPr indent="0">
              <a:lnSpc>
                <a:spcPct val="100000"/>
              </a:lnSpc>
              <a:buNone/>
            </a:pPr>
            <a:endParaRPr lang="en-US" sz="2000" b="0" u="none" strike="noStrike" dirty="0">
              <a:solidFill>
                <a:srgbClr val="000000"/>
              </a:solidFill>
              <a:effectLst/>
              <a:uFillTx/>
              <a:latin typeface="Arial"/>
            </a:endParaRPr>
          </a:p>
        </p:txBody>
      </p:sp>
      <p:sp>
        <p:nvSpPr>
          <p:cNvPr id="689" name="PlaceHolder 3">
            <a:extLst>
              <a:ext uri="{FF2B5EF4-FFF2-40B4-BE49-F238E27FC236}">
                <a16:creationId xmlns:a16="http://schemas.microsoft.com/office/drawing/2014/main" id="{AE7F2DAF-9B61-6370-3002-43335FEDB226}"/>
              </a:ext>
            </a:extLst>
          </p:cNvPr>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B8B41FD-5B34-47A0-AEBC-0C940F1B654D}" type="slidenum">
              <a:rPr lang="en-US" sz="1200" b="0" u="none" strike="noStrike">
                <a:solidFill>
                  <a:schemeClr val="dk1"/>
                </a:solidFill>
                <a:effectLst/>
                <a:uFillTx/>
                <a:latin typeface="+mn-lt"/>
                <a:ea typeface="+mn-ea"/>
              </a:rPr>
              <a:t>12</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24484942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 name="PlaceHolder 1"/>
          <p:cNvSpPr>
            <a:spLocks noGrp="1" noRot="1" noChangeAspect="1"/>
          </p:cNvSpPr>
          <p:nvPr>
            <p:ph type="sldImg"/>
          </p:nvPr>
        </p:nvSpPr>
        <p:spPr>
          <a:xfrm>
            <a:off x="685800" y="1143000"/>
            <a:ext cx="5486400" cy="3086100"/>
          </a:xfrm>
          <a:prstGeom prst="rect">
            <a:avLst/>
          </a:prstGeom>
          <a:ln w="0">
            <a:noFill/>
          </a:ln>
        </p:spPr>
      </p:sp>
      <p:sp>
        <p:nvSpPr>
          <p:cNvPr id="69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Gu → Gu OS — Session 1</a:t>
            </a:r>
          </a:p>
          <a:p>
            <a:pPr indent="0">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Este es el puente entre producto y arquitectura. No queremos apps separadas para marketing, CRM, listings, etc. Queremos dominios nativos sobre un core operativo común.</a:t>
            </a:r>
          </a:p>
        </p:txBody>
      </p:sp>
      <p:sp>
        <p:nvSpPr>
          <p:cNvPr id="698"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634E0C4-8DBB-4943-9406-02E1A4EBD35C}" type="slidenum">
              <a:rPr lang="en-US" sz="1200" b="0" u="none" strike="noStrike">
                <a:solidFill>
                  <a:schemeClr val="dk1"/>
                </a:solidFill>
                <a:effectLst/>
                <a:uFillTx/>
                <a:latin typeface="+mn-lt"/>
                <a:ea typeface="+mn-ea"/>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0" name="PlaceHolder 1"/>
          <p:cNvSpPr>
            <a:spLocks noGrp="1" noRot="1" noChangeAspect="1"/>
          </p:cNvSpPr>
          <p:nvPr>
            <p:ph type="sldImg"/>
          </p:nvPr>
        </p:nvSpPr>
        <p:spPr>
          <a:xfrm>
            <a:off x="685800" y="1143000"/>
            <a:ext cx="5486400" cy="3086100"/>
          </a:xfrm>
          <a:prstGeom prst="rect">
            <a:avLst/>
          </a:prstGeom>
          <a:ln w="0">
            <a:noFill/>
          </a:ln>
        </p:spPr>
      </p:sp>
      <p:sp>
        <p:nvSpPr>
          <p:cNvPr id="69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Gu → Gu OS — Session 1</a:t>
            </a:r>
          </a:p>
          <a:p>
            <a:pPr indent="0">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Aclarar que aquí CRM no significa la base de propiedades de Ungga. Nos referimos a la función de relationship management / pipeline de EasyBroker, Tokko, Wiggot, etc. Gu OS sí necesita registros, pero la responsabilidad deja de ser operar una pantalla.</a:t>
            </a:r>
          </a:p>
        </p:txBody>
      </p:sp>
      <p:sp>
        <p:nvSpPr>
          <p:cNvPr id="692"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C247CD7-A84E-4C90-AFDB-F2EBC746DDD2}" type="slidenum">
              <a:rPr lang="en-US" sz="1200" b="0" u="none" strike="noStrike">
                <a:solidFill>
                  <a:schemeClr val="dk1"/>
                </a:solidFill>
                <a:effectLst/>
                <a:uFillTx/>
                <a:latin typeface="+mn-lt"/>
                <a:ea typeface="+mn-ea"/>
              </a:rPr>
              <a:t>14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 name="PlaceHolder 1"/>
          <p:cNvSpPr>
            <a:spLocks noGrp="1" noRot="1" noChangeAspect="1"/>
          </p:cNvSpPr>
          <p:nvPr>
            <p:ph type="sldImg"/>
          </p:nvPr>
        </p:nvSpPr>
        <p:spPr>
          <a:xfrm>
            <a:off x="685800" y="1143000"/>
            <a:ext cx="5486400" cy="3086100"/>
          </a:xfrm>
          <a:prstGeom prst="rect">
            <a:avLst/>
          </a:prstGeom>
          <a:ln w="0">
            <a:noFill/>
          </a:ln>
        </p:spPr>
      </p:sp>
      <p:sp>
        <p:nvSpPr>
          <p:cNvPr id="69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dirty="0">
                <a:solidFill>
                  <a:srgbClr val="000000"/>
                </a:solidFill>
                <a:effectLst/>
                <a:uFillTx/>
                <a:latin typeface="Arial"/>
              </a:rPr>
              <a:t>Gu → Gu OS — Session 1</a:t>
            </a:r>
          </a:p>
          <a:p>
            <a:pPr indent="0">
              <a:buNone/>
            </a:pPr>
            <a:endParaRPr lang="en-US" sz="2000" b="0" u="none" strike="noStrike" dirty="0">
              <a:solidFill>
                <a:srgbClr val="000000"/>
              </a:solidFill>
              <a:effectLst/>
              <a:uFillTx/>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u="none" strike="noStrike" dirty="0" err="1">
                <a:solidFill>
                  <a:srgbClr val="000000"/>
                </a:solidFill>
                <a:effectLst/>
                <a:uFillTx/>
                <a:latin typeface="Arial"/>
              </a:rPr>
              <a:t>Ésta</a:t>
            </a:r>
            <a:r>
              <a:rPr lang="en-US" sz="2000" b="0" u="none" strike="noStrike" dirty="0">
                <a:solidFill>
                  <a:srgbClr val="000000"/>
                </a:solidFill>
                <a:effectLst/>
                <a:uFillTx/>
                <a:latin typeface="Arial"/>
              </a:rPr>
              <a:t> es </a:t>
            </a:r>
            <a:r>
              <a:rPr lang="en-US" sz="2000" b="0" u="none" strike="noStrike" dirty="0" err="1">
                <a:solidFill>
                  <a:srgbClr val="000000"/>
                </a:solidFill>
                <a:effectLst/>
                <a:uFillTx/>
                <a:latin typeface="Arial"/>
              </a:rPr>
              <a:t>una</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expansión</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futura</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pero</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muy</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coherente</a:t>
            </a:r>
            <a:r>
              <a:rPr lang="en-US" sz="2000" b="0" u="none" strike="noStrike" dirty="0">
                <a:solidFill>
                  <a:srgbClr val="000000"/>
                </a:solidFill>
                <a:effectLst/>
                <a:uFillTx/>
                <a:latin typeface="Arial"/>
              </a:rPr>
              <a:t>. No se </a:t>
            </a:r>
            <a:r>
              <a:rPr lang="en-US" sz="2000" b="0" u="none" strike="noStrike" dirty="0" err="1">
                <a:solidFill>
                  <a:srgbClr val="000000"/>
                </a:solidFill>
                <a:effectLst/>
                <a:uFillTx/>
                <a:latin typeface="Arial"/>
              </a:rPr>
              <a:t>trata</a:t>
            </a:r>
            <a:r>
              <a:rPr lang="en-US" sz="2000" b="0" u="none" strike="noStrike" dirty="0">
                <a:solidFill>
                  <a:srgbClr val="000000"/>
                </a:solidFill>
                <a:effectLst/>
                <a:uFillTx/>
                <a:latin typeface="Arial"/>
              </a:rPr>
              <a:t> de </a:t>
            </a:r>
            <a:r>
              <a:rPr lang="en-US" sz="2000" b="0" u="none" strike="noStrike" dirty="0" err="1">
                <a:solidFill>
                  <a:srgbClr val="000000"/>
                </a:solidFill>
                <a:effectLst/>
                <a:uFillTx/>
                <a:latin typeface="Arial"/>
              </a:rPr>
              <a:t>construir</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una</a:t>
            </a:r>
            <a:r>
              <a:rPr lang="en-US" sz="2000" b="0" u="none" strike="noStrike" dirty="0">
                <a:solidFill>
                  <a:srgbClr val="000000"/>
                </a:solidFill>
                <a:effectLst/>
                <a:uFillTx/>
                <a:latin typeface="Arial"/>
              </a:rPr>
              <a:t> app de marketing </a:t>
            </a:r>
            <a:r>
              <a:rPr lang="en-US" sz="2000" b="0" u="none" strike="noStrike" dirty="0" err="1">
                <a:solidFill>
                  <a:srgbClr val="000000"/>
                </a:solidFill>
                <a:effectLst/>
                <a:uFillTx/>
                <a:latin typeface="Arial"/>
              </a:rPr>
              <a:t>aparte</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sino</a:t>
            </a:r>
            <a:r>
              <a:rPr lang="en-US" sz="2000" b="0" u="none" strike="noStrike" dirty="0">
                <a:solidFill>
                  <a:srgbClr val="000000"/>
                </a:solidFill>
                <a:effectLst/>
                <a:uFillTx/>
                <a:latin typeface="Arial"/>
              </a:rPr>
              <a:t> de </a:t>
            </a:r>
            <a:r>
              <a:rPr lang="en-US" sz="2000" b="0" u="none" strike="noStrike" dirty="0" err="1">
                <a:solidFill>
                  <a:srgbClr val="000000"/>
                </a:solidFill>
                <a:effectLst/>
                <a:uFillTx/>
                <a:latin typeface="Arial"/>
              </a:rPr>
              <a:t>que</a:t>
            </a:r>
            <a:r>
              <a:rPr lang="en-US" sz="2000" b="0" u="none" strike="noStrike" dirty="0">
                <a:solidFill>
                  <a:srgbClr val="000000"/>
                </a:solidFill>
                <a:effectLst/>
                <a:uFillTx/>
                <a:latin typeface="Arial"/>
              </a:rPr>
              <a:t> un Case de </a:t>
            </a:r>
            <a:r>
              <a:rPr lang="en-US" sz="2000" b="0" u="none" strike="noStrike" dirty="0" err="1">
                <a:solidFill>
                  <a:srgbClr val="000000"/>
                </a:solidFill>
                <a:effectLst/>
                <a:uFillTx/>
                <a:latin typeface="Arial"/>
              </a:rPr>
              <a:t>demanda</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ej</a:t>
            </a:r>
            <a:r>
              <a:rPr lang="en-US" sz="2000" b="0" u="none" strike="noStrike" dirty="0">
                <a:solidFill>
                  <a:srgbClr val="000000"/>
                </a:solidFill>
                <a:effectLst/>
                <a:uFillTx/>
                <a:latin typeface="Arial"/>
              </a:rPr>
              <a:t>., </a:t>
            </a:r>
            <a:r>
              <a:rPr lang="en-US" sz="2000" b="0" u="none" strike="noStrike" dirty="0">
                <a:solidFill>
                  <a:srgbClr val="151327"/>
                </a:solidFill>
                <a:effectLst/>
                <a:uFillTx/>
                <a:latin typeface="Aptos Display"/>
                <a:ea typeface="Aptos Display"/>
              </a:rPr>
              <a:t>Campaign Management Case)</a:t>
            </a:r>
            <a:r>
              <a:rPr lang="en-US" sz="2000" b="0" u="none" strike="noStrike" dirty="0">
                <a:solidFill>
                  <a:srgbClr val="000000"/>
                </a:solidFill>
                <a:effectLst/>
                <a:uFillTx/>
                <a:latin typeface="+mn-lt"/>
                <a:ea typeface="Aptos Display"/>
              </a:rPr>
              <a:t> </a:t>
            </a:r>
            <a:r>
              <a:rPr lang="en-US" sz="2000" b="0" u="none" strike="noStrike" dirty="0" err="1">
                <a:solidFill>
                  <a:srgbClr val="000000"/>
                </a:solidFill>
                <a:effectLst/>
                <a:uFillTx/>
                <a:latin typeface="Arial"/>
              </a:rPr>
              <a:t>pueda</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operar</a:t>
            </a:r>
            <a:r>
              <a:rPr lang="en-US" sz="2000" b="0" u="none" strike="noStrike" dirty="0">
                <a:solidFill>
                  <a:srgbClr val="000000"/>
                </a:solidFill>
                <a:effectLst/>
                <a:uFillTx/>
                <a:latin typeface="Arial"/>
              </a:rPr>
              <a:t> con las </a:t>
            </a:r>
            <a:r>
              <a:rPr lang="en-US" sz="2000" b="0" u="none" strike="noStrike" dirty="0" err="1">
                <a:solidFill>
                  <a:srgbClr val="000000"/>
                </a:solidFill>
                <a:effectLst/>
                <a:uFillTx/>
                <a:latin typeface="Arial"/>
              </a:rPr>
              <a:t>mismas</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primitivas</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que</a:t>
            </a:r>
            <a:r>
              <a:rPr lang="en-US" sz="2000" b="0" u="none" strike="noStrike" dirty="0">
                <a:solidFill>
                  <a:srgbClr val="000000"/>
                </a:solidFill>
                <a:effectLst/>
                <a:uFillTx/>
                <a:latin typeface="Arial"/>
              </a:rPr>
              <a:t> un Case de </a:t>
            </a:r>
            <a:r>
              <a:rPr lang="en-US" sz="2000" b="0" u="none" strike="noStrike" dirty="0" err="1">
                <a:solidFill>
                  <a:srgbClr val="000000"/>
                </a:solidFill>
                <a:effectLst/>
                <a:uFillTx/>
                <a:latin typeface="Arial"/>
              </a:rPr>
              <a:t>relación</a:t>
            </a:r>
            <a:r>
              <a:rPr lang="en-US" sz="2000" b="0" u="none" strike="noStrike" dirty="0">
                <a:solidFill>
                  <a:srgbClr val="000000"/>
                </a:solidFill>
                <a:effectLst/>
                <a:uFillTx/>
                <a:latin typeface="Arial"/>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u="none" strike="noStrike" dirty="0">
              <a:solidFill>
                <a:srgbClr val="000000"/>
              </a:solidFill>
              <a:effectLst/>
              <a:uFillTx/>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u="none" strike="noStrike" dirty="0">
              <a:solidFill>
                <a:srgbClr val="000000"/>
              </a:solidFill>
              <a:effectLst/>
              <a:uFillTx/>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u="none" strike="noStrike" dirty="0">
                <a:solidFill>
                  <a:srgbClr val="000000"/>
                </a:solidFill>
                <a:effectLst/>
                <a:uFillTx/>
                <a:latin typeface="Arial"/>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s-MX" sz="2000" b="1" dirty="0"/>
              <a:t>RO es quien asume principalmente la responsabilidad de avanzar la oportunidad</a:t>
            </a:r>
            <a:r>
              <a:rPr lang="es-MX" sz="2000" dirty="0"/>
              <a:t>, mientras DO sigue observando esos resultados </a:t>
            </a:r>
            <a:r>
              <a:rPr lang="es-MX" sz="2000" dirty="0" err="1"/>
              <a:t>downstream</a:t>
            </a:r>
            <a:r>
              <a:rPr lang="es-MX" sz="2000" dirty="0"/>
              <a:t> para tomar mejores decisiones de adquisición.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MX" sz="2000" dirty="0"/>
          </a:p>
          <a:p>
            <a:pPr marL="0" marR="0" lvl="0" indent="0" algn="l" defTabSz="914400" rtl="0" eaLnBrk="1" fontAlgn="auto" latinLnBrk="0" hangingPunct="1">
              <a:lnSpc>
                <a:spcPct val="100000"/>
              </a:lnSpc>
              <a:spcBef>
                <a:spcPts val="0"/>
              </a:spcBef>
              <a:spcAft>
                <a:spcPts val="0"/>
              </a:spcAft>
              <a:buClrTx/>
              <a:buSzTx/>
              <a:buFontTx/>
              <a:buNone/>
              <a:tabLst/>
              <a:defRPr/>
            </a:pPr>
            <a:r>
              <a:rPr lang="es-MX" sz="2000" dirty="0"/>
              <a:t>DO genera/opera demanda → RO avanza las oportunidades → </a:t>
            </a:r>
            <a:r>
              <a:rPr lang="es-MX" sz="2000" dirty="0" err="1"/>
              <a:t>outcomes</a:t>
            </a:r>
            <a:r>
              <a:rPr lang="es-MX" sz="2000" dirty="0"/>
              <a:t> regresan a DO.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MX" sz="20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s-MX" sz="20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u="none" strike="noStrike" dirty="0">
              <a:solidFill>
                <a:srgbClr val="000000"/>
              </a:solidFill>
              <a:effectLst/>
              <a:uFillTx/>
              <a:latin typeface="Arial"/>
            </a:endParaRPr>
          </a:p>
        </p:txBody>
      </p:sp>
      <p:sp>
        <p:nvSpPr>
          <p:cNvPr id="695"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6F5A290-7275-4488-A334-CD6B08F7ECA8}" type="slidenum">
              <a:rPr lang="en-US" sz="1200" b="0" u="none" strike="noStrike">
                <a:solidFill>
                  <a:schemeClr val="dk1"/>
                </a:solidFill>
                <a:effectLst/>
                <a:uFillTx/>
                <a:latin typeface="+mn-lt"/>
                <a:ea typeface="+mn-ea"/>
              </a:rPr>
              <a:t>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en-US" dirty="0"/>
              <a:t>Objetivo de la lámina: aclarar qué papel juega el Business Brain dentro de Gu OS y evitar dos confusiones: que sea una copia del estado operacional, o que sea sólo memoria de chat.
Mensaje principal: el activo no es guardar conversaciones. El activo es convertir trabajo, evidencia, resultados y contexto acumulado en conocimiento organizacional reutilizable que mejore decisiones y ejecución.
Frontera de ownership: </a:t>
            </a:r>
          </a:p>
          <a:p>
            <a:pPr marL="171450" indent="-171450">
              <a:buFont typeface="Arial" panose="020B0604020202020204" pitchFamily="34" charset="0"/>
              <a:buChar char="•"/>
            </a:pPr>
            <a:r>
              <a:rPr lang="en-US" dirty="0"/>
              <a:t>Los Casos operacionales poseen la responsabilidad durable del trabajo: objetivo, estado, esperas, HITL, coordinación y lifecycle. </a:t>
            </a:r>
          </a:p>
          <a:p>
            <a:pPr marL="171450" indent="-171450">
              <a:buFont typeface="Arial" panose="020B0604020202020204" pitchFamily="34" charset="0"/>
              <a:buChar char="•"/>
            </a:pPr>
            <a:r>
              <a:rPr lang="en-US" dirty="0" err="1"/>
              <a:t>case_facts</a:t>
            </a:r>
            <a:r>
              <a:rPr lang="en-US" dirty="0"/>
              <a:t> posee la </a:t>
            </a:r>
            <a:r>
              <a:rPr lang="en-US" dirty="0" err="1"/>
              <a:t>verdad</a:t>
            </a:r>
            <a:r>
              <a:rPr lang="en-US" dirty="0"/>
              <a:t> de </a:t>
            </a:r>
            <a:r>
              <a:rPr lang="en-US" dirty="0" err="1"/>
              <a:t>negocio</a:t>
            </a:r>
            <a:r>
              <a:rPr lang="en-US" dirty="0"/>
              <a:t> trazable del caso, con provenance y supersession. </a:t>
            </a:r>
          </a:p>
          <a:p>
            <a:pPr marL="171450" indent="-171450">
              <a:buFont typeface="Arial" panose="020B0604020202020204" pitchFamily="34" charset="0"/>
              <a:buChar char="•"/>
            </a:pPr>
            <a:r>
              <a:rPr lang="en-US" dirty="0"/>
              <a:t>CRM, </a:t>
            </a:r>
            <a:r>
              <a:rPr lang="en-US" dirty="0" err="1"/>
              <a:t>BigQuery</a:t>
            </a:r>
            <a:r>
              <a:rPr lang="en-US" dirty="0"/>
              <a:t> (Ungga) y otros systems of record conservan la verdad transaccional de sus respectivos sistemas. El Business Brain no reemplaza ninguna de esas fuentes ni debe convertirse en una segunda cola de </a:t>
            </a:r>
            <a:r>
              <a:rPr lang="en-US" dirty="0" err="1"/>
              <a:t>acción</a:t>
            </a:r>
            <a:endParaRPr lang="en-US" dirty="0"/>
          </a:p>
          <a:p>
            <a:pPr marL="0" indent="0">
              <a:buFont typeface="Arial" panose="020B0604020202020204" pitchFamily="34" charset="0"/>
              <a:buNone/>
            </a:pPr>
            <a:r>
              <a:rPr lang="en-US" dirty="0"/>
              <a:t>
Qué sí hace Business Brain: compila conocimiento reutilizable y cross-Case: Memory, Graph y Signals. Puede contener hechos verificados, timelines, relaciones y señales; no es sólo una capa de interpretación. La distinción interna importante es </a:t>
            </a:r>
            <a:r>
              <a:rPr lang="en-US" b="1" dirty="0"/>
              <a:t>fact verificable </a:t>
            </a:r>
            <a:r>
              <a:rPr lang="en-US" dirty="0"/>
              <a:t>vs </a:t>
            </a:r>
            <a:r>
              <a:rPr lang="en-US" b="1" dirty="0"/>
              <a:t>interpretación probabilística</a:t>
            </a:r>
            <a:r>
              <a:rPr lang="en-US" dirty="0"/>
              <a:t>.
</a:t>
            </a:r>
            <a:r>
              <a:rPr lang="en-US" b="1" dirty="0"/>
              <a:t>Promoción selectiva</a:t>
            </a:r>
            <a:r>
              <a:rPr lang="en-US" dirty="0"/>
              <a:t>: no todo evento o hecho del Case pasa automáticamente al Brain. La ruta preferida es evidencia autorizada / case_facts → candidato con provenance → revisión cuando corresponda → timeline, compiled truth, link o signal dentro del Business Brain.
</a:t>
            </a:r>
            <a:r>
              <a:rPr lang="en-US" b="1" dirty="0"/>
              <a:t>Terminología</a:t>
            </a:r>
            <a:r>
              <a:rPr lang="en-US" dirty="0"/>
              <a:t>: no confundir el Business Brain futuro con el campo actual profiles.business_brain JSONB, que hoy funciona como una pieza limitada de contexto/identidad del negocio. Tampoco confundirlo con G Brain como proyecto externo de referencia; G Brain inspira patrones como compiled truth, timeline, graph y signals, pero aquí hablamos de la Brain Layer propia de Gu OS.
Ejemplo para explicar: Gu puede aprender que cierto tipo de prospecto responde mejor a cierto seguimiento o que ciertas zonas producen mejores visitas. Pero no puede inventar que una visita ocurrió, que un precio fue autorizado o que un documento fue firmado. Eso pertenece a la verdad operacional / case_facts / systems of record, y sólo después puede alimentar conocimiento reutilizable.
Frase de cierre: el Brain puede resumir y enriquecer la realidad operacional, pero no debe poseer silenciosamente la responsabilidad </a:t>
            </a:r>
            <a:r>
              <a:rPr lang="en-US" dirty="0" err="1"/>
              <a:t>operacional</a:t>
            </a:r>
            <a:r>
              <a:rPr lang="en-US" dirty="0"/>
              <a:t>.</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a:t>
            </a:r>
          </a:p>
          <a:p>
            <a:pPr marL="0" indent="0">
              <a:buFont typeface="Arial" panose="020B0604020202020204" pitchFamily="34" charset="0"/>
              <a:buNone/>
            </a:pPr>
            <a:r>
              <a:rPr lang="es-MX" dirty="0"/>
              <a:t>“El Business Brain no decide por sí mismo el siguiente trabajo. El Supervisor del Caso utiliza, entre otras fuentes, el conocimiento del Business Brain para razonar sobre qué conviene hacer; a partir de ahí define o ajusta el trabajo.”</a:t>
            </a:r>
            <a:endParaRPr lang="en-US" dirty="0"/>
          </a:p>
          <a:p>
            <a:pPr marL="0" indent="0">
              <a:buFont typeface="Arial" panose="020B0604020202020204" pitchFamily="34" charset="0"/>
              <a:buNone/>
            </a:pPr>
            <a:endParaRPr lang="en-US" dirty="0"/>
          </a:p>
          <a:p>
            <a:pPr marL="0" indent="0">
              <a:buFont typeface="Arial" panose="020B0604020202020204" pitchFamily="34" charset="0"/>
              <a:buNone/>
            </a:pPr>
            <a:r>
              <a:rPr lang="en-US" dirty="0"/>
              <a:t>---</a:t>
            </a:r>
          </a:p>
          <a:p>
            <a:pPr marL="0" indent="0">
              <a:buFont typeface="Arial" panose="020B0604020202020204" pitchFamily="34" charset="0"/>
              <a:buNone/>
            </a:pPr>
            <a:r>
              <a:rPr lang="es-MX" dirty="0"/>
              <a:t>“Hace unos minutos vimos que el Supervisor puede utilizar conocimiento más amplio que el estado propio del Case. Ese es precisamente el papel del Business Brain.”</a:t>
            </a:r>
            <a:endParaRPr lang="en-US" dirty="0"/>
          </a:p>
          <a:p>
            <a:pPr marL="0" indent="0">
              <a:buFont typeface="Arial" panose="020B0604020202020204" pitchFamily="34" charset="0"/>
              <a:buNone/>
            </a:pPr>
            <a:endParaRPr lang="en-US" dirty="0"/>
          </a:p>
          <a:p>
            <a:pPr marL="0" indent="0">
              <a:buFont typeface="Arial" panose="020B0604020202020204" pitchFamily="34" charset="0"/>
              <a:buNone/>
            </a:pPr>
            <a:r>
              <a:rPr lang="en-US" dirty="0"/>
              <a:t>---</a:t>
            </a:r>
          </a:p>
          <a:p>
            <a:pPr marL="0" indent="0">
              <a:buFont typeface="Arial" panose="020B0604020202020204" pitchFamily="34" charset="0"/>
              <a:buNone/>
            </a:pPr>
            <a:endParaRPr lang="en-US" dirty="0"/>
          </a:p>
          <a:p>
            <a:r>
              <a:rPr lang="es-MX" b="1" dirty="0"/>
              <a:t>¿Qué significa </a:t>
            </a:r>
            <a:r>
              <a:rPr lang="es-MX" sz="1200" b="1" kern="1200" dirty="0" err="1">
                <a:solidFill>
                  <a:schemeClr val="tx1"/>
                </a:solidFill>
                <a:latin typeface="+mn-lt"/>
                <a:ea typeface="+mn-ea"/>
                <a:cs typeface="+mn-cs"/>
              </a:rPr>
              <a:t>grounding</a:t>
            </a:r>
            <a:r>
              <a:rPr lang="es-MX" b="1" dirty="0"/>
              <a:t>?</a:t>
            </a:r>
          </a:p>
          <a:p>
            <a:endParaRPr lang="es-MX" dirty="0"/>
          </a:p>
          <a:p>
            <a:r>
              <a:rPr lang="es-MX" dirty="0"/>
              <a:t>En IA, </a:t>
            </a:r>
            <a:r>
              <a:rPr lang="es-MX" b="1" dirty="0" err="1"/>
              <a:t>grounding</a:t>
            </a:r>
            <a:r>
              <a:rPr lang="es-MX" dirty="0"/>
              <a:t> significa que el razonamiento o la respuesta del modelo queda </a:t>
            </a:r>
            <a:r>
              <a:rPr lang="es-MX" b="1" dirty="0"/>
              <a:t>anclada en información externa confiable</a:t>
            </a:r>
            <a:r>
              <a:rPr lang="es-MX" dirty="0"/>
              <a:t>, en lugar de depender sólo de lo que el modelo “cree recordar” o inferir.</a:t>
            </a:r>
          </a:p>
          <a:p>
            <a:r>
              <a:rPr lang="es-MX" dirty="0"/>
              <a:t>En este caso concreto significa:</a:t>
            </a:r>
          </a:p>
          <a:p>
            <a:endParaRPr lang="es-MX" dirty="0"/>
          </a:p>
          <a:p>
            <a:r>
              <a:rPr lang="es-MX" dirty="0"/>
              <a:t>Cuando Business Brain o </a:t>
            </a:r>
            <a:r>
              <a:rPr lang="es-MX" dirty="0" err="1"/>
              <a:t>Gu</a:t>
            </a:r>
            <a:r>
              <a:rPr lang="es-MX" dirty="0"/>
              <a:t> razonan, deben hacerlo tomando como referencia hechos provenientes de fuentes autoritativas: estado del Case, </a:t>
            </a:r>
            <a:r>
              <a:rPr lang="es-MX" sz="1200" kern="1200" dirty="0" err="1">
                <a:solidFill>
                  <a:schemeClr val="tx1"/>
                </a:solidFill>
                <a:latin typeface="+mn-lt"/>
                <a:ea typeface="+mn-ea"/>
                <a:cs typeface="+mn-cs"/>
              </a:rPr>
              <a:t>case_facts</a:t>
            </a:r>
            <a:r>
              <a:rPr lang="es-MX" dirty="0"/>
              <a:t>, CRM, BD, </a:t>
            </a:r>
            <a:r>
              <a:rPr lang="es-MX" dirty="0" err="1"/>
              <a:t>BigQuery</a:t>
            </a:r>
            <a:r>
              <a:rPr lang="es-MX" dirty="0"/>
              <a:t>, evidencia, etc.</a:t>
            </a:r>
          </a:p>
          <a:p>
            <a:r>
              <a:rPr lang="es-MX" dirty="0"/>
              <a:t>Ejemplo:</a:t>
            </a:r>
          </a:p>
          <a:p>
            <a:endParaRPr lang="es-MX" dirty="0"/>
          </a:p>
          <a:p>
            <a:r>
              <a:rPr lang="es-MX" dirty="0" err="1"/>
              <a:t>Gu</a:t>
            </a:r>
            <a:r>
              <a:rPr lang="es-MX" dirty="0"/>
              <a:t> podría inferir:</a:t>
            </a:r>
          </a:p>
          <a:p>
            <a:r>
              <a:rPr lang="es-MX" dirty="0"/>
              <a:t>“Este prospecto parece estar enfriándose.” Pero antes de actuar puede consultar hechos como:</a:t>
            </a:r>
          </a:p>
          <a:p>
            <a:pPr marL="171450" lvl="0" indent="-171450">
              <a:buFont typeface="Arial" panose="020B0604020202020204" pitchFamily="34" charset="0"/>
              <a:buChar char="•"/>
            </a:pPr>
            <a:r>
              <a:rPr lang="es-MX" dirty="0"/>
              <a:t>última interacción real; </a:t>
            </a:r>
          </a:p>
          <a:p>
            <a:pPr marL="171450" lvl="0" indent="-171450">
              <a:buFont typeface="Arial" panose="020B0604020202020204" pitchFamily="34" charset="0"/>
              <a:buChar char="•"/>
            </a:pPr>
            <a:r>
              <a:rPr lang="es-MX" dirty="0"/>
              <a:t>visitas realizadas; </a:t>
            </a:r>
          </a:p>
          <a:p>
            <a:pPr marL="171450" lvl="0" indent="-171450">
              <a:buFont typeface="Arial" panose="020B0604020202020204" pitchFamily="34" charset="0"/>
              <a:buChar char="•"/>
            </a:pPr>
            <a:r>
              <a:rPr lang="es-MX" dirty="0"/>
              <a:t>presupuesto confirmado; </a:t>
            </a:r>
          </a:p>
          <a:p>
            <a:pPr marL="171450" lvl="0" indent="-171450">
              <a:buFont typeface="Arial" panose="020B0604020202020204" pitchFamily="34" charset="0"/>
              <a:buChar char="•"/>
            </a:pPr>
            <a:r>
              <a:rPr lang="es-MX" dirty="0"/>
              <a:t>inventario disponible; </a:t>
            </a:r>
          </a:p>
          <a:p>
            <a:pPr marL="171450" lvl="0" indent="-171450">
              <a:buFont typeface="Arial" panose="020B0604020202020204" pitchFamily="34" charset="0"/>
              <a:buChar char="•"/>
            </a:pPr>
            <a:r>
              <a:rPr lang="es-MX" dirty="0"/>
              <a:t>estado actual del Case. </a:t>
            </a:r>
          </a:p>
          <a:p>
            <a:endParaRPr lang="es-MX" dirty="0"/>
          </a:p>
          <a:p>
            <a:r>
              <a:rPr lang="es-MX" dirty="0"/>
              <a:t>Eso </a:t>
            </a:r>
            <a:r>
              <a:rPr lang="es-MX" b="1" dirty="0" err="1"/>
              <a:t>groundea</a:t>
            </a:r>
            <a:r>
              <a:rPr lang="es-MX" dirty="0"/>
              <a:t> la interpretación.</a:t>
            </a:r>
          </a:p>
          <a:p>
            <a:endParaRPr lang="es-MX" dirty="0"/>
          </a:p>
          <a:p>
            <a:r>
              <a:rPr lang="es-MX" dirty="0"/>
              <a:t>Para esta presentación en español, </a:t>
            </a:r>
            <a:r>
              <a:rPr lang="es-MX" b="1" dirty="0"/>
              <a:t>yo quitaría la palabra </a:t>
            </a:r>
            <a:r>
              <a:rPr lang="es-MX" sz="1200" b="1" kern="1200" dirty="0" err="1">
                <a:solidFill>
                  <a:schemeClr val="tx1"/>
                </a:solidFill>
                <a:latin typeface="+mn-lt"/>
                <a:ea typeface="+mn-ea"/>
                <a:cs typeface="+mn-cs"/>
              </a:rPr>
              <a:t>grounding</a:t>
            </a:r>
            <a:r>
              <a:rPr lang="es-MX" dirty="0"/>
              <a:t>. No aporta lo suficiente para justificar otro anglicismo.</a:t>
            </a:r>
          </a:p>
          <a:p>
            <a:endParaRPr lang="es-MX" dirty="0"/>
          </a:p>
          <a:p>
            <a:r>
              <a:rPr lang="es-MX" dirty="0"/>
              <a:t>En la flecha pondría:</a:t>
            </a:r>
          </a:p>
          <a:p>
            <a:r>
              <a:rPr lang="es-MX" b="1" dirty="0"/>
              <a:t>consulta fuentes autoritativas + promoción selectiva</a:t>
            </a:r>
            <a:endParaRPr lang="es-MX" dirty="0"/>
          </a:p>
          <a:p>
            <a:r>
              <a:rPr lang="es-MX" dirty="0"/>
              <a:t>o, todavía mejor:</a:t>
            </a:r>
          </a:p>
          <a:p>
            <a:r>
              <a:rPr lang="es-MX" b="1" dirty="0"/>
              <a:t>anclaje en fuentes autoritativas + promoción selectiva</a:t>
            </a:r>
            <a:endParaRPr lang="es-MX" dirty="0"/>
          </a:p>
          <a:p>
            <a:r>
              <a:rPr lang="es-MX" dirty="0"/>
              <a:t>Mi preferencia para </a:t>
            </a:r>
            <a:r>
              <a:rPr lang="es-MX" dirty="0" err="1"/>
              <a:t>founders</a:t>
            </a:r>
            <a:r>
              <a:rPr lang="es-MX" dirty="0"/>
              <a:t> + ingeniería sería la primera porque es totalmente </a:t>
            </a:r>
            <a:r>
              <a:rPr lang="es-MX" dirty="0" err="1"/>
              <a:t>autoexplicativa</a:t>
            </a:r>
            <a:r>
              <a:rPr lang="es-MX" dirty="0"/>
              <a:t>:</a:t>
            </a:r>
          </a:p>
          <a:p>
            <a:r>
              <a:rPr lang="es-MX" b="1" dirty="0"/>
              <a:t>consulta fuentes autoritativas + promoción selectiva</a:t>
            </a:r>
            <a:endParaRPr lang="es-MX" dirty="0"/>
          </a:p>
          <a:p>
            <a:endParaRPr lang="es-MX" dirty="0"/>
          </a:p>
          <a:p>
            <a:r>
              <a:rPr lang="es-MX" dirty="0"/>
              <a:t>Y hay un matiz importante: </a:t>
            </a:r>
            <a:r>
              <a:rPr lang="es-MX" b="1" dirty="0"/>
              <a:t>no todo lo de la izquierda se “promueve” al Brain</a:t>
            </a:r>
            <a:r>
              <a:rPr lang="es-MX" dirty="0"/>
              <a:t>. El Brain consulta fuentes autoritativas; sólo ciertos hechos/conocimiento durables se promueven selectivamente. Por eso esa formulación es más precisa que </a:t>
            </a:r>
            <a:r>
              <a:rPr lang="es-MX" sz="1200" kern="1200" dirty="0" err="1">
                <a:solidFill>
                  <a:schemeClr val="tx1"/>
                </a:solidFill>
                <a:latin typeface="+mn-lt"/>
                <a:ea typeface="+mn-ea"/>
                <a:cs typeface="+mn-cs"/>
              </a:rPr>
              <a:t>grounding</a:t>
            </a:r>
            <a:r>
              <a:rPr lang="es-MX" sz="1200" kern="1200" dirty="0">
                <a:solidFill>
                  <a:schemeClr val="tx1"/>
                </a:solidFill>
                <a:latin typeface="+mn-lt"/>
                <a:ea typeface="+mn-ea"/>
                <a:cs typeface="+mn-cs"/>
              </a:rPr>
              <a:t> + promoción selectiva</a:t>
            </a:r>
            <a:r>
              <a:rPr lang="es-MX" dirty="0"/>
              <a:t>.</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a:t>
            </a:r>
          </a:p>
          <a:p>
            <a:r>
              <a:rPr lang="es-MX" dirty="0"/>
              <a:t>Sobre </a:t>
            </a:r>
            <a:r>
              <a:rPr lang="es-MX" b="1" dirty="0"/>
              <a:t>“</a:t>
            </a:r>
            <a:r>
              <a:rPr lang="es-ES" b="1" dirty="0"/>
              <a:t>Sin </a:t>
            </a:r>
            <a:r>
              <a:rPr lang="es-ES" b="1" dirty="0" err="1"/>
              <a:t>auto-copy</a:t>
            </a:r>
            <a:r>
              <a:rPr lang="es-ES" b="1" dirty="0"/>
              <a:t>: evidencia autorizada → candidato con </a:t>
            </a:r>
            <a:r>
              <a:rPr lang="es-ES" b="1" dirty="0" err="1"/>
              <a:t>provenance</a:t>
            </a:r>
            <a:r>
              <a:rPr lang="es-ES" b="1" dirty="0"/>
              <a:t> → revisión/promoción</a:t>
            </a:r>
            <a:r>
              <a:rPr lang="es-MX" b="1" dirty="0"/>
              <a:t>”</a:t>
            </a:r>
            <a:r>
              <a:rPr lang="es-MX" dirty="0"/>
              <a:t>, ese texto viene directamente de la regla arquitectónica de promoción selectiva: los hechos/evidencia de Cases o sistemas operacionales </a:t>
            </a:r>
            <a:r>
              <a:rPr lang="es-MX" b="1" dirty="0"/>
              <a:t>no deben copiarse automáticamente al Brain sólo porque existan</a:t>
            </a:r>
            <a:r>
              <a:rPr lang="es-MX" dirty="0"/>
              <a:t>. El plan más reciente dice precisamente que </a:t>
            </a:r>
            <a:r>
              <a:rPr lang="es-MX" sz="1200" kern="1200" dirty="0" err="1">
                <a:solidFill>
                  <a:schemeClr val="tx1"/>
                </a:solidFill>
                <a:latin typeface="+mn-lt"/>
                <a:ea typeface="+mn-ea"/>
                <a:cs typeface="+mn-cs"/>
              </a:rPr>
              <a:t>case_facts</a:t>
            </a:r>
            <a:r>
              <a:rPr lang="es-MX" dirty="0"/>
              <a:t> es la fuente preferida para promoción hacia </a:t>
            </a:r>
            <a:r>
              <a:rPr lang="es-MX" sz="1200" kern="1200" dirty="0" err="1">
                <a:solidFill>
                  <a:schemeClr val="tx1"/>
                </a:solidFill>
                <a:latin typeface="+mn-lt"/>
                <a:ea typeface="+mn-ea"/>
                <a:cs typeface="+mn-cs"/>
              </a:rPr>
              <a:t>brain_pages</a:t>
            </a:r>
            <a:r>
              <a:rPr lang="es-MX" dirty="0"/>
              <a:t>, pero </a:t>
            </a:r>
            <a:r>
              <a:rPr lang="es-MX" b="1" dirty="0"/>
              <a:t>sin </a:t>
            </a:r>
            <a:r>
              <a:rPr lang="es-MX" b="1" dirty="0" err="1"/>
              <a:t>auto-copy</a:t>
            </a:r>
            <a:r>
              <a:rPr lang="es-MX" dirty="0"/>
              <a:t> y conservando </a:t>
            </a:r>
            <a:r>
              <a:rPr lang="es-MX" dirty="0" err="1"/>
              <a:t>provenance</a:t>
            </a:r>
            <a:r>
              <a:rPr lang="es-MX" dirty="0"/>
              <a:t>/revisión. </a:t>
            </a:r>
          </a:p>
          <a:p>
            <a:endParaRPr lang="es-MX" dirty="0"/>
          </a:p>
          <a:p>
            <a:r>
              <a:rPr lang="es-MX" dirty="0"/>
              <a:t>Por ejemplo, imagina que durante un Case aparecen 80 eventos y </a:t>
            </a:r>
            <a:r>
              <a:rPr lang="es-MX" dirty="0" err="1"/>
              <a:t>facts</a:t>
            </a:r>
            <a:r>
              <a:rPr lang="es-MX" dirty="0"/>
              <a:t>. No quieres que todo termine duplicado indiscriminadamente en Business Brain. Algunas cosas son sólo operacionales y locales al Case:</a:t>
            </a:r>
          </a:p>
          <a:p>
            <a:r>
              <a:rPr lang="es-MX" dirty="0"/>
              <a:t>“</a:t>
            </a:r>
            <a:r>
              <a:rPr lang="es-MX" dirty="0" err="1"/>
              <a:t>retry</a:t>
            </a:r>
            <a:r>
              <a:rPr lang="es-MX" dirty="0"/>
              <a:t> #2 ejecutado”, “esperando respuesta”, “</a:t>
            </a:r>
            <a:r>
              <a:rPr lang="es-MX" dirty="0" err="1"/>
              <a:t>job</a:t>
            </a:r>
            <a:r>
              <a:rPr lang="es-MX" dirty="0"/>
              <a:t> terminó a las 14:03”.</a:t>
            </a:r>
          </a:p>
          <a:p>
            <a:endParaRPr lang="es-MX" dirty="0"/>
          </a:p>
          <a:p>
            <a:r>
              <a:rPr lang="es-MX" dirty="0"/>
              <a:t>Pero otras pueden tener valor durable </a:t>
            </a:r>
            <a:r>
              <a:rPr lang="es-MX" dirty="0" err="1"/>
              <a:t>cross</a:t>
            </a:r>
            <a:r>
              <a:rPr lang="es-MX" dirty="0"/>
              <a:t>-Case:</a:t>
            </a:r>
          </a:p>
          <a:p>
            <a:r>
              <a:rPr lang="es-MX" dirty="0"/>
              <a:t>“Este propietario sólo acepta visitas después de las 18:00.”</a:t>
            </a:r>
            <a:br>
              <a:rPr lang="es-MX" dirty="0"/>
            </a:br>
            <a:r>
              <a:rPr lang="es-MX" dirty="0"/>
              <a:t>“Este lead cambió su presupuesto confirmado a $6M.”</a:t>
            </a:r>
            <a:br>
              <a:rPr lang="es-MX" dirty="0"/>
            </a:br>
            <a:r>
              <a:rPr lang="es-MX" dirty="0"/>
              <a:t>“Esta valuación aporta conocimiento reusable sobre precios de la zona.”</a:t>
            </a:r>
          </a:p>
          <a:p>
            <a:endParaRPr lang="es-MX" dirty="0"/>
          </a:p>
          <a:p>
            <a:r>
              <a:rPr lang="es-MX" dirty="0"/>
              <a:t>El patrón planeado es más o menos:</a:t>
            </a:r>
          </a:p>
          <a:p>
            <a:r>
              <a:rPr lang="es-MX" b="1" dirty="0"/>
              <a:t>evidencia/</a:t>
            </a:r>
            <a:r>
              <a:rPr lang="es-MX" b="1" dirty="0" err="1"/>
              <a:t>fact</a:t>
            </a:r>
            <a:r>
              <a:rPr lang="es-MX" b="1" dirty="0"/>
              <a:t> autorizado → candidato trazable → revisión cuando corresponda → conocimiento promovido al Brain</a:t>
            </a:r>
            <a:endParaRPr lang="es-MX" dirty="0"/>
          </a:p>
          <a:p>
            <a:r>
              <a:rPr lang="es-MX" dirty="0"/>
              <a:t>y no:</a:t>
            </a:r>
          </a:p>
          <a:p>
            <a:r>
              <a:rPr lang="es-MX" b="1" dirty="0"/>
              <a:t>todo lo que ocurre → copiar automáticamente al Brain.</a:t>
            </a:r>
            <a:endParaRPr lang="es-MX"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 name="PlaceHolder 1"/>
          <p:cNvSpPr>
            <a:spLocks noGrp="1" noRot="1" noChangeAspect="1"/>
          </p:cNvSpPr>
          <p:nvPr>
            <p:ph type="sldImg"/>
          </p:nvPr>
        </p:nvSpPr>
        <p:spPr>
          <a:xfrm>
            <a:off x="685800" y="1143000"/>
            <a:ext cx="5486400" cy="3086100"/>
          </a:xfrm>
          <a:prstGeom prst="rect">
            <a:avLst/>
          </a:prstGeom>
          <a:ln w="0">
            <a:noFill/>
          </a:ln>
        </p:spPr>
        <p:txBody>
          <a:bodyPr/>
          <a:lstStyle/>
          <a:p>
            <a:endParaRPr/>
          </a:p>
        </p:txBody>
      </p:sp>
      <p:sp>
        <p:nvSpPr>
          <p:cNvPr id="70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dirty="0"/>
              <a:t>Gu → Gu OS — Session 1</a:t>
            </a:r>
          </a:p>
          <a:p>
            <a:endParaRPr dirty="0"/>
          </a:p>
          <a:p>
            <a:r>
              <a:rPr dirty="0"/>
              <a:t>Este principio </a:t>
            </a:r>
            <a:r>
              <a:rPr dirty="0" err="1"/>
              <a:t>debe</a:t>
            </a:r>
            <a:r>
              <a:rPr dirty="0"/>
              <a:t> </a:t>
            </a:r>
            <a:r>
              <a:rPr dirty="0" err="1"/>
              <a:t>tranquilizar</a:t>
            </a:r>
            <a:r>
              <a:rPr dirty="0"/>
              <a:t> a </a:t>
            </a:r>
            <a:r>
              <a:rPr dirty="0" err="1"/>
              <a:t>negocio</a:t>
            </a:r>
            <a:r>
              <a:rPr dirty="0"/>
              <a:t> y a </a:t>
            </a:r>
            <a:r>
              <a:rPr dirty="0" err="1"/>
              <a:t>ingeniería</a:t>
            </a:r>
            <a:r>
              <a:rPr dirty="0"/>
              <a:t>. No </a:t>
            </a:r>
            <a:r>
              <a:rPr dirty="0" err="1"/>
              <a:t>queremos</a:t>
            </a:r>
            <a:r>
              <a:rPr dirty="0"/>
              <a:t> un </a:t>
            </a:r>
            <a:r>
              <a:rPr dirty="0" err="1"/>
              <a:t>agente</a:t>
            </a:r>
            <a:r>
              <a:rPr dirty="0"/>
              <a:t> </a:t>
            </a:r>
            <a:r>
              <a:rPr dirty="0" err="1"/>
              <a:t>que</a:t>
            </a:r>
            <a:r>
              <a:rPr dirty="0"/>
              <a:t> </a:t>
            </a:r>
            <a:r>
              <a:rPr dirty="0" err="1"/>
              <a:t>haga</a:t>
            </a:r>
            <a:r>
              <a:rPr dirty="0"/>
              <a:t> </a:t>
            </a:r>
            <a:r>
              <a:rPr dirty="0" err="1"/>
              <a:t>cosas</a:t>
            </a:r>
            <a:r>
              <a:rPr dirty="0"/>
              <a:t> </a:t>
            </a:r>
            <a:r>
              <a:rPr dirty="0" err="1"/>
              <a:t>peligrosas</a:t>
            </a:r>
            <a:r>
              <a:rPr dirty="0"/>
              <a:t> </a:t>
            </a:r>
            <a:r>
              <a:rPr dirty="0" err="1"/>
              <a:t>porque</a:t>
            </a:r>
            <a:r>
              <a:rPr dirty="0"/>
              <a:t> “</a:t>
            </a:r>
            <a:r>
              <a:rPr dirty="0" err="1"/>
              <a:t>parece</a:t>
            </a:r>
            <a:r>
              <a:rPr dirty="0"/>
              <a:t> </a:t>
            </a:r>
            <a:r>
              <a:rPr dirty="0" err="1"/>
              <a:t>inteligente</a:t>
            </a:r>
            <a:r>
              <a:rPr dirty="0"/>
              <a:t>”. </a:t>
            </a:r>
            <a:r>
              <a:rPr dirty="0" err="1"/>
              <a:t>Queremos</a:t>
            </a:r>
            <a:r>
              <a:rPr dirty="0"/>
              <a:t> </a:t>
            </a:r>
            <a:r>
              <a:rPr dirty="0" err="1"/>
              <a:t>autonomía</a:t>
            </a:r>
            <a:r>
              <a:rPr dirty="0"/>
              <a:t> </a:t>
            </a:r>
            <a:r>
              <a:rPr dirty="0" err="1"/>
              <a:t>ganada</a:t>
            </a:r>
            <a:r>
              <a:rPr dirty="0"/>
              <a:t>, con </a:t>
            </a:r>
            <a:r>
              <a:rPr dirty="0" err="1"/>
              <a:t>evidencia</a:t>
            </a:r>
            <a:r>
              <a:rPr dirty="0"/>
              <a:t> y </a:t>
            </a:r>
            <a:r>
              <a:rPr dirty="0" err="1"/>
              <a:t>límites</a:t>
            </a:r>
            <a:r>
              <a:rPr dirty="0"/>
              <a:t>.</a:t>
            </a:r>
          </a:p>
          <a:p>
            <a:endParaRPr dirty="0"/>
          </a:p>
          <a:p>
            <a:endParaRPr dirty="0"/>
          </a:p>
          <a:p>
            <a:r>
              <a:rPr dirty="0"/>
              <a:t>--</a:t>
            </a:r>
          </a:p>
          <a:p>
            <a:endParaRPr dirty="0"/>
          </a:p>
          <a:p>
            <a:r>
              <a:rPr dirty="0"/>
              <a:t>Human in the Lead = principio: el </a:t>
            </a:r>
            <a:r>
              <a:rPr dirty="0" err="1"/>
              <a:t>humano</a:t>
            </a:r>
            <a:r>
              <a:rPr dirty="0"/>
              <a:t> </a:t>
            </a:r>
            <a:r>
              <a:rPr dirty="0" err="1"/>
              <a:t>conserva</a:t>
            </a:r>
            <a:r>
              <a:rPr dirty="0"/>
              <a:t> </a:t>
            </a:r>
            <a:r>
              <a:rPr dirty="0" err="1"/>
              <a:t>dirección</a:t>
            </a:r>
            <a:r>
              <a:rPr dirty="0"/>
              <a:t>, </a:t>
            </a:r>
            <a:r>
              <a:rPr dirty="0" err="1"/>
              <a:t>criterio</a:t>
            </a:r>
            <a:r>
              <a:rPr dirty="0"/>
              <a:t>, </a:t>
            </a:r>
            <a:r>
              <a:rPr dirty="0" err="1"/>
              <a:t>autoridad</a:t>
            </a:r>
            <a:r>
              <a:rPr dirty="0"/>
              <a:t> y accountability </a:t>
            </a:r>
            <a:r>
              <a:rPr dirty="0" err="1"/>
              <a:t>donde</a:t>
            </a:r>
            <a:r>
              <a:rPr dirty="0"/>
              <a:t> </a:t>
            </a:r>
            <a:r>
              <a:rPr dirty="0" err="1"/>
              <a:t>corresponde</a:t>
            </a:r>
            <a:r>
              <a:rPr dirty="0"/>
              <a:t>.</a:t>
            </a:r>
          </a:p>
          <a:p>
            <a:r>
              <a:rPr dirty="0"/>
              <a:t>Human involvement = </a:t>
            </a:r>
            <a:r>
              <a:rPr dirty="0" err="1"/>
              <a:t>mecanismo</a:t>
            </a:r>
            <a:r>
              <a:rPr dirty="0"/>
              <a:t> </a:t>
            </a:r>
            <a:r>
              <a:rPr dirty="0" err="1"/>
              <a:t>arquitectónico</a:t>
            </a:r>
            <a:r>
              <a:rPr dirty="0"/>
              <a:t>: </a:t>
            </a:r>
            <a:r>
              <a:rPr dirty="0" err="1"/>
              <a:t>cuándo</a:t>
            </a:r>
            <a:r>
              <a:rPr dirty="0"/>
              <a:t> </a:t>
            </a:r>
            <a:r>
              <a:rPr dirty="0" err="1"/>
              <a:t>necesita</a:t>
            </a:r>
            <a:r>
              <a:rPr dirty="0"/>
              <a:t> </a:t>
            </a:r>
            <a:r>
              <a:rPr dirty="0" err="1"/>
              <a:t>participar</a:t>
            </a:r>
            <a:r>
              <a:rPr dirty="0"/>
              <a:t> </a:t>
            </a:r>
            <a:r>
              <a:rPr dirty="0" err="1"/>
              <a:t>una</a:t>
            </a:r>
            <a:r>
              <a:rPr dirty="0"/>
              <a:t> persona, </a:t>
            </a:r>
            <a:r>
              <a:rPr dirty="0" err="1"/>
              <a:t>qué</a:t>
            </a:r>
            <a:r>
              <a:rPr dirty="0"/>
              <a:t> se le </a:t>
            </a:r>
            <a:r>
              <a:rPr dirty="0" err="1"/>
              <a:t>pide</a:t>
            </a:r>
            <a:r>
              <a:rPr dirty="0"/>
              <a:t> y </a:t>
            </a:r>
            <a:r>
              <a:rPr dirty="0" err="1"/>
              <a:t>cómo</a:t>
            </a:r>
            <a:r>
              <a:rPr dirty="0"/>
              <a:t> </a:t>
            </a:r>
            <a:r>
              <a:rPr dirty="0" err="1"/>
              <a:t>entra</a:t>
            </a:r>
            <a:r>
              <a:rPr dirty="0"/>
              <a:t> al </a:t>
            </a:r>
            <a:r>
              <a:rPr dirty="0" err="1"/>
              <a:t>trabajo</a:t>
            </a:r>
            <a:r>
              <a:rPr dirty="0"/>
              <a:t>.</a:t>
            </a:r>
          </a:p>
          <a:p>
            <a:r>
              <a:rPr dirty="0"/>
              <a:t>HITL = uno de </a:t>
            </a:r>
            <a:r>
              <a:rPr dirty="0" err="1"/>
              <a:t>esos</a:t>
            </a:r>
            <a:r>
              <a:rPr dirty="0"/>
              <a:t> </a:t>
            </a:r>
            <a:r>
              <a:rPr dirty="0" err="1"/>
              <a:t>modos</a:t>
            </a:r>
            <a:r>
              <a:rPr dirty="0"/>
              <a:t>: el runtime se </a:t>
            </a:r>
            <a:r>
              <a:rPr dirty="0" err="1"/>
              <a:t>bloquea</a:t>
            </a:r>
            <a:r>
              <a:rPr dirty="0"/>
              <a:t> hasta </a:t>
            </a:r>
            <a:r>
              <a:rPr dirty="0" err="1"/>
              <a:t>que</a:t>
            </a:r>
            <a:r>
              <a:rPr dirty="0"/>
              <a:t> </a:t>
            </a:r>
            <a:r>
              <a:rPr dirty="0" err="1"/>
              <a:t>responde</a:t>
            </a:r>
            <a:r>
              <a:rPr dirty="0"/>
              <a:t> la persona.</a:t>
            </a:r>
          </a:p>
          <a:p>
            <a:r>
              <a:rPr dirty="0"/>
              <a:t>HOTL = </a:t>
            </a:r>
            <a:r>
              <a:rPr dirty="0" err="1"/>
              <a:t>supervisión</a:t>
            </a:r>
            <a:r>
              <a:rPr dirty="0"/>
              <a:t> humana sin </a:t>
            </a:r>
            <a:r>
              <a:rPr dirty="0" err="1"/>
              <a:t>bloqueo</a:t>
            </a:r>
            <a:r>
              <a:rPr dirty="0"/>
              <a:t> continuo.</a:t>
            </a:r>
          </a:p>
          <a:p>
            <a:endParaRPr dirty="0"/>
          </a:p>
          <a:p>
            <a:r>
              <a:rPr dirty="0"/>
              <a:t>---</a:t>
            </a:r>
          </a:p>
          <a:p>
            <a:r>
              <a:rPr dirty="0"/>
              <a:t>Human-in-the-loop (HITL) vs Human-on-the-loop (HOTL)</a:t>
            </a:r>
          </a:p>
          <a:p>
            <a:endParaRPr dirty="0"/>
          </a:p>
          <a:p>
            <a:r>
              <a:rPr dirty="0"/>
              <a:t>La </a:t>
            </a:r>
            <a:r>
              <a:rPr dirty="0" err="1"/>
              <a:t>diferencia</a:t>
            </a:r>
            <a:r>
              <a:rPr dirty="0"/>
              <a:t> central es </a:t>
            </a:r>
            <a:r>
              <a:rPr dirty="0" err="1"/>
              <a:t>si</a:t>
            </a:r>
            <a:r>
              <a:rPr dirty="0"/>
              <a:t> la </a:t>
            </a:r>
            <a:r>
              <a:rPr dirty="0" err="1"/>
              <a:t>ejecución</a:t>
            </a:r>
            <a:r>
              <a:rPr dirty="0"/>
              <a:t> </a:t>
            </a:r>
            <a:r>
              <a:rPr dirty="0" err="1"/>
              <a:t>necesita</a:t>
            </a:r>
            <a:r>
              <a:rPr dirty="0"/>
              <a:t> </a:t>
            </a:r>
            <a:r>
              <a:rPr dirty="0" err="1"/>
              <a:t>detenerse</a:t>
            </a:r>
            <a:r>
              <a:rPr dirty="0"/>
              <a:t> </a:t>
            </a:r>
            <a:r>
              <a:rPr dirty="0" err="1"/>
              <a:t>esperando</a:t>
            </a:r>
            <a:r>
              <a:rPr dirty="0"/>
              <a:t> al </a:t>
            </a:r>
            <a:r>
              <a:rPr dirty="0" err="1"/>
              <a:t>humano</a:t>
            </a:r>
            <a:r>
              <a:rPr dirty="0"/>
              <a:t>.</a:t>
            </a:r>
          </a:p>
          <a:p>
            <a:r>
              <a:rPr dirty="0"/>
              <a:t>Human-in-the-loop — HITL </a:t>
            </a:r>
            <a:r>
              <a:rPr dirty="0" err="1"/>
              <a:t>bloqueante</a:t>
            </a:r>
            <a:endParaRPr dirty="0"/>
          </a:p>
          <a:p>
            <a:endParaRPr dirty="0"/>
          </a:p>
          <a:p>
            <a:r>
              <a:rPr dirty="0" err="1"/>
              <a:t>Existe</a:t>
            </a:r>
            <a:r>
              <a:rPr dirty="0"/>
              <a:t> un punto de control </a:t>
            </a:r>
            <a:r>
              <a:rPr dirty="0" err="1"/>
              <a:t>donde</a:t>
            </a:r>
            <a:r>
              <a:rPr dirty="0"/>
              <a:t> Gu no </a:t>
            </a:r>
            <a:r>
              <a:rPr dirty="0" err="1"/>
              <a:t>puede</a:t>
            </a:r>
            <a:r>
              <a:rPr dirty="0"/>
              <a:t> </a:t>
            </a:r>
            <a:r>
              <a:rPr dirty="0" err="1"/>
              <a:t>continuar</a:t>
            </a:r>
            <a:r>
              <a:rPr dirty="0"/>
              <a:t> hasta </a:t>
            </a:r>
            <a:r>
              <a:rPr dirty="0" err="1"/>
              <a:t>que</a:t>
            </a:r>
            <a:r>
              <a:rPr dirty="0"/>
              <a:t> la persona </a:t>
            </a:r>
            <a:r>
              <a:rPr dirty="0" err="1"/>
              <a:t>responda</a:t>
            </a:r>
            <a:r>
              <a:rPr dirty="0"/>
              <a:t>.</a:t>
            </a:r>
          </a:p>
          <a:p>
            <a:endParaRPr dirty="0"/>
          </a:p>
          <a:p>
            <a:r>
              <a:rPr dirty="0" err="1"/>
              <a:t>Ejemplo</a:t>
            </a:r>
            <a:r>
              <a:rPr dirty="0"/>
              <a:t>:</a:t>
            </a:r>
          </a:p>
          <a:p>
            <a:r>
              <a:rPr dirty="0"/>
              <a:t>Gu </a:t>
            </a:r>
            <a:r>
              <a:rPr dirty="0" err="1"/>
              <a:t>prepara</a:t>
            </a:r>
            <a:r>
              <a:rPr dirty="0"/>
              <a:t> </a:t>
            </a:r>
            <a:r>
              <a:rPr dirty="0" err="1"/>
              <a:t>una</a:t>
            </a:r>
            <a:r>
              <a:rPr dirty="0"/>
              <a:t> </a:t>
            </a:r>
            <a:r>
              <a:rPr dirty="0" err="1"/>
              <a:t>publicación</a:t>
            </a:r>
            <a:r>
              <a:rPr dirty="0"/>
              <a:t> </a:t>
            </a:r>
            <a:r>
              <a:rPr dirty="0" err="1"/>
              <a:t>que</a:t>
            </a:r>
            <a:r>
              <a:rPr dirty="0"/>
              <a:t> </a:t>
            </a:r>
            <a:r>
              <a:rPr dirty="0" err="1"/>
              <a:t>requiere</a:t>
            </a:r>
            <a:r>
              <a:rPr dirty="0"/>
              <a:t> </a:t>
            </a:r>
            <a:r>
              <a:rPr dirty="0" err="1"/>
              <a:t>autorización</a:t>
            </a:r>
            <a:r>
              <a:rPr dirty="0"/>
              <a:t>.</a:t>
            </a:r>
            <a:br>
              <a:rPr dirty="0"/>
            </a:br>
            <a:r>
              <a:rPr dirty="0"/>
              <a:t>El Case </a:t>
            </a:r>
            <a:r>
              <a:rPr dirty="0" err="1"/>
              <a:t>queda</a:t>
            </a:r>
            <a:r>
              <a:rPr dirty="0"/>
              <a:t> </a:t>
            </a:r>
            <a:r>
              <a:rPr dirty="0" err="1"/>
              <a:t>esperando</a:t>
            </a:r>
            <a:r>
              <a:rPr dirty="0"/>
              <a:t>.</a:t>
            </a:r>
            <a:br>
              <a:rPr dirty="0"/>
            </a:br>
            <a:r>
              <a:rPr dirty="0"/>
              <a:t>La persona </a:t>
            </a:r>
            <a:r>
              <a:rPr dirty="0" err="1"/>
              <a:t>aprueba</a:t>
            </a:r>
            <a:r>
              <a:rPr dirty="0"/>
              <a:t> o </a:t>
            </a:r>
            <a:r>
              <a:rPr dirty="0" err="1"/>
              <a:t>rechaza</a:t>
            </a:r>
            <a:r>
              <a:rPr dirty="0"/>
              <a:t>.</a:t>
            </a:r>
            <a:br>
              <a:rPr dirty="0"/>
            </a:br>
            <a:r>
              <a:rPr dirty="0"/>
              <a:t>Gu </a:t>
            </a:r>
            <a:r>
              <a:rPr dirty="0" err="1"/>
              <a:t>continúa</a:t>
            </a:r>
            <a:r>
              <a:rPr dirty="0"/>
              <a:t>.</a:t>
            </a:r>
          </a:p>
          <a:p>
            <a:r>
              <a:rPr dirty="0"/>
              <a:t>El Technical Plan lo define </a:t>
            </a:r>
            <a:r>
              <a:rPr dirty="0" err="1"/>
              <a:t>literalmente</a:t>
            </a:r>
            <a:r>
              <a:rPr dirty="0"/>
              <a:t> </a:t>
            </a:r>
            <a:r>
              <a:rPr dirty="0" err="1"/>
              <a:t>como</a:t>
            </a:r>
            <a:r>
              <a:rPr dirty="0"/>
              <a:t> el modo en </a:t>
            </a:r>
            <a:r>
              <a:rPr dirty="0" err="1"/>
              <a:t>que</a:t>
            </a:r>
            <a:r>
              <a:rPr dirty="0"/>
              <a:t> el runtime pausa hasta </a:t>
            </a:r>
            <a:r>
              <a:rPr dirty="0" err="1"/>
              <a:t>recibir</a:t>
            </a:r>
            <a:r>
              <a:rPr dirty="0"/>
              <a:t> </a:t>
            </a:r>
            <a:r>
              <a:rPr dirty="0" err="1"/>
              <a:t>respuesta</a:t>
            </a:r>
            <a:r>
              <a:rPr dirty="0"/>
              <a:t>. </a:t>
            </a:r>
          </a:p>
          <a:p>
            <a:endParaRPr dirty="0"/>
          </a:p>
          <a:p>
            <a:r>
              <a:rPr dirty="0"/>
              <a:t>Human-on-the-loop — </a:t>
            </a:r>
            <a:r>
              <a:rPr dirty="0" err="1"/>
              <a:t>supervisión</a:t>
            </a:r>
            <a:r>
              <a:rPr dirty="0"/>
              <a:t> humana sin </a:t>
            </a:r>
            <a:r>
              <a:rPr dirty="0" err="1"/>
              <a:t>bloqueo</a:t>
            </a:r>
            <a:r>
              <a:rPr dirty="0"/>
              <a:t> continuo</a:t>
            </a:r>
          </a:p>
          <a:p>
            <a:r>
              <a:rPr dirty="0"/>
              <a:t>Gu </a:t>
            </a:r>
            <a:r>
              <a:rPr dirty="0" err="1"/>
              <a:t>puede</a:t>
            </a:r>
            <a:r>
              <a:rPr dirty="0"/>
              <a:t> </a:t>
            </a:r>
            <a:r>
              <a:rPr dirty="0" err="1"/>
              <a:t>seguir</a:t>
            </a:r>
            <a:r>
              <a:rPr dirty="0"/>
              <a:t> operando </a:t>
            </a:r>
            <a:r>
              <a:rPr dirty="0" err="1"/>
              <a:t>autónomamente</a:t>
            </a:r>
            <a:r>
              <a:rPr dirty="0"/>
              <a:t> </a:t>
            </a:r>
            <a:r>
              <a:rPr dirty="0" err="1"/>
              <a:t>dentro</a:t>
            </a:r>
            <a:r>
              <a:rPr dirty="0"/>
              <a:t> de las </a:t>
            </a:r>
            <a:r>
              <a:rPr dirty="0" err="1"/>
              <a:t>reglas</a:t>
            </a:r>
            <a:r>
              <a:rPr dirty="0"/>
              <a:t>. La persona </a:t>
            </a:r>
            <a:r>
              <a:rPr dirty="0" err="1"/>
              <a:t>supervisa</a:t>
            </a:r>
            <a:r>
              <a:rPr dirty="0"/>
              <a:t>, </a:t>
            </a:r>
            <a:r>
              <a:rPr dirty="0" err="1"/>
              <a:t>ve</a:t>
            </a:r>
            <a:r>
              <a:rPr dirty="0"/>
              <a:t> </a:t>
            </a:r>
            <a:r>
              <a:rPr dirty="0" err="1"/>
              <a:t>excepciones</a:t>
            </a:r>
            <a:r>
              <a:rPr dirty="0"/>
              <a:t> o </a:t>
            </a:r>
            <a:r>
              <a:rPr dirty="0" err="1"/>
              <a:t>indicadores</a:t>
            </a:r>
            <a:r>
              <a:rPr dirty="0"/>
              <a:t> y </a:t>
            </a:r>
            <a:r>
              <a:rPr dirty="0" err="1"/>
              <a:t>puede</a:t>
            </a:r>
            <a:r>
              <a:rPr dirty="0"/>
              <a:t> </a:t>
            </a:r>
            <a:r>
              <a:rPr dirty="0" err="1"/>
              <a:t>intervenir</a:t>
            </a:r>
            <a:r>
              <a:rPr dirty="0"/>
              <a:t>, </a:t>
            </a:r>
            <a:r>
              <a:rPr dirty="0" err="1"/>
              <a:t>pero</a:t>
            </a:r>
            <a:r>
              <a:rPr dirty="0"/>
              <a:t> no </a:t>
            </a:r>
            <a:r>
              <a:rPr dirty="0" err="1"/>
              <a:t>tiene</a:t>
            </a:r>
            <a:r>
              <a:rPr dirty="0"/>
              <a:t> </a:t>
            </a:r>
            <a:r>
              <a:rPr dirty="0" err="1"/>
              <a:t>que</a:t>
            </a:r>
            <a:r>
              <a:rPr dirty="0"/>
              <a:t> </a:t>
            </a:r>
            <a:r>
              <a:rPr dirty="0" err="1"/>
              <a:t>aprobar</a:t>
            </a:r>
            <a:r>
              <a:rPr dirty="0"/>
              <a:t> </a:t>
            </a:r>
            <a:r>
              <a:rPr dirty="0" err="1"/>
              <a:t>cada</a:t>
            </a:r>
            <a:r>
              <a:rPr dirty="0"/>
              <a:t> </a:t>
            </a:r>
            <a:r>
              <a:rPr dirty="0" err="1"/>
              <a:t>decisión</a:t>
            </a:r>
            <a:r>
              <a:rPr dirty="0"/>
              <a:t>.</a:t>
            </a:r>
          </a:p>
          <a:p>
            <a:r>
              <a:rPr dirty="0" err="1"/>
              <a:t>Ejemplo</a:t>
            </a:r>
            <a:r>
              <a:rPr dirty="0"/>
              <a:t> en Demand Operations:</a:t>
            </a:r>
          </a:p>
          <a:p>
            <a:r>
              <a:rPr dirty="0"/>
              <a:t>Gu </a:t>
            </a:r>
            <a:r>
              <a:rPr dirty="0" err="1"/>
              <a:t>puede</a:t>
            </a:r>
            <a:r>
              <a:rPr dirty="0"/>
              <a:t> </a:t>
            </a:r>
            <a:r>
              <a:rPr dirty="0" err="1"/>
              <a:t>operar</a:t>
            </a:r>
            <a:r>
              <a:rPr dirty="0"/>
              <a:t> </a:t>
            </a:r>
            <a:r>
              <a:rPr dirty="0" err="1"/>
              <a:t>una</a:t>
            </a:r>
            <a:r>
              <a:rPr dirty="0"/>
              <a:t> </a:t>
            </a:r>
            <a:r>
              <a:rPr dirty="0" err="1"/>
              <a:t>campaña</a:t>
            </a:r>
            <a:r>
              <a:rPr dirty="0"/>
              <a:t> </a:t>
            </a:r>
            <a:r>
              <a:rPr dirty="0" err="1"/>
              <a:t>dentro</a:t>
            </a:r>
            <a:r>
              <a:rPr dirty="0"/>
              <a:t> del </a:t>
            </a:r>
            <a:r>
              <a:rPr dirty="0" err="1"/>
              <a:t>presupuesto</a:t>
            </a:r>
            <a:r>
              <a:rPr dirty="0"/>
              <a:t> y las </a:t>
            </a:r>
            <a:r>
              <a:rPr dirty="0" err="1"/>
              <a:t>políticas</a:t>
            </a:r>
            <a:r>
              <a:rPr dirty="0"/>
              <a:t> </a:t>
            </a:r>
            <a:r>
              <a:rPr dirty="0" err="1"/>
              <a:t>autorizadas</a:t>
            </a:r>
            <a:r>
              <a:rPr dirty="0"/>
              <a:t>.</a:t>
            </a:r>
            <a:br>
              <a:rPr dirty="0"/>
            </a:br>
            <a:r>
              <a:rPr dirty="0"/>
              <a:t>Un </a:t>
            </a:r>
            <a:r>
              <a:rPr dirty="0" err="1"/>
              <a:t>gerente</a:t>
            </a:r>
            <a:r>
              <a:rPr dirty="0"/>
              <a:t> </a:t>
            </a:r>
            <a:r>
              <a:rPr dirty="0" err="1"/>
              <a:t>observa</a:t>
            </a:r>
            <a:r>
              <a:rPr dirty="0"/>
              <a:t> </a:t>
            </a:r>
            <a:r>
              <a:rPr dirty="0" err="1"/>
              <a:t>desempeño</a:t>
            </a:r>
            <a:r>
              <a:rPr dirty="0"/>
              <a:t> en Control </a:t>
            </a:r>
            <a:r>
              <a:rPr dirty="0" err="1"/>
              <a:t>Operativo</a:t>
            </a:r>
            <a:r>
              <a:rPr dirty="0"/>
              <a:t>.</a:t>
            </a:r>
            <a:br>
              <a:rPr dirty="0"/>
            </a:br>
            <a:r>
              <a:rPr dirty="0"/>
              <a:t>Si </a:t>
            </a:r>
            <a:r>
              <a:rPr dirty="0" err="1"/>
              <a:t>detecta</a:t>
            </a:r>
            <a:r>
              <a:rPr dirty="0"/>
              <a:t> </a:t>
            </a:r>
            <a:r>
              <a:rPr dirty="0" err="1"/>
              <a:t>una</a:t>
            </a:r>
            <a:r>
              <a:rPr dirty="0"/>
              <a:t> </a:t>
            </a:r>
            <a:r>
              <a:rPr dirty="0" err="1"/>
              <a:t>desviación</a:t>
            </a:r>
            <a:r>
              <a:rPr dirty="0"/>
              <a:t> </a:t>
            </a:r>
            <a:r>
              <a:rPr dirty="0" err="1"/>
              <a:t>importante</a:t>
            </a:r>
            <a:r>
              <a:rPr dirty="0"/>
              <a:t> </a:t>
            </a:r>
            <a:r>
              <a:rPr dirty="0" err="1"/>
              <a:t>puede</a:t>
            </a:r>
            <a:r>
              <a:rPr dirty="0"/>
              <a:t> </a:t>
            </a:r>
            <a:r>
              <a:rPr dirty="0" err="1"/>
              <a:t>intervenir</a:t>
            </a:r>
            <a:r>
              <a:rPr dirty="0"/>
              <a:t>, </a:t>
            </a:r>
            <a:r>
              <a:rPr dirty="0" err="1"/>
              <a:t>pero</a:t>
            </a:r>
            <a:r>
              <a:rPr dirty="0"/>
              <a:t> Gu no </a:t>
            </a:r>
            <a:r>
              <a:rPr dirty="0" err="1"/>
              <a:t>espera</a:t>
            </a:r>
            <a:r>
              <a:rPr dirty="0"/>
              <a:t> </a:t>
            </a:r>
            <a:r>
              <a:rPr dirty="0" err="1"/>
              <a:t>su</a:t>
            </a:r>
            <a:r>
              <a:rPr dirty="0"/>
              <a:t> </a:t>
            </a:r>
            <a:r>
              <a:rPr dirty="0" err="1"/>
              <a:t>aprobación</a:t>
            </a:r>
            <a:r>
              <a:rPr dirty="0"/>
              <a:t> para </a:t>
            </a:r>
            <a:r>
              <a:rPr dirty="0" err="1"/>
              <a:t>cada</a:t>
            </a:r>
            <a:r>
              <a:rPr dirty="0"/>
              <a:t> </a:t>
            </a:r>
            <a:r>
              <a:rPr dirty="0" err="1"/>
              <a:t>ajuste</a:t>
            </a:r>
            <a:r>
              <a:rPr dirty="0"/>
              <a:t> </a:t>
            </a:r>
            <a:r>
              <a:rPr dirty="0" err="1"/>
              <a:t>permitido</a:t>
            </a:r>
            <a:r>
              <a:rPr dirty="0"/>
              <a:t>.</a:t>
            </a:r>
          </a:p>
          <a:p>
            <a:r>
              <a:rPr dirty="0"/>
              <a:t>En corto:</a:t>
            </a:r>
          </a:p>
          <a:p>
            <a:endParaRPr dirty="0"/>
          </a:p>
          <a:p>
            <a:r>
              <a:rPr dirty="0"/>
              <a:t>HITL: “No </a:t>
            </a:r>
            <a:r>
              <a:rPr dirty="0" err="1"/>
              <a:t>puedo</a:t>
            </a:r>
            <a:r>
              <a:rPr dirty="0"/>
              <a:t> </a:t>
            </a:r>
            <a:r>
              <a:rPr dirty="0" err="1"/>
              <a:t>seguir</a:t>
            </a:r>
            <a:r>
              <a:rPr dirty="0"/>
              <a:t> hasta </a:t>
            </a:r>
            <a:r>
              <a:rPr dirty="0" err="1"/>
              <a:t>que</a:t>
            </a:r>
            <a:r>
              <a:rPr dirty="0"/>
              <a:t> me </a:t>
            </a:r>
            <a:r>
              <a:rPr dirty="0" err="1"/>
              <a:t>respondas</a:t>
            </a:r>
            <a:r>
              <a:rPr dirty="0"/>
              <a:t>.”</a:t>
            </a:r>
            <a:br>
              <a:rPr dirty="0"/>
            </a:br>
            <a:r>
              <a:rPr dirty="0"/>
              <a:t>Human-on-the-loop: “</a:t>
            </a:r>
            <a:r>
              <a:rPr dirty="0" err="1"/>
              <a:t>Puedo</a:t>
            </a:r>
            <a:r>
              <a:rPr dirty="0"/>
              <a:t> </a:t>
            </a:r>
            <a:r>
              <a:rPr dirty="0" err="1"/>
              <a:t>seguir</a:t>
            </a:r>
            <a:r>
              <a:rPr dirty="0"/>
              <a:t>; </a:t>
            </a:r>
            <a:r>
              <a:rPr dirty="0" err="1"/>
              <a:t>tú</a:t>
            </a:r>
            <a:r>
              <a:rPr dirty="0"/>
              <a:t> </a:t>
            </a:r>
            <a:r>
              <a:rPr dirty="0" err="1"/>
              <a:t>supervisas</a:t>
            </a:r>
            <a:r>
              <a:rPr dirty="0"/>
              <a:t> y </a:t>
            </a:r>
            <a:r>
              <a:rPr dirty="0" err="1"/>
              <a:t>puedes</a:t>
            </a:r>
            <a:r>
              <a:rPr dirty="0"/>
              <a:t> </a:t>
            </a:r>
            <a:r>
              <a:rPr dirty="0" err="1"/>
              <a:t>intervenir</a:t>
            </a:r>
            <a:r>
              <a:rPr dirty="0"/>
              <a:t>.”</a:t>
            </a:r>
          </a:p>
          <a:p>
            <a:endParaRPr dirty="0"/>
          </a:p>
          <a:p>
            <a:r>
              <a:rPr dirty="0"/>
              <a:t>Y hay un </a:t>
            </a:r>
            <a:r>
              <a:rPr dirty="0" err="1"/>
              <a:t>tercer</a:t>
            </a:r>
            <a:r>
              <a:rPr dirty="0"/>
              <a:t> modo </a:t>
            </a:r>
            <a:r>
              <a:rPr dirty="0" err="1"/>
              <a:t>muy</a:t>
            </a:r>
            <a:r>
              <a:rPr dirty="0"/>
              <a:t> </a:t>
            </a:r>
            <a:r>
              <a:rPr dirty="0" err="1"/>
              <a:t>distinto</a:t>
            </a:r>
            <a:r>
              <a:rPr dirty="0"/>
              <a:t>:</a:t>
            </a:r>
          </a:p>
          <a:p>
            <a:r>
              <a:rPr dirty="0"/>
              <a:t>Humano </a:t>
            </a:r>
            <a:r>
              <a:rPr dirty="0" err="1"/>
              <a:t>como</a:t>
            </a:r>
            <a:r>
              <a:rPr dirty="0"/>
              <a:t> </a:t>
            </a:r>
            <a:r>
              <a:rPr dirty="0" err="1"/>
              <a:t>ejecutor</a:t>
            </a:r>
            <a:r>
              <a:rPr dirty="0"/>
              <a:t>: “No </a:t>
            </a:r>
            <a:r>
              <a:rPr dirty="0" err="1"/>
              <a:t>estoy</a:t>
            </a:r>
            <a:r>
              <a:rPr dirty="0"/>
              <a:t> </a:t>
            </a:r>
            <a:r>
              <a:rPr dirty="0" err="1"/>
              <a:t>esperando</a:t>
            </a:r>
            <a:r>
              <a:rPr dirty="0"/>
              <a:t> </a:t>
            </a:r>
            <a:r>
              <a:rPr dirty="0" err="1"/>
              <a:t>que</a:t>
            </a:r>
            <a:r>
              <a:rPr dirty="0"/>
              <a:t> </a:t>
            </a:r>
            <a:r>
              <a:rPr dirty="0" err="1"/>
              <a:t>apruebes</a:t>
            </a:r>
            <a:r>
              <a:rPr dirty="0"/>
              <a:t> mi </a:t>
            </a:r>
            <a:r>
              <a:rPr dirty="0" err="1"/>
              <a:t>trabajo</a:t>
            </a:r>
            <a:r>
              <a:rPr dirty="0"/>
              <a:t>; </a:t>
            </a:r>
            <a:r>
              <a:rPr dirty="0" err="1"/>
              <a:t>este</a:t>
            </a:r>
            <a:r>
              <a:rPr dirty="0"/>
              <a:t> </a:t>
            </a:r>
            <a:r>
              <a:rPr dirty="0" err="1"/>
              <a:t>trabajo</a:t>
            </a:r>
            <a:r>
              <a:rPr dirty="0"/>
              <a:t> </a:t>
            </a:r>
            <a:r>
              <a:rPr dirty="0" err="1"/>
              <a:t>te</a:t>
            </a:r>
            <a:r>
              <a:rPr dirty="0"/>
              <a:t> </a:t>
            </a:r>
            <a:r>
              <a:rPr dirty="0" err="1"/>
              <a:t>corresponde</a:t>
            </a:r>
            <a:r>
              <a:rPr dirty="0"/>
              <a:t> </a:t>
            </a:r>
            <a:r>
              <a:rPr dirty="0" err="1"/>
              <a:t>hacerlo</a:t>
            </a:r>
            <a:r>
              <a:rPr dirty="0"/>
              <a:t> a </a:t>
            </a:r>
            <a:r>
              <a:rPr dirty="0" err="1"/>
              <a:t>ti</a:t>
            </a:r>
            <a:r>
              <a:rPr dirty="0"/>
              <a:t>.”</a:t>
            </a:r>
          </a:p>
          <a:p>
            <a:r>
              <a:rPr dirty="0"/>
              <a:t>Por </a:t>
            </a:r>
            <a:r>
              <a:rPr dirty="0" err="1"/>
              <a:t>ejemplo</a:t>
            </a:r>
            <a:r>
              <a:rPr dirty="0"/>
              <a:t>, </a:t>
            </a:r>
            <a:r>
              <a:rPr dirty="0" err="1"/>
              <a:t>subir</a:t>
            </a:r>
            <a:r>
              <a:rPr dirty="0"/>
              <a:t> </a:t>
            </a:r>
            <a:r>
              <a:rPr dirty="0" err="1"/>
              <a:t>fotografías</a:t>
            </a:r>
            <a:r>
              <a:rPr dirty="0"/>
              <a:t>, </a:t>
            </a:r>
            <a:r>
              <a:rPr dirty="0" err="1"/>
              <a:t>proporcionar</a:t>
            </a:r>
            <a:r>
              <a:rPr dirty="0"/>
              <a:t> un OTP o </a:t>
            </a:r>
            <a:r>
              <a:rPr dirty="0" err="1"/>
              <a:t>conseguir</a:t>
            </a:r>
            <a:r>
              <a:rPr dirty="0"/>
              <a:t> </a:t>
            </a:r>
            <a:r>
              <a:rPr dirty="0" err="1"/>
              <a:t>una</a:t>
            </a:r>
            <a:r>
              <a:rPr dirty="0"/>
              <a:t> </a:t>
            </a:r>
            <a:r>
              <a:rPr dirty="0" err="1"/>
              <a:t>respuesta</a:t>
            </a:r>
            <a:r>
              <a:rPr dirty="0"/>
              <a:t> del </a:t>
            </a:r>
            <a:r>
              <a:rPr dirty="0" err="1"/>
              <a:t>propietario</a:t>
            </a:r>
            <a:r>
              <a:rPr dirty="0"/>
              <a:t>.</a:t>
            </a:r>
          </a:p>
          <a:p>
            <a:endParaRPr dirty="0"/>
          </a:p>
        </p:txBody>
      </p:sp>
      <p:sp>
        <p:nvSpPr>
          <p:cNvPr id="704"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3E20E76-0EA6-402B-AA42-2A0801928638}" type="slidenum">
              <a:rPr lang="en-US" sz="1200" b="0" u="none" strike="noStrike">
                <a:solidFill>
                  <a:schemeClr val="dk1"/>
                </a:solidFill>
                <a:effectLst/>
                <a:uFillTx/>
                <a:latin typeface="+mn-lt"/>
                <a:ea typeface="+mn-ea"/>
              </a:rPr>
              <a:t>17</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en-US" dirty="0"/>
              <a:t>Narrativa sugerida:
Esta lámina complementa la anterior. La lámina anterior explica la filosofía de autonomía gobernada: Gu puede actuar solo en rutinas dentro de políticas, el humano lidera en relación o estrategia, y el humano autoriza en decisiones de alto riesgo o autoridad.
Esta lámina aterriza la taxonomía técnica del repo. El paraguas canónico es participación humana. HITL no significa toda participación humana; es sólo el modo bloqueante donde Gu OS pausa hasta que alguien responde.
Primero preguntamos qué necesita Gu de la persona: autorización de una acción o herramienta, una decisión de negocio, una contribución/tarea humana, o una revisión ante excepción. Después preguntamos cómo participa: pausa bloqueante, humano como ejecutor del ítem de trabajo, o supervisión humana sin bloquear cada paso.
Ejemplos: aprobar un precio es una decisión de negocio con HITL bloqueante; subir fotos o documentos es una contribución humana y el humano actúa como ejecutor; supervisar desempeño de campaña puede ser supervisión humana sin bloqueo continuo.
El punto operativo es evitar approval fatigue: la participación humana se justifica por riesgo, responsabilidad o necesidad real de aporte. Lo demás debe protegerse con políticas, permisos, validación, evidencia y límites.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5" name="PlaceHolder 1"/>
          <p:cNvSpPr>
            <a:spLocks noGrp="1" noRot="1" noChangeAspect="1"/>
          </p:cNvSpPr>
          <p:nvPr>
            <p:ph type="sldImg"/>
          </p:nvPr>
        </p:nvSpPr>
        <p:spPr>
          <a:xfrm>
            <a:off x="685800" y="1143000"/>
            <a:ext cx="5486400" cy="3086100"/>
          </a:xfrm>
          <a:prstGeom prst="rect">
            <a:avLst/>
          </a:prstGeom>
          <a:ln w="0">
            <a:noFill/>
          </a:ln>
        </p:spPr>
        <p:txBody>
          <a:bodyPr/>
          <a:lstStyle/>
          <a:p>
            <a:endParaRPr/>
          </a:p>
        </p:txBody>
      </p:sp>
      <p:sp>
        <p:nvSpPr>
          <p:cNvPr id="70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t>Gu → Gu OS — Session 1</a:t>
            </a:r>
          </a:p>
          <a:p>
            <a:endParaRPr/>
          </a:p>
          <a:p>
            <a:r>
              <a:t>La interfaz rica no debe ser otra app desconectada. Es una superficie del mismo contexto de trabajo —y del Case cuando exista—. Si el usuario aprueba algo en una vista web, la aprobación debe pasar por Gu OS governance y generar evidencia.</a:t>
            </a:r>
          </a:p>
          <a:p>
            <a:endParaRPr/>
          </a:p>
          <a:p>
            <a:r>
              <a:t>---</a:t>
            </a:r>
          </a:p>
          <a:p>
            <a:r>
              <a:t>Conversational-first, dynamically visual when needed</a:t>
            </a:r>
          </a:p>
          <a:p>
            <a:endParaRPr/>
          </a:p>
          <a:p>
            <a:r>
              <a:t>---</a:t>
            </a:r>
          </a:p>
          <a:p>
            <a:endParaRPr/>
          </a:p>
          <a:p>
            <a:r>
              <a:t>Idealmente:</a:t>
            </a:r>
          </a:p>
          <a:p>
            <a:r>
              <a:t>Gu lleva al usuario exactamente a la información que necesita. </a:t>
            </a:r>
          </a:p>
          <a:p>
            <a:r>
              <a:t>La vista se genera o selecciona según el trabajo (ej. Case) y el contexto. </a:t>
            </a:r>
          </a:p>
          <a:p>
            <a:r>
              <a:t>El usuario observa, compara o comprende. </a:t>
            </a:r>
          </a:p>
          <a:p>
            <a:r>
              <a:t>Regresa naturalmente a la conversación o a la acción específica. </a:t>
            </a:r>
          </a:p>
          <a:p>
            <a:r>
              <a:t>El contexto operacional —y el Case cuando exista— sigue siendo la fuente de verdad. </a:t>
            </a:r>
          </a:p>
          <a:p>
            <a:endParaRPr/>
          </a:p>
          <a:p>
            <a:r>
              <a:t>Es decir:</a:t>
            </a:r>
          </a:p>
          <a:p>
            <a:r>
              <a:t>La UI deja de ser el lugar donde el usuario busca qué hacer; se convierte en la superficie que Gu presenta cuando ver es mejor que conversar.</a:t>
            </a:r>
          </a:p>
          <a:p>
            <a:endParaRPr/>
          </a:p>
          <a:p>
            <a:r>
              <a:t>---</a:t>
            </a:r>
          </a:p>
          <a:p>
            <a:endParaRPr/>
          </a:p>
          <a:p>
            <a:r>
              <a:t>NO necesariamente tiene por qué pertenecer a un Case</a:t>
            </a:r>
          </a:p>
          <a:p>
            <a:r>
              <a:t>Éste es el ajuste más importante.</a:t>
            </a:r>
          </a:p>
          <a:p>
            <a:r>
              <a:t>Mi frase anterior:</a:t>
            </a:r>
          </a:p>
          <a:p>
            <a:r>
              <a:t>“la vista enriquecida debe seguir ligada al mismo Case…”</a:t>
            </a:r>
          </a:p>
          <a:p>
            <a:r>
              <a:t>era demasiado restrictiva.</a:t>
            </a:r>
          </a:p>
          <a:p>
            <a:r>
              <a:t>Como ya acabamos de enseñar en la slide de abstracciones:</a:t>
            </a:r>
          </a:p>
          <a:p>
            <a:r>
              <a:t>No todo tiene que convertirse en Caso. Se usa la abstracción más pequeña que sea suficiente para el trabajo.</a:t>
            </a:r>
          </a:p>
          <a:p>
            <a:r>
              <a:t>Por tanto, sería incoherente exigir ahora que toda UI contextual esté asociada a un Case.</a:t>
            </a:r>
          </a:p>
          <a:p>
            <a:endParaRPr/>
          </a:p>
          <a:p>
            <a:r>
              <a:t>Podría haber, por ejemplo:</a:t>
            </a:r>
          </a:p>
          <a:p>
            <a:r>
              <a:t>Una solicitud puntual</a:t>
            </a:r>
          </a:p>
          <a:p>
            <a:r>
              <a:t>El usuario dice:</a:t>
            </a:r>
          </a:p>
          <a:p>
            <a:r>
              <a:t>“Compárame estas cinco propiedades en precio/m², ubicación y características.”</a:t>
            </a:r>
          </a:p>
          <a:p>
            <a:r>
              <a:t>Gu podría generar una vista comparativa temporal sin crear ningún Case.</a:t>
            </a:r>
          </a:p>
          <a:p>
            <a:endParaRPr/>
          </a:p>
          <a:p>
            <a:r>
              <a:t>Un análisis</a:t>
            </a:r>
          </a:p>
          <a:p>
            <a:r>
              <a:t>“¿Cómo están funcionando mis campañas esta semana?”</a:t>
            </a:r>
          </a:p>
          <a:p>
            <a:r>
              <a:t>Gu podría presentar un dashboard/vista de análisis sobre datos existentes. No necesariamente existe un Case.</a:t>
            </a:r>
          </a:p>
          <a:p>
            <a:endParaRPr/>
          </a:p>
          <a:p>
            <a:r>
              <a:t>Una búsqueda</a:t>
            </a:r>
          </a:p>
          <a:p>
            <a:r>
              <a:t>“Muéstrame en un mapa las propiedades con estas características.”</a:t>
            </a:r>
          </a:p>
          <a:p>
            <a:r>
              <a:t>Puede aparecer una vista de mapa ligada a esa solicitud/interacción, no a un Case.</a:t>
            </a:r>
          </a:p>
          <a:p>
            <a:endParaRPr/>
          </a:p>
          <a:p>
            <a:r>
              <a:t>Un artefacto</a:t>
            </a:r>
          </a:p>
          <a:p>
            <a:r>
              <a:t>“Prepárame un resumen de este expediente.”</a:t>
            </a:r>
          </a:p>
          <a:p>
            <a:r>
              <a:t>Podría producirse un documento/vista contextual sin necesitar una responsabilidad operacional durable.</a:t>
            </a:r>
          </a:p>
          <a:p>
            <a:endParaRPr/>
          </a:p>
          <a:p>
            <a:r>
              <a:t>Entonces, ¿a qué debe estar ligada la vista?</a:t>
            </a:r>
          </a:p>
          <a:p>
            <a:r>
              <a:t>A algo más general: al contexto operacional que la originó.</a:t>
            </a:r>
          </a:p>
          <a:p>
            <a:endParaRPr/>
          </a:p>
          <a:p>
            <a:r>
              <a:t>Ese contexto podría ser:</a:t>
            </a:r>
          </a:p>
          <a:p>
            <a:r>
              <a:t>un Case, cuando existe; </a:t>
            </a:r>
          </a:p>
          <a:p>
            <a:r>
              <a:t>un Work Item; </a:t>
            </a:r>
          </a:p>
          <a:p>
            <a:r>
              <a:t>una solicitud/interacción; </a:t>
            </a:r>
          </a:p>
          <a:p>
            <a:r>
              <a:t>un artefacto; </a:t>
            </a:r>
          </a:p>
          <a:p>
            <a:r>
              <a:t>un conjunto de datos o entidades; </a:t>
            </a:r>
          </a:p>
          <a:p>
            <a:r>
              <a:t>eventualmente una tarea durable independiente. </a:t>
            </a:r>
          </a:p>
          <a:p>
            <a:endParaRPr/>
          </a:p>
          <a:p>
            <a:r>
              <a:t>Y siempre debería conservar, según corresponda:</a:t>
            </a:r>
          </a:p>
          <a:p>
            <a:r>
              <a:t>identidad/contexto + permisos + procedencia de datos + trazabilidad + vigencia.</a:t>
            </a:r>
          </a:p>
          <a:p>
            <a:endParaRPr/>
          </a:p>
          <a:p>
            <a:r>
              <a:t>---</a:t>
            </a:r>
          </a:p>
          <a:p>
            <a:r>
              <a:t>Hay además una propiedad arquitectónica útil</a:t>
            </a:r>
          </a:p>
          <a:p>
            <a:r>
              <a:t>Una vista contextual debería ser, en principio: una representación de información, no una nueva fuente independiente de verdad.</a:t>
            </a:r>
          </a:p>
          <a:p>
            <a:endParaRPr/>
          </a:p>
          <a:p>
            <a:r>
              <a:t>Por ejemplo:</a:t>
            </a:r>
          </a:p>
          <a:p>
            <a:endParaRPr/>
          </a:p>
          <a:p>
            <a:r>
              <a:t>Datos autoritativos / Case / Work Item / resultado</a:t>
            </a:r>
          </a:p>
          <a:p>
            <a:r>
              <a:t>                    ↓</a:t>
            </a:r>
          </a:p>
          <a:p>
            <a:r>
              <a:t>             Vista contextual</a:t>
            </a:r>
          </a:p>
          <a:p>
            <a:endParaRPr/>
          </a:p>
          <a:p>
            <a:r>
              <a:t>No:</a:t>
            </a:r>
          </a:p>
          <a:p>
            <a:endParaRPr/>
          </a:p>
          <a:p>
            <a:r>
              <a:t>Case                         Vista web</a:t>
            </a:r>
          </a:p>
          <a:p>
            <a:r>
              <a:t> ↓                              ↓</a:t>
            </a:r>
          </a:p>
          <a:p>
            <a:r>
              <a:t>verdad A                     verdad B</a:t>
            </a:r>
          </a:p>
          <a:p>
            <a:endParaRPr/>
          </a:p>
          <a:p>
            <a:r>
              <a:t>La vista puede ser:</a:t>
            </a:r>
          </a:p>
          <a:p>
            <a:r>
              <a:t>temporal; </a:t>
            </a:r>
          </a:p>
          <a:p>
            <a:r>
              <a:t>regenerable; </a:t>
            </a:r>
          </a:p>
          <a:p>
            <a:r>
              <a:t>firmada mediante una URL; </a:t>
            </a:r>
          </a:p>
          <a:p>
            <a:r>
              <a:t>con TTL; </a:t>
            </a:r>
          </a:p>
          <a:p>
            <a:r>
              <a:t>autenticada; </a:t>
            </a:r>
          </a:p>
          <a:p>
            <a:r>
              <a:t>reusable si se transforma en artefacto permanente; </a:t>
            </a:r>
          </a:p>
          <a:p>
            <a:r>
              <a:t>dependiendo de su propósito.</a:t>
            </a:r>
          </a:p>
          <a:p>
            <a:endParaRPr/>
          </a:p>
          <a:p>
            <a:r>
              <a:t>Eso conecta con nuestra discusión anterior sobre adaptive/dynamic interfaces: algunas pueden ser vistas preconstruidas y parametrizadas; otras podrían componerse dinámicamente para una necesidad específica.</a:t>
            </a:r>
          </a:p>
          <a:p>
            <a:endParaRPr/>
          </a:p>
          <a:p>
            <a:endParaRPr/>
          </a:p>
        </p:txBody>
      </p:sp>
      <p:sp>
        <p:nvSpPr>
          <p:cNvPr id="707"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E8470E3-E17D-4CB0-8FF4-91C9B2E02F2F}" type="slidenum">
              <a:rPr lang="en-US" sz="1200" b="0" u="none" strike="noStrike">
                <a:solidFill>
                  <a:schemeClr val="dk1"/>
                </a:solidFill>
                <a:effectLst/>
                <a:uFillTx/>
                <a:latin typeface="+mn-lt"/>
                <a:ea typeface="+mn-ea"/>
              </a:rPr>
              <a:t>19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8" name="PlaceHolder 1"/>
          <p:cNvSpPr>
            <a:spLocks noGrp="1" noRot="1" noChangeAspect="1"/>
          </p:cNvSpPr>
          <p:nvPr>
            <p:ph type="sldImg"/>
          </p:nvPr>
        </p:nvSpPr>
        <p:spPr>
          <a:xfrm>
            <a:off x="685800" y="1143000"/>
            <a:ext cx="5486400" cy="3086100"/>
          </a:xfrm>
          <a:prstGeom prst="rect">
            <a:avLst/>
          </a:prstGeom>
          <a:ln w="0">
            <a:noFill/>
          </a:ln>
        </p:spPr>
        <p:txBody>
          <a:bodyPr/>
          <a:lstStyle/>
          <a:p>
            <a:endParaRPr/>
          </a:p>
        </p:txBody>
      </p:sp>
      <p:sp>
        <p:nvSpPr>
          <p:cNvPr id="7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t>Gu → Gu OS — Session 1</a:t>
            </a:r>
          </a:p>
          <a:p>
            <a:endParaRPr/>
          </a:p>
          <a:p>
            <a:r>
              <a:t>Usar Avaclick como ejemplo si hace falta: no necesitamos construir el motor de valuación, pero Gu OS no necesita poseer el motor de valuación; debe orquestarlo dentro del trabajo: cuándo invocarlo, con qué inputs, bajo qué permisos, cómo verificar el resultado, qué evidencia conservar y qué ocurre después.</a:t>
            </a:r>
          </a:p>
          <a:p>
            <a:endParaRPr/>
          </a:p>
          <a:p>
            <a:r>
              <a:t>“Poseer no significa necesariamente construir todo desde cero. Una vez decidido qué debemos poseer, elegimos cómo obtener esa capacidad: construir, absorber selectivamente o eventualmente adquirir. Cuando decidimos orquestar, podemos integrar, contratar o trabajar con partners.”</a:t>
            </a:r>
          </a:p>
          <a:p>
            <a:endParaRPr/>
          </a:p>
          <a:p>
            <a:r>
              <a:t>--</a:t>
            </a:r>
          </a:p>
          <a:p>
            <a:r>
              <a:t>Framework POSEER / ORQUESTAR</a:t>
            </a:r>
          </a:p>
          <a:p>
            <a:endParaRPr/>
          </a:p>
          <a:p>
            <a:r>
              <a:t>1. Idea fundamental</a:t>
            </a:r>
          </a:p>
          <a:p>
            <a:endParaRPr/>
          </a:p>
          <a:p>
            <a:r>
              <a:t>Este framework separa dos niveles de decisión que no debemos mezclar.</a:t>
            </a:r>
          </a:p>
          <a:p>
            <a:endParaRPr/>
          </a:p>
          <a:p>
            <a:r>
              <a:t>La pregunta inicial no es:</a:t>
            </a:r>
          </a:p>
          <a:p>
            <a:endParaRPr/>
          </a:p>
          <a:p>
            <a:r>
              <a:t>“¿Lo construimos nosotros o usamos un partner?”</a:t>
            </a:r>
          </a:p>
          <a:p>
            <a:r>
              <a:t>Eso mezcla propiedad estratégica, implementación técnica y relación comercial.</a:t>
            </a:r>
          </a:p>
          <a:p>
            <a:endParaRPr/>
          </a:p>
          <a:p>
            <a:r>
              <a:t>El orden correcto es:</a:t>
            </a:r>
          </a:p>
          <a:p>
            <a:endParaRPr/>
          </a:p>
          <a:p>
            <a:r>
              <a:t>Nivel 1 — Decisión estratégica</a:t>
            </a:r>
          </a:p>
          <a:p>
            <a:r>
              <a:t>¿Esta capability debe vivir y evolucionar dentro de Gu OS o puede permanecer externa?</a:t>
            </a:r>
            <a:br/>
            <a:r>
              <a:t>→ POSEER vs. ORQUESTAR</a:t>
            </a:r>
          </a:p>
          <a:p>
            <a:endParaRPr/>
          </a:p>
          <a:p>
            <a:r>
              <a:t>Nivel 2 — Decisión de implementación / abastecimiento</a:t>
            </a:r>
          </a:p>
          <a:p>
            <a:r>
              <a:t>Una vez decidido lo anterior, ¿cómo obtenemos o accedemos a esa capability?</a:t>
            </a:r>
          </a:p>
          <a:p>
            <a:r>
              <a:t>La frase para recordar es:</a:t>
            </a:r>
          </a:p>
          <a:p>
            <a:r>
              <a:t>Primero decidimos dónde debe vivir la capability. Después decidimos cómo obtenerla.</a:t>
            </a:r>
          </a:p>
          <a:p>
            <a:br/>
            <a:endParaRPr/>
          </a:p>
          <a:p>
            <a:r>
              <a:t>2. Una aclaración crítica: la responsabilidad de Gu existe en ambos casos</a:t>
            </a:r>
          </a:p>
          <a:p>
            <a:endParaRPr/>
          </a:p>
          <a:p>
            <a:r>
              <a:t>POSEER vs. ORQUESTAR no distingue quién es responsable del resultado global frente al usuario.</a:t>
            </a:r>
          </a:p>
          <a:p>
            <a:endParaRPr/>
          </a:p>
          <a:p>
            <a:r>
              <a:t>Cuando Gu acepta un objetivo de negocio, Gu OS conserva la continuidad del trabajo independientemente de que algunas capabilities sean propias y otras externas.</a:t>
            </a:r>
          </a:p>
          <a:p>
            <a:endParaRPr/>
          </a:p>
          <a:p>
            <a:r>
              <a:t>Por ejemplo, en Property Optioning, Gu puede mantener la responsabilidad de avanzar una propiedad hasta publicación aunque:</a:t>
            </a:r>
          </a:p>
          <a:p>
            <a:r>
              <a:t>Avaclick haga una valuación; </a:t>
            </a:r>
          </a:p>
          <a:p>
            <a:r>
              <a:t>EasyBroker haga la publicación; </a:t>
            </a:r>
          </a:p>
          <a:p>
            <a:r>
              <a:t>WhatsApp entregue mensajes; </a:t>
            </a:r>
          </a:p>
          <a:p>
            <a:r>
              <a:t>un modelo fundacional haga parte del razonamiento. </a:t>
            </a:r>
          </a:p>
          <a:p>
            <a:endParaRPr/>
          </a:p>
          <a:p>
            <a:r>
              <a:t>Por tanto:</a:t>
            </a:r>
          </a:p>
          <a:p>
            <a:r>
              <a:t>La responsabilidad y continuidad del trabajo de Gu existen tanto cuando POSEEMOS como cuando ORQUESTAMOS.</a:t>
            </a:r>
          </a:p>
          <a:p>
            <a:r>
              <a:t>La frontera POSEER/ORQUESTAR está en la capability, no en la responsabilidad global de Gu.</a:t>
            </a:r>
          </a:p>
          <a:p>
            <a:br/>
            <a:endParaRPr/>
          </a:p>
          <a:p>
            <a:r>
              <a:t>3. Nivel 1 — POSEER vs. ORQUESTAR</a:t>
            </a:r>
          </a:p>
          <a:p>
            <a:endParaRPr/>
          </a:p>
          <a:p>
            <a:r>
              <a:t>POSEER</a:t>
            </a:r>
          </a:p>
          <a:p>
            <a:endParaRPr/>
          </a:p>
          <a:p>
            <a:r>
              <a:t>POSEER significa:</a:t>
            </a:r>
          </a:p>
          <a:p>
            <a:r>
              <a:t>La capability y el mecanismo que la hace funcionar deben formar parte del núcleo propio de Gu OS porque contribuyen materialmente a nuestra diferenciación y necesitan evolucionar con nuestro producto.</a:t>
            </a:r>
          </a:p>
          <a:p>
            <a:endParaRPr/>
          </a:p>
          <a:p>
            <a:r>
              <a:t>No significa que absolutamente todo el código o infraestructura tenga que ser creado por Ungga.</a:t>
            </a:r>
          </a:p>
          <a:p>
            <a:endParaRPr/>
          </a:p>
          <a:p>
            <a:r>
              <a:t>Podemos poseer una capability construida sobre:</a:t>
            </a:r>
          </a:p>
          <a:p>
            <a:r>
              <a:t>PostgreSQL; </a:t>
            </a:r>
          </a:p>
          <a:p>
            <a:r>
              <a:t>LangGraph; </a:t>
            </a:r>
          </a:p>
          <a:p>
            <a:r>
              <a:t>modelos fundacionales externos; </a:t>
            </a:r>
          </a:p>
          <a:p>
            <a:r>
              <a:t>librerías open source; </a:t>
            </a:r>
          </a:p>
          <a:p>
            <a:r>
              <a:t>servicios cloud. </a:t>
            </a:r>
          </a:p>
          <a:p>
            <a:endParaRPr/>
          </a:p>
          <a:p>
            <a:r>
              <a:t>Lo que poseemos es la semántica, arquitectura y comportamiento diferenciador de esa capability.</a:t>
            </a:r>
          </a:p>
          <a:p>
            <a:endParaRPr/>
          </a:p>
          <a:p>
            <a:r>
              <a:t>Señales fuertes hacia POSEER</a:t>
            </a:r>
          </a:p>
          <a:p>
            <a:endParaRPr/>
          </a:p>
          <a:p>
            <a:r>
              <a:t>Una capability tiende a ser propia cuando:</a:t>
            </a:r>
          </a:p>
          <a:p>
            <a:r>
              <a:t>su mecanismo interno, no sólo su output, es parte de la diferenciación de Gu; </a:t>
            </a:r>
          </a:p>
          <a:p>
            <a:r>
              <a:t>necesitamos definir y evolucionar internamente su semántica de negocio; </a:t>
            </a:r>
          </a:p>
          <a:p>
            <a:r>
              <a:t>necesita estado durable o continuidad propia; </a:t>
            </a:r>
          </a:p>
          <a:p>
            <a:r>
              <a:t>sus reglas, gobernanza o forma de operar son parte del operating model de Gu; </a:t>
            </a:r>
          </a:p>
          <a:p>
            <a:r>
              <a:t>conecta profundamente varios dominios; </a:t>
            </a:r>
          </a:p>
          <a:p>
            <a:r>
              <a:t>el contexto, datos y feedback propios de Ungga pueden mejorar el mecanismo de manera acumulativa; </a:t>
            </a:r>
          </a:p>
          <a:p>
            <a:r>
              <a:t>sustituirla cambiaría materialmente cómo opera Gu; </a:t>
            </a:r>
          </a:p>
          <a:p>
            <a:r>
              <a:t>externalizarla entregaría a otro sistema un punto de control estratégico; </a:t>
            </a:r>
          </a:p>
          <a:p>
            <a:r>
              <a:t>produce un network effect o activo difícil de replicar que queremos conservar. </a:t>
            </a:r>
          </a:p>
          <a:p>
            <a:endParaRPr/>
          </a:p>
          <a:p>
            <a:r>
              <a:t>Ejemplos</a:t>
            </a:r>
          </a:p>
          <a:p>
            <a:endParaRPr/>
          </a:p>
          <a:p>
            <a:r>
              <a:t>Operational Cases / Work Items → POSEER</a:t>
            </a:r>
            <a:br/>
            <a:r>
              <a:t>Porque la forma en que Gu representa objetivos durables, estado, esperas, evidencia, intervención humana y continuidad es parte esencial de Gu OS.</a:t>
            </a:r>
          </a:p>
          <a:p>
            <a:endParaRPr/>
          </a:p>
          <a:p>
            <a:r>
              <a:t>Relationship Operations → POSEER</a:t>
            </a:r>
            <a:br/>
            <a:r>
              <a:t>Porque “cómo hacer avanzar una oportunidad” es justamente una parte central de nuestra propuesta de valor. No queremos que un CRM externo sea quien defina esa lógica.</a:t>
            </a:r>
          </a:p>
          <a:p>
            <a:endParaRPr/>
          </a:p>
          <a:p>
            <a:r>
              <a:t>Business Brain → POSEER</a:t>
            </a:r>
            <a:br/>
            <a:r>
              <a:t>Porque el conocimiento organizacional cross-Case y su evolución constituyen un activo acumulativo propio.</a:t>
            </a:r>
          </a:p>
          <a:p>
            <a:endParaRPr/>
          </a:p>
          <a:p>
            <a:r>
              <a:t>Shared Inventory / Network logic → en gran medida POSEER</a:t>
            </a:r>
            <a:br/>
            <a:r>
              <a:t>Porque la red, el routing de oportunidades y ciertos puntos de control pueden convertirse en activos y efectos de red propios.</a:t>
            </a:r>
          </a:p>
          <a:p>
            <a:br/>
            <a:endParaRPr/>
          </a:p>
          <a:p>
            <a:r>
              <a:t>ORQUESTAR</a:t>
            </a:r>
          </a:p>
          <a:p>
            <a:endParaRPr/>
          </a:p>
          <a:p>
            <a:r>
              <a:t>ORQUESTAR significa:</a:t>
            </a:r>
          </a:p>
          <a:p>
            <a:r>
              <a:t>Gu OS utiliza una capability especializada cuya implementación interna puede permanecer fuera de Ungga y tratarse mediante un contrato suficientemente claro.</a:t>
            </a:r>
          </a:p>
          <a:p>
            <a:endParaRPr/>
          </a:p>
          <a:p>
            <a:r>
              <a:t>Gu conserva el contexto del trabajo y decide:</a:t>
            </a:r>
          </a:p>
          <a:p>
            <a:r>
              <a:t>cuándo utilizarla; </a:t>
            </a:r>
          </a:p>
          <a:p>
            <a:r>
              <a:t>qué inputs proporcionarle; </a:t>
            </a:r>
          </a:p>
          <a:p>
            <a:r>
              <a:t>bajo qué permisos; </a:t>
            </a:r>
          </a:p>
          <a:p>
            <a:r>
              <a:t>qué constraints aplicar; </a:t>
            </a:r>
          </a:p>
          <a:p>
            <a:r>
              <a:t>qué output esperar; </a:t>
            </a:r>
          </a:p>
          <a:p>
            <a:r>
              <a:t>cómo validar o verificar ese output; </a:t>
            </a:r>
          </a:p>
          <a:p>
            <a:r>
              <a:t>qué evidencia conservar; </a:t>
            </a:r>
          </a:p>
          <a:p>
            <a:r>
              <a:t>cómo incorporarlo al trabajo; </a:t>
            </a:r>
          </a:p>
          <a:p>
            <a:r>
              <a:t>y qué hacer después. </a:t>
            </a:r>
          </a:p>
          <a:p>
            <a:endParaRPr/>
          </a:p>
          <a:p>
            <a:r>
              <a:t>Pero no necesitamos poseer cómo la capability produce internamente su resultado.</a:t>
            </a:r>
          </a:p>
          <a:p>
            <a:r>
              <a:t>El “black box test”</a:t>
            </a:r>
          </a:p>
          <a:p>
            <a:endParaRPr/>
          </a:p>
          <a:p>
            <a:r>
              <a:t>Una pregunta muy útil es:</a:t>
            </a:r>
          </a:p>
          <a:p>
            <a:endParaRPr/>
          </a:p>
          <a:p>
            <a:r>
              <a:t>¿Podemos tratar esta capability como una caja negra con inputs, outputs y criterios de aceptación claros?</a:t>
            </a:r>
          </a:p>
          <a:p>
            <a:r>
              <a:t>Si sí, es una señal fuerte hacia ORQUESTAR.</a:t>
            </a:r>
          </a:p>
          <a:p>
            <a:endParaRPr/>
          </a:p>
          <a:p>
            <a:r>
              <a:t>Otra prueba:</a:t>
            </a:r>
          </a:p>
          <a:p>
            <a:r>
              <a:t>Si mañana cambiamos de proveedor o implementación, ¿Gu puede seguir cumpliendo el mismo objetivo sin rediseñar su operating model ni perder su diferenciación?</a:t>
            </a:r>
          </a:p>
          <a:p>
            <a:r>
              <a:t>Si sí, también favorece ORQUESTAR.</a:t>
            </a:r>
          </a:p>
          <a:p>
            <a:endParaRPr/>
          </a:p>
          <a:p>
            <a:r>
              <a:t>Señales fuertes hacia ORQUESTAR</a:t>
            </a:r>
          </a:p>
          <a:p>
            <a:r>
              <a:t>la capability puede encapsularse con un contrato claro; </a:t>
            </a:r>
          </a:p>
          <a:p>
            <a:r>
              <a:t>su implementación interna no es parte importante de nuestra diferenciación; </a:t>
            </a:r>
          </a:p>
          <a:p>
            <a:r>
              <a:t>existe expertise, infraestructura o datos especializados externos que sería costoso reproducir; </a:t>
            </a:r>
          </a:p>
          <a:p>
            <a:r>
              <a:t>podemos conservar dentro de Gu OS los outputs, evidencia y feedback relevantes; </a:t>
            </a:r>
          </a:p>
          <a:p>
            <a:r>
              <a:t>podemos sustituir proveedor mediante un adapter/integración sin romper la operación; </a:t>
            </a:r>
          </a:p>
          <a:p>
            <a:r>
              <a:t>construirla nosotros consumiría recursos sin mejorar materialmente nuestra ventaja; </a:t>
            </a:r>
          </a:p>
          <a:p>
            <a:r>
              <a:t>necesitamos el resultado de la capability, pero no poseer su método interno. </a:t>
            </a:r>
          </a:p>
          <a:p>
            <a:endParaRPr/>
          </a:p>
          <a:p>
            <a:r>
              <a:t>Ejemplos</a:t>
            </a:r>
          </a:p>
          <a:p>
            <a:endParaRPr/>
          </a:p>
          <a:p>
            <a:r>
              <a:t>Modelos fundacionales → ORQUESTAR</a:t>
            </a:r>
            <a:br/>
            <a:r>
              <a:t>Necesitamos razonamiento de alto nivel, pero no necesitamos poseer cómo se entrena GPT, Claude u otro modelo.</a:t>
            </a:r>
          </a:p>
          <a:p>
            <a:endParaRPr/>
          </a:p>
          <a:p>
            <a:r>
              <a:t>WhatsApp / Telegram → ORQUESTAR</a:t>
            </a:r>
            <a:br/>
            <a:r>
              <a:t>Necesitamos mensajería fiable, pero no poseer la infraestructura global de mensajería.</a:t>
            </a:r>
          </a:p>
          <a:p>
            <a:endParaRPr/>
          </a:p>
          <a:p>
            <a:r>
              <a:t>Avaclick → ORQUESTAR, al menos hoy</a:t>
            </a:r>
            <a:br/>
            <a:r>
              <a:t>Necesitamos la valuación y su evidencia; no necesariamente poseer el motor interno de valuación.</a:t>
            </a:r>
          </a:p>
          <a:p>
            <a:endParaRPr/>
          </a:p>
          <a:p>
            <a:r>
              <a:t>MICA → ORQUESTAR</a:t>
            </a:r>
            <a:br/>
            <a:r>
              <a:t>Utilizamos una capability especializada de investigación/protección de arrendamiento.</a:t>
            </a:r>
          </a:p>
          <a:p>
            <a:endParaRPr/>
          </a:p>
          <a:p>
            <a:r>
              <a:t>Portales inmobiliarios → ORQUESTAR mientras sean canales externos relevantes.</a:t>
            </a:r>
          </a:p>
          <a:p>
            <a:br/>
            <a:endParaRPr/>
          </a:p>
          <a:p>
            <a:r>
              <a:t>4. Lo más importante: ORQUESTAR no significa “ceder el control del trabajo”</a:t>
            </a:r>
          </a:p>
          <a:p>
            <a:r>
              <a:t>Una capability externa puede estar perfectamente orquestada y, aun así, Gu OS conservar:</a:t>
            </a:r>
          </a:p>
          <a:p>
            <a:r>
              <a:t>contexto; </a:t>
            </a:r>
          </a:p>
          <a:p>
            <a:r>
              <a:t>políticas; </a:t>
            </a:r>
          </a:p>
          <a:p>
            <a:r>
              <a:t>permisos; </a:t>
            </a:r>
          </a:p>
          <a:p>
            <a:r>
              <a:t>evidencia; </a:t>
            </a:r>
          </a:p>
          <a:p>
            <a:r>
              <a:t>continuidad; </a:t>
            </a:r>
          </a:p>
          <a:p>
            <a:r>
              <a:t>outcome feedback; </a:t>
            </a:r>
          </a:p>
          <a:p>
            <a:r>
              <a:t>aprendizaje. </a:t>
            </a:r>
          </a:p>
          <a:p>
            <a:endParaRPr/>
          </a:p>
          <a:p>
            <a:r>
              <a:t>Ejemplo: Avaclick.</a:t>
            </a:r>
          </a:p>
          <a:p>
            <a:endParaRPr/>
          </a:p>
          <a:p>
            <a:r>
              <a:t>Gu puede determinar:</a:t>
            </a:r>
          </a:p>
          <a:p>
            <a:r>
              <a:t>necesito una valuación → recopilo los inputs → verifico autorización → invoco Avaclick → recibo resultado → verifico que sea utilizable → lo incorporo al Case → solicito decisión de precio cuando corresponda → continúo.</a:t>
            </a:r>
          </a:p>
          <a:p>
            <a:endParaRPr/>
          </a:p>
          <a:p>
            <a:r>
              <a:t>Avaclick produce el cálculo.</a:t>
            </a:r>
          </a:p>
          <a:p>
            <a:r>
              <a:t>Gu OS orquesta cómo ese cálculo participa en el trabajo.</a:t>
            </a:r>
          </a:p>
          <a:p>
            <a:endParaRPr/>
          </a:p>
          <a:p>
            <a:r>
              <a:t>Por eso:</a:t>
            </a:r>
          </a:p>
          <a:p>
            <a:r>
              <a:t>ORQUESTAR no es simplemente “conectarse a una API”.</a:t>
            </a:r>
          </a:p>
          <a:p>
            <a:r>
              <a:t>Es mantener la intención y continuidad del trabajo mientras movilizamos una capability especializada externa.</a:t>
            </a:r>
          </a:p>
          <a:p>
            <a:br/>
            <a:endParaRPr/>
          </a:p>
          <a:p>
            <a:r>
              <a:t>5. El aprendizaje propio tampoco obliga a POSEER la capability</a:t>
            </a:r>
          </a:p>
          <a:p>
            <a:r>
              <a:t>Una capability externa puede generar outputs que enriquecen la inteligencia propia de Gu OS.</a:t>
            </a:r>
          </a:p>
          <a:p>
            <a:endParaRPr/>
          </a:p>
          <a:p>
            <a:r>
              <a:t>Ejemplo:</a:t>
            </a:r>
          </a:p>
          <a:p>
            <a:r>
              <a:t>Avaclick puede generar una valuación externa, mientras Ungga conserva:</a:t>
            </a:r>
          </a:p>
          <a:p>
            <a:r>
              <a:t>propiedad → valuación → precio finalmente aprobado → visitas → ofertas → resultado real.</a:t>
            </a:r>
          </a:p>
          <a:p>
            <a:endParaRPr/>
          </a:p>
          <a:p>
            <a:r>
              <a:t>Ese histórico puede enriquecer Business Brain y Outcome Feedback.</a:t>
            </a:r>
          </a:p>
          <a:p>
            <a:endParaRPr/>
          </a:p>
          <a:p>
            <a:r>
              <a:t>Por tanto:</a:t>
            </a:r>
          </a:p>
          <a:p>
            <a:r>
              <a:t>capturar aprendizaje de una capability externa es compatible con ORQUESTAR.</a:t>
            </a:r>
          </a:p>
          <a:p>
            <a:r>
              <a:t>La señal hacia POSEER aparece cuando el mecanismo interno de la capability empieza a ser una fuente diferenciadora.</a:t>
            </a:r>
          </a:p>
          <a:p>
            <a:endParaRPr/>
          </a:p>
          <a:p>
            <a:r>
              <a:t>Ejemplo futuro:</a:t>
            </a:r>
          </a:p>
          <a:p>
            <a:endParaRPr/>
          </a:p>
          <a:p>
            <a:r>
              <a:t>Si Ungga acumula suficientes datos propios de:</a:t>
            </a:r>
          </a:p>
          <a:p>
            <a:r>
              <a:t>precio sugerido → precio aprobado → demanda → visitas → ofertas → cierre</a:t>
            </a:r>
          </a:p>
          <a:p>
            <a:r>
              <a:t>y descubre que un motor de pricing propio mejora materialmente resultados y crea una ventaja difícil de copiar, entonces la frontera podría moverse:</a:t>
            </a:r>
          </a:p>
          <a:p>
            <a:r>
              <a:t>ORQUESTAR valuación → POSEER valuación/pricing intelligence</a:t>
            </a:r>
          </a:p>
          <a:p>
            <a:r>
              <a:t>El framework es dinámico; las decisiones pueden cambiar con el tiempo.</a:t>
            </a:r>
          </a:p>
          <a:p>
            <a:br/>
            <a:endParaRPr/>
          </a:p>
          <a:p>
            <a:r>
              <a:t>6. Importancia estratégica vs. necesidad de poseer</a:t>
            </a:r>
          </a:p>
          <a:p>
            <a:endParaRPr/>
          </a:p>
          <a:p>
            <a:r>
              <a:t>No debemos confundir:</a:t>
            </a:r>
          </a:p>
          <a:p>
            <a:r>
              <a:t>“Esta capability es estratégicamente importante”</a:t>
            </a:r>
          </a:p>
          <a:p>
            <a:r>
              <a:t>con:</a:t>
            </a:r>
          </a:p>
          <a:p>
            <a:r>
              <a:t>“Necesitamos poseer esta capability para tener ventaja estratégica”.</a:t>
            </a:r>
          </a:p>
          <a:p>
            <a:endParaRPr/>
          </a:p>
          <a:p>
            <a:r>
              <a:t>WhatsApp puede ser extremadamente importante para Gu y seguir siendo ORQUESTADO.</a:t>
            </a:r>
          </a:p>
          <a:p>
            <a:r>
              <a:t>Un foundation model puede ser crítico para la calidad del producto y seguir siendo ORQUESTADO.</a:t>
            </a:r>
          </a:p>
          <a:p>
            <a:endParaRPr/>
          </a:p>
          <a:p>
            <a:r>
              <a:t>La pregunta es:</a:t>
            </a:r>
          </a:p>
          <a:p>
            <a:r>
              <a:t>¿La ventaja diferenciadora depende de que el mecanismo de esta capability viva y evolucione dentro de Gu OS?</a:t>
            </a:r>
          </a:p>
          <a:p>
            <a:r>
              <a:t>No simplemente:</a:t>
            </a:r>
          </a:p>
          <a:p>
            <a:r>
              <a:t>“¿Es importante?”</a:t>
            </a:r>
          </a:p>
          <a:p>
            <a:br/>
            <a:endParaRPr/>
          </a:p>
          <a:p>
            <a:r>
              <a:t>7. Nivel 2 — Cómo obtenemos la capability</a:t>
            </a:r>
          </a:p>
          <a:p>
            <a:endParaRPr/>
          </a:p>
          <a:p>
            <a:r>
              <a:t>Una vez decidido POSEER u ORQUESTAR, hacemos una segunda decisión.</a:t>
            </a:r>
          </a:p>
          <a:p>
            <a:endParaRPr/>
          </a:p>
          <a:p>
            <a:r>
              <a:t>Si decidimos POSEER</a:t>
            </a:r>
          </a:p>
          <a:p>
            <a:endParaRPr/>
          </a:p>
          <a:p>
            <a:r>
              <a:t>CONSTRUIR</a:t>
            </a:r>
          </a:p>
          <a:p>
            <a:r>
              <a:t>Desarrollamos la capability como parte de Gu OS.</a:t>
            </a:r>
          </a:p>
          <a:p>
            <a:endParaRPr/>
          </a:p>
          <a:p>
            <a:r>
              <a:t>Ejemplos:</a:t>
            </a:r>
          </a:p>
          <a:p>
            <a:r>
              <a:t>Operational Cases; </a:t>
            </a:r>
          </a:p>
          <a:p>
            <a:r>
              <a:t>Work Items; </a:t>
            </a:r>
          </a:p>
          <a:p>
            <a:r>
              <a:t>gobernanza; </a:t>
            </a:r>
          </a:p>
          <a:p>
            <a:r>
              <a:t>buena parte de Relationship Operations. </a:t>
            </a:r>
          </a:p>
          <a:p>
            <a:endParaRPr/>
          </a:p>
          <a:p>
            <a:r>
              <a:t>ABSORBER SELECTIVAMENTE</a:t>
            </a:r>
          </a:p>
          <a:p>
            <a:r>
              <a:t>Una categoría existente contiene muchas funcionalidades, pero sólo algunas responsabilidades son necesarias para Gu.</a:t>
            </a:r>
          </a:p>
          <a:p>
            <a:r>
              <a:t>No reconstruimos todo el software: incorporamos las capabilities estratégicas concretas.</a:t>
            </a:r>
          </a:p>
          <a:p>
            <a:endParaRPr/>
          </a:p>
          <a:p>
            <a:r>
              <a:t>Ejemplo CRM:</a:t>
            </a:r>
          </a:p>
          <a:p>
            <a:r>
              <a:t>No necesitamos recrear indiscriminadamente:</a:t>
            </a:r>
          </a:p>
          <a:p>
            <a:r>
              <a:t>formularios; </a:t>
            </a:r>
          </a:p>
          <a:p>
            <a:r>
              <a:t>menús; </a:t>
            </a:r>
          </a:p>
          <a:p>
            <a:r>
              <a:t>dashboards; </a:t>
            </a:r>
          </a:p>
          <a:p>
            <a:r>
              <a:t>pipeline tradicional; </a:t>
            </a:r>
          </a:p>
          <a:p>
            <a:r>
              <a:t>tareas manuales; </a:t>
            </a:r>
          </a:p>
          <a:p>
            <a:r>
              <a:t>pantallas heredadas. </a:t>
            </a:r>
          </a:p>
          <a:p>
            <a:r>
              <a:t>Pero sí necesitamos absorber:</a:t>
            </a:r>
          </a:p>
          <a:p>
            <a:r>
              <a:t>seguimiento durable; </a:t>
            </a:r>
          </a:p>
          <a:p>
            <a:r>
              <a:t>compromisos; </a:t>
            </a:r>
          </a:p>
          <a:p>
            <a:r>
              <a:t>continuidad de la oportunidad; </a:t>
            </a:r>
          </a:p>
          <a:p>
            <a:r>
              <a:t>estado relevante; </a:t>
            </a:r>
          </a:p>
          <a:p>
            <a:r>
              <a:t>próxima acción; </a:t>
            </a:r>
          </a:p>
          <a:p>
            <a:r>
              <a:t>outcome feedback. </a:t>
            </a:r>
          </a:p>
          <a:p>
            <a:endParaRPr/>
          </a:p>
          <a:p>
            <a:r>
              <a:t>Esto es:</a:t>
            </a:r>
          </a:p>
          <a:p>
            <a:r>
              <a:t>Integrate → orchestrate → become the operating environment → selectively absorb.</a:t>
            </a:r>
          </a:p>
          <a:p>
            <a:endParaRPr/>
          </a:p>
          <a:p>
            <a:endParaRPr/>
          </a:p>
          <a:p>
            <a:r>
              <a:t>ADQUIRIR</a:t>
            </a:r>
          </a:p>
          <a:p>
            <a:r>
              <a:t>En el futuro podría ser más eficiente comprar tecnología, IP o incluso una compañía para poseer una capability determinada.</a:t>
            </a:r>
          </a:p>
          <a:p>
            <a:r>
              <a:t>No es necesariamente una prioridad actual, pero conceptualmente existe como opción.</a:t>
            </a:r>
          </a:p>
          <a:p>
            <a:br/>
            <a:endParaRPr/>
          </a:p>
          <a:p>
            <a:r>
              <a:t>8. Si decidimos ORQUESTAR</a:t>
            </a:r>
          </a:p>
          <a:p>
            <a:r>
              <a:t>Aquí debemos separar dos cosas que antes mezclábamos:</a:t>
            </a:r>
          </a:p>
          <a:p>
            <a:endParaRPr/>
          </a:p>
          <a:p>
            <a:r>
              <a:t>A. Cómo accedemos técnicamente</a:t>
            </a:r>
          </a:p>
          <a:p>
            <a:endParaRPr/>
          </a:p>
          <a:p>
            <a:r>
              <a:t>Normalmente mediante:</a:t>
            </a:r>
          </a:p>
          <a:p>
            <a:r>
              <a:t>API; </a:t>
            </a:r>
          </a:p>
          <a:p>
            <a:r>
              <a:t>MCP; </a:t>
            </a:r>
          </a:p>
          <a:p>
            <a:r>
              <a:t>webhook; </a:t>
            </a:r>
          </a:p>
          <a:p>
            <a:r>
              <a:t>conector; </a:t>
            </a:r>
          </a:p>
          <a:p>
            <a:r>
              <a:t>protocolo; </a:t>
            </a:r>
          </a:p>
          <a:p>
            <a:r>
              <a:t>SDK; </a:t>
            </a:r>
          </a:p>
          <a:p>
            <a:r>
              <a:t>adapter. </a:t>
            </a:r>
          </a:p>
          <a:p>
            <a:endParaRPr/>
          </a:p>
          <a:p>
            <a:r>
              <a:t>Esto es INTEGRACIÓN.</a:t>
            </a:r>
          </a:p>
          <a:p>
            <a:endParaRPr/>
          </a:p>
          <a:p>
            <a:r>
              <a:t>B. Quién suministra la capability y qué relación tenemos</a:t>
            </a:r>
          </a:p>
          <a:p>
            <a:endParaRPr/>
          </a:p>
          <a:p>
            <a:r>
              <a:t>Puede ser:</a:t>
            </a:r>
          </a:p>
          <a:p>
            <a:r>
              <a:t>proveedor comercial; </a:t>
            </a:r>
          </a:p>
          <a:p>
            <a:r>
              <a:t>partner o aliado; </a:t>
            </a:r>
          </a:p>
          <a:p>
            <a:r>
              <a:t>infraestructura estándar; </a:t>
            </a:r>
          </a:p>
          <a:p>
            <a:r>
              <a:t>plataforma pública; </a:t>
            </a:r>
          </a:p>
          <a:p>
            <a:r>
              <a:t>servicio cloud; </a:t>
            </a:r>
          </a:p>
          <a:p>
            <a:r>
              <a:t>proyecto open source. </a:t>
            </a:r>
          </a:p>
          <a:p>
            <a:endParaRPr/>
          </a:p>
          <a:p>
            <a:r>
              <a:t>Por eso:</a:t>
            </a:r>
          </a:p>
          <a:p>
            <a:r>
              <a:t>INTEGRATE y PROVIDER no son alternativas.</a:t>
            </a:r>
          </a:p>
          <a:p>
            <a:r>
              <a:t>Un provider suministra la capability.</a:t>
            </a:r>
            <a:br/>
            <a:r>
              <a:t>Una integración es el mecanismo técnico para utilizarla.</a:t>
            </a:r>
          </a:p>
          <a:p>
            <a:endParaRPr/>
          </a:p>
          <a:p>
            <a:r>
              <a:t>Y:</a:t>
            </a:r>
          </a:p>
          <a:p>
            <a:r>
              <a:t>PARTNER tampoco es sinónimo de ORQUESTAR.</a:t>
            </a:r>
          </a:p>
          <a:p>
            <a:r>
              <a:t>ORQUESTAR describe nuestra postura arquitectónica respecto a la capability.</a:t>
            </a:r>
          </a:p>
          <a:p>
            <a:r>
              <a:t>PARTNER describe una posible relación comercial o estratégica con quien la proporciona.</a:t>
            </a:r>
          </a:p>
          <a:p>
            <a:endParaRPr/>
          </a:p>
          <a:p>
            <a:r>
              <a:t>Podemos tener:</a:t>
            </a:r>
          </a:p>
          <a:p>
            <a:r>
              <a:t>proveedor + integración</a:t>
            </a:r>
          </a:p>
          <a:p>
            <a:r>
              <a:t>o:</a:t>
            </a:r>
          </a:p>
          <a:p>
            <a:r>
              <a:t>partner + integración.</a:t>
            </a:r>
          </a:p>
          <a:p>
            <a:br/>
            <a:endParaRPr/>
          </a:p>
          <a:p>
            <a:r>
              <a:t>9. Ejemplo completo: CRM inmobiliario</a:t>
            </a:r>
          </a:p>
          <a:p>
            <a:endParaRPr/>
          </a:p>
          <a:p>
            <a:r>
              <a:t>El error sería preguntar:</a:t>
            </a:r>
          </a:p>
          <a:p>
            <a:r>
              <a:t>“¿Construimos un CRM o nos integramos con uno?”</a:t>
            </a:r>
          </a:p>
          <a:p>
            <a:r>
              <a:t>La categoría debe descomponerse.</a:t>
            </a:r>
          </a:p>
          <a:p>
            <a:endParaRPr/>
          </a:p>
          <a:p>
            <a:r>
              <a:t>Inventario y publicación externa</a:t>
            </a:r>
          </a:p>
          <a:p>
            <a:r>
              <a:t>Hoy puede ser:</a:t>
            </a:r>
          </a:p>
          <a:p>
            <a:r>
              <a:t>ORQUESTAR → INTEGRAR EasyBroker/Wiggot/etc.</a:t>
            </a:r>
          </a:p>
          <a:p>
            <a:r>
              <a:t>Porque siguen proporcionando cobertura e inventario útil.</a:t>
            </a:r>
          </a:p>
          <a:p>
            <a:endParaRPr/>
          </a:p>
          <a:p>
            <a:r>
              <a:t>Gestión y avance de relaciones/oportunidades</a:t>
            </a:r>
          </a:p>
          <a:p>
            <a:r>
              <a:t>Esto debería:</a:t>
            </a:r>
          </a:p>
          <a:p>
            <a:r>
              <a:t>POSEER → CONSTRUIR / ABSORBER SELECTIVAMENTE</a:t>
            </a:r>
          </a:p>
          <a:p>
            <a:r>
              <a:t>mediante Relationship Operations.</a:t>
            </a:r>
          </a:p>
          <a:p>
            <a:endParaRPr/>
          </a:p>
          <a:p>
            <a:r>
              <a:t>UI tradicional del CRM</a:t>
            </a:r>
          </a:p>
          <a:p>
            <a:r>
              <a:t>En general:</a:t>
            </a:r>
          </a:p>
          <a:p>
            <a:r>
              <a:t>NO RECONSTRUIR</a:t>
            </a:r>
          </a:p>
          <a:p>
            <a:r>
              <a:t>salvo componentes concretos que realmente necesitemos.</a:t>
            </a:r>
          </a:p>
          <a:p>
            <a:endParaRPr/>
          </a:p>
          <a:p>
            <a:r>
              <a:t>Bolsa compartida</a:t>
            </a:r>
          </a:p>
          <a:p>
            <a:r>
              <a:t>Ungga ya tiene esta capability y puede convertirse en un activo de red:</a:t>
            </a:r>
          </a:p>
          <a:p>
            <a:r>
              <a:t>POSEER y evolucionar.</a:t>
            </a:r>
          </a:p>
          <a:p>
            <a:endParaRPr/>
          </a:p>
          <a:p>
            <a:r>
              <a:t>Así, un mismo producto externo puede contener capabilities que clasificamos de maneras distintas.</a:t>
            </a:r>
          </a:p>
          <a:p>
            <a:br/>
            <a:endParaRPr/>
          </a:p>
          <a:p>
            <a:r>
              <a:t>10. Ejemplo completo: valuación</a:t>
            </a:r>
          </a:p>
          <a:p>
            <a:endParaRPr/>
          </a:p>
          <a:p>
            <a:r>
              <a:t>Responsabilidad general de Gu:</a:t>
            </a:r>
          </a:p>
          <a:p>
            <a:r>
              <a:t>avanzar un Property Optioning Case hasta publicación.</a:t>
            </a:r>
          </a:p>
          <a:p>
            <a:r>
              <a:t>Dentro de ese trabajo Gu necesita una valuación.</a:t>
            </a:r>
          </a:p>
          <a:p>
            <a:endParaRPr/>
          </a:p>
          <a:p>
            <a:r>
              <a:t>Hoy:</a:t>
            </a:r>
          </a:p>
          <a:p>
            <a:r>
              <a:t>valuación especializada → ORQUESTAR Avaclick</a:t>
            </a:r>
          </a:p>
          <a:p>
            <a:r>
              <a:t>porque puede encapsularse:</a:t>
            </a:r>
          </a:p>
          <a:p>
            <a:r>
              <a:t>Inputs</a:t>
            </a:r>
            <a:br/>
            <a:r>
              <a:t>datos de propiedad, ubicación, etc.</a:t>
            </a:r>
          </a:p>
          <a:p>
            <a:r>
              <a:t>Output</a:t>
            </a:r>
            <a:br/>
            <a:r>
              <a:t>valuación + evidencia.</a:t>
            </a:r>
          </a:p>
          <a:p>
            <a:r>
              <a:t>Criterios</a:t>
            </a:r>
            <a:br/>
            <a:r>
              <a:t>calidad, vigencia, trazabilidad.</a:t>
            </a:r>
          </a:p>
          <a:p>
            <a:endParaRPr/>
          </a:p>
          <a:p>
            <a:r>
              <a:t>Gu OS conserva:</a:t>
            </a:r>
          </a:p>
          <a:p>
            <a:r>
              <a:t>cuándo pedirla → qué información enviar → permisos → cómo evaluar resultado → qué decisión sigue.</a:t>
            </a:r>
          </a:p>
          <a:p>
            <a:r>
              <a:t>Pero no necesita poseer el algoritmo interno.</a:t>
            </a:r>
          </a:p>
          <a:p>
            <a:r>
              <a:t>Sólo si el mecanismo propio de pricing se convierte después en una fuente material de ventaja podría pasar a POSEER.</a:t>
            </a:r>
          </a:p>
          <a:p>
            <a:br/>
            <a:endParaRPr/>
          </a:p>
          <a:p>
            <a:r>
              <a:t>11. Resumen mental</a:t>
            </a:r>
          </a:p>
          <a:p>
            <a:endParaRPr/>
          </a:p>
          <a:p>
            <a:r>
              <a:t>La versión más corta del framework es:</a:t>
            </a:r>
          </a:p>
          <a:p>
            <a:r>
              <a:t>Gu conserva siempre la responsabilidad y continuidad del trabajo.</a:t>
            </a:r>
          </a:p>
          <a:p>
            <a:endParaRPr/>
          </a:p>
          <a:p>
            <a:r>
              <a:t>Después preguntamos capability por capability:</a:t>
            </a:r>
          </a:p>
          <a:p>
            <a:endParaRPr/>
          </a:p>
          <a:p>
            <a:r>
              <a:t>¿Su mecanismo debe vivir y evolucionar dentro de Gu OS porque forma parte de nuestra diferenciación?</a:t>
            </a:r>
            <a:br/>
            <a:r>
              <a:t>→ POSEER</a:t>
            </a:r>
          </a:p>
          <a:p>
            <a:r>
              <a:t>o:</a:t>
            </a:r>
          </a:p>
          <a:p>
            <a:r>
              <a:t>¿Puede permanecer externa, encapsulada y sustituible sin perder continuidad, aprendizaje ni diferenciación?</a:t>
            </a:r>
            <a:br/>
            <a:r>
              <a:t>→ ORQUESTAR</a:t>
            </a:r>
          </a:p>
          <a:p>
            <a:endParaRPr/>
          </a:p>
          <a:p>
            <a:r>
              <a:t>Y finalmente:</a:t>
            </a:r>
          </a:p>
          <a:p>
            <a:r>
              <a:t>Si la poseemos: ¿construimos, absorbemos selectivamente o adquirimos?</a:t>
            </a:r>
          </a:p>
          <a:p>
            <a:r>
              <a:t>Si la orquestamos: ¿cómo la integramos y de quién la obtenemos?</a:t>
            </a:r>
          </a:p>
          <a:p>
            <a:endParaRPr/>
          </a:p>
          <a:p>
            <a:r>
              <a:t>Frase de cierre</a:t>
            </a:r>
          </a:p>
          <a:p>
            <a:r>
              <a:t>POSEER = la capability forma parte de lo que hace diferente a Gu OS.</a:t>
            </a:r>
            <a:br/>
            <a:r>
              <a:t>ORQUESTAR = Gu puede aprovecharla sin necesitar poseer su implementación interna.</a:t>
            </a:r>
          </a:p>
          <a:p>
            <a:endParaRPr/>
          </a:p>
          <a:p>
            <a:r>
              <a:t>Y una última idea importante:</a:t>
            </a:r>
          </a:p>
          <a:p>
            <a:r>
              <a:t>La frontera puede moverse con el tiempo a medida que cambian nuestros datos, escala, network effects, tecnología y fuentes de diferenciación.</a:t>
            </a:r>
          </a:p>
          <a:p>
            <a:endParaRPr/>
          </a:p>
          <a:p>
            <a:endParaRPr/>
          </a:p>
        </p:txBody>
      </p:sp>
      <p:sp>
        <p:nvSpPr>
          <p:cNvPr id="710"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F323298-5956-43D5-9B0B-FCCA8277CA90}" type="slidenum">
              <a:rPr lang="en-US" sz="1200" b="0" u="none" strike="noStrike">
                <a:solidFill>
                  <a:schemeClr val="dk1"/>
                </a:solidFill>
                <a:effectLst/>
                <a:uFillTx/>
                <a:latin typeface="+mn-lt"/>
                <a:ea typeface="+mn-ea"/>
              </a:rPr>
              <a:t>20</a:t>
            </a:fld>
            <a:endParaRPr lang="en-US" sz="1200" b="0" u="none" strike="noStrike">
              <a:solidFill>
                <a:srgbClr val="000000"/>
              </a:solidFill>
              <a:effectLst/>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1" name="PlaceHolder 1"/>
          <p:cNvSpPr>
            <a:spLocks noGrp="1" noRot="1" noChangeAspect="1"/>
          </p:cNvSpPr>
          <p:nvPr>
            <p:ph type="sldImg"/>
          </p:nvPr>
        </p:nvSpPr>
        <p:spPr>
          <a:xfrm>
            <a:off x="685800" y="1143000"/>
            <a:ext cx="5486400" cy="3086100"/>
          </a:xfrm>
          <a:prstGeom prst="rect">
            <a:avLst/>
          </a:prstGeom>
          <a:ln w="0">
            <a:noFill/>
          </a:ln>
        </p:spPr>
      </p:sp>
      <p:sp>
        <p:nvSpPr>
          <p:cNvPr id="71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dirty="0">
                <a:solidFill>
                  <a:srgbClr val="000000"/>
                </a:solidFill>
                <a:effectLst/>
                <a:uFillTx/>
                <a:latin typeface="Arial"/>
              </a:rPr>
              <a:t>Gu → Gu OS — Session 1</a:t>
            </a:r>
          </a:p>
          <a:p>
            <a:pPr indent="0">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err="1">
                <a:solidFill>
                  <a:srgbClr val="000000"/>
                </a:solidFill>
                <a:effectLst/>
                <a:uFillTx/>
                <a:latin typeface="Arial"/>
              </a:rPr>
              <a:t>Aquí</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conviene</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recordar</a:t>
            </a:r>
            <a:r>
              <a:rPr lang="en-US" sz="2000" b="0" u="none" strike="noStrike" dirty="0">
                <a:solidFill>
                  <a:srgbClr val="000000"/>
                </a:solidFill>
                <a:effectLst/>
                <a:uFillTx/>
                <a:latin typeface="Arial"/>
              </a:rPr>
              <a:t> el insight de campo: </a:t>
            </a:r>
            <a:r>
              <a:rPr lang="en-US" sz="2000" b="0" u="none" strike="noStrike" dirty="0" err="1">
                <a:solidFill>
                  <a:srgbClr val="000000"/>
                </a:solidFill>
                <a:effectLst/>
                <a:uFillTx/>
                <a:latin typeface="Arial"/>
              </a:rPr>
              <a:t>muchos</a:t>
            </a:r>
            <a:r>
              <a:rPr lang="en-US" sz="2000" b="0" u="none" strike="noStrike" dirty="0">
                <a:solidFill>
                  <a:srgbClr val="000000"/>
                </a:solidFill>
                <a:effectLst/>
                <a:uFillTx/>
                <a:latin typeface="Arial"/>
              </a:rPr>
              <a:t> brokers </a:t>
            </a:r>
            <a:r>
              <a:rPr lang="en-US" sz="2000" b="0" u="none" strike="noStrike" dirty="0" err="1">
                <a:solidFill>
                  <a:srgbClr val="000000"/>
                </a:solidFill>
                <a:effectLst/>
                <a:uFillTx/>
                <a:latin typeface="Arial"/>
              </a:rPr>
              <a:t>usan</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EasyBroker</a:t>
            </a:r>
            <a:r>
              <a:rPr lang="en-US" sz="2000" b="0" u="none" strike="noStrike" dirty="0">
                <a:solidFill>
                  <a:srgbClr val="000000"/>
                </a:solidFill>
                <a:effectLst/>
                <a:uFillTx/>
                <a:latin typeface="Arial"/>
              </a:rPr>
              <a:t>/Tokko/</a:t>
            </a:r>
            <a:r>
              <a:rPr lang="en-US" sz="2000" b="0" u="none" strike="noStrike" dirty="0" err="1">
                <a:solidFill>
                  <a:srgbClr val="000000"/>
                </a:solidFill>
                <a:effectLst/>
                <a:uFillTx/>
                <a:latin typeface="Arial"/>
              </a:rPr>
              <a:t>Wiggot</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sobre</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todo</a:t>
            </a:r>
            <a:r>
              <a:rPr lang="en-US" sz="2000" b="0" u="none" strike="noStrike" dirty="0">
                <a:solidFill>
                  <a:srgbClr val="000000"/>
                </a:solidFill>
                <a:effectLst/>
                <a:uFillTx/>
                <a:latin typeface="Arial"/>
              </a:rPr>
              <a:t> para </a:t>
            </a:r>
            <a:r>
              <a:rPr lang="en-US" sz="2000" b="0" u="none" strike="noStrike" dirty="0" err="1">
                <a:solidFill>
                  <a:srgbClr val="000000"/>
                </a:solidFill>
                <a:effectLst/>
                <a:uFillTx/>
                <a:latin typeface="Arial"/>
              </a:rPr>
              <a:t>inventario</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publicación</a:t>
            </a:r>
            <a:r>
              <a:rPr lang="en-US" sz="2000" b="0" u="none" strike="noStrike" dirty="0">
                <a:solidFill>
                  <a:srgbClr val="000000"/>
                </a:solidFill>
                <a:effectLst/>
                <a:uFillTx/>
                <a:latin typeface="Arial"/>
              </a:rPr>
              <a:t> y </a:t>
            </a:r>
            <a:r>
              <a:rPr lang="en-US" sz="2000" b="0" u="none" strike="noStrike" dirty="0" err="1">
                <a:solidFill>
                  <a:srgbClr val="000000"/>
                </a:solidFill>
                <a:effectLst/>
                <a:uFillTx/>
                <a:latin typeface="Arial"/>
              </a:rPr>
              <a:t>bolsa</a:t>
            </a:r>
            <a:r>
              <a:rPr lang="en-US" sz="2000" b="0" u="none" strike="noStrike" dirty="0">
                <a:solidFill>
                  <a:srgbClr val="000000"/>
                </a:solidFill>
                <a:effectLst/>
                <a:uFillTx/>
                <a:latin typeface="Arial"/>
              </a:rPr>
              <a:t>, no </a:t>
            </a:r>
            <a:r>
              <a:rPr lang="en-US" sz="2000" b="0" u="none" strike="noStrike" dirty="0" err="1">
                <a:solidFill>
                  <a:srgbClr val="000000"/>
                </a:solidFill>
                <a:effectLst/>
                <a:uFillTx/>
                <a:latin typeface="Arial"/>
              </a:rPr>
              <a:t>necesariamente</a:t>
            </a:r>
            <a:r>
              <a:rPr lang="en-US" sz="2000" b="0" u="none" strike="noStrike" dirty="0">
                <a:solidFill>
                  <a:srgbClr val="000000"/>
                </a:solidFill>
                <a:effectLst/>
                <a:uFillTx/>
                <a:latin typeface="Arial"/>
              </a:rPr>
              <a:t> para </a:t>
            </a:r>
            <a:r>
              <a:rPr lang="en-US" sz="2000" b="0" u="none" strike="noStrike" dirty="0" err="1">
                <a:solidFill>
                  <a:srgbClr val="000000"/>
                </a:solidFill>
                <a:effectLst/>
                <a:uFillTx/>
                <a:latin typeface="Arial"/>
              </a:rPr>
              <a:t>operar</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disciplina</a:t>
            </a:r>
            <a:r>
              <a:rPr lang="en-US" sz="2000" b="0" u="none" strike="noStrike" dirty="0">
                <a:solidFill>
                  <a:srgbClr val="000000"/>
                </a:solidFill>
                <a:effectLst/>
                <a:uFillTx/>
                <a:latin typeface="Arial"/>
              </a:rPr>
              <a:t> CRM. Pero no </a:t>
            </a:r>
            <a:r>
              <a:rPr lang="en-US" sz="2000" b="0" u="none" strike="noStrike" dirty="0" err="1">
                <a:solidFill>
                  <a:srgbClr val="000000"/>
                </a:solidFill>
                <a:effectLst/>
                <a:uFillTx/>
                <a:latin typeface="Arial"/>
              </a:rPr>
              <a:t>debemos</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presentarlo</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como</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dato</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cuantitativo</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público</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todavía</a:t>
            </a:r>
            <a:r>
              <a:rPr lang="en-US" sz="2000" b="0" u="none" strike="noStrike" dirty="0">
                <a:solidFill>
                  <a:srgbClr val="000000"/>
                </a:solidFill>
                <a:effectLst/>
                <a:uFillTx/>
                <a:latin typeface="Arial"/>
              </a:rPr>
              <a:t>.</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a:t>
            </a:r>
          </a:p>
          <a:p>
            <a:pPr indent="0">
              <a:lnSpc>
                <a:spcPct val="100000"/>
              </a:lnSpc>
              <a:buNone/>
            </a:pPr>
            <a:r>
              <a:rPr lang="en-US" sz="2000" b="0" u="none" strike="noStrike" dirty="0" err="1">
                <a:solidFill>
                  <a:srgbClr val="000000"/>
                </a:solidFill>
                <a:effectLst/>
                <a:uFillTx/>
                <a:latin typeface="Arial"/>
              </a:rPr>
              <a:t>Notas</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adicionales</a:t>
            </a:r>
            <a:r>
              <a:rPr lang="en-US" sz="2000" b="0" u="none" strike="noStrike" dirty="0">
                <a:solidFill>
                  <a:srgbClr val="000000"/>
                </a:solidFill>
                <a:effectLst/>
                <a:uFillTx/>
                <a:latin typeface="Arial"/>
              </a:rPr>
              <a:t>: </a:t>
            </a:r>
          </a:p>
          <a:p>
            <a:pPr indent="0">
              <a:lnSpc>
                <a:spcPct val="100000"/>
              </a:lnSpc>
              <a:buNone/>
            </a:pPr>
            <a:endParaRPr lang="en-US" sz="2000" b="0" u="none" strike="noStrike" dirty="0">
              <a:solidFill>
                <a:srgbClr val="000000"/>
              </a:solidFill>
              <a:effectLst/>
              <a:uFillTx/>
              <a:latin typeface="Arial"/>
            </a:endParaRPr>
          </a:p>
          <a:p>
            <a:r>
              <a:rPr lang="es-MX" sz="2000" b="1" dirty="0"/>
              <a:t>ORQUESTAR hoy</a:t>
            </a:r>
            <a:br>
              <a:rPr lang="es-MX" sz="2000" dirty="0"/>
            </a:br>
            <a:r>
              <a:rPr lang="es-MX" sz="2000" i="1" dirty="0"/>
              <a:t>Integrar + sincronizar + normalizar (en Ungga)</a:t>
            </a:r>
            <a:endParaRPr lang="es-MX" sz="2000" dirty="0"/>
          </a:p>
          <a:p>
            <a:r>
              <a:rPr lang="es-MX" sz="2000" dirty="0"/>
              <a:t>Porque el CRM externo puede seguir siendo una fuente/sistema de registro útil mientras </a:t>
            </a:r>
            <a:r>
              <a:rPr lang="es-MX" sz="2000" dirty="0" err="1"/>
              <a:t>Gu</a:t>
            </a:r>
            <a:r>
              <a:rPr lang="es-MX" sz="2000" dirty="0"/>
              <a:t> obtiene una representación normalizada del inventario que necesita para operar.</a:t>
            </a:r>
          </a:p>
          <a:p>
            <a:r>
              <a:rPr lang="es-MX" sz="2000" dirty="0"/>
              <a:t>Hay un matiz importante: </a:t>
            </a:r>
            <a:r>
              <a:rPr lang="es-MX" sz="2000" b="1" dirty="0"/>
              <a:t>el modelo normalizado de propiedades de Ungga sí es infraestructura propia</a:t>
            </a:r>
            <a:r>
              <a:rPr lang="es-MX" sz="2000" dirty="0"/>
              <a:t>, pero eso no significa que debamos poseer toda la </a:t>
            </a:r>
            <a:r>
              <a:rPr lang="es-MX" sz="2000" dirty="0" err="1"/>
              <a:t>capability</a:t>
            </a:r>
            <a:r>
              <a:rPr lang="es-MX" sz="2000" dirty="0"/>
              <a:t> del CRM de administrar inventario. </a:t>
            </a:r>
            <a:r>
              <a:rPr lang="es-MX" sz="2000" dirty="0" err="1"/>
              <a:t>Gu</a:t>
            </a:r>
            <a:r>
              <a:rPr lang="es-MX" sz="2000" dirty="0"/>
              <a:t> puede poseer su representación operacional y orquestar los sistemas externos de origen.</a:t>
            </a:r>
          </a:p>
          <a:p>
            <a:pPr indent="0">
              <a:lnSpc>
                <a:spcPct val="100000"/>
              </a:lnSpc>
              <a:buNone/>
            </a:pPr>
            <a:endParaRPr lang="en-US" sz="2000" b="0" u="none" strike="noStrike" dirty="0">
              <a:solidFill>
                <a:srgbClr val="000000"/>
              </a:solidFill>
              <a:effectLst/>
              <a:uFillTx/>
              <a:latin typeface="Arial"/>
            </a:endParaRPr>
          </a:p>
        </p:txBody>
      </p:sp>
      <p:sp>
        <p:nvSpPr>
          <p:cNvPr id="713"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C867CAC-0AAA-4E23-95C8-D4F90F945213}" type="slidenum">
              <a:rPr lang="en-US" sz="1200" b="0" u="none" strike="noStrike">
                <a:solidFill>
                  <a:schemeClr val="dk1"/>
                </a:solidFill>
                <a:effectLst/>
                <a:uFillTx/>
                <a:latin typeface="+mn-lt"/>
                <a:ea typeface="+mn-ea"/>
              </a:rPr>
              <a:t>21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217488" y="812800"/>
            <a:ext cx="7124700" cy="4008438"/>
          </a:xfrm>
        </p:spPr>
      </p:sp>
      <p:sp>
        <p:nvSpPr>
          <p:cNvPr id="3" name="Marcador de notas 2"/>
          <p:cNvSpPr>
            <a:spLocks noGrp="1"/>
          </p:cNvSpPr>
          <p:nvPr>
            <p:ph type="body" idx="1"/>
          </p:nvPr>
        </p:nvSpPr>
        <p:spPr/>
        <p:txBody>
          <a:bodyPr/>
          <a:lstStyle/>
          <a:p>
            <a:endParaRPr lang="es-MX" dirty="0"/>
          </a:p>
          <a:p>
            <a:r>
              <a:rPr lang="es-MX" dirty="0"/>
              <a:t>El </a:t>
            </a:r>
            <a:r>
              <a:rPr lang="es-MX" dirty="0" err="1"/>
              <a:t>broker</a:t>
            </a:r>
            <a:r>
              <a:rPr lang="es-MX" dirty="0"/>
              <a:t> utiliza </a:t>
            </a:r>
            <a:r>
              <a:rPr lang="es-MX" b="1" dirty="0"/>
              <a:t>sus propios canales</a:t>
            </a:r>
            <a:r>
              <a:rPr lang="es-MX" dirty="0"/>
              <a:t> para originar la interacción con el comprador/</a:t>
            </a:r>
            <a:r>
              <a:rPr lang="es-MX" dirty="0" err="1"/>
              <a:t>rentador</a:t>
            </a:r>
            <a:r>
              <a:rPr lang="es-MX" dirty="0"/>
              <a:t>.</a:t>
            </a:r>
          </a:p>
          <a:p>
            <a:endParaRPr lang="es-MX" dirty="0"/>
          </a:p>
          <a:p>
            <a:r>
              <a:rPr lang="es-MX" dirty="0" err="1"/>
              <a:t>Gu</a:t>
            </a:r>
            <a:r>
              <a:rPr lang="es-MX" dirty="0"/>
              <a:t>:</a:t>
            </a:r>
          </a:p>
          <a:p>
            <a:pPr marL="228600" lvl="0" indent="-228600">
              <a:buFont typeface="+mj-lt"/>
              <a:buAutoNum type="arabicPeriod"/>
            </a:pPr>
            <a:r>
              <a:rPr lang="es-MX" dirty="0"/>
              <a:t>atiende al prospecto bajo la relación de Broker A; </a:t>
            </a:r>
          </a:p>
          <a:p>
            <a:pPr marL="228600" lvl="0" indent="-228600">
              <a:buFont typeface="+mj-lt"/>
              <a:buAutoNum type="arabicPeriod"/>
            </a:pPr>
            <a:r>
              <a:rPr lang="es-MX" dirty="0"/>
              <a:t>entiende su necesidad; </a:t>
            </a:r>
          </a:p>
          <a:p>
            <a:pPr marL="228600" lvl="0" indent="-228600">
              <a:buFont typeface="+mj-lt"/>
              <a:buAutoNum type="arabicPeriod"/>
            </a:pPr>
            <a:r>
              <a:rPr lang="es-MX" dirty="0"/>
              <a:t>busca primero en el inventario de A; </a:t>
            </a:r>
          </a:p>
          <a:p>
            <a:pPr marL="228600" lvl="0" indent="-228600">
              <a:buFont typeface="+mj-lt"/>
              <a:buAutoNum type="arabicPeriod"/>
            </a:pPr>
            <a:r>
              <a:rPr lang="es-MX" dirty="0"/>
              <a:t>si no encuentra suficiente y existe permiso/configuración, amplía la búsqueda al inventario compartido (si el </a:t>
            </a:r>
            <a:r>
              <a:rPr lang="es-MX" dirty="0" err="1"/>
              <a:t>broker</a:t>
            </a:r>
            <a:r>
              <a:rPr lang="es-MX" dirty="0"/>
              <a:t> ha </a:t>
            </a:r>
            <a:r>
              <a:rPr lang="es-MX" dirty="0" err="1"/>
              <a:t>pre-autorizado</a:t>
            </a:r>
            <a:r>
              <a:rPr lang="es-MX" dirty="0"/>
              <a:t> esta dinámica en su configuración de </a:t>
            </a:r>
            <a:r>
              <a:rPr lang="es-MX" dirty="0" err="1"/>
              <a:t>Gu</a:t>
            </a:r>
            <a:r>
              <a:rPr lang="es-MX" dirty="0"/>
              <a:t>); </a:t>
            </a:r>
          </a:p>
          <a:p>
            <a:pPr marL="228600" lvl="0" indent="-228600">
              <a:buFont typeface="+mj-lt"/>
              <a:buAutoNum type="arabicPeriod"/>
            </a:pPr>
            <a:r>
              <a:rPr lang="es-MX" dirty="0"/>
              <a:t>si encuentra propiedad de B, crea una oportunidad colaborativa. </a:t>
            </a:r>
          </a:p>
          <a:p>
            <a:endParaRPr lang="es-MX" dirty="0"/>
          </a:p>
          <a:p>
            <a:r>
              <a:rPr lang="es-MX" dirty="0"/>
              <a:t>Eso </a:t>
            </a:r>
            <a:r>
              <a:rPr lang="es-MX" b="1" dirty="0"/>
              <a:t>no convierte a Ungga en un portal competidor del </a:t>
            </a:r>
            <a:r>
              <a:rPr lang="es-MX" b="1" dirty="0" err="1"/>
              <a:t>broker</a:t>
            </a:r>
            <a:r>
              <a:rPr lang="es-MX" dirty="0"/>
              <a:t>. </a:t>
            </a:r>
          </a:p>
          <a:p>
            <a:r>
              <a:rPr lang="es-MX" dirty="0"/>
              <a:t>Al contrario: </a:t>
            </a:r>
            <a:r>
              <a:rPr lang="es-MX" b="1" dirty="0"/>
              <a:t>amplía el </a:t>
            </a:r>
            <a:r>
              <a:rPr lang="es-MX" b="1" dirty="0" err="1"/>
              <a:t>reach</a:t>
            </a:r>
            <a:r>
              <a:rPr lang="es-MX" b="1" dirty="0"/>
              <a:t> y la capacidad productiva del </a:t>
            </a:r>
            <a:r>
              <a:rPr lang="es-MX" b="1" dirty="0" err="1"/>
              <a:t>broker</a:t>
            </a:r>
            <a:r>
              <a:rPr lang="es-MX" b="1" dirty="0"/>
              <a:t> que originó la relación.</a:t>
            </a:r>
            <a:endParaRPr lang="es-MX" dirty="0"/>
          </a:p>
          <a:p>
            <a:endParaRPr lang="es-MX" dirty="0"/>
          </a:p>
          <a:p>
            <a:r>
              <a:rPr lang="es-MX"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dirty="0">
                <a:solidFill>
                  <a:srgbClr val="9A5B00"/>
                </a:solidFill>
                <a:effectLst/>
                <a:uFillTx/>
                <a:latin typeface="Aptos"/>
                <a:ea typeface="Aptos"/>
              </a:rPr>
              <a:t>La </a:t>
            </a:r>
            <a:r>
              <a:rPr lang="en-US" sz="1200" b="1" u="none" strike="noStrike" dirty="0" err="1">
                <a:solidFill>
                  <a:srgbClr val="9A5B00"/>
                </a:solidFill>
                <a:effectLst/>
                <a:uFillTx/>
                <a:latin typeface="Aptos"/>
                <a:ea typeface="Aptos"/>
              </a:rPr>
              <a:t>Gobernanza</a:t>
            </a:r>
            <a:r>
              <a:rPr lang="en-US" sz="1200" b="1" u="none" strike="noStrike" dirty="0">
                <a:solidFill>
                  <a:srgbClr val="9A5B00"/>
                </a:solidFill>
                <a:effectLst/>
                <a:uFillTx/>
                <a:latin typeface="Aptos"/>
                <a:ea typeface="Aptos"/>
              </a:rPr>
              <a:t> de red </a:t>
            </a:r>
            <a:r>
              <a:rPr lang="en-US" sz="1200" b="1" u="none" strike="noStrike" dirty="0" err="1">
                <a:solidFill>
                  <a:srgbClr val="9A5B00"/>
                </a:solidFill>
                <a:effectLst/>
                <a:uFillTx/>
                <a:latin typeface="Aptos"/>
                <a:ea typeface="Aptos"/>
              </a:rPr>
              <a:t>debería</a:t>
            </a:r>
            <a:r>
              <a:rPr lang="en-US" sz="1200" b="1" u="none" strike="noStrike" dirty="0">
                <a:solidFill>
                  <a:srgbClr val="9A5B00"/>
                </a:solidFill>
                <a:effectLst/>
                <a:uFillTx/>
                <a:latin typeface="Aptos"/>
                <a:ea typeface="Aptos"/>
              </a:rPr>
              <a:t> </a:t>
            </a:r>
            <a:r>
              <a:rPr lang="en-US" sz="1200" b="1" u="none" strike="noStrike" dirty="0" err="1">
                <a:solidFill>
                  <a:srgbClr val="9A5B00"/>
                </a:solidFill>
                <a:effectLst/>
                <a:uFillTx/>
                <a:latin typeface="Aptos"/>
                <a:ea typeface="Aptos"/>
              </a:rPr>
              <a:t>contemplar</a:t>
            </a:r>
            <a:r>
              <a:rPr lang="en-US" sz="1200" b="1" u="none" strike="noStrike" dirty="0">
                <a:solidFill>
                  <a:srgbClr val="9A5B00"/>
                </a:solidFill>
                <a:effectLst/>
                <a:uFillTx/>
                <a:latin typeface="Aptos"/>
                <a:ea typeface="Aptos"/>
              </a:rPr>
              <a:t>: </a:t>
            </a:r>
            <a:r>
              <a:rPr lang="en-US" sz="1200" b="1" u="none" strike="noStrike" dirty="0" err="1">
                <a:solidFill>
                  <a:srgbClr val="9A5B00"/>
                </a:solidFill>
                <a:effectLst/>
                <a:uFillTx/>
                <a:latin typeface="Aptos"/>
                <a:ea typeface="Aptos"/>
              </a:rPr>
              <a:t>permisos</a:t>
            </a:r>
            <a:r>
              <a:rPr lang="en-US" sz="1200" b="1" u="none" strike="noStrike" dirty="0">
                <a:solidFill>
                  <a:srgbClr val="9A5B00"/>
                </a:solidFill>
                <a:effectLst/>
                <a:uFillTx/>
                <a:latin typeface="Aptos"/>
                <a:ea typeface="Aptos"/>
              </a:rPr>
              <a:t>, </a:t>
            </a:r>
            <a:r>
              <a:rPr lang="en-US" sz="1200" b="1" u="none" strike="noStrike" dirty="0" err="1">
                <a:solidFill>
                  <a:srgbClr val="9A5B00"/>
                </a:solidFill>
                <a:effectLst/>
                <a:uFillTx/>
                <a:latin typeface="Aptos"/>
                <a:ea typeface="Aptos"/>
              </a:rPr>
              <a:t>atribución</a:t>
            </a:r>
            <a:r>
              <a:rPr lang="en-US" sz="1200" b="1" u="none" strike="noStrike" dirty="0">
                <a:solidFill>
                  <a:srgbClr val="9A5B00"/>
                </a:solidFill>
                <a:effectLst/>
                <a:uFillTx/>
                <a:latin typeface="Aptos"/>
                <a:ea typeface="Aptos"/>
              </a:rPr>
              <a:t>, </a:t>
            </a:r>
            <a:r>
              <a:rPr lang="en-US" sz="1200" b="1" u="none" strike="noStrike" dirty="0" err="1">
                <a:solidFill>
                  <a:srgbClr val="9A5B00"/>
                </a:solidFill>
                <a:effectLst/>
                <a:uFillTx/>
                <a:latin typeface="Aptos"/>
                <a:ea typeface="Aptos"/>
              </a:rPr>
              <a:t>propiedad</a:t>
            </a:r>
            <a:r>
              <a:rPr lang="en-US" sz="1200" b="1" u="none" strike="noStrike" dirty="0">
                <a:solidFill>
                  <a:srgbClr val="9A5B00"/>
                </a:solidFill>
                <a:effectLst/>
                <a:uFillTx/>
                <a:latin typeface="Aptos"/>
                <a:ea typeface="Aptos"/>
              </a:rPr>
              <a:t> de la </a:t>
            </a:r>
            <a:r>
              <a:rPr lang="en-US" sz="1200" b="1" u="none" strike="noStrike" dirty="0" err="1">
                <a:solidFill>
                  <a:srgbClr val="9A5B00"/>
                </a:solidFill>
                <a:effectLst/>
                <a:uFillTx/>
                <a:latin typeface="Aptos"/>
                <a:ea typeface="Aptos"/>
              </a:rPr>
              <a:t>oportunidad</a:t>
            </a:r>
            <a:r>
              <a:rPr lang="en-US" sz="1200" b="1" u="none" strike="noStrike" dirty="0">
                <a:solidFill>
                  <a:srgbClr val="9A5B00"/>
                </a:solidFill>
                <a:effectLst/>
                <a:uFillTx/>
                <a:latin typeface="Aptos"/>
                <a:ea typeface="Aptos"/>
              </a:rPr>
              <a:t>, </a:t>
            </a:r>
            <a:r>
              <a:rPr lang="en-US" sz="1200" b="1" u="none" strike="noStrike" dirty="0" err="1">
                <a:solidFill>
                  <a:srgbClr val="9A5B00"/>
                </a:solidFill>
                <a:effectLst/>
                <a:uFillTx/>
                <a:latin typeface="Aptos"/>
                <a:ea typeface="Aptos"/>
              </a:rPr>
              <a:t>enrutamiento</a:t>
            </a:r>
            <a:r>
              <a:rPr lang="en-US" sz="1200" b="1" u="none" strike="noStrike" dirty="0">
                <a:solidFill>
                  <a:srgbClr val="9A5B00"/>
                </a:solidFill>
                <a:effectLst/>
                <a:uFillTx/>
                <a:latin typeface="Aptos"/>
                <a:ea typeface="Aptos"/>
              </a:rPr>
              <a:t>, </a:t>
            </a:r>
            <a:r>
              <a:rPr lang="en-US" sz="1200" b="1" u="none" strike="noStrike" dirty="0" err="1">
                <a:solidFill>
                  <a:srgbClr val="9A5B00"/>
                </a:solidFill>
                <a:effectLst/>
                <a:uFillTx/>
                <a:latin typeface="Aptos"/>
                <a:ea typeface="Aptos"/>
              </a:rPr>
              <a:t>comisiones</a:t>
            </a:r>
            <a:r>
              <a:rPr lang="en-US" sz="1200" b="1" u="none" strike="noStrike" dirty="0">
                <a:solidFill>
                  <a:srgbClr val="9A5B00"/>
                </a:solidFill>
                <a:effectLst/>
                <a:uFillTx/>
                <a:latin typeface="Aptos"/>
                <a:ea typeface="Aptos"/>
              </a:rPr>
              <a:t> y </a:t>
            </a:r>
            <a:r>
              <a:rPr lang="en-US" sz="1200" b="1" u="none" strike="noStrike" dirty="0" err="1">
                <a:solidFill>
                  <a:srgbClr val="9A5B00"/>
                </a:solidFill>
                <a:effectLst/>
                <a:uFillTx/>
                <a:latin typeface="Aptos"/>
                <a:ea typeface="Aptos"/>
              </a:rPr>
              <a:t>resolución</a:t>
            </a:r>
            <a:r>
              <a:rPr lang="en-US" sz="1200" b="1" u="none" strike="noStrike" dirty="0">
                <a:solidFill>
                  <a:srgbClr val="9A5B00"/>
                </a:solidFill>
                <a:effectLst/>
                <a:uFillTx/>
                <a:latin typeface="Aptos"/>
                <a:ea typeface="Aptos"/>
              </a:rPr>
              <a:t> de </a:t>
            </a:r>
            <a:r>
              <a:rPr lang="en-US" sz="1200" b="1" u="none" strike="noStrike" dirty="0" err="1">
                <a:solidFill>
                  <a:srgbClr val="9A5B00"/>
                </a:solidFill>
                <a:effectLst/>
                <a:uFillTx/>
                <a:latin typeface="Aptos"/>
                <a:ea typeface="Aptos"/>
              </a:rPr>
              <a:t>disputas</a:t>
            </a:r>
            <a:r>
              <a:rPr lang="en-US" sz="1200" b="1" u="none" strike="noStrike" dirty="0">
                <a:solidFill>
                  <a:srgbClr val="9A5B00"/>
                </a:solidFill>
                <a:effectLst/>
                <a:uFillTx/>
                <a:latin typeface="Aptos"/>
                <a:ea typeface="Aptos"/>
              </a:rPr>
              <a:t>.</a:t>
            </a:r>
            <a:endParaRPr lang="en-US" sz="1200" b="0" u="none" strike="noStrike" dirty="0">
              <a:solidFill>
                <a:srgbClr val="000000"/>
              </a:solidFill>
              <a:effectLst/>
              <a:uFillTx/>
              <a:latin typeface="+mn-lt"/>
            </a:endParaRPr>
          </a:p>
          <a:p>
            <a:endParaRPr lang="es-MX" dirty="0"/>
          </a:p>
        </p:txBody>
      </p:sp>
      <p:sp>
        <p:nvSpPr>
          <p:cNvPr id="4" name="Marcador de número de diapositiva 3"/>
          <p:cNvSpPr>
            <a:spLocks noGrp="1"/>
          </p:cNvSpPr>
          <p:nvPr>
            <p:ph type="sldNum" idx="3"/>
          </p:nvPr>
        </p:nvSpPr>
        <p:spPr/>
        <p:txBody>
          <a:bodyPr/>
          <a:lstStyle/>
          <a:p>
            <a:pPr indent="0" algn="r">
              <a:buNone/>
            </a:pPr>
            <a:fld id="{43F3A9F3-843A-4B2A-9A9E-4B2DD53A41DA}" type="slidenum">
              <a:rPr lang="en-US" sz="1400" b="0" u="none" strike="noStrike" smtClean="0">
                <a:solidFill>
                  <a:srgbClr val="000000"/>
                </a:solidFill>
                <a:effectLst/>
                <a:uFillTx/>
                <a:latin typeface="Times New Roman"/>
              </a:rPr>
              <a:t>22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8175112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 name="PlaceHolder 1"/>
          <p:cNvSpPr>
            <a:spLocks noGrp="1" noRot="1" noChangeAspect="1"/>
          </p:cNvSpPr>
          <p:nvPr>
            <p:ph type="sldImg"/>
          </p:nvPr>
        </p:nvSpPr>
        <p:spPr>
          <a:xfrm>
            <a:off x="685800" y="1143000"/>
            <a:ext cx="5486400" cy="3086100"/>
          </a:xfrm>
          <a:prstGeom prst="rect">
            <a:avLst/>
          </a:prstGeom>
          <a:ln w="0">
            <a:noFill/>
          </a:ln>
        </p:spPr>
      </p:sp>
      <p:sp>
        <p:nvSpPr>
          <p:cNvPr id="71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dirty="0">
                <a:solidFill>
                  <a:srgbClr val="000000"/>
                </a:solidFill>
                <a:effectLst/>
                <a:uFillTx/>
                <a:latin typeface="Arial"/>
              </a:rPr>
              <a:t>Gu → Gu OS — Session 1</a:t>
            </a:r>
          </a:p>
          <a:p>
            <a:pPr indent="0">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Esta slide es para </a:t>
            </a:r>
            <a:r>
              <a:rPr lang="en-US" sz="2000" b="0" u="none" strike="noStrike" dirty="0" err="1">
                <a:solidFill>
                  <a:srgbClr val="000000"/>
                </a:solidFill>
                <a:effectLst/>
                <a:uFillTx/>
                <a:latin typeface="Arial"/>
              </a:rPr>
              <a:t>prevenir</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malentendidos</a:t>
            </a:r>
            <a:r>
              <a:rPr lang="en-US" sz="2000" b="0" u="none" strike="noStrike" dirty="0">
                <a:solidFill>
                  <a:srgbClr val="000000"/>
                </a:solidFill>
                <a:effectLst/>
                <a:uFillTx/>
                <a:latin typeface="Arial"/>
              </a:rPr>
              <a:t>. No </a:t>
            </a:r>
            <a:r>
              <a:rPr lang="en-US" sz="2000" b="0" u="none" strike="noStrike" dirty="0" err="1">
                <a:solidFill>
                  <a:srgbClr val="000000"/>
                </a:solidFill>
                <a:effectLst/>
                <a:uFillTx/>
                <a:latin typeface="Arial"/>
              </a:rPr>
              <a:t>todo</a:t>
            </a:r>
            <a:r>
              <a:rPr lang="en-US" sz="2000" b="0" u="none" strike="noStrike" dirty="0">
                <a:solidFill>
                  <a:srgbClr val="000000"/>
                </a:solidFill>
                <a:effectLst/>
                <a:uFillTx/>
                <a:latin typeface="Arial"/>
              </a:rPr>
              <a:t> lo </a:t>
            </a:r>
            <a:r>
              <a:rPr lang="en-US" sz="2000" b="0" u="none" strike="noStrike" dirty="0" err="1">
                <a:solidFill>
                  <a:srgbClr val="000000"/>
                </a:solidFill>
                <a:effectLst/>
                <a:uFillTx/>
                <a:latin typeface="Arial"/>
              </a:rPr>
              <a:t>que</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describimos</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está</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implementado</a:t>
            </a:r>
            <a:r>
              <a:rPr lang="en-US" sz="2000" b="0" u="none" strike="noStrike" dirty="0">
                <a:solidFill>
                  <a:srgbClr val="000000"/>
                </a:solidFill>
                <a:effectLst/>
                <a:uFillTx/>
                <a:latin typeface="Arial"/>
              </a:rPr>
              <a:t>. Pero </a:t>
            </a:r>
            <a:r>
              <a:rPr lang="en-US" sz="2000" b="0" u="none" strike="noStrike" dirty="0" err="1">
                <a:solidFill>
                  <a:srgbClr val="000000"/>
                </a:solidFill>
                <a:effectLst/>
                <a:uFillTx/>
                <a:latin typeface="Arial"/>
              </a:rPr>
              <a:t>muchas</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piezas</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actuales</a:t>
            </a:r>
            <a:r>
              <a:rPr lang="en-US" sz="2000" b="0" u="none" strike="noStrike" dirty="0">
                <a:solidFill>
                  <a:srgbClr val="000000"/>
                </a:solidFill>
                <a:effectLst/>
                <a:uFillTx/>
                <a:latin typeface="Arial"/>
              </a:rPr>
              <a:t> son la base </a:t>
            </a:r>
            <a:r>
              <a:rPr lang="en-US" sz="2000" b="0" u="none" strike="noStrike" dirty="0" err="1">
                <a:solidFill>
                  <a:srgbClr val="000000"/>
                </a:solidFill>
                <a:effectLst/>
                <a:uFillTx/>
                <a:latin typeface="Arial"/>
              </a:rPr>
              <a:t>correcta</a:t>
            </a:r>
            <a:r>
              <a:rPr lang="en-US" sz="2000" b="0" u="none" strike="noStrike" dirty="0">
                <a:solidFill>
                  <a:srgbClr val="000000"/>
                </a:solidFill>
                <a:effectLst/>
                <a:uFillTx/>
                <a:latin typeface="Arial"/>
              </a:rPr>
              <a:t> para </a:t>
            </a:r>
            <a:r>
              <a:rPr lang="en-US" sz="2000" b="0" u="none" strike="noStrike" dirty="0" err="1">
                <a:solidFill>
                  <a:srgbClr val="000000"/>
                </a:solidFill>
                <a:effectLst/>
                <a:uFillTx/>
                <a:latin typeface="Arial"/>
              </a:rPr>
              <a:t>evolucionar</a:t>
            </a:r>
            <a:r>
              <a:rPr lang="en-US" sz="2000" b="0" u="none" strike="noStrike" dirty="0">
                <a:solidFill>
                  <a:srgbClr val="000000"/>
                </a:solidFill>
                <a:effectLst/>
                <a:uFillTx/>
                <a:latin typeface="Arial"/>
              </a:rPr>
              <a:t>.</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s-MX" sz="2000" dirty="0"/>
              <a:t>“La participación humana no empieza aquí: ya existen </a:t>
            </a:r>
            <a:r>
              <a:rPr lang="es-MX" sz="2000" dirty="0" err="1"/>
              <a:t>tool</a:t>
            </a:r>
            <a:r>
              <a:rPr lang="es-MX" sz="2000" dirty="0"/>
              <a:t> </a:t>
            </a:r>
            <a:r>
              <a:rPr lang="es-MX" sz="2000" dirty="0" err="1"/>
              <a:t>approvals</a:t>
            </a:r>
            <a:r>
              <a:rPr lang="es-MX" sz="2000" dirty="0"/>
              <a:t> por riesgo y </a:t>
            </a:r>
            <a:r>
              <a:rPr lang="es-MX" sz="2000" dirty="0" err="1"/>
              <a:t>Property</a:t>
            </a:r>
            <a:r>
              <a:rPr lang="es-MX" sz="2000" dirty="0"/>
              <a:t> </a:t>
            </a:r>
            <a:r>
              <a:rPr lang="es-MX" sz="2000" dirty="0" err="1"/>
              <a:t>Optioning</a:t>
            </a:r>
            <a:r>
              <a:rPr lang="es-MX" sz="2000" dirty="0"/>
              <a:t> ya incorpora decisiones de negocio y contribuciones humanas. ‘Generalizada’ significa convertir esos mecanismos y la taxonomía completa de human </a:t>
            </a:r>
            <a:r>
              <a:rPr lang="es-MX" sz="2000" dirty="0" err="1"/>
              <a:t>involvement</a:t>
            </a:r>
            <a:r>
              <a:rPr lang="es-MX" sz="2000" dirty="0"/>
              <a:t> en una capacidad uniforme y reutilizable del núcleo operativo para múltiples case </a:t>
            </a:r>
            <a:r>
              <a:rPr lang="es-MX" sz="2000" dirty="0" err="1"/>
              <a:t>types</a:t>
            </a:r>
            <a:r>
              <a:rPr lang="es-MX" sz="2000" dirty="0"/>
              <a:t> y dominios.”</a:t>
            </a:r>
          </a:p>
          <a:p>
            <a:pPr indent="0">
              <a:lnSpc>
                <a:spcPct val="100000"/>
              </a:lnSpc>
              <a:buNone/>
            </a:pPr>
            <a:endParaRPr lang="en-US" sz="2000" b="0" u="none" strike="noStrike" dirty="0">
              <a:solidFill>
                <a:srgbClr val="000000"/>
              </a:solidFill>
              <a:effectLst/>
              <a:uFillTx/>
              <a:latin typeface="Arial"/>
            </a:endParaRPr>
          </a:p>
        </p:txBody>
      </p:sp>
      <p:sp>
        <p:nvSpPr>
          <p:cNvPr id="719"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D3461B3-4E8B-42EA-BC4E-5EE09EF0F522}" type="slidenum">
              <a:rPr lang="en-US" sz="1200" b="0" u="none" strike="noStrike">
                <a:solidFill>
                  <a:schemeClr val="dk1"/>
                </a:solidFill>
                <a:effectLst/>
                <a:uFillTx/>
                <a:latin typeface="+mn-lt"/>
                <a:ea typeface="+mn-ea"/>
              </a:rPr>
              <a:t>23</a:t>
            </a:fld>
            <a:endParaRPr lang="en-US" sz="1200" b="0" u="none" strike="noStrike">
              <a:solidFill>
                <a:srgbClr val="000000"/>
              </a:solidFill>
              <a:effectLst/>
              <a:uFillTx/>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0" name="PlaceHolder 1"/>
          <p:cNvSpPr>
            <a:spLocks noGrp="1" noRot="1" noChangeAspect="1"/>
          </p:cNvSpPr>
          <p:nvPr>
            <p:ph type="sldImg"/>
          </p:nvPr>
        </p:nvSpPr>
        <p:spPr>
          <a:xfrm>
            <a:off x="685800" y="1143000"/>
            <a:ext cx="5486400" cy="3086100"/>
          </a:xfrm>
          <a:prstGeom prst="rect">
            <a:avLst/>
          </a:prstGeom>
          <a:ln w="0">
            <a:noFill/>
          </a:ln>
        </p:spPr>
      </p:sp>
      <p:sp>
        <p:nvSpPr>
          <p:cNvPr id="72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dirty="0">
                <a:solidFill>
                  <a:srgbClr val="000000"/>
                </a:solidFill>
                <a:effectLst/>
                <a:uFillTx/>
                <a:latin typeface="Arial"/>
              </a:rPr>
              <a:t>Gu → Gu OS — Session 1</a:t>
            </a:r>
          </a:p>
          <a:p>
            <a:pPr indent="0">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Esta slide </a:t>
            </a:r>
            <a:r>
              <a:rPr lang="en-US" sz="2000" b="0" u="none" strike="noStrike" dirty="0" err="1">
                <a:solidFill>
                  <a:srgbClr val="000000"/>
                </a:solidFill>
                <a:effectLst/>
                <a:uFillTx/>
                <a:latin typeface="Arial"/>
              </a:rPr>
              <a:t>debe</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servir</a:t>
            </a:r>
            <a:r>
              <a:rPr lang="en-US" sz="2000" b="0" u="none" strike="noStrike" dirty="0">
                <a:solidFill>
                  <a:srgbClr val="000000"/>
                </a:solidFill>
                <a:effectLst/>
                <a:uFillTx/>
                <a:latin typeface="Arial"/>
              </a:rPr>
              <a:t> para </a:t>
            </a:r>
            <a:r>
              <a:rPr lang="en-US" sz="2000" b="0" u="none" strike="noStrike" dirty="0" err="1">
                <a:solidFill>
                  <a:srgbClr val="000000"/>
                </a:solidFill>
                <a:effectLst/>
                <a:uFillTx/>
                <a:latin typeface="Arial"/>
              </a:rPr>
              <a:t>discutir</a:t>
            </a:r>
            <a:r>
              <a:rPr lang="en-US" sz="2000" b="0" u="none" strike="noStrike" dirty="0">
                <a:solidFill>
                  <a:srgbClr val="000000"/>
                </a:solidFill>
                <a:effectLst/>
                <a:uFillTx/>
                <a:latin typeface="Arial"/>
              </a:rPr>
              <a:t> y </a:t>
            </a:r>
            <a:r>
              <a:rPr lang="en-US" sz="2000" b="0" u="none" strike="noStrike" dirty="0" err="1">
                <a:solidFill>
                  <a:srgbClr val="000000"/>
                </a:solidFill>
                <a:effectLst/>
                <a:uFillTx/>
                <a:latin typeface="Arial"/>
              </a:rPr>
              <a:t>ajustar</a:t>
            </a:r>
            <a:r>
              <a:rPr lang="en-US" sz="2000" b="0" u="none" strike="noStrike" dirty="0">
                <a:solidFill>
                  <a:srgbClr val="000000"/>
                </a:solidFill>
                <a:effectLst/>
                <a:uFillTx/>
                <a:latin typeface="Arial"/>
              </a:rPr>
              <a:t>. No son </a:t>
            </a:r>
            <a:r>
              <a:rPr lang="en-US" sz="2000" b="0" u="none" strike="noStrike" dirty="0" err="1">
                <a:solidFill>
                  <a:srgbClr val="000000"/>
                </a:solidFill>
                <a:effectLst/>
                <a:uFillTx/>
                <a:latin typeface="Arial"/>
              </a:rPr>
              <a:t>mandamientos</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escritos</a:t>
            </a:r>
            <a:r>
              <a:rPr lang="en-US" sz="2000" b="0" u="none" strike="noStrike" dirty="0">
                <a:solidFill>
                  <a:srgbClr val="000000"/>
                </a:solidFill>
                <a:effectLst/>
                <a:uFillTx/>
                <a:latin typeface="Arial"/>
              </a:rPr>
              <a:t> en piedra, </a:t>
            </a:r>
            <a:r>
              <a:rPr lang="en-US" sz="2000" b="0" u="none" strike="noStrike" dirty="0" err="1">
                <a:solidFill>
                  <a:srgbClr val="000000"/>
                </a:solidFill>
                <a:effectLst/>
                <a:uFillTx/>
                <a:latin typeface="Arial"/>
              </a:rPr>
              <a:t>pero</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sí</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ayudan</a:t>
            </a:r>
            <a:r>
              <a:rPr lang="en-US" sz="2000" b="0" u="none" strike="noStrike" dirty="0">
                <a:solidFill>
                  <a:srgbClr val="000000"/>
                </a:solidFill>
                <a:effectLst/>
                <a:uFillTx/>
                <a:latin typeface="Arial"/>
              </a:rPr>
              <a:t> a </a:t>
            </a:r>
            <a:r>
              <a:rPr lang="en-US" sz="2000" b="0" u="none" strike="noStrike" dirty="0" err="1">
                <a:solidFill>
                  <a:srgbClr val="000000"/>
                </a:solidFill>
                <a:effectLst/>
                <a:uFillTx/>
                <a:latin typeface="Arial"/>
              </a:rPr>
              <a:t>que</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nuevas</a:t>
            </a:r>
            <a:r>
              <a:rPr lang="en-US" sz="2000" b="0" u="none" strike="noStrike" dirty="0">
                <a:solidFill>
                  <a:srgbClr val="000000"/>
                </a:solidFill>
                <a:effectLst/>
                <a:uFillTx/>
                <a:latin typeface="Arial"/>
              </a:rPr>
              <a:t> ideas no </a:t>
            </a:r>
            <a:r>
              <a:rPr lang="en-US" sz="2000" b="0" u="none" strike="noStrike" dirty="0" err="1">
                <a:solidFill>
                  <a:srgbClr val="000000"/>
                </a:solidFill>
                <a:effectLst/>
                <a:uFillTx/>
                <a:latin typeface="Arial"/>
              </a:rPr>
              <a:t>terminen</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fragmentando</a:t>
            </a:r>
            <a:r>
              <a:rPr lang="en-US" sz="2000" b="0" u="none" strike="noStrike" dirty="0">
                <a:solidFill>
                  <a:srgbClr val="000000"/>
                </a:solidFill>
                <a:effectLst/>
                <a:uFillTx/>
                <a:latin typeface="Arial"/>
              </a:rPr>
              <a:t> el </a:t>
            </a:r>
            <a:r>
              <a:rPr lang="en-US" sz="2000" b="0" u="none" strike="noStrike" dirty="0" err="1">
                <a:solidFill>
                  <a:srgbClr val="000000"/>
                </a:solidFill>
                <a:effectLst/>
                <a:uFillTx/>
                <a:latin typeface="Arial"/>
              </a:rPr>
              <a:t>producto</a:t>
            </a:r>
            <a:r>
              <a:rPr lang="en-US" sz="2000" b="0" u="none" strike="noStrike" dirty="0">
                <a:solidFill>
                  <a:srgbClr val="000000"/>
                </a:solidFill>
                <a:effectLst/>
                <a:uFillTx/>
                <a:latin typeface="Arial"/>
              </a:rPr>
              <a:t>.</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a:t>
            </a:r>
          </a:p>
          <a:p>
            <a:r>
              <a:rPr lang="es-MX" sz="2000" b="1" dirty="0"/>
              <a:t>Para qué sirven estos principios y cuándo utilizarlos</a:t>
            </a:r>
          </a:p>
          <a:p>
            <a:endParaRPr lang="es-MX" sz="2000" dirty="0"/>
          </a:p>
          <a:p>
            <a:r>
              <a:rPr lang="es-MX" sz="2000" dirty="0"/>
              <a:t>Estos principios no son requisitos técnicos aislados ni reglas absolutas de implementación. Son </a:t>
            </a:r>
            <a:r>
              <a:rPr lang="es-MX" sz="2000" b="1" dirty="0" err="1"/>
              <a:t>guardrails</a:t>
            </a:r>
            <a:r>
              <a:rPr lang="es-MX" sz="2000" b="1" dirty="0"/>
              <a:t> de producto y arquitectura</a:t>
            </a:r>
            <a:r>
              <a:rPr lang="es-MX" sz="2000" dirty="0"/>
              <a:t> para mantener coherencia mientras </a:t>
            </a:r>
            <a:r>
              <a:rPr lang="es-MX" sz="2000" dirty="0" err="1"/>
              <a:t>Gu</a:t>
            </a:r>
            <a:r>
              <a:rPr lang="es-MX" sz="2000" dirty="0"/>
              <a:t> OS se expande.</a:t>
            </a:r>
          </a:p>
          <a:p>
            <a:endParaRPr lang="es-MX" sz="2000" dirty="0"/>
          </a:p>
          <a:p>
            <a:r>
              <a:rPr lang="es-MX" sz="2000" dirty="0"/>
              <a:t>La idea es usarlos cada vez que surja una pregunta como:</a:t>
            </a:r>
          </a:p>
          <a:p>
            <a:r>
              <a:rPr lang="es-MX" sz="2000" dirty="0"/>
              <a:t>“¿Deberíamos agregar esta </a:t>
            </a:r>
            <a:r>
              <a:rPr lang="es-MX" sz="2000" dirty="0" err="1"/>
              <a:t>feature</a:t>
            </a:r>
            <a:r>
              <a:rPr lang="es-MX" sz="2000" dirty="0"/>
              <a:t>?”, “¿esto necesita un Case?”, “¿hacemos un módulo de campañas?”, “¿integramos o construimos esta </a:t>
            </a:r>
            <a:r>
              <a:rPr lang="es-MX" sz="2000" dirty="0" err="1"/>
              <a:t>capability</a:t>
            </a:r>
            <a:r>
              <a:rPr lang="es-MX" sz="2000" dirty="0"/>
              <a:t>?”, “¿necesitamos una pantalla?”, “¿qué debería decidir el LLM?”, “¿cómo incorporamos otro dominio?”, “¿qué ponemos en el </a:t>
            </a:r>
            <a:r>
              <a:rPr lang="es-MX" sz="2000" dirty="0" err="1"/>
              <a:t>roadmap</a:t>
            </a:r>
            <a:r>
              <a:rPr lang="es-MX" sz="2000" dirty="0"/>
              <a:t>?”</a:t>
            </a:r>
          </a:p>
          <a:p>
            <a:endParaRPr lang="es-MX" sz="2000" dirty="0"/>
          </a:p>
          <a:p>
            <a:r>
              <a:rPr lang="es-MX" sz="2000" dirty="0"/>
              <a:t>Sirven especialmente al pasar de una </a:t>
            </a:r>
            <a:r>
              <a:rPr lang="es-MX" sz="2000" b="1" dirty="0"/>
              <a:t>responsabilidad de negocio</a:t>
            </a:r>
            <a:r>
              <a:rPr lang="es-MX" sz="2000" dirty="0"/>
              <a:t> a un diseño concreto de producto y arquitectura:</a:t>
            </a:r>
          </a:p>
          <a:p>
            <a:r>
              <a:rPr lang="es-MX" sz="2000" dirty="0"/>
              <a:t>problema / resultado deseado → responsabilidad operacional → dominio / Case / Work </a:t>
            </a:r>
            <a:r>
              <a:rPr lang="es-MX" sz="2000" dirty="0" err="1"/>
              <a:t>Items</a:t>
            </a:r>
            <a:r>
              <a:rPr lang="es-MX" sz="2000" dirty="0"/>
              <a:t> / </a:t>
            </a:r>
            <a:r>
              <a:rPr lang="es-MX" sz="2000" dirty="0" err="1"/>
              <a:t>capabilities</a:t>
            </a:r>
            <a:r>
              <a:rPr lang="es-MX" sz="2000" dirty="0"/>
              <a:t> → arquitectura → UX → métricas.</a:t>
            </a:r>
          </a:p>
          <a:p>
            <a:endParaRPr lang="es-MX" sz="2000" dirty="0"/>
          </a:p>
          <a:p>
            <a:r>
              <a:rPr lang="es-MX" sz="2000" dirty="0"/>
              <a:t>Su objetivo común es evitar que </a:t>
            </a:r>
            <a:r>
              <a:rPr lang="es-MX" sz="2000" dirty="0" err="1"/>
              <a:t>Gu</a:t>
            </a:r>
            <a:r>
              <a:rPr lang="es-MX" sz="2000" dirty="0"/>
              <a:t> OS se convierta en:</a:t>
            </a:r>
          </a:p>
          <a:p>
            <a:r>
              <a:rPr lang="es-MX" sz="2000" dirty="0"/>
              <a:t>CRM + marketing module + </a:t>
            </a:r>
            <a:r>
              <a:rPr lang="es-MX" sz="2000" dirty="0" err="1"/>
              <a:t>transaction</a:t>
            </a:r>
            <a:r>
              <a:rPr lang="es-MX" sz="2000" dirty="0"/>
              <a:t> module + </a:t>
            </a:r>
            <a:r>
              <a:rPr lang="es-MX" sz="2000" dirty="0" err="1"/>
              <a:t>marketplace</a:t>
            </a:r>
            <a:r>
              <a:rPr lang="es-MX" sz="2000" dirty="0"/>
              <a:t> + </a:t>
            </a:r>
            <a:r>
              <a:rPr lang="es-MX" sz="2000" dirty="0" err="1"/>
              <a:t>dashboard</a:t>
            </a:r>
            <a:r>
              <a:rPr lang="es-MX" sz="2000" dirty="0"/>
              <a:t> + </a:t>
            </a:r>
            <a:r>
              <a:rPr lang="es-MX" sz="2000" dirty="0" err="1"/>
              <a:t>chatbot</a:t>
            </a:r>
            <a:r>
              <a:rPr lang="es-MX" sz="2000" dirty="0"/>
              <a:t>...</a:t>
            </a:r>
          </a:p>
          <a:p>
            <a:r>
              <a:rPr lang="es-MX" sz="2000" dirty="0"/>
              <a:t>todos pegados entre sí.</a:t>
            </a:r>
          </a:p>
          <a:p>
            <a:endParaRPr lang="es-MX" sz="2000" dirty="0"/>
          </a:p>
          <a:p>
            <a:r>
              <a:rPr lang="es-MX" sz="2000" dirty="0"/>
              <a:t>La meta es que siga existiendo </a:t>
            </a:r>
            <a:r>
              <a:rPr lang="es-MX" sz="2000" b="1" dirty="0"/>
              <a:t>un mismo entorno operativo</a:t>
            </a:r>
            <a:r>
              <a:rPr lang="es-MX" sz="2000" dirty="0"/>
              <a:t>, con </a:t>
            </a:r>
            <a:r>
              <a:rPr lang="es-MX" sz="2000" dirty="0" err="1"/>
              <a:t>Gu</a:t>
            </a:r>
            <a:r>
              <a:rPr lang="es-MX" sz="2000" dirty="0"/>
              <a:t> como experiencia de trabajo y un núcleo común que preserve continuidad entre dominios.</a:t>
            </a:r>
          </a:p>
          <a:p>
            <a:br>
              <a:rPr lang="es-MX" sz="2000" dirty="0"/>
            </a:br>
            <a:endParaRPr lang="es-MX" sz="2000" dirty="0"/>
          </a:p>
          <a:p>
            <a:r>
              <a:rPr lang="es-MX" sz="2000" b="1" dirty="0"/>
              <a:t>1. Empezar por responsabilidad y resultado</a:t>
            </a:r>
          </a:p>
          <a:p>
            <a:endParaRPr lang="es-MX" sz="2000" b="1" dirty="0"/>
          </a:p>
          <a:p>
            <a:r>
              <a:rPr lang="es-MX" sz="2000" b="1" dirty="0"/>
              <a:t>Qué significa</a:t>
            </a:r>
          </a:p>
          <a:p>
            <a:r>
              <a:rPr lang="es-MX" sz="2000" dirty="0"/>
              <a:t>No comenzar diseñando una </a:t>
            </a:r>
            <a:r>
              <a:rPr lang="es-MX" sz="2000" dirty="0" err="1"/>
              <a:t>feature</a:t>
            </a:r>
            <a:r>
              <a:rPr lang="es-MX" sz="2000" dirty="0"/>
              <a:t>, una pantalla, una </a:t>
            </a:r>
            <a:r>
              <a:rPr lang="es-MX" sz="2000" dirty="0" err="1"/>
              <a:t>tool</a:t>
            </a:r>
            <a:r>
              <a:rPr lang="es-MX" sz="2000" dirty="0"/>
              <a:t> o un agente.</a:t>
            </a:r>
          </a:p>
          <a:p>
            <a:r>
              <a:rPr lang="es-MX" sz="2000" dirty="0"/>
              <a:t>Primero preguntar:</a:t>
            </a:r>
          </a:p>
          <a:p>
            <a:endParaRPr lang="es-MX" sz="2000" b="1" dirty="0"/>
          </a:p>
          <a:p>
            <a:r>
              <a:rPr lang="es-MX" sz="2000" b="1" dirty="0"/>
              <a:t>¿Qué trabajo de negocio debería poder delegar el usuario y qué resultado demostraría que ese trabajo avanzó o terminó correctamente?</a:t>
            </a:r>
            <a:endParaRPr lang="es-MX" sz="2000" dirty="0"/>
          </a:p>
          <a:p>
            <a:r>
              <a:rPr lang="es-MX" sz="2000" dirty="0"/>
              <a:t>Aquí </a:t>
            </a:r>
            <a:r>
              <a:rPr lang="es-MX" sz="1200" kern="1200" dirty="0">
                <a:solidFill>
                  <a:schemeClr val="tx1"/>
                </a:solidFill>
                <a:latin typeface="+mn-lt"/>
                <a:ea typeface="+mn-ea"/>
                <a:cs typeface="+mn-cs"/>
              </a:rPr>
              <a:t>responsabilidad</a:t>
            </a:r>
            <a:r>
              <a:rPr lang="es-MX" sz="2000" dirty="0"/>
              <a:t> significa </a:t>
            </a:r>
            <a:r>
              <a:rPr lang="es-MX" sz="2000" b="1" dirty="0"/>
              <a:t>trabajo del negocio que queremos que </a:t>
            </a:r>
            <a:r>
              <a:rPr lang="es-MX" sz="2000" b="1" dirty="0" err="1"/>
              <a:t>Gu</a:t>
            </a:r>
            <a:r>
              <a:rPr lang="es-MX" sz="2000" b="1" dirty="0"/>
              <a:t> pueda hacerse cargo de avanzar</a:t>
            </a:r>
            <a:r>
              <a:rPr lang="es-MX" sz="2000" dirty="0"/>
              <a:t>, no la distinción POSEER/ORQUESTAR que acabamos de utilizar en el otro </a:t>
            </a:r>
            <a:r>
              <a:rPr lang="es-MX" sz="2000" dirty="0" err="1"/>
              <a:t>framework</a:t>
            </a:r>
            <a:r>
              <a:rPr lang="es-MX" sz="2000" dirty="0"/>
              <a:t>.</a:t>
            </a:r>
          </a:p>
          <a:p>
            <a:r>
              <a:rPr lang="es-MX" sz="2000" dirty="0"/>
              <a:t>Después se decide cuál es la abstracción adecuada:</a:t>
            </a:r>
          </a:p>
          <a:p>
            <a:r>
              <a:rPr lang="es-MX" sz="2000" dirty="0" err="1"/>
              <a:t>Action</a:t>
            </a:r>
            <a:r>
              <a:rPr lang="es-MX" sz="2000" dirty="0"/>
              <a:t>, Work Item, Case, dominio, Skill, Tool, etc.</a:t>
            </a:r>
          </a:p>
          <a:p>
            <a:endParaRPr lang="es-MX" sz="2000" b="1" dirty="0"/>
          </a:p>
          <a:p>
            <a:r>
              <a:rPr lang="es-MX" sz="2000" b="1" dirty="0"/>
              <a:t>Por qué importa</a:t>
            </a:r>
          </a:p>
          <a:p>
            <a:r>
              <a:rPr lang="es-MX" sz="2000" dirty="0"/>
              <a:t>El SaaS tradicional suele empezar por funcionalidades:</a:t>
            </a:r>
          </a:p>
          <a:p>
            <a:r>
              <a:rPr lang="es-MX" sz="2000" dirty="0"/>
              <a:t>“necesitamos un módulo de seguimiento”,</a:t>
            </a:r>
            <a:br>
              <a:rPr lang="es-MX" sz="2000" dirty="0"/>
            </a:br>
            <a:r>
              <a:rPr lang="es-MX" sz="2000" dirty="0"/>
              <a:t>“hagamos una pantalla de campañas”,</a:t>
            </a:r>
            <a:br>
              <a:rPr lang="es-MX" sz="2000" dirty="0"/>
            </a:br>
            <a:r>
              <a:rPr lang="es-MX" sz="2000" dirty="0"/>
              <a:t>“agreguemos un pipeline”.</a:t>
            </a:r>
          </a:p>
          <a:p>
            <a:endParaRPr lang="es-MX" sz="2000" dirty="0"/>
          </a:p>
          <a:p>
            <a:r>
              <a:rPr lang="es-MX" sz="2000" dirty="0"/>
              <a:t>Eso produce fragmentación.</a:t>
            </a:r>
          </a:p>
          <a:p>
            <a:r>
              <a:rPr lang="es-MX" sz="2000" dirty="0" err="1"/>
              <a:t>Gu</a:t>
            </a:r>
            <a:r>
              <a:rPr lang="es-MX" sz="2000" dirty="0"/>
              <a:t> OS debería comenzar por: </a:t>
            </a:r>
            <a:r>
              <a:rPr lang="es-MX" sz="2000" b="1" dirty="0"/>
              <a:t>qué resultado necesitamos lograr.</a:t>
            </a:r>
            <a:endParaRPr lang="es-MX" sz="2000" dirty="0"/>
          </a:p>
          <a:p>
            <a:endParaRPr lang="es-MX" sz="2000" b="1" dirty="0"/>
          </a:p>
          <a:p>
            <a:r>
              <a:rPr lang="es-MX" sz="2000" b="1" dirty="0"/>
              <a:t>Cuándo usarlo</a:t>
            </a:r>
          </a:p>
          <a:p>
            <a:r>
              <a:rPr lang="es-MX" sz="2000" dirty="0"/>
              <a:t>Al agregar cualquier nueva </a:t>
            </a:r>
            <a:r>
              <a:rPr lang="es-MX" sz="2000" dirty="0" err="1"/>
              <a:t>capability</a:t>
            </a:r>
            <a:r>
              <a:rPr lang="es-MX" sz="2000" dirty="0"/>
              <a:t>, </a:t>
            </a:r>
            <a:r>
              <a:rPr lang="es-MX" sz="2000" dirty="0" err="1"/>
              <a:t>workflow</a:t>
            </a:r>
            <a:r>
              <a:rPr lang="es-MX" sz="2000" dirty="0"/>
              <a:t>, dominio o iniciativa de </a:t>
            </a:r>
            <a:r>
              <a:rPr lang="es-MX" sz="2000" dirty="0" err="1"/>
              <a:t>roadmap</a:t>
            </a:r>
            <a:r>
              <a:rPr lang="es-MX" sz="2000" dirty="0"/>
              <a:t>.</a:t>
            </a:r>
          </a:p>
          <a:p>
            <a:endParaRPr lang="es-MX" sz="2000" b="1" dirty="0"/>
          </a:p>
          <a:p>
            <a:r>
              <a:rPr lang="es-MX" sz="2000" b="1" dirty="0"/>
              <a:t>Ejemplo inmobiliario</a:t>
            </a:r>
          </a:p>
          <a:p>
            <a:r>
              <a:rPr lang="es-MX" sz="2000" dirty="0"/>
              <a:t>Mala pregunta:</a:t>
            </a:r>
          </a:p>
          <a:p>
            <a:r>
              <a:rPr lang="es-MX" sz="2000" dirty="0"/>
              <a:t>“¿Necesitamos construir un CRM de propietarios?”</a:t>
            </a:r>
          </a:p>
          <a:p>
            <a:endParaRPr lang="es-MX" sz="2000" dirty="0"/>
          </a:p>
          <a:p>
            <a:r>
              <a:rPr lang="es-MX" sz="2000" dirty="0"/>
              <a:t>Mejor pregunta:</a:t>
            </a:r>
          </a:p>
          <a:p>
            <a:r>
              <a:rPr lang="es-MX" sz="2000" b="1" dirty="0"/>
              <a:t>“¿Qué responsabilidad queremos que </a:t>
            </a:r>
            <a:r>
              <a:rPr lang="es-MX" sz="2000" b="1" dirty="0" err="1"/>
              <a:t>Gu</a:t>
            </a:r>
            <a:r>
              <a:rPr lang="es-MX" sz="2000" b="1" dirty="0"/>
              <a:t> pueda asumir respecto a una propiedad?”</a:t>
            </a:r>
            <a:endParaRPr lang="es-MX" sz="2000" dirty="0"/>
          </a:p>
          <a:p>
            <a:endParaRPr lang="es-MX" sz="2000" dirty="0"/>
          </a:p>
          <a:p>
            <a:r>
              <a:rPr lang="es-MX" sz="2000" dirty="0"/>
              <a:t>Por ejemplo:</a:t>
            </a:r>
          </a:p>
          <a:p>
            <a:r>
              <a:rPr lang="es-MX" sz="2000" dirty="0"/>
              <a:t>llevar una propiedad desde captación hasta publicación correcta.</a:t>
            </a:r>
          </a:p>
          <a:p>
            <a:r>
              <a:rPr lang="es-MX" sz="2000" dirty="0"/>
              <a:t>De ahí puede surgir:</a:t>
            </a:r>
          </a:p>
          <a:p>
            <a:r>
              <a:rPr lang="es-MX" sz="2000" dirty="0" err="1"/>
              <a:t>Property</a:t>
            </a:r>
            <a:r>
              <a:rPr lang="es-MX" sz="2000" dirty="0"/>
              <a:t> </a:t>
            </a:r>
            <a:r>
              <a:rPr lang="es-MX" sz="2000" dirty="0" err="1"/>
              <a:t>Operations</a:t>
            </a:r>
            <a:r>
              <a:rPr lang="es-MX" sz="2000" dirty="0"/>
              <a:t> → </a:t>
            </a:r>
            <a:r>
              <a:rPr lang="es-MX" sz="2000" dirty="0" err="1"/>
              <a:t>Property</a:t>
            </a:r>
            <a:r>
              <a:rPr lang="es-MX" sz="2000" dirty="0"/>
              <a:t> </a:t>
            </a:r>
            <a:r>
              <a:rPr lang="es-MX" sz="2000" dirty="0" err="1"/>
              <a:t>Optioning</a:t>
            </a:r>
            <a:r>
              <a:rPr lang="es-MX" sz="2000" dirty="0"/>
              <a:t> Case → expediente → valuación → aprobación → preparación → publicación.</a:t>
            </a:r>
          </a:p>
          <a:p>
            <a:br>
              <a:rPr lang="es-MX" sz="2000" dirty="0"/>
            </a:br>
            <a:endParaRPr lang="es-MX" sz="2000" dirty="0"/>
          </a:p>
          <a:p>
            <a:r>
              <a:rPr lang="es-MX" sz="2000" b="1" dirty="0"/>
              <a:t>2. Definir verdad operacional antes del </a:t>
            </a:r>
            <a:r>
              <a:rPr lang="es-MX" sz="2000" b="1" dirty="0" err="1"/>
              <a:t>prompt</a:t>
            </a:r>
            <a:endParaRPr lang="es-MX" sz="2000" b="1" dirty="0"/>
          </a:p>
          <a:p>
            <a:endParaRPr lang="es-MX" sz="2000" b="1" dirty="0"/>
          </a:p>
          <a:p>
            <a:r>
              <a:rPr lang="es-MX" sz="2000" b="1" dirty="0"/>
              <a:t>Qué significa</a:t>
            </a:r>
          </a:p>
          <a:p>
            <a:endParaRPr lang="es-MX" sz="2000" dirty="0"/>
          </a:p>
          <a:p>
            <a:r>
              <a:rPr lang="es-MX" sz="2000" dirty="0"/>
              <a:t>Antes de pensar:</a:t>
            </a:r>
          </a:p>
          <a:p>
            <a:r>
              <a:rPr lang="es-MX" sz="2000" dirty="0"/>
              <a:t>“¿qué instrucciones damos al LLM?”</a:t>
            </a:r>
          </a:p>
          <a:p>
            <a:endParaRPr lang="es-MX" sz="2000" dirty="0"/>
          </a:p>
          <a:p>
            <a:r>
              <a:rPr lang="es-MX" sz="2000" dirty="0"/>
              <a:t>hay que definir:</a:t>
            </a:r>
          </a:p>
          <a:p>
            <a:r>
              <a:rPr lang="es-MX" sz="2000" dirty="0"/>
              <a:t>qué es verdad en el negocio, dónde vive esa verdad, qué estado tiene el trabajo, qué hechos son autorizados y qué evidencia permite cambiar el estado.</a:t>
            </a:r>
          </a:p>
          <a:p>
            <a:endParaRPr lang="es-MX" sz="2000" dirty="0"/>
          </a:p>
          <a:p>
            <a:r>
              <a:rPr lang="es-MX" sz="2000" dirty="0"/>
              <a:t>El </a:t>
            </a:r>
            <a:r>
              <a:rPr lang="es-MX" sz="2000" dirty="0" err="1"/>
              <a:t>prompt</a:t>
            </a:r>
            <a:r>
              <a:rPr lang="es-MX" sz="2000" dirty="0"/>
              <a:t> </a:t>
            </a:r>
            <a:r>
              <a:rPr lang="es-MX" sz="2000" b="1" dirty="0"/>
              <a:t>guía el razonamiento</a:t>
            </a:r>
            <a:r>
              <a:rPr lang="es-MX" sz="2000" dirty="0"/>
              <a:t>; no debe convertirse en la fuente de verdad del sistema.</a:t>
            </a:r>
          </a:p>
          <a:p>
            <a:endParaRPr lang="es-MX" sz="2000" b="1" dirty="0"/>
          </a:p>
          <a:p>
            <a:r>
              <a:rPr lang="es-MX" sz="2000" b="1" dirty="0"/>
              <a:t>Por qué importa</a:t>
            </a:r>
          </a:p>
          <a:p>
            <a:r>
              <a:rPr lang="es-MX" sz="2000" dirty="0"/>
              <a:t>Una conversación puede decir:</a:t>
            </a:r>
          </a:p>
          <a:p>
            <a:r>
              <a:rPr lang="es-MX" sz="2000" dirty="0"/>
              <a:t>“creo que ya aprobamos el precio”.</a:t>
            </a:r>
          </a:p>
          <a:p>
            <a:r>
              <a:rPr lang="es-MX" sz="2000" dirty="0"/>
              <a:t>Pero el sistema necesita saber:</a:t>
            </a:r>
          </a:p>
          <a:p>
            <a:r>
              <a:rPr lang="es-MX" sz="2000" dirty="0"/>
              <a:t>precio aprobado = MXN 7.4M</a:t>
            </a:r>
            <a:br>
              <a:rPr lang="es-MX" sz="2000" dirty="0"/>
            </a:br>
            <a:r>
              <a:rPr lang="es-MX" sz="2000" dirty="0"/>
              <a:t>aprobado por = propietario X</a:t>
            </a:r>
            <a:br>
              <a:rPr lang="es-MX" sz="2000" dirty="0"/>
            </a:br>
            <a:r>
              <a:rPr lang="es-MX" sz="2000" dirty="0"/>
              <a:t>fecha = Y</a:t>
            </a:r>
            <a:br>
              <a:rPr lang="es-MX" sz="2000" dirty="0"/>
            </a:br>
            <a:r>
              <a:rPr lang="es-MX" sz="2000" dirty="0"/>
              <a:t>evidencia = mensaje/documento Z.</a:t>
            </a:r>
          </a:p>
          <a:p>
            <a:r>
              <a:rPr lang="es-MX" sz="2000" dirty="0"/>
              <a:t>La conversación puede contener contexto ambiguo. El Case y sus hechos/evidencia deben conservar la realidad operacional.</a:t>
            </a:r>
          </a:p>
          <a:p>
            <a:endParaRPr lang="es-MX" sz="2000" b="1" dirty="0"/>
          </a:p>
          <a:p>
            <a:r>
              <a:rPr lang="es-MX" sz="2000" b="1" dirty="0"/>
              <a:t>Cuándo usarlo</a:t>
            </a:r>
          </a:p>
          <a:p>
            <a:r>
              <a:rPr lang="es-MX" sz="2000" dirty="0"/>
              <a:t>Antes de implementar cualquier proceso durable o automatización con consecuencias reales.</a:t>
            </a:r>
          </a:p>
          <a:p>
            <a:endParaRPr lang="es-MX" sz="2000" b="1" dirty="0"/>
          </a:p>
          <a:p>
            <a:r>
              <a:rPr lang="es-MX" sz="2000" b="1" dirty="0"/>
              <a:t>Ejemplo inmobiliario</a:t>
            </a:r>
          </a:p>
          <a:p>
            <a:r>
              <a:rPr lang="es-MX" sz="2000" dirty="0"/>
              <a:t>En </a:t>
            </a:r>
            <a:r>
              <a:rPr lang="es-MX" sz="2000" dirty="0" err="1"/>
              <a:t>Property</a:t>
            </a:r>
            <a:r>
              <a:rPr lang="es-MX" sz="2000" dirty="0"/>
              <a:t> </a:t>
            </a:r>
            <a:r>
              <a:rPr lang="es-MX" sz="2000" dirty="0" err="1"/>
              <a:t>Optioning</a:t>
            </a:r>
            <a:r>
              <a:rPr lang="es-MX" sz="2000" dirty="0"/>
              <a:t>, </a:t>
            </a:r>
            <a:r>
              <a:rPr lang="es-MX" sz="2000" dirty="0" err="1"/>
              <a:t>Gu</a:t>
            </a:r>
            <a:r>
              <a:rPr lang="es-MX" sz="2000" dirty="0"/>
              <a:t> no debería publicar una propiedad porque el LLM “interpretó” que el precio parecía aceptado.</a:t>
            </a:r>
          </a:p>
          <a:p>
            <a:r>
              <a:rPr lang="es-MX" sz="2000" dirty="0"/>
              <a:t>Debe existir un hecho/estado verificable:</a:t>
            </a:r>
          </a:p>
          <a:p>
            <a:r>
              <a:rPr lang="es-MX" sz="2000" b="1" dirty="0"/>
              <a:t>precio aprobado = sí</a:t>
            </a:r>
            <a:endParaRPr lang="es-MX" sz="2000" dirty="0"/>
          </a:p>
          <a:p>
            <a:r>
              <a:rPr lang="es-MX" sz="2000" dirty="0"/>
              <a:t>con su evidencia correspondiente.</a:t>
            </a:r>
          </a:p>
          <a:p>
            <a:br>
              <a:rPr lang="es-MX" sz="2000" dirty="0"/>
            </a:br>
            <a:endParaRPr lang="es-MX" sz="2000" dirty="0"/>
          </a:p>
          <a:p>
            <a:r>
              <a:rPr lang="es-MX" sz="2000" b="1" dirty="0"/>
              <a:t>3. Reutilizar el núcleo operativo de </a:t>
            </a:r>
            <a:r>
              <a:rPr lang="es-MX" sz="2000" b="1" dirty="0" err="1"/>
              <a:t>Gu</a:t>
            </a:r>
            <a:r>
              <a:rPr lang="es-MX" sz="2000" b="1" dirty="0"/>
              <a:t> OS</a:t>
            </a:r>
          </a:p>
          <a:p>
            <a:endParaRPr lang="es-MX" sz="2000" b="1" dirty="0"/>
          </a:p>
          <a:p>
            <a:r>
              <a:rPr lang="es-MX" sz="2000" b="1" dirty="0"/>
              <a:t>Qué significa</a:t>
            </a:r>
          </a:p>
          <a:p>
            <a:endParaRPr lang="es-MX" sz="2000" dirty="0"/>
          </a:p>
          <a:p>
            <a:r>
              <a:rPr lang="es-MX" sz="2000" dirty="0"/>
              <a:t>Cada nuevo dominio debe aprovechar las mismas primitivas fundamentales:</a:t>
            </a:r>
          </a:p>
          <a:p>
            <a:r>
              <a:rPr lang="es-MX" sz="2000" dirty="0"/>
              <a:t>Cases · eventos · Work </a:t>
            </a:r>
            <a:r>
              <a:rPr lang="es-MX" sz="2000" dirty="0" err="1"/>
              <a:t>Items</a:t>
            </a:r>
            <a:r>
              <a:rPr lang="es-MX" sz="2000" dirty="0"/>
              <a:t> · </a:t>
            </a:r>
            <a:r>
              <a:rPr lang="es-MX" sz="2000" dirty="0" err="1"/>
              <a:t>scheduler</a:t>
            </a:r>
            <a:r>
              <a:rPr lang="es-MX" sz="2000" dirty="0"/>
              <a:t> · gobernanza · evidencia · participación humana · </a:t>
            </a:r>
            <a:r>
              <a:rPr lang="es-MX" sz="2000" dirty="0" err="1"/>
              <a:t>Skills</a:t>
            </a:r>
            <a:r>
              <a:rPr lang="es-MX" sz="2000" dirty="0"/>
              <a:t>/</a:t>
            </a:r>
            <a:r>
              <a:rPr lang="es-MX" sz="2000" dirty="0" err="1"/>
              <a:t>tools</a:t>
            </a:r>
            <a:r>
              <a:rPr lang="es-MX" sz="2000" dirty="0"/>
              <a:t>.</a:t>
            </a:r>
          </a:p>
          <a:p>
            <a:endParaRPr lang="es-MX" sz="2000" dirty="0"/>
          </a:p>
          <a:p>
            <a:r>
              <a:rPr lang="es-MX" sz="2000" dirty="0"/>
              <a:t>No crear un </a:t>
            </a:r>
            <a:r>
              <a:rPr lang="es-MX" sz="2000" dirty="0" err="1"/>
              <a:t>runtime</a:t>
            </a:r>
            <a:r>
              <a:rPr lang="es-MX" sz="2000" dirty="0"/>
              <a:t> diferente para:</a:t>
            </a:r>
          </a:p>
          <a:p>
            <a:pPr lvl="0"/>
            <a:r>
              <a:rPr lang="es-MX" sz="2000" dirty="0"/>
              <a:t>campañas; </a:t>
            </a:r>
          </a:p>
          <a:p>
            <a:pPr lvl="0"/>
            <a:r>
              <a:rPr lang="es-MX" sz="2000" dirty="0"/>
              <a:t>leads; </a:t>
            </a:r>
          </a:p>
          <a:p>
            <a:pPr lvl="0"/>
            <a:r>
              <a:rPr lang="es-MX" sz="2000" dirty="0"/>
              <a:t>propiedades; </a:t>
            </a:r>
          </a:p>
          <a:p>
            <a:pPr lvl="0"/>
            <a:r>
              <a:rPr lang="es-MX" sz="2000" dirty="0"/>
              <a:t>transacciones; </a:t>
            </a:r>
          </a:p>
          <a:p>
            <a:pPr lvl="0"/>
            <a:r>
              <a:rPr lang="es-MX" sz="2000" dirty="0" err="1"/>
              <a:t>network</a:t>
            </a:r>
            <a:r>
              <a:rPr lang="es-MX" sz="2000" dirty="0"/>
              <a:t> </a:t>
            </a:r>
            <a:r>
              <a:rPr lang="es-MX" sz="2000" dirty="0" err="1"/>
              <a:t>operations</a:t>
            </a:r>
            <a:r>
              <a:rPr lang="es-MX" sz="2000" dirty="0"/>
              <a:t>. </a:t>
            </a:r>
          </a:p>
          <a:p>
            <a:endParaRPr lang="es-MX" sz="2000" dirty="0"/>
          </a:p>
          <a:p>
            <a:r>
              <a:rPr lang="es-MX" sz="2000" dirty="0"/>
              <a:t>Cada dominio aporta </a:t>
            </a:r>
            <a:r>
              <a:rPr lang="es-MX" sz="2000" b="1" dirty="0"/>
              <a:t>semántica de negocio</a:t>
            </a:r>
            <a:r>
              <a:rPr lang="es-MX" sz="2000" dirty="0"/>
              <a:t>, no una nueva plataforma tecnológica completa.</a:t>
            </a:r>
          </a:p>
          <a:p>
            <a:endParaRPr lang="es-MX" sz="2000" b="1" dirty="0"/>
          </a:p>
          <a:p>
            <a:r>
              <a:rPr lang="es-MX" sz="2000" b="1" dirty="0"/>
              <a:t>Por qué importa</a:t>
            </a:r>
          </a:p>
          <a:p>
            <a:r>
              <a:rPr lang="es-MX" sz="2000" dirty="0"/>
              <a:t>Si Demand </a:t>
            </a:r>
            <a:r>
              <a:rPr lang="es-MX" sz="2000" dirty="0" err="1"/>
              <a:t>Operations</a:t>
            </a:r>
            <a:r>
              <a:rPr lang="es-MX" sz="2000" dirty="0"/>
              <a:t> crea su propio </a:t>
            </a:r>
            <a:r>
              <a:rPr lang="es-MX" sz="2000" dirty="0" err="1"/>
              <a:t>scheduler</a:t>
            </a:r>
            <a:r>
              <a:rPr lang="es-MX" sz="2000" dirty="0"/>
              <a:t>, </a:t>
            </a:r>
            <a:r>
              <a:rPr lang="es-MX" sz="2000" dirty="0" err="1"/>
              <a:t>Relationship</a:t>
            </a:r>
            <a:r>
              <a:rPr lang="es-MX" sz="2000" dirty="0"/>
              <a:t> </a:t>
            </a:r>
            <a:r>
              <a:rPr lang="es-MX" sz="2000" dirty="0" err="1"/>
              <a:t>Ops</a:t>
            </a:r>
            <a:r>
              <a:rPr lang="es-MX" sz="2000" dirty="0"/>
              <a:t> otro modelo de tareas y </a:t>
            </a:r>
            <a:r>
              <a:rPr lang="es-MX" sz="2000" dirty="0" err="1"/>
              <a:t>Property</a:t>
            </a:r>
            <a:r>
              <a:rPr lang="es-MX" sz="2000" dirty="0"/>
              <a:t> </a:t>
            </a:r>
            <a:r>
              <a:rPr lang="es-MX" sz="2000" dirty="0" err="1"/>
              <a:t>Ops</a:t>
            </a:r>
            <a:r>
              <a:rPr lang="es-MX" sz="2000" dirty="0"/>
              <a:t> otra lógica de </a:t>
            </a:r>
            <a:r>
              <a:rPr lang="es-MX" sz="2000" dirty="0" err="1"/>
              <a:t>approvals</a:t>
            </a:r>
            <a:r>
              <a:rPr lang="es-MX" sz="2000" dirty="0"/>
              <a:t>, terminamos reconstruyendo SaaS fragmentado internamente.</a:t>
            </a:r>
          </a:p>
          <a:p>
            <a:r>
              <a:rPr lang="es-MX" sz="2000" dirty="0"/>
              <a:t>La ventaja de </a:t>
            </a:r>
            <a:r>
              <a:rPr lang="es-MX" sz="2000" dirty="0" err="1"/>
              <a:t>Gu</a:t>
            </a:r>
            <a:r>
              <a:rPr lang="es-MX" sz="2000" dirty="0"/>
              <a:t> OS está precisamente en que:</a:t>
            </a:r>
          </a:p>
          <a:p>
            <a:r>
              <a:rPr lang="es-MX" sz="2000" b="1" dirty="0"/>
              <a:t>un núcleo operacional común puede asumir responsabilidades diferentes.</a:t>
            </a:r>
            <a:endParaRPr lang="es-MX" sz="2000" dirty="0"/>
          </a:p>
          <a:p>
            <a:endParaRPr lang="es-MX" sz="2000" b="1" dirty="0"/>
          </a:p>
          <a:p>
            <a:r>
              <a:rPr lang="es-MX" sz="2000" b="1" dirty="0"/>
              <a:t>Cuándo usarlo</a:t>
            </a:r>
          </a:p>
          <a:p>
            <a:r>
              <a:rPr lang="es-MX" sz="2000" dirty="0"/>
              <a:t>Cuando aparece la tentación de crear un nuevo “módulo”, servicio o aplicación específica.</a:t>
            </a:r>
          </a:p>
          <a:p>
            <a:endParaRPr lang="es-MX" sz="2000" b="1" dirty="0"/>
          </a:p>
          <a:p>
            <a:r>
              <a:rPr lang="es-MX" sz="2000" b="1" dirty="0"/>
              <a:t>Ejemplo inmobiliario</a:t>
            </a:r>
          </a:p>
          <a:p>
            <a:r>
              <a:rPr lang="es-MX" sz="2000" dirty="0"/>
              <a:t>Una campaña de Meta puede utilizar:</a:t>
            </a:r>
          </a:p>
          <a:p>
            <a:r>
              <a:rPr lang="es-MX" sz="2000" dirty="0" err="1"/>
              <a:t>Campaign</a:t>
            </a:r>
            <a:r>
              <a:rPr lang="es-MX" sz="2000" dirty="0"/>
              <a:t> Case</a:t>
            </a:r>
            <a:br>
              <a:rPr lang="es-MX" sz="2000" dirty="0"/>
            </a:br>
            <a:r>
              <a:rPr lang="es-MX" sz="2000" dirty="0"/>
              <a:t>Work </a:t>
            </a:r>
            <a:r>
              <a:rPr lang="es-MX" sz="2000" dirty="0" err="1"/>
              <a:t>Items</a:t>
            </a:r>
            <a:br>
              <a:rPr lang="es-MX" sz="2000" dirty="0"/>
            </a:br>
            <a:r>
              <a:rPr lang="es-MX" sz="2000" dirty="0" err="1"/>
              <a:t>waits</a:t>
            </a:r>
            <a:br>
              <a:rPr lang="es-MX" sz="2000" dirty="0"/>
            </a:br>
            <a:r>
              <a:rPr lang="es-MX" sz="2000" dirty="0" err="1"/>
              <a:t>approvals</a:t>
            </a:r>
            <a:br>
              <a:rPr lang="es-MX" sz="2000" dirty="0"/>
            </a:br>
            <a:r>
              <a:rPr lang="es-MX" sz="2000" dirty="0" err="1"/>
              <a:t>evidence</a:t>
            </a:r>
            <a:br>
              <a:rPr lang="es-MX" sz="2000" dirty="0"/>
            </a:br>
            <a:r>
              <a:rPr lang="es-MX" sz="2000" dirty="0" err="1"/>
              <a:t>scheduler</a:t>
            </a:r>
            <a:endParaRPr lang="es-MX" sz="2000" dirty="0"/>
          </a:p>
          <a:p>
            <a:r>
              <a:rPr lang="es-MX" sz="2000" dirty="0"/>
              <a:t>igual que </a:t>
            </a:r>
            <a:r>
              <a:rPr lang="es-MX" sz="2000" dirty="0" err="1"/>
              <a:t>Property</a:t>
            </a:r>
            <a:r>
              <a:rPr lang="es-MX" sz="2000" dirty="0"/>
              <a:t> </a:t>
            </a:r>
            <a:r>
              <a:rPr lang="es-MX" sz="2000" dirty="0" err="1"/>
              <a:t>Optioning</a:t>
            </a:r>
            <a:r>
              <a:rPr lang="es-MX" sz="2000" dirty="0"/>
              <a:t>.</a:t>
            </a:r>
          </a:p>
          <a:p>
            <a:r>
              <a:rPr lang="es-MX" sz="2000" dirty="0"/>
              <a:t>La semántica cambia; el núcleo no.</a:t>
            </a:r>
          </a:p>
          <a:p>
            <a:br>
              <a:rPr lang="es-MX" sz="2000" dirty="0"/>
            </a:br>
            <a:endParaRPr lang="es-MX" sz="2000" dirty="0"/>
          </a:p>
          <a:p>
            <a:r>
              <a:rPr lang="es-MX" sz="2000" b="1" dirty="0"/>
              <a:t>4. Potencia del modelo, autoridad acotada</a:t>
            </a:r>
          </a:p>
          <a:p>
            <a:endParaRPr lang="es-MX" sz="2000" b="1" dirty="0"/>
          </a:p>
          <a:p>
            <a:r>
              <a:rPr lang="es-MX" sz="2000" b="1" dirty="0"/>
              <a:t>Qué significa</a:t>
            </a:r>
          </a:p>
          <a:p>
            <a:endParaRPr lang="es-MX" sz="2000" dirty="0"/>
          </a:p>
          <a:p>
            <a:r>
              <a:rPr lang="es-MX" sz="2000" dirty="0"/>
              <a:t>Queremos utilizar modelos potentes y permitirles:</a:t>
            </a:r>
          </a:p>
          <a:p>
            <a:pPr lvl="0"/>
            <a:r>
              <a:rPr lang="es-MX" sz="2000" dirty="0"/>
              <a:t>razonar; </a:t>
            </a:r>
          </a:p>
          <a:p>
            <a:pPr lvl="0"/>
            <a:r>
              <a:rPr lang="es-MX" sz="2000" dirty="0"/>
              <a:t>diagnosticar; </a:t>
            </a:r>
          </a:p>
          <a:p>
            <a:pPr lvl="0"/>
            <a:r>
              <a:rPr lang="es-MX" sz="2000" dirty="0"/>
              <a:t>replantear; </a:t>
            </a:r>
          </a:p>
          <a:p>
            <a:pPr lvl="0"/>
            <a:r>
              <a:rPr lang="es-MX" sz="2000" dirty="0"/>
              <a:t>seleccionar capacidades; </a:t>
            </a:r>
          </a:p>
          <a:p>
            <a:pPr lvl="0"/>
            <a:r>
              <a:rPr lang="es-MX" sz="2000" dirty="0"/>
              <a:t>construir/ajustar trabajo; </a:t>
            </a:r>
          </a:p>
          <a:p>
            <a:pPr lvl="0"/>
            <a:r>
              <a:rPr lang="es-MX" sz="2000" dirty="0"/>
              <a:t>interpretar situaciones ambiguas. </a:t>
            </a:r>
          </a:p>
          <a:p>
            <a:endParaRPr lang="es-MX" sz="2000" dirty="0"/>
          </a:p>
          <a:p>
            <a:r>
              <a:rPr lang="es-MX" sz="2000" dirty="0"/>
              <a:t>Pero </a:t>
            </a:r>
            <a:r>
              <a:rPr lang="es-MX" sz="2000" b="1" dirty="0"/>
              <a:t>capacidad intelectual no equivale a autoridad ilimitada</a:t>
            </a:r>
            <a:r>
              <a:rPr lang="es-MX" sz="2000" dirty="0"/>
              <a:t>.</a:t>
            </a:r>
          </a:p>
          <a:p>
            <a:endParaRPr lang="es-MX" sz="2000" dirty="0"/>
          </a:p>
          <a:p>
            <a:r>
              <a:rPr lang="es-MX" sz="2000" dirty="0"/>
              <a:t>La autoridad del modelo se restringe mediante:</a:t>
            </a:r>
          </a:p>
          <a:p>
            <a:pPr lvl="0"/>
            <a:r>
              <a:rPr lang="es-MX" sz="2000" dirty="0"/>
              <a:t>políticas; </a:t>
            </a:r>
          </a:p>
          <a:p>
            <a:pPr lvl="0"/>
            <a:r>
              <a:rPr lang="es-MX" sz="2000" dirty="0"/>
              <a:t>permisos; </a:t>
            </a:r>
          </a:p>
          <a:p>
            <a:pPr lvl="0"/>
            <a:r>
              <a:rPr lang="es-MX" sz="2000" dirty="0"/>
              <a:t>invariantes; </a:t>
            </a:r>
          </a:p>
          <a:p>
            <a:pPr lvl="0"/>
            <a:r>
              <a:rPr lang="es-MX" sz="2000" dirty="0"/>
              <a:t>niveles de riesgo; </a:t>
            </a:r>
          </a:p>
          <a:p>
            <a:pPr lvl="0"/>
            <a:r>
              <a:rPr lang="es-MX" sz="2000" dirty="0"/>
              <a:t>criterios de aceptación; </a:t>
            </a:r>
          </a:p>
          <a:p>
            <a:pPr lvl="0"/>
            <a:r>
              <a:rPr lang="es-MX" sz="2000" dirty="0"/>
              <a:t>human </a:t>
            </a:r>
            <a:r>
              <a:rPr lang="es-MX" sz="2000" dirty="0" err="1"/>
              <a:t>involvement</a:t>
            </a:r>
            <a:r>
              <a:rPr lang="es-MX" sz="2000" dirty="0"/>
              <a:t>; </a:t>
            </a:r>
          </a:p>
          <a:p>
            <a:pPr lvl="0"/>
            <a:r>
              <a:rPr lang="es-MX" sz="2000" dirty="0"/>
              <a:t>verificación. </a:t>
            </a:r>
          </a:p>
          <a:p>
            <a:endParaRPr lang="es-MX" sz="2000" b="1" dirty="0"/>
          </a:p>
          <a:p>
            <a:r>
              <a:rPr lang="es-MX" sz="2000" b="1" dirty="0"/>
              <a:t>Por qué importa</a:t>
            </a:r>
          </a:p>
          <a:p>
            <a:r>
              <a:rPr lang="es-MX" sz="2000" dirty="0"/>
              <a:t>Limitar demasiado al modelo nos devuelve a automatizaciones rígidas.</a:t>
            </a:r>
          </a:p>
          <a:p>
            <a:r>
              <a:rPr lang="es-MX" sz="2000" dirty="0"/>
              <a:t>Dar autoridad ilimitada al modelo vuelve el sistema poco confiable.</a:t>
            </a:r>
          </a:p>
          <a:p>
            <a:endParaRPr lang="es-MX" sz="2000" dirty="0"/>
          </a:p>
          <a:p>
            <a:r>
              <a:rPr lang="es-MX" sz="2000" dirty="0"/>
              <a:t>La arquitectura busca:</a:t>
            </a:r>
          </a:p>
          <a:p>
            <a:r>
              <a:rPr lang="es-MX" sz="2000" b="1" dirty="0"/>
              <a:t>flexibilidad donde la inteligencia puede elegir; firmeza donde la realidad es dura.</a:t>
            </a:r>
            <a:endParaRPr lang="es-MX" sz="2000" dirty="0"/>
          </a:p>
          <a:p>
            <a:endParaRPr lang="es-MX" sz="2000" b="1" dirty="0"/>
          </a:p>
          <a:p>
            <a:r>
              <a:rPr lang="es-MX" sz="2000" b="1" dirty="0"/>
              <a:t>Cuándo usarlo</a:t>
            </a:r>
          </a:p>
          <a:p>
            <a:r>
              <a:rPr lang="es-MX" sz="2000" dirty="0"/>
              <a:t>Al decidir qué puede resolver autónomamente un </a:t>
            </a:r>
            <a:r>
              <a:rPr lang="es-MX" sz="2000" dirty="0" err="1"/>
              <a:t>agent</a:t>
            </a:r>
            <a:r>
              <a:rPr lang="es-MX" sz="2000" dirty="0"/>
              <a:t>/Case Supervisor y qué requiere controles deterministas o participación humana.</a:t>
            </a:r>
          </a:p>
          <a:p>
            <a:endParaRPr lang="es-MX" sz="2000" b="1" dirty="0"/>
          </a:p>
          <a:p>
            <a:r>
              <a:rPr lang="es-MX" sz="2000" b="1" dirty="0"/>
              <a:t>Ejemplo inmobiliario</a:t>
            </a:r>
          </a:p>
          <a:p>
            <a:r>
              <a:rPr lang="es-MX" sz="2000" dirty="0" err="1"/>
              <a:t>Gu</a:t>
            </a:r>
            <a:r>
              <a:rPr lang="es-MX" sz="2000" dirty="0"/>
              <a:t> puede decidir autónomamente:</a:t>
            </a:r>
          </a:p>
          <a:p>
            <a:r>
              <a:rPr lang="es-MX" sz="2000" dirty="0"/>
              <a:t>“este lead necesita una nueva búsqueda porque cambió su presupuesto”.</a:t>
            </a:r>
          </a:p>
          <a:p>
            <a:r>
              <a:rPr lang="es-MX" sz="2000" dirty="0"/>
              <a:t>Pero no debería decidir unilateralmente:</a:t>
            </a:r>
          </a:p>
          <a:p>
            <a:r>
              <a:rPr lang="es-MX" sz="2000" dirty="0"/>
              <a:t>“reduzcamos el precio de publicación de MXN 8M a MXN 7M”.</a:t>
            </a:r>
          </a:p>
          <a:p>
            <a:r>
              <a:rPr lang="es-MX" sz="2000" dirty="0"/>
              <a:t>Puede analizar y recomendar; la autoridad comercial permanece gobernada.</a:t>
            </a:r>
          </a:p>
          <a:p>
            <a:br>
              <a:rPr lang="es-MX" sz="2000" dirty="0"/>
            </a:br>
            <a:endParaRPr lang="es-MX" sz="2000" dirty="0"/>
          </a:p>
          <a:p>
            <a:r>
              <a:rPr lang="es-MX" sz="2000" b="1" dirty="0"/>
              <a:t>5. Tratar la UI como superficie del mismo contexto de trabajo</a:t>
            </a:r>
          </a:p>
          <a:p>
            <a:endParaRPr lang="es-MX" sz="2000" b="1" dirty="0"/>
          </a:p>
          <a:p>
            <a:r>
              <a:rPr lang="es-MX" sz="2000" b="1" dirty="0"/>
              <a:t>Qué significa</a:t>
            </a:r>
          </a:p>
          <a:p>
            <a:endParaRPr lang="es-MX" sz="2000" dirty="0"/>
          </a:p>
          <a:p>
            <a:r>
              <a:rPr lang="es-MX" sz="2000" dirty="0"/>
              <a:t>No crear una aplicación nueva cada vez que conversación resulta insuficiente.</a:t>
            </a:r>
          </a:p>
          <a:p>
            <a:endParaRPr lang="es-MX" sz="2000" dirty="0"/>
          </a:p>
          <a:p>
            <a:r>
              <a:rPr lang="es-MX" sz="2000" dirty="0"/>
              <a:t>La conversación puede seguir siendo la superficie primaria, mientras </a:t>
            </a:r>
            <a:r>
              <a:rPr lang="es-MX" sz="2000" dirty="0" err="1"/>
              <a:t>Gu</a:t>
            </a:r>
            <a:r>
              <a:rPr lang="es-MX" sz="2000" dirty="0"/>
              <a:t> presenta cuando haga falta:</a:t>
            </a:r>
          </a:p>
          <a:p>
            <a:pPr lvl="0"/>
            <a:r>
              <a:rPr lang="es-MX" sz="2000" dirty="0"/>
              <a:t>comparación; </a:t>
            </a:r>
          </a:p>
          <a:p>
            <a:pPr lvl="0"/>
            <a:r>
              <a:rPr lang="es-MX" sz="2000" dirty="0"/>
              <a:t>gráfica; </a:t>
            </a:r>
          </a:p>
          <a:p>
            <a:pPr lvl="0"/>
            <a:r>
              <a:rPr lang="es-MX" sz="2000" dirty="0"/>
              <a:t>mapa; </a:t>
            </a:r>
          </a:p>
          <a:p>
            <a:pPr lvl="0"/>
            <a:r>
              <a:rPr lang="es-MX" sz="2000" dirty="0"/>
              <a:t>documento; </a:t>
            </a:r>
          </a:p>
          <a:p>
            <a:pPr lvl="0"/>
            <a:r>
              <a:rPr lang="es-MX" sz="2000" dirty="0" err="1"/>
              <a:t>approval</a:t>
            </a:r>
            <a:r>
              <a:rPr lang="es-MX" sz="2000" dirty="0"/>
              <a:t> </a:t>
            </a:r>
            <a:r>
              <a:rPr lang="es-MX" sz="2000" dirty="0" err="1"/>
              <a:t>view</a:t>
            </a:r>
            <a:r>
              <a:rPr lang="es-MX" sz="2000" dirty="0"/>
              <a:t>; </a:t>
            </a:r>
          </a:p>
          <a:p>
            <a:pPr lvl="0"/>
            <a:r>
              <a:rPr lang="es-MX" sz="2000" dirty="0"/>
              <a:t>portfolio </a:t>
            </a:r>
            <a:r>
              <a:rPr lang="es-MX" sz="2000" dirty="0" err="1"/>
              <a:t>view</a:t>
            </a:r>
            <a:r>
              <a:rPr lang="es-MX" sz="2000" dirty="0"/>
              <a:t>; </a:t>
            </a:r>
          </a:p>
          <a:p>
            <a:pPr lvl="0"/>
            <a:r>
              <a:rPr lang="es-MX" sz="2000" dirty="0"/>
              <a:t>Case </a:t>
            </a:r>
            <a:r>
              <a:rPr lang="es-MX" sz="2000" dirty="0" err="1"/>
              <a:t>view</a:t>
            </a:r>
            <a:r>
              <a:rPr lang="es-MX" sz="2000" dirty="0"/>
              <a:t>. </a:t>
            </a:r>
          </a:p>
          <a:p>
            <a:endParaRPr lang="es-MX" sz="2000" dirty="0"/>
          </a:p>
          <a:p>
            <a:r>
              <a:rPr lang="es-MX" sz="2000" dirty="0"/>
              <a:t>La vista permanece vinculada al </a:t>
            </a:r>
            <a:r>
              <a:rPr lang="es-MX" sz="2000" b="1" dirty="0"/>
              <a:t>mismo contexto de trabajo</a:t>
            </a:r>
            <a:r>
              <a:rPr lang="es-MX" sz="2000" dirty="0"/>
              <a:t> y, cuando exista, al mismo Case.</a:t>
            </a:r>
          </a:p>
          <a:p>
            <a:endParaRPr lang="es-MX" sz="2000" b="1" dirty="0"/>
          </a:p>
          <a:p>
            <a:r>
              <a:rPr lang="es-MX" sz="2000" b="1" dirty="0"/>
              <a:t>Por qué importa</a:t>
            </a:r>
          </a:p>
          <a:p>
            <a:r>
              <a:rPr lang="es-MX" sz="2000" dirty="0"/>
              <a:t>De lo contrario volveríamos a:</a:t>
            </a:r>
          </a:p>
          <a:p>
            <a:r>
              <a:rPr lang="es-MX" sz="2000" dirty="0"/>
              <a:t>chat aquí → </a:t>
            </a:r>
            <a:r>
              <a:rPr lang="es-MX" sz="2000" dirty="0" err="1"/>
              <a:t>dashboard</a:t>
            </a:r>
            <a:r>
              <a:rPr lang="es-MX" sz="2000" dirty="0"/>
              <a:t> allá → CRM en otra pestaña → </a:t>
            </a:r>
            <a:r>
              <a:rPr lang="es-MX" sz="2000" dirty="0" err="1"/>
              <a:t>approval</a:t>
            </a:r>
            <a:r>
              <a:rPr lang="es-MX" sz="2000" dirty="0"/>
              <a:t> center separado → </a:t>
            </a:r>
            <a:r>
              <a:rPr lang="es-MX" sz="2000" dirty="0" err="1"/>
              <a:t>campaign</a:t>
            </a:r>
            <a:r>
              <a:rPr lang="es-MX" sz="2000" dirty="0"/>
              <a:t> </a:t>
            </a:r>
            <a:r>
              <a:rPr lang="es-MX" sz="2000" dirty="0" err="1"/>
              <a:t>console</a:t>
            </a:r>
            <a:r>
              <a:rPr lang="es-MX" sz="2000" dirty="0"/>
              <a:t> diferente.</a:t>
            </a:r>
          </a:p>
          <a:p>
            <a:r>
              <a:rPr lang="es-MX" sz="2000" dirty="0"/>
              <a:t>La interfaz debería adaptarse al trabajo, no obligar al humano a convertirse otra vez en operador del software.</a:t>
            </a:r>
          </a:p>
          <a:p>
            <a:endParaRPr lang="es-MX" sz="2000" b="1" dirty="0"/>
          </a:p>
          <a:p>
            <a:r>
              <a:rPr lang="es-MX" sz="2000" b="1" dirty="0"/>
              <a:t>Cuándo usarlo</a:t>
            </a:r>
          </a:p>
          <a:p>
            <a:r>
              <a:rPr lang="es-MX" sz="2000" dirty="0"/>
              <a:t>Cuando una respuesta conversacional comienza a ser demasiado larga, compleja o visual.</a:t>
            </a:r>
          </a:p>
          <a:p>
            <a:endParaRPr lang="es-MX" sz="2000" b="1" dirty="0"/>
          </a:p>
          <a:p>
            <a:r>
              <a:rPr lang="es-MX" sz="2000" b="1" dirty="0"/>
              <a:t>Ejemplo inmobiliario</a:t>
            </a:r>
          </a:p>
          <a:p>
            <a:r>
              <a:rPr lang="es-MX" sz="2000" dirty="0"/>
              <a:t>El </a:t>
            </a:r>
            <a:r>
              <a:rPr lang="es-MX" sz="2000" dirty="0" err="1"/>
              <a:t>broker</a:t>
            </a:r>
            <a:r>
              <a:rPr lang="es-MX" sz="2000" dirty="0"/>
              <a:t> pregunta por Telegram:</a:t>
            </a:r>
          </a:p>
          <a:p>
            <a:r>
              <a:rPr lang="es-MX" sz="2000" dirty="0"/>
              <a:t>“¿Cuál de mis campañas está produciendo mejores oportunidades?”</a:t>
            </a:r>
          </a:p>
          <a:p>
            <a:endParaRPr lang="es-MX" sz="2000" dirty="0"/>
          </a:p>
          <a:p>
            <a:r>
              <a:rPr lang="es-MX" sz="2000" dirty="0" err="1"/>
              <a:t>Gu</a:t>
            </a:r>
            <a:r>
              <a:rPr lang="es-MX" sz="2000" dirty="0"/>
              <a:t> puede contestar brevemente y proporcionar una vista contextual con:</a:t>
            </a:r>
          </a:p>
          <a:p>
            <a:pPr lvl="0"/>
            <a:r>
              <a:rPr lang="es-MX" sz="2000" dirty="0"/>
              <a:t>campañas; </a:t>
            </a:r>
          </a:p>
          <a:p>
            <a:pPr lvl="0"/>
            <a:r>
              <a:rPr lang="es-MX" sz="2000" dirty="0"/>
              <a:t>costo; </a:t>
            </a:r>
          </a:p>
          <a:p>
            <a:pPr lvl="0"/>
            <a:r>
              <a:rPr lang="es-MX" sz="2000" dirty="0"/>
              <a:t>leads; </a:t>
            </a:r>
          </a:p>
          <a:p>
            <a:pPr lvl="0"/>
            <a:r>
              <a:rPr lang="es-MX" sz="2000" dirty="0"/>
              <a:t>visitas solicitadas; </a:t>
            </a:r>
          </a:p>
          <a:p>
            <a:pPr lvl="0"/>
            <a:r>
              <a:rPr lang="es-MX" sz="2000" dirty="0"/>
              <a:t>visitas realizadas; </a:t>
            </a:r>
          </a:p>
          <a:p>
            <a:pPr lvl="0"/>
            <a:r>
              <a:rPr lang="es-MX" sz="2000" dirty="0"/>
              <a:t>señales de transacción. </a:t>
            </a:r>
          </a:p>
          <a:p>
            <a:endParaRPr lang="es-MX" sz="2000" dirty="0"/>
          </a:p>
          <a:p>
            <a:r>
              <a:rPr lang="es-MX" sz="2000" dirty="0"/>
              <a:t>No necesitamos construir una aplicación de marketing independiente.</a:t>
            </a:r>
          </a:p>
          <a:p>
            <a:br>
              <a:rPr lang="es-MX" sz="2000" dirty="0"/>
            </a:br>
            <a:endParaRPr lang="es-MX" sz="2000" dirty="0"/>
          </a:p>
          <a:p>
            <a:r>
              <a:rPr lang="es-MX" sz="2000" b="1" dirty="0"/>
              <a:t>6. Orquestar capacidades sustituibles; poseer las que construyen diferenciación</a:t>
            </a:r>
          </a:p>
          <a:p>
            <a:endParaRPr lang="es-MX" sz="2000" b="1" dirty="0"/>
          </a:p>
          <a:p>
            <a:r>
              <a:rPr lang="es-MX" sz="2000" b="1" dirty="0"/>
              <a:t>Qué significa</a:t>
            </a:r>
          </a:p>
          <a:p>
            <a:endParaRPr lang="es-MX" sz="2000" dirty="0"/>
          </a:p>
          <a:p>
            <a:r>
              <a:rPr lang="es-MX" sz="2000" dirty="0"/>
              <a:t>Aplicar el </a:t>
            </a:r>
            <a:r>
              <a:rPr lang="es-MX" sz="2000" dirty="0" err="1"/>
              <a:t>framework</a:t>
            </a:r>
            <a:r>
              <a:rPr lang="es-MX" sz="2000" dirty="0"/>
              <a:t> POSEER/ORQUESTAR </a:t>
            </a:r>
            <a:r>
              <a:rPr lang="es-MX" sz="2000" dirty="0" err="1"/>
              <a:t>capability</a:t>
            </a:r>
            <a:r>
              <a:rPr lang="es-MX" sz="2000" dirty="0"/>
              <a:t> por </a:t>
            </a:r>
            <a:r>
              <a:rPr lang="es-MX" sz="2000" dirty="0" err="1"/>
              <a:t>capability</a:t>
            </a:r>
            <a:r>
              <a:rPr lang="es-MX" sz="2000" dirty="0"/>
              <a:t>.</a:t>
            </a:r>
          </a:p>
          <a:p>
            <a:endParaRPr lang="es-MX" sz="2000" b="1" dirty="0"/>
          </a:p>
          <a:p>
            <a:r>
              <a:rPr lang="es-MX" sz="2000" b="1" dirty="0"/>
              <a:t>POSEER:</a:t>
            </a:r>
            <a:r>
              <a:rPr lang="es-MX" sz="2000" dirty="0"/>
              <a:t> cuando el mecanismo debe vivir y evolucionar dentro de </a:t>
            </a:r>
            <a:r>
              <a:rPr lang="es-MX" sz="2000" dirty="0" err="1"/>
              <a:t>Gu</a:t>
            </a:r>
            <a:r>
              <a:rPr lang="es-MX" sz="2000" dirty="0"/>
              <a:t> OS porque contribuye materialmente a la diferenciación.</a:t>
            </a:r>
          </a:p>
          <a:p>
            <a:r>
              <a:rPr lang="es-MX" sz="2000" b="1" dirty="0"/>
              <a:t>ORQUESTAR:</a:t>
            </a:r>
            <a:r>
              <a:rPr lang="es-MX" sz="2000" dirty="0"/>
              <a:t> cuando una </a:t>
            </a:r>
            <a:r>
              <a:rPr lang="es-MX" sz="2000" dirty="0" err="1"/>
              <a:t>capability</a:t>
            </a:r>
            <a:r>
              <a:rPr lang="es-MX" sz="2000" dirty="0"/>
              <a:t> puede permanecer externa, encapsulada y sustituible mediante un contrato claro.</a:t>
            </a:r>
          </a:p>
          <a:p>
            <a:endParaRPr lang="es-MX" sz="2000" dirty="0"/>
          </a:p>
          <a:p>
            <a:r>
              <a:rPr lang="es-MX" sz="2000" dirty="0"/>
              <a:t>Importante:</a:t>
            </a:r>
          </a:p>
          <a:p>
            <a:r>
              <a:rPr lang="es-MX" sz="2000" dirty="0" err="1"/>
              <a:t>Gu</a:t>
            </a:r>
            <a:r>
              <a:rPr lang="es-MX" sz="2000" dirty="0"/>
              <a:t> conserva la continuidad del trabajo en ambos casos.</a:t>
            </a:r>
          </a:p>
          <a:p>
            <a:endParaRPr lang="es-MX" sz="2000" b="1" dirty="0"/>
          </a:p>
          <a:p>
            <a:r>
              <a:rPr lang="es-MX" sz="2000" b="1" dirty="0"/>
              <a:t>Por qué importa</a:t>
            </a:r>
          </a:p>
          <a:p>
            <a:r>
              <a:rPr lang="es-MX" sz="2000" dirty="0"/>
              <a:t>No queremos gastar recursos reconstruyendo capacidades especializadas en las que terceros pueden ser mejores.</a:t>
            </a:r>
          </a:p>
          <a:p>
            <a:r>
              <a:rPr lang="es-MX" sz="2000" dirty="0"/>
              <a:t>Pero tampoco queremos delegar aquello que hace diferente a </a:t>
            </a:r>
            <a:r>
              <a:rPr lang="es-MX" sz="2000" dirty="0" err="1"/>
              <a:t>Gu</a:t>
            </a:r>
            <a:r>
              <a:rPr lang="es-MX" sz="2000" dirty="0"/>
              <a:t>.</a:t>
            </a:r>
          </a:p>
          <a:p>
            <a:endParaRPr lang="es-MX" sz="2000" b="1" dirty="0"/>
          </a:p>
          <a:p>
            <a:r>
              <a:rPr lang="es-MX" sz="2000" b="1" dirty="0"/>
              <a:t>Cuándo usarlo</a:t>
            </a:r>
          </a:p>
          <a:p>
            <a:r>
              <a:rPr lang="es-MX" sz="2000" dirty="0"/>
              <a:t>Antes de decidir construir una </a:t>
            </a:r>
            <a:r>
              <a:rPr lang="es-MX" sz="2000" dirty="0" err="1"/>
              <a:t>capability</a:t>
            </a:r>
            <a:r>
              <a:rPr lang="es-MX" sz="2000" dirty="0"/>
              <a:t>, integrar una API o depender de un proveedor.</a:t>
            </a:r>
          </a:p>
          <a:p>
            <a:endParaRPr lang="es-MX" sz="2000" b="1" dirty="0"/>
          </a:p>
          <a:p>
            <a:r>
              <a:rPr lang="es-MX" sz="2000" b="1" dirty="0"/>
              <a:t>Ejemplo inmobiliario</a:t>
            </a:r>
          </a:p>
          <a:p>
            <a:r>
              <a:rPr lang="es-MX" sz="2000" b="1" dirty="0"/>
              <a:t>Valuación:</a:t>
            </a:r>
            <a:r>
              <a:rPr lang="es-MX" sz="2000" dirty="0"/>
              <a:t> hoy podría orquestarse mediante </a:t>
            </a:r>
            <a:r>
              <a:rPr lang="es-MX" sz="2000" dirty="0" err="1"/>
              <a:t>Avaclick</a:t>
            </a:r>
            <a:r>
              <a:rPr lang="es-MX" sz="2000" dirty="0"/>
              <a:t>.</a:t>
            </a:r>
          </a:p>
          <a:p>
            <a:endParaRPr lang="es-MX" sz="2000" dirty="0"/>
          </a:p>
          <a:p>
            <a:r>
              <a:rPr lang="es-MX" sz="2000" dirty="0" err="1"/>
              <a:t>Gu</a:t>
            </a:r>
            <a:r>
              <a:rPr lang="es-MX" sz="2000" dirty="0"/>
              <a:t> decide:</a:t>
            </a:r>
          </a:p>
          <a:p>
            <a:r>
              <a:rPr lang="es-MX" sz="2000" dirty="0"/>
              <a:t>cuándo pedirla → qué datos enviar → cómo evaluar el resultado → cómo afecta al Case.</a:t>
            </a:r>
          </a:p>
          <a:p>
            <a:endParaRPr lang="es-MX" sz="2000" dirty="0"/>
          </a:p>
          <a:p>
            <a:r>
              <a:rPr lang="es-MX" sz="2000" dirty="0"/>
              <a:t>Pero no necesita poseer necesariamente el motor estadístico de valuación.</a:t>
            </a:r>
          </a:p>
          <a:p>
            <a:endParaRPr lang="es-MX" sz="2000" dirty="0"/>
          </a:p>
          <a:p>
            <a:r>
              <a:rPr lang="es-MX" sz="2000" dirty="0"/>
              <a:t>En cambio:</a:t>
            </a:r>
          </a:p>
          <a:p>
            <a:r>
              <a:rPr lang="es-MX" sz="2000" b="1" dirty="0" err="1"/>
              <a:t>Relationship</a:t>
            </a:r>
            <a:r>
              <a:rPr lang="es-MX" sz="2000" b="1" dirty="0"/>
              <a:t> </a:t>
            </a:r>
            <a:r>
              <a:rPr lang="es-MX" sz="2000" b="1" dirty="0" err="1"/>
              <a:t>Operations</a:t>
            </a:r>
            <a:r>
              <a:rPr lang="es-MX" sz="2000" dirty="0"/>
              <a:t> debería ser propia porque cómo </a:t>
            </a:r>
            <a:r>
              <a:rPr lang="es-MX" sz="2000" dirty="0" err="1"/>
              <a:t>Gu</a:t>
            </a:r>
            <a:r>
              <a:rPr lang="es-MX" sz="2000" dirty="0"/>
              <a:t> mantiene y hace avanzar oportunidades es parte central de nuestra diferenciación.</a:t>
            </a:r>
          </a:p>
          <a:p>
            <a:br>
              <a:rPr lang="es-MX" sz="2000" dirty="0"/>
            </a:br>
            <a:endParaRPr lang="es-MX" sz="2000" dirty="0"/>
          </a:p>
          <a:p>
            <a:r>
              <a:rPr lang="es-MX" sz="2000" b="1" dirty="0"/>
              <a:t>7. Diseñar para resultados, no actividad</a:t>
            </a:r>
          </a:p>
          <a:p>
            <a:endParaRPr lang="es-MX" sz="2000" b="1" dirty="0"/>
          </a:p>
          <a:p>
            <a:r>
              <a:rPr lang="es-MX" sz="2000" b="1" dirty="0"/>
              <a:t>Qué significa</a:t>
            </a:r>
          </a:p>
          <a:p>
            <a:r>
              <a:rPr lang="es-MX" sz="2000" dirty="0"/>
              <a:t>No medir éxito por cuánto “hizo” el sistema.</a:t>
            </a:r>
          </a:p>
          <a:p>
            <a:r>
              <a:rPr lang="es-MX" sz="2000" dirty="0"/>
              <a:t>Medir si produjo </a:t>
            </a:r>
            <a:r>
              <a:rPr lang="es-MX" sz="2000" b="1" dirty="0"/>
              <a:t>cambio útil en el negocio</a:t>
            </a:r>
            <a:r>
              <a:rPr lang="es-MX" sz="2000" dirty="0"/>
              <a:t>.</a:t>
            </a:r>
          </a:p>
          <a:p>
            <a:endParaRPr lang="es-MX" sz="2000" dirty="0"/>
          </a:p>
          <a:p>
            <a:r>
              <a:rPr lang="es-MX" sz="2000" dirty="0"/>
              <a:t>Actividad:</a:t>
            </a:r>
          </a:p>
          <a:p>
            <a:pPr lvl="0"/>
            <a:r>
              <a:rPr lang="es-MX" sz="2000" dirty="0"/>
              <a:t>mensajes enviados; </a:t>
            </a:r>
          </a:p>
          <a:p>
            <a:pPr lvl="0"/>
            <a:r>
              <a:rPr lang="es-MX" sz="2000" dirty="0"/>
              <a:t>leads contactados; </a:t>
            </a:r>
          </a:p>
          <a:p>
            <a:pPr lvl="0"/>
            <a:r>
              <a:rPr lang="es-MX" sz="2000" dirty="0"/>
              <a:t>búsquedas realizadas; </a:t>
            </a:r>
          </a:p>
          <a:p>
            <a:pPr lvl="0"/>
            <a:r>
              <a:rPr lang="es-MX" sz="2000" dirty="0"/>
              <a:t>tareas ejecutadas. </a:t>
            </a:r>
          </a:p>
          <a:p>
            <a:r>
              <a:rPr lang="es-MX" sz="2000" dirty="0"/>
              <a:t>Resultados:</a:t>
            </a:r>
          </a:p>
          <a:p>
            <a:pPr lvl="0"/>
            <a:r>
              <a:rPr lang="es-MX" sz="2000" dirty="0"/>
              <a:t>oportunidad avanzó; </a:t>
            </a:r>
          </a:p>
          <a:p>
            <a:pPr lvl="0"/>
            <a:r>
              <a:rPr lang="es-MX" sz="2000" dirty="0"/>
              <a:t>visita solicitada; </a:t>
            </a:r>
          </a:p>
          <a:p>
            <a:pPr lvl="0"/>
            <a:r>
              <a:rPr lang="es-MX" sz="2000" dirty="0"/>
              <a:t>visita realizada; </a:t>
            </a:r>
          </a:p>
          <a:p>
            <a:pPr lvl="0"/>
            <a:r>
              <a:rPr lang="es-MX" sz="2000" dirty="0"/>
              <a:t>propiedad publicada; </a:t>
            </a:r>
          </a:p>
          <a:p>
            <a:pPr lvl="0"/>
            <a:r>
              <a:rPr lang="es-MX" sz="2000" dirty="0"/>
              <a:t>aprobación obtenida; </a:t>
            </a:r>
          </a:p>
          <a:p>
            <a:pPr lvl="0"/>
            <a:r>
              <a:rPr lang="es-MX" sz="2000" dirty="0"/>
              <a:t>transacción generada. </a:t>
            </a:r>
          </a:p>
          <a:p>
            <a:endParaRPr lang="es-MX" sz="2000" b="1" dirty="0"/>
          </a:p>
          <a:p>
            <a:r>
              <a:rPr lang="es-MX" sz="2000" b="1" dirty="0"/>
              <a:t>Por qué importa</a:t>
            </a:r>
          </a:p>
          <a:p>
            <a:r>
              <a:rPr lang="es-MX" sz="2000" dirty="0"/>
              <a:t>Un agente puede ejecutar muchas cosas y aportar poco valor.</a:t>
            </a:r>
          </a:p>
          <a:p>
            <a:r>
              <a:rPr lang="es-MX" sz="2000" dirty="0" err="1"/>
              <a:t>Gu</a:t>
            </a:r>
            <a:r>
              <a:rPr lang="es-MX" sz="2000" dirty="0"/>
              <a:t> debería optimizar para </a:t>
            </a:r>
            <a:r>
              <a:rPr lang="es-MX" sz="2000" b="1" dirty="0" err="1"/>
              <a:t>outcomes</a:t>
            </a:r>
            <a:r>
              <a:rPr lang="es-MX" sz="2000" dirty="0"/>
              <a:t>, no para parecer ocupado.</a:t>
            </a:r>
          </a:p>
          <a:p>
            <a:endParaRPr lang="es-MX" sz="2000" b="1" dirty="0"/>
          </a:p>
          <a:p>
            <a:r>
              <a:rPr lang="es-MX" sz="2000" b="1" dirty="0"/>
              <a:t>Cuándo usarlo</a:t>
            </a:r>
          </a:p>
          <a:p>
            <a:r>
              <a:rPr lang="es-MX" sz="2000" dirty="0"/>
              <a:t>Al definir </a:t>
            </a:r>
            <a:r>
              <a:rPr lang="es-MX" sz="2000" dirty="0" err="1"/>
              <a:t>acceptance</a:t>
            </a:r>
            <a:r>
              <a:rPr lang="es-MX" sz="2000" dirty="0"/>
              <a:t> </a:t>
            </a:r>
            <a:r>
              <a:rPr lang="es-MX" sz="2000" dirty="0" err="1"/>
              <a:t>criteria</a:t>
            </a:r>
            <a:r>
              <a:rPr lang="es-MX" sz="2000" dirty="0"/>
              <a:t>, </a:t>
            </a:r>
            <a:r>
              <a:rPr lang="es-MX" sz="2000" dirty="0" err="1"/>
              <a:t>KPIs</a:t>
            </a:r>
            <a:r>
              <a:rPr lang="es-MX" sz="2000" dirty="0"/>
              <a:t>, </a:t>
            </a:r>
            <a:r>
              <a:rPr lang="es-MX" sz="2000" dirty="0" err="1"/>
              <a:t>pricing</a:t>
            </a:r>
            <a:r>
              <a:rPr lang="es-MX" sz="2000" dirty="0"/>
              <a:t>, </a:t>
            </a:r>
            <a:r>
              <a:rPr lang="es-MX" sz="2000" dirty="0" err="1"/>
              <a:t>outcome</a:t>
            </a:r>
            <a:r>
              <a:rPr lang="es-MX" sz="2000" dirty="0"/>
              <a:t> </a:t>
            </a:r>
            <a:r>
              <a:rPr lang="es-MX" sz="2000" dirty="0" err="1"/>
              <a:t>feedback</a:t>
            </a:r>
            <a:r>
              <a:rPr lang="es-MX" sz="2000" dirty="0"/>
              <a:t> y evaluación de </a:t>
            </a:r>
            <a:r>
              <a:rPr lang="es-MX" sz="2000" dirty="0" err="1"/>
              <a:t>Skills</a:t>
            </a:r>
            <a:r>
              <a:rPr lang="es-MX" sz="2000" dirty="0"/>
              <a:t>/</a:t>
            </a:r>
            <a:r>
              <a:rPr lang="es-MX" sz="2000" dirty="0" err="1"/>
              <a:t>workflows</a:t>
            </a:r>
            <a:r>
              <a:rPr lang="es-MX" sz="2000" dirty="0"/>
              <a:t>.</a:t>
            </a:r>
          </a:p>
          <a:p>
            <a:endParaRPr lang="es-MX" sz="2000" b="1" dirty="0"/>
          </a:p>
          <a:p>
            <a:r>
              <a:rPr lang="es-MX" sz="2000" b="1" dirty="0"/>
              <a:t>Ejemplo inmobiliario</a:t>
            </a:r>
          </a:p>
          <a:p>
            <a:endParaRPr lang="es-MX" sz="2000" dirty="0"/>
          </a:p>
          <a:p>
            <a:r>
              <a:rPr lang="es-MX" sz="2000" dirty="0"/>
              <a:t>Una campaña no debería considerarse buena porque generó:</a:t>
            </a:r>
          </a:p>
          <a:p>
            <a:r>
              <a:rPr lang="es-MX" sz="2000" dirty="0"/>
              <a:t>100 leads a MXN 60.</a:t>
            </a:r>
          </a:p>
          <a:p>
            <a:endParaRPr lang="es-MX" sz="2000" dirty="0"/>
          </a:p>
          <a:p>
            <a:r>
              <a:rPr lang="es-MX" sz="2000" dirty="0"/>
              <a:t>Si sólo genera una visita efectiva, puede ser peor que una campaña de:</a:t>
            </a:r>
          </a:p>
          <a:p>
            <a:r>
              <a:rPr lang="es-MX" sz="2000" dirty="0"/>
              <a:t>40 leads a MXN 120</a:t>
            </a:r>
          </a:p>
          <a:p>
            <a:r>
              <a:rPr lang="es-MX" sz="2000" dirty="0"/>
              <a:t>que produzca seis visitas.</a:t>
            </a:r>
          </a:p>
          <a:p>
            <a:endParaRPr lang="es-MX" sz="2000" dirty="0"/>
          </a:p>
          <a:p>
            <a:r>
              <a:rPr lang="es-MX" sz="2000" dirty="0"/>
              <a:t>La métrica relevante está </a:t>
            </a:r>
            <a:r>
              <a:rPr lang="es-MX" sz="2000" dirty="0" err="1"/>
              <a:t>downstream</a:t>
            </a:r>
            <a:r>
              <a:rPr lang="es-MX" sz="2000" dirty="0"/>
              <a:t>.</a:t>
            </a:r>
          </a:p>
          <a:p>
            <a:br>
              <a:rPr lang="es-MX" sz="2000" dirty="0"/>
            </a:br>
            <a:endParaRPr lang="es-MX" sz="2000" dirty="0"/>
          </a:p>
          <a:p>
            <a:r>
              <a:rPr lang="es-MX" sz="2000" b="1" dirty="0"/>
              <a:t>8. Compilar contexto relevante, no aumentar tokens por defecto</a:t>
            </a:r>
          </a:p>
          <a:p>
            <a:endParaRPr lang="es-MX" sz="2000" b="1" dirty="0"/>
          </a:p>
          <a:p>
            <a:r>
              <a:rPr lang="es-MX" sz="2000" b="1" dirty="0"/>
              <a:t>Qué significa</a:t>
            </a:r>
          </a:p>
          <a:p>
            <a:endParaRPr lang="es-MX" sz="2000" dirty="0"/>
          </a:p>
          <a:p>
            <a:r>
              <a:rPr lang="es-MX" sz="2000" dirty="0"/>
              <a:t>Más contexto bruto no equivale a más inteligencia.</a:t>
            </a:r>
          </a:p>
          <a:p>
            <a:endParaRPr lang="es-MX" sz="2000" dirty="0"/>
          </a:p>
          <a:p>
            <a:r>
              <a:rPr lang="es-MX" sz="2000" dirty="0" err="1"/>
              <a:t>Gu</a:t>
            </a:r>
            <a:r>
              <a:rPr lang="es-MX" sz="2000" dirty="0"/>
              <a:t> debe construir el </a:t>
            </a:r>
            <a:r>
              <a:rPr lang="es-MX" sz="2000" b="1" dirty="0"/>
              <a:t>contexto necesario para la decisión actual</a:t>
            </a:r>
            <a:r>
              <a:rPr lang="es-MX" sz="2000" dirty="0"/>
              <a:t> utilizando:</a:t>
            </a:r>
          </a:p>
          <a:p>
            <a:pPr lvl="0"/>
            <a:r>
              <a:rPr lang="es-MX" sz="2000" dirty="0"/>
              <a:t>Case </a:t>
            </a:r>
            <a:r>
              <a:rPr lang="es-MX" sz="2000" dirty="0" err="1"/>
              <a:t>state</a:t>
            </a:r>
            <a:r>
              <a:rPr lang="es-MX" sz="2000" dirty="0"/>
              <a:t>; </a:t>
            </a:r>
          </a:p>
          <a:p>
            <a:pPr lvl="0"/>
            <a:r>
              <a:rPr lang="es-MX" sz="2000" dirty="0" err="1"/>
              <a:t>facts</a:t>
            </a:r>
            <a:r>
              <a:rPr lang="es-MX" sz="2000" dirty="0"/>
              <a:t>; </a:t>
            </a:r>
          </a:p>
          <a:p>
            <a:pPr lvl="0"/>
            <a:r>
              <a:rPr lang="es-MX" sz="2000" dirty="0"/>
              <a:t>conversaciones relevantes; </a:t>
            </a:r>
          </a:p>
          <a:p>
            <a:pPr lvl="0"/>
            <a:r>
              <a:rPr lang="es-MX" sz="2000" dirty="0"/>
              <a:t>Business Brain; </a:t>
            </a:r>
          </a:p>
          <a:p>
            <a:pPr lvl="0"/>
            <a:r>
              <a:rPr lang="es-MX" sz="2000" dirty="0"/>
              <a:t>entidades; </a:t>
            </a:r>
          </a:p>
          <a:p>
            <a:pPr lvl="0"/>
            <a:r>
              <a:rPr lang="es-MX" sz="2000" dirty="0"/>
              <a:t>relaciones; </a:t>
            </a:r>
          </a:p>
          <a:p>
            <a:pPr lvl="0"/>
            <a:r>
              <a:rPr lang="es-MX" sz="2000" dirty="0"/>
              <a:t>señales; </a:t>
            </a:r>
          </a:p>
          <a:p>
            <a:pPr lvl="0"/>
            <a:r>
              <a:rPr lang="es-MX" sz="2000" dirty="0" err="1"/>
              <a:t>policies</a:t>
            </a:r>
            <a:r>
              <a:rPr lang="es-MX" sz="2000" dirty="0"/>
              <a:t>; </a:t>
            </a:r>
          </a:p>
          <a:p>
            <a:pPr lvl="0"/>
            <a:r>
              <a:rPr lang="es-MX" sz="2000" dirty="0" err="1"/>
              <a:t>artifacts</a:t>
            </a:r>
            <a:r>
              <a:rPr lang="es-MX" sz="2000" dirty="0"/>
              <a:t>; </a:t>
            </a:r>
          </a:p>
          <a:p>
            <a:pPr lvl="0"/>
            <a:r>
              <a:rPr lang="es-MX" sz="2000" dirty="0"/>
              <a:t>evidencia. </a:t>
            </a:r>
          </a:p>
          <a:p>
            <a:endParaRPr lang="es-MX" sz="2000" dirty="0"/>
          </a:p>
          <a:p>
            <a:r>
              <a:rPr lang="es-MX" sz="2000" dirty="0"/>
              <a:t>No simplemente meter todo el historial en el </a:t>
            </a:r>
            <a:r>
              <a:rPr lang="es-MX" sz="2000" dirty="0" err="1"/>
              <a:t>context</a:t>
            </a:r>
            <a:r>
              <a:rPr lang="es-MX" sz="2000" dirty="0"/>
              <a:t> </a:t>
            </a:r>
            <a:r>
              <a:rPr lang="es-MX" sz="2000" dirty="0" err="1"/>
              <a:t>window</a:t>
            </a:r>
            <a:r>
              <a:rPr lang="es-MX" sz="2000" dirty="0"/>
              <a:t>.</a:t>
            </a:r>
          </a:p>
          <a:p>
            <a:endParaRPr lang="es-MX" sz="2000" b="1" dirty="0"/>
          </a:p>
          <a:p>
            <a:r>
              <a:rPr lang="es-MX" sz="2000" b="1" dirty="0"/>
              <a:t>Por qué importa</a:t>
            </a:r>
          </a:p>
          <a:p>
            <a:r>
              <a:rPr lang="es-MX" sz="2000" dirty="0"/>
              <a:t>El exceso de contexto:</a:t>
            </a:r>
          </a:p>
          <a:p>
            <a:pPr lvl="0"/>
            <a:r>
              <a:rPr lang="es-MX" sz="2000" dirty="0"/>
              <a:t>aumenta costo; </a:t>
            </a:r>
          </a:p>
          <a:p>
            <a:pPr lvl="0"/>
            <a:r>
              <a:rPr lang="es-MX" sz="2000" dirty="0"/>
              <a:t>aumenta latencia; </a:t>
            </a:r>
          </a:p>
          <a:p>
            <a:pPr lvl="0"/>
            <a:r>
              <a:rPr lang="es-MX" sz="2000" dirty="0"/>
              <a:t>introduce ruido; </a:t>
            </a:r>
          </a:p>
          <a:p>
            <a:pPr lvl="0"/>
            <a:r>
              <a:rPr lang="es-MX" sz="2000" dirty="0"/>
              <a:t>puede empeorar razonamiento; </a:t>
            </a:r>
          </a:p>
          <a:p>
            <a:pPr lvl="0"/>
            <a:r>
              <a:rPr lang="es-MX" sz="2000" dirty="0"/>
              <a:t>hace menos claro qué información es autoritativa. </a:t>
            </a:r>
          </a:p>
          <a:p>
            <a:r>
              <a:rPr lang="es-MX" sz="2000" dirty="0"/>
              <a:t>La meta es:</a:t>
            </a:r>
          </a:p>
          <a:p>
            <a:r>
              <a:rPr lang="es-MX" sz="2000" b="1" dirty="0"/>
              <a:t>mejor contexto, no más contexto.</a:t>
            </a:r>
            <a:endParaRPr lang="es-MX" sz="2000" dirty="0"/>
          </a:p>
          <a:p>
            <a:endParaRPr lang="es-MX" sz="2000" b="1" dirty="0"/>
          </a:p>
          <a:p>
            <a:r>
              <a:rPr lang="es-MX" sz="2000" b="1" dirty="0"/>
              <a:t>Cuándo usarlo</a:t>
            </a:r>
          </a:p>
          <a:p>
            <a:endParaRPr lang="es-MX" sz="2000" dirty="0"/>
          </a:p>
          <a:p>
            <a:r>
              <a:rPr lang="es-MX" sz="2000" dirty="0"/>
              <a:t>Al diseñar </a:t>
            </a:r>
            <a:r>
              <a:rPr lang="es-MX" sz="2000" dirty="0" err="1"/>
              <a:t>context</a:t>
            </a:r>
            <a:r>
              <a:rPr lang="es-MX" sz="2000" dirty="0"/>
              <a:t> </a:t>
            </a:r>
            <a:r>
              <a:rPr lang="es-MX" sz="2000" dirty="0" err="1"/>
              <a:t>assembly</a:t>
            </a:r>
            <a:r>
              <a:rPr lang="es-MX" sz="2000" dirty="0"/>
              <a:t>, </a:t>
            </a:r>
            <a:r>
              <a:rPr lang="es-MX" sz="2000" dirty="0" err="1"/>
              <a:t>memory</a:t>
            </a:r>
            <a:r>
              <a:rPr lang="es-MX" sz="2000" dirty="0"/>
              <a:t> </a:t>
            </a:r>
            <a:r>
              <a:rPr lang="es-MX" sz="2000" dirty="0" err="1"/>
              <a:t>retrieval</a:t>
            </a:r>
            <a:r>
              <a:rPr lang="es-MX" sz="2000" dirty="0"/>
              <a:t>, Business Brain, </a:t>
            </a:r>
            <a:r>
              <a:rPr lang="es-MX" sz="2000" dirty="0" err="1"/>
              <a:t>prompts</a:t>
            </a:r>
            <a:r>
              <a:rPr lang="es-MX" sz="2000" dirty="0"/>
              <a:t>, </a:t>
            </a:r>
            <a:r>
              <a:rPr lang="es-MX" sz="2000" dirty="0" err="1"/>
              <a:t>agents</a:t>
            </a:r>
            <a:r>
              <a:rPr lang="es-MX" sz="2000" dirty="0"/>
              <a:t> y </a:t>
            </a:r>
            <a:r>
              <a:rPr lang="es-MX" sz="2000" dirty="0" err="1"/>
              <a:t>supervisors</a:t>
            </a:r>
            <a:r>
              <a:rPr lang="es-MX" sz="2000" dirty="0"/>
              <a:t>.</a:t>
            </a:r>
          </a:p>
          <a:p>
            <a:endParaRPr lang="es-MX" sz="2000" b="1" dirty="0"/>
          </a:p>
          <a:p>
            <a:r>
              <a:rPr lang="es-MX" sz="2000" b="1" dirty="0"/>
              <a:t>Ejemplo inmobiliario</a:t>
            </a:r>
          </a:p>
          <a:p>
            <a:r>
              <a:rPr lang="es-MX" sz="2000" dirty="0"/>
              <a:t>Para decidir el próximo seguimiento de un lead que busca departamento en Providencia, </a:t>
            </a:r>
            <a:r>
              <a:rPr lang="es-MX" sz="2000" dirty="0" err="1"/>
              <a:t>Gu</a:t>
            </a:r>
            <a:r>
              <a:rPr lang="es-MX" sz="2000" dirty="0"/>
              <a:t> probablemente necesita:</a:t>
            </a:r>
          </a:p>
          <a:p>
            <a:pPr lvl="0"/>
            <a:r>
              <a:rPr lang="es-MX" sz="2000" dirty="0"/>
              <a:t>presupuesto actual; </a:t>
            </a:r>
          </a:p>
          <a:p>
            <a:pPr lvl="0"/>
            <a:r>
              <a:rPr lang="es-MX" sz="2000" dirty="0"/>
              <a:t>zonas preferidas; </a:t>
            </a:r>
          </a:p>
          <a:p>
            <a:pPr lvl="0"/>
            <a:r>
              <a:rPr lang="es-MX" sz="2000" dirty="0"/>
              <a:t>propiedades presentadas; </a:t>
            </a:r>
          </a:p>
          <a:p>
            <a:pPr lvl="0"/>
            <a:r>
              <a:rPr lang="es-MX" sz="2000" dirty="0"/>
              <a:t>última objeción; </a:t>
            </a:r>
          </a:p>
          <a:p>
            <a:pPr lvl="0"/>
            <a:r>
              <a:rPr lang="es-MX" sz="2000" dirty="0"/>
              <a:t>última interacción; </a:t>
            </a:r>
          </a:p>
          <a:p>
            <a:pPr lvl="0"/>
            <a:r>
              <a:rPr lang="es-MX" sz="2000" dirty="0"/>
              <a:t>visitas; </a:t>
            </a:r>
          </a:p>
          <a:p>
            <a:pPr lvl="0"/>
            <a:r>
              <a:rPr lang="es-MX" sz="2000" dirty="0"/>
              <a:t>próximos compromisos. </a:t>
            </a:r>
          </a:p>
          <a:p>
            <a:r>
              <a:rPr lang="es-MX" sz="2000" dirty="0"/>
              <a:t>No necesita incluir todas las conversaciones históricas de todos los leads de la inmobiliaria.</a:t>
            </a:r>
          </a:p>
          <a:p>
            <a:br>
              <a:rPr lang="es-MX" sz="2000" dirty="0"/>
            </a:br>
            <a:endParaRPr lang="es-MX" sz="2000" dirty="0"/>
          </a:p>
          <a:p>
            <a:r>
              <a:rPr lang="es-MX" sz="2000" b="1" dirty="0"/>
              <a:t>9. Gobernar reglas de red explícitamente</a:t>
            </a:r>
          </a:p>
          <a:p>
            <a:endParaRPr lang="es-MX" sz="2000" b="1" dirty="0"/>
          </a:p>
          <a:p>
            <a:r>
              <a:rPr lang="es-MX" sz="2000" b="1" dirty="0"/>
              <a:t>Qué significa</a:t>
            </a:r>
          </a:p>
          <a:p>
            <a:endParaRPr lang="es-MX" sz="2000" dirty="0"/>
          </a:p>
          <a:p>
            <a:r>
              <a:rPr lang="es-MX" sz="2000" dirty="0"/>
              <a:t>Una red no puede depender únicamente de que el modelo “se comporte razonablemente”.</a:t>
            </a:r>
          </a:p>
          <a:p>
            <a:r>
              <a:rPr lang="es-MX" sz="2000" dirty="0"/>
              <a:t>Las reglas que afectan derechos, incentivos y participantes deben ser explícitas.</a:t>
            </a:r>
          </a:p>
          <a:p>
            <a:endParaRPr lang="es-MX" sz="2000" dirty="0"/>
          </a:p>
          <a:p>
            <a:r>
              <a:rPr lang="es-MX" sz="2000" dirty="0"/>
              <a:t>Por ejemplo:</a:t>
            </a:r>
          </a:p>
          <a:p>
            <a:pPr lvl="0"/>
            <a:r>
              <a:rPr lang="es-MX" sz="2000" dirty="0"/>
              <a:t>quién originó la oportunidad; </a:t>
            </a:r>
          </a:p>
          <a:p>
            <a:pPr lvl="0"/>
            <a:r>
              <a:rPr lang="es-MX" sz="2000" dirty="0"/>
              <a:t>quién aporta la propiedad; </a:t>
            </a:r>
          </a:p>
          <a:p>
            <a:pPr lvl="0"/>
            <a:r>
              <a:rPr lang="es-MX" sz="2000" dirty="0"/>
              <a:t>qué permisos existen; </a:t>
            </a:r>
          </a:p>
          <a:p>
            <a:pPr lvl="0"/>
            <a:r>
              <a:rPr lang="es-MX" sz="2000" dirty="0"/>
              <a:t>cuándo puede buscarse fuera del inventario propio; </a:t>
            </a:r>
          </a:p>
          <a:p>
            <a:pPr lvl="0"/>
            <a:r>
              <a:rPr lang="es-MX" sz="2000" dirty="0"/>
              <a:t>cómo se enruta una oportunidad; </a:t>
            </a:r>
          </a:p>
          <a:p>
            <a:pPr lvl="0"/>
            <a:r>
              <a:rPr lang="es-MX" sz="2000" dirty="0"/>
              <a:t>cómo se atribuye; </a:t>
            </a:r>
          </a:p>
          <a:p>
            <a:pPr lvl="0"/>
            <a:r>
              <a:rPr lang="es-MX" sz="2000" dirty="0"/>
              <a:t>cómo se comparte comisión; </a:t>
            </a:r>
          </a:p>
          <a:p>
            <a:pPr lvl="0"/>
            <a:r>
              <a:rPr lang="es-MX" sz="2000" dirty="0"/>
              <a:t>cómo se resuelve una reclamación. </a:t>
            </a:r>
          </a:p>
          <a:p>
            <a:endParaRPr lang="es-MX" sz="2000" b="1" dirty="0"/>
          </a:p>
          <a:p>
            <a:r>
              <a:rPr lang="es-MX" sz="2000" b="1" dirty="0"/>
              <a:t>Por qué importa</a:t>
            </a:r>
          </a:p>
          <a:p>
            <a:r>
              <a:rPr lang="es-MX" sz="2000" dirty="0"/>
              <a:t>Los </a:t>
            </a:r>
            <a:r>
              <a:rPr lang="es-MX" sz="2000" dirty="0" err="1"/>
              <a:t>network</a:t>
            </a:r>
            <a:r>
              <a:rPr lang="es-MX" sz="2000" dirty="0"/>
              <a:t> </a:t>
            </a:r>
            <a:r>
              <a:rPr lang="es-MX" sz="2000" dirty="0" err="1"/>
              <a:t>effects</a:t>
            </a:r>
            <a:r>
              <a:rPr lang="es-MX" sz="2000" dirty="0"/>
              <a:t> sólo pueden crecer si existe confianza.</a:t>
            </a:r>
          </a:p>
          <a:p>
            <a:r>
              <a:rPr lang="es-MX" sz="2000" dirty="0"/>
              <a:t>Cuando aumentan participantes e incentivos económicos, las ambigüedades producen conflicto.</a:t>
            </a:r>
          </a:p>
          <a:p>
            <a:endParaRPr lang="es-MX" sz="2000" b="1" dirty="0"/>
          </a:p>
          <a:p>
            <a:r>
              <a:rPr lang="es-MX" sz="2000" b="1" dirty="0"/>
              <a:t>Cuándo usarlo</a:t>
            </a:r>
          </a:p>
          <a:p>
            <a:r>
              <a:rPr lang="es-MX" sz="2000" dirty="0"/>
              <a:t>Al diseñar </a:t>
            </a:r>
            <a:r>
              <a:rPr lang="es-MX" sz="2000" dirty="0" err="1"/>
              <a:t>Shared</a:t>
            </a:r>
            <a:r>
              <a:rPr lang="es-MX" sz="2000" dirty="0"/>
              <a:t> </a:t>
            </a:r>
            <a:r>
              <a:rPr lang="es-MX" sz="2000" dirty="0" err="1"/>
              <a:t>Inventory</a:t>
            </a:r>
            <a:r>
              <a:rPr lang="es-MX" sz="2000" dirty="0"/>
              <a:t>, </a:t>
            </a:r>
            <a:r>
              <a:rPr lang="es-MX" sz="2000" dirty="0" err="1"/>
              <a:t>referrals</a:t>
            </a:r>
            <a:r>
              <a:rPr lang="es-MX" sz="2000" dirty="0"/>
              <a:t>, oportunidades compartidas, servicios integrados o cualquier operación multiempresa.</a:t>
            </a:r>
          </a:p>
          <a:p>
            <a:endParaRPr lang="es-MX" sz="2000" b="1" dirty="0"/>
          </a:p>
          <a:p>
            <a:r>
              <a:rPr lang="es-MX" sz="2000" b="1" dirty="0"/>
              <a:t>Ejemplo inmobiliario</a:t>
            </a:r>
          </a:p>
          <a:p>
            <a:r>
              <a:rPr lang="es-MX" sz="2000" dirty="0"/>
              <a:t>Broker A origina al comprador.</a:t>
            </a:r>
          </a:p>
          <a:p>
            <a:r>
              <a:rPr lang="es-MX" sz="2000" dirty="0"/>
              <a:t>Broker B aporta la propiedad.</a:t>
            </a:r>
          </a:p>
          <a:p>
            <a:r>
              <a:rPr lang="es-MX" sz="2000" dirty="0" err="1"/>
              <a:t>Gu</a:t>
            </a:r>
            <a:r>
              <a:rPr lang="es-MX" sz="2000" dirty="0"/>
              <a:t> encuentra el match.</a:t>
            </a:r>
          </a:p>
          <a:p>
            <a:r>
              <a:rPr lang="es-MX" sz="2000" dirty="0"/>
              <a:t>El sistema debe saber explícitamente:</a:t>
            </a:r>
          </a:p>
          <a:p>
            <a:r>
              <a:rPr lang="es-MX" sz="2000" dirty="0"/>
              <a:t>quién representa al comprador, quién representa al propietario, bajo qué comisión compartida, quién recibe qué información y cómo queda atribuida la oportunidad.</a:t>
            </a:r>
          </a:p>
          <a:p>
            <a:r>
              <a:rPr lang="es-MX" sz="2000" dirty="0"/>
              <a:t>Eso no debería decidirlo libremente un LLM.</a:t>
            </a:r>
          </a:p>
          <a:p>
            <a:br>
              <a:rPr lang="es-MX" sz="2000" dirty="0"/>
            </a:br>
            <a:endParaRPr lang="es-MX" sz="2000" dirty="0"/>
          </a:p>
          <a:p>
            <a:r>
              <a:rPr lang="es-MX" sz="2000" b="1" dirty="0"/>
              <a:t>10. Separar lo actual del objetivo con precisión</a:t>
            </a:r>
          </a:p>
          <a:p>
            <a:endParaRPr lang="es-MX" sz="2000" b="1" dirty="0"/>
          </a:p>
          <a:p>
            <a:r>
              <a:rPr lang="es-MX" sz="2000" b="1" dirty="0"/>
              <a:t>Qué significa</a:t>
            </a:r>
          </a:p>
          <a:p>
            <a:r>
              <a:rPr lang="es-MX" sz="2000" dirty="0"/>
              <a:t>Cada iniciativa debe distinguir claramente:</a:t>
            </a:r>
          </a:p>
          <a:p>
            <a:r>
              <a:rPr lang="es-MX" sz="2000" b="1" dirty="0"/>
              <a:t>actual</a:t>
            </a:r>
            <a:r>
              <a:rPr lang="es-MX" sz="2000" dirty="0"/>
              <a:t> → existe y está implementado;</a:t>
            </a:r>
            <a:br>
              <a:rPr lang="es-MX" sz="2000" dirty="0"/>
            </a:br>
            <a:r>
              <a:rPr lang="es-MX" sz="2000" b="1" dirty="0"/>
              <a:t>siguiente/evolución</a:t>
            </a:r>
            <a:r>
              <a:rPr lang="es-MX" sz="2000" dirty="0"/>
              <a:t> → </a:t>
            </a:r>
            <a:r>
              <a:rPr lang="es-MX" sz="2000" dirty="0" err="1"/>
              <a:t>foundation</a:t>
            </a:r>
            <a:r>
              <a:rPr lang="es-MX" sz="2000" dirty="0"/>
              <a:t> existe pero falta producto/validación;</a:t>
            </a:r>
            <a:br>
              <a:rPr lang="es-MX" sz="2000" dirty="0"/>
            </a:br>
            <a:r>
              <a:rPr lang="es-MX" sz="2000" b="1" dirty="0"/>
              <a:t>visión</a:t>
            </a:r>
            <a:r>
              <a:rPr lang="es-MX" sz="2000" dirty="0"/>
              <a:t> → dirección que todavía debe diseñarse/probarse.</a:t>
            </a:r>
          </a:p>
          <a:p>
            <a:r>
              <a:rPr lang="es-MX" sz="2000" dirty="0"/>
              <a:t>No presentar arquitectura diseñada como capacidad operacional probada.</a:t>
            </a:r>
          </a:p>
          <a:p>
            <a:endParaRPr lang="es-MX" sz="2000" b="1" dirty="0"/>
          </a:p>
          <a:p>
            <a:r>
              <a:rPr lang="es-MX" sz="2000" b="1" dirty="0"/>
              <a:t>Por qué importa</a:t>
            </a:r>
          </a:p>
          <a:p>
            <a:r>
              <a:rPr lang="es-MX" sz="2000" dirty="0"/>
              <a:t>Esta disciplina evita dos errores opuestos:</a:t>
            </a:r>
          </a:p>
          <a:p>
            <a:r>
              <a:rPr lang="es-MX" sz="2000" b="1" dirty="0"/>
              <a:t>sobrevender</a:t>
            </a:r>
            <a:endParaRPr lang="es-MX" sz="2000" dirty="0"/>
          </a:p>
          <a:p>
            <a:r>
              <a:rPr lang="es-MX" sz="2000" dirty="0"/>
              <a:t>creer que ya tenemos algo porque existe en el diseño/repositorio.</a:t>
            </a:r>
          </a:p>
          <a:p>
            <a:r>
              <a:rPr lang="es-MX" sz="2000" b="1" dirty="0"/>
              <a:t>subestimar</a:t>
            </a:r>
            <a:endParaRPr lang="es-MX" sz="2000" dirty="0"/>
          </a:p>
          <a:p>
            <a:r>
              <a:rPr lang="es-MX" sz="2000" dirty="0"/>
              <a:t>ignorar </a:t>
            </a:r>
            <a:r>
              <a:rPr lang="es-MX" sz="2000" dirty="0" err="1"/>
              <a:t>foundations</a:t>
            </a:r>
            <a:r>
              <a:rPr lang="es-MX" sz="2000" dirty="0"/>
              <a:t> existentes y empezar de cero.</a:t>
            </a:r>
          </a:p>
          <a:p>
            <a:r>
              <a:rPr lang="es-MX" sz="2000" dirty="0"/>
              <a:t>Además facilita construir un </a:t>
            </a:r>
            <a:r>
              <a:rPr lang="es-MX" sz="2000" dirty="0" err="1"/>
              <a:t>roadmap</a:t>
            </a:r>
            <a:r>
              <a:rPr lang="es-MX" sz="2000" dirty="0"/>
              <a:t> realista.</a:t>
            </a:r>
          </a:p>
          <a:p>
            <a:endParaRPr lang="es-MX" sz="2000" b="1" dirty="0"/>
          </a:p>
          <a:p>
            <a:r>
              <a:rPr lang="es-MX" sz="2000" b="1" dirty="0"/>
              <a:t>Cuándo usarlo</a:t>
            </a:r>
          </a:p>
          <a:p>
            <a:r>
              <a:rPr lang="es-MX" sz="2000" dirty="0"/>
              <a:t>En:</a:t>
            </a:r>
          </a:p>
          <a:p>
            <a:pPr lvl="0"/>
            <a:r>
              <a:rPr lang="es-MX" sz="2000" dirty="0" err="1"/>
              <a:t>roadmap</a:t>
            </a:r>
            <a:r>
              <a:rPr lang="es-MX" sz="2000" dirty="0"/>
              <a:t>; </a:t>
            </a:r>
          </a:p>
          <a:p>
            <a:pPr lvl="0"/>
            <a:r>
              <a:rPr lang="es-MX" sz="2000" dirty="0" err="1"/>
              <a:t>specs</a:t>
            </a:r>
            <a:r>
              <a:rPr lang="es-MX" sz="2000" dirty="0"/>
              <a:t>; </a:t>
            </a:r>
          </a:p>
          <a:p>
            <a:pPr lvl="0"/>
            <a:r>
              <a:rPr lang="es-MX" sz="2000" dirty="0" err="1"/>
              <a:t>planning</a:t>
            </a:r>
            <a:r>
              <a:rPr lang="es-MX" sz="2000" dirty="0"/>
              <a:t>; </a:t>
            </a:r>
          </a:p>
          <a:p>
            <a:pPr lvl="0"/>
            <a:r>
              <a:rPr lang="es-MX" sz="2000" dirty="0"/>
              <a:t>pitch; </a:t>
            </a:r>
          </a:p>
          <a:p>
            <a:pPr lvl="0"/>
            <a:r>
              <a:rPr lang="es-MX" sz="2000" dirty="0" err="1"/>
              <a:t>product</a:t>
            </a:r>
            <a:r>
              <a:rPr lang="es-MX" sz="2000" dirty="0"/>
              <a:t> </a:t>
            </a:r>
            <a:r>
              <a:rPr lang="es-MX" sz="2000" dirty="0" err="1"/>
              <a:t>reviews</a:t>
            </a:r>
            <a:r>
              <a:rPr lang="es-MX" sz="2000" dirty="0"/>
              <a:t>; </a:t>
            </a:r>
          </a:p>
          <a:p>
            <a:pPr lvl="0"/>
            <a:r>
              <a:rPr lang="es-MX" sz="2000" dirty="0"/>
              <a:t>arquitectura; </a:t>
            </a:r>
          </a:p>
          <a:p>
            <a:pPr lvl="0"/>
            <a:r>
              <a:rPr lang="es-MX" sz="2000" dirty="0"/>
              <a:t>comunicación interna. </a:t>
            </a:r>
          </a:p>
          <a:p>
            <a:endParaRPr lang="es-MX" sz="2000" b="1" dirty="0"/>
          </a:p>
          <a:p>
            <a:r>
              <a:rPr lang="es-MX" sz="2000" b="1" dirty="0"/>
              <a:t>Ejemplo inmobiliario</a:t>
            </a:r>
          </a:p>
          <a:p>
            <a:r>
              <a:rPr lang="es-MX" sz="2000" dirty="0" err="1"/>
              <a:t>Relationship</a:t>
            </a:r>
            <a:r>
              <a:rPr lang="es-MX" sz="2000" dirty="0"/>
              <a:t> </a:t>
            </a:r>
            <a:r>
              <a:rPr lang="es-MX" sz="2000" dirty="0" err="1"/>
              <a:t>Operations</a:t>
            </a:r>
            <a:r>
              <a:rPr lang="es-MX" sz="2000" dirty="0"/>
              <a:t>:</a:t>
            </a:r>
          </a:p>
          <a:p>
            <a:endParaRPr lang="es-MX" sz="2000" b="1" dirty="0"/>
          </a:p>
          <a:p>
            <a:r>
              <a:rPr lang="es-MX" sz="2000" b="1" dirty="0"/>
              <a:t>Actual</a:t>
            </a:r>
            <a:endParaRPr lang="es-MX" sz="2000" dirty="0"/>
          </a:p>
          <a:p>
            <a:r>
              <a:rPr lang="es-MX" sz="2000" dirty="0" err="1"/>
              <a:t>Gu</a:t>
            </a:r>
            <a:r>
              <a:rPr lang="es-MX" sz="2000" dirty="0"/>
              <a:t> convierte leads y tiene </a:t>
            </a:r>
            <a:r>
              <a:rPr lang="es-MX" sz="2000" dirty="0" err="1"/>
              <a:t>follow</a:t>
            </a:r>
            <a:r>
              <a:rPr lang="es-MX" sz="2000" dirty="0"/>
              <a:t>-up limitado basado en reglas/temporizadores.</a:t>
            </a:r>
          </a:p>
          <a:p>
            <a:endParaRPr lang="es-MX" sz="2000" b="1" dirty="0"/>
          </a:p>
          <a:p>
            <a:r>
              <a:rPr lang="es-MX" sz="2000" b="1" dirty="0"/>
              <a:t>Siguiente</a:t>
            </a:r>
            <a:endParaRPr lang="es-MX" sz="2000" dirty="0"/>
          </a:p>
          <a:p>
            <a:r>
              <a:rPr lang="es-MX" sz="2000" dirty="0"/>
              <a:t>Lead </a:t>
            </a:r>
            <a:r>
              <a:rPr lang="es-MX" sz="2000" dirty="0" err="1"/>
              <a:t>Opportunity</a:t>
            </a:r>
            <a:r>
              <a:rPr lang="es-MX" sz="2000" dirty="0"/>
              <a:t> Cases + seguimiento situacional.</a:t>
            </a:r>
          </a:p>
          <a:p>
            <a:endParaRPr lang="es-MX" sz="2000" b="1" dirty="0"/>
          </a:p>
          <a:p>
            <a:r>
              <a:rPr lang="es-MX" sz="2000" b="1" dirty="0"/>
              <a:t>Visión</a:t>
            </a:r>
            <a:endParaRPr lang="es-MX" sz="2000" dirty="0"/>
          </a:p>
          <a:p>
            <a:r>
              <a:rPr lang="es-MX" sz="2000" dirty="0"/>
              <a:t>operación continua de relaciones y oportunidades durante semanas o meses.</a:t>
            </a:r>
          </a:p>
          <a:p>
            <a:r>
              <a:rPr lang="es-MX" sz="2000" dirty="0"/>
              <a:t>No debemos hablar de la visión como si ya fuera comportamiento de producción.</a:t>
            </a:r>
          </a:p>
          <a:p>
            <a:br>
              <a:rPr lang="es-MX" sz="2000" dirty="0"/>
            </a:br>
            <a:endParaRPr lang="es-MX" sz="2000" dirty="0"/>
          </a:p>
          <a:p>
            <a:r>
              <a:rPr lang="es-MX" sz="2000" b="1" dirty="0"/>
              <a:t>Cómo conectan los diez</a:t>
            </a:r>
          </a:p>
          <a:p>
            <a:endParaRPr lang="es-MX" sz="2000" dirty="0"/>
          </a:p>
          <a:p>
            <a:r>
              <a:rPr lang="es-MX" sz="2000" dirty="0"/>
              <a:t>No son diez reglas independientes. Forman una secuencia bastante lógica:</a:t>
            </a:r>
          </a:p>
          <a:p>
            <a:endParaRPr lang="es-MX" sz="2000" b="1" dirty="0"/>
          </a:p>
          <a:p>
            <a:r>
              <a:rPr lang="es-MX" sz="2000" b="1" dirty="0"/>
              <a:t>1. Qué responsabilidad y resultado queremos</a:t>
            </a:r>
            <a:br>
              <a:rPr lang="es-MX" sz="2000" dirty="0"/>
            </a:br>
            <a:r>
              <a:rPr lang="es-MX" sz="2000" dirty="0"/>
              <a:t>↓</a:t>
            </a:r>
            <a:br>
              <a:rPr lang="es-MX" sz="2000" dirty="0"/>
            </a:br>
            <a:r>
              <a:rPr lang="es-MX" sz="2000" b="1" dirty="0"/>
              <a:t>2. Qué es verdad en ese trabajo</a:t>
            </a:r>
            <a:br>
              <a:rPr lang="es-MX" sz="2000" dirty="0"/>
            </a:br>
            <a:r>
              <a:rPr lang="es-MX" sz="2000" dirty="0"/>
              <a:t>↓</a:t>
            </a:r>
            <a:br>
              <a:rPr lang="es-MX" sz="2000" dirty="0"/>
            </a:br>
            <a:r>
              <a:rPr lang="es-MX" sz="2000" b="1" dirty="0"/>
              <a:t>3. Qué primitivas comunes utilizaremos</a:t>
            </a:r>
            <a:br>
              <a:rPr lang="es-MX" sz="2000" dirty="0"/>
            </a:br>
            <a:r>
              <a:rPr lang="es-MX" sz="2000" dirty="0"/>
              <a:t>↓</a:t>
            </a:r>
            <a:br>
              <a:rPr lang="es-MX" sz="2000" dirty="0"/>
            </a:br>
            <a:r>
              <a:rPr lang="es-MX" sz="2000" b="1" dirty="0"/>
              <a:t>4. Qué puede decidir la inteligencia y qué autoridad tiene</a:t>
            </a:r>
            <a:br>
              <a:rPr lang="es-MX" sz="2000" dirty="0"/>
            </a:br>
            <a:r>
              <a:rPr lang="es-MX" sz="2000" dirty="0"/>
              <a:t>↓</a:t>
            </a:r>
            <a:br>
              <a:rPr lang="es-MX" sz="2000" dirty="0"/>
            </a:br>
            <a:r>
              <a:rPr lang="es-MX" sz="2000" b="1" dirty="0"/>
              <a:t>5. Cómo interactúa el humano con el trabajo</a:t>
            </a:r>
            <a:br>
              <a:rPr lang="es-MX" sz="2000" dirty="0"/>
            </a:br>
            <a:r>
              <a:rPr lang="es-MX" sz="2000" dirty="0"/>
              <a:t>↓</a:t>
            </a:r>
            <a:br>
              <a:rPr lang="es-MX" sz="2000" dirty="0"/>
            </a:br>
            <a:r>
              <a:rPr lang="es-MX" sz="2000" b="1" dirty="0"/>
              <a:t>6. Qué </a:t>
            </a:r>
            <a:r>
              <a:rPr lang="es-MX" sz="2000" b="1" dirty="0" err="1"/>
              <a:t>capabilities</a:t>
            </a:r>
            <a:r>
              <a:rPr lang="es-MX" sz="2000" b="1" dirty="0"/>
              <a:t> poseemos y cuáles orquestamos</a:t>
            </a:r>
            <a:br>
              <a:rPr lang="es-MX" sz="2000" dirty="0"/>
            </a:br>
            <a:r>
              <a:rPr lang="es-MX" sz="2000" dirty="0"/>
              <a:t>↓</a:t>
            </a:r>
            <a:br>
              <a:rPr lang="es-MX" sz="2000" dirty="0"/>
            </a:br>
            <a:r>
              <a:rPr lang="es-MX" sz="2000" b="1" dirty="0"/>
              <a:t>7. Cómo sabremos si generamos valor</a:t>
            </a:r>
            <a:br>
              <a:rPr lang="es-MX" sz="2000" dirty="0"/>
            </a:br>
            <a:r>
              <a:rPr lang="es-MX" sz="2000" dirty="0"/>
              <a:t>↓</a:t>
            </a:r>
            <a:br>
              <a:rPr lang="es-MX" sz="2000" dirty="0"/>
            </a:br>
            <a:r>
              <a:rPr lang="es-MX" sz="2000" b="1" dirty="0"/>
              <a:t>8. Qué contexto necesita la inteligencia</a:t>
            </a:r>
            <a:br>
              <a:rPr lang="es-MX" sz="2000" dirty="0"/>
            </a:br>
            <a:r>
              <a:rPr lang="es-MX" sz="2000" dirty="0"/>
              <a:t>↓</a:t>
            </a:r>
            <a:br>
              <a:rPr lang="es-MX" sz="2000" dirty="0"/>
            </a:br>
            <a:r>
              <a:rPr lang="es-MX" sz="2000" b="1" dirty="0"/>
              <a:t>9. Qué reglas deben ser explícitas cuando interviene la red</a:t>
            </a:r>
            <a:br>
              <a:rPr lang="es-MX" sz="2000" dirty="0"/>
            </a:br>
            <a:r>
              <a:rPr lang="es-MX" sz="2000" dirty="0"/>
              <a:t>↓</a:t>
            </a:r>
            <a:br>
              <a:rPr lang="es-MX" sz="2000" dirty="0"/>
            </a:br>
            <a:r>
              <a:rPr lang="es-MX" sz="2000" b="1" dirty="0"/>
              <a:t>10. Qué existe hoy, qué construimos después y qué sigue siendo visión</a:t>
            </a:r>
            <a:endParaRPr lang="es-MX" sz="2000" dirty="0"/>
          </a:p>
          <a:p>
            <a:r>
              <a:rPr lang="es-MX" sz="2000" dirty="0"/>
              <a:t>Esa secuencia podría incluso ser útil como </a:t>
            </a:r>
            <a:r>
              <a:rPr lang="es-MX" sz="2000" b="1" dirty="0" err="1"/>
              <a:t>checklist</a:t>
            </a:r>
            <a:r>
              <a:rPr lang="es-MX" sz="2000" b="1" dirty="0"/>
              <a:t> de diseño para cualquier nueva iniciativa de </a:t>
            </a:r>
            <a:r>
              <a:rPr lang="es-MX" sz="2000" b="1" dirty="0" err="1"/>
              <a:t>Gu</a:t>
            </a:r>
            <a:r>
              <a:rPr lang="es-MX" sz="2000" b="1" dirty="0"/>
              <a:t> OS</a:t>
            </a:r>
            <a:r>
              <a:rPr lang="es-MX" sz="2000" dirty="0"/>
              <a:t>.</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endParaRPr lang="en-US" sz="2000" b="0" u="none" strike="noStrike" dirty="0">
              <a:solidFill>
                <a:srgbClr val="000000"/>
              </a:solidFill>
              <a:effectLst/>
              <a:uFillTx/>
              <a:latin typeface="Arial"/>
            </a:endParaRPr>
          </a:p>
        </p:txBody>
      </p:sp>
      <p:sp>
        <p:nvSpPr>
          <p:cNvPr id="722"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BEA7609-A6E9-481B-80A8-C9E23DFBA018}" type="slidenum">
              <a:rPr lang="en-US" sz="1200" b="0" u="none" strike="noStrike">
                <a:solidFill>
                  <a:schemeClr val="dk1"/>
                </a:solidFill>
                <a:effectLst/>
                <a:uFillTx/>
                <a:latin typeface="+mn-lt"/>
                <a:ea typeface="+mn-ea"/>
              </a:rPr>
              <a:t>24</a:t>
            </a:fld>
            <a:endParaRPr lang="en-US" sz="1200" b="0" u="none" strike="noStrike">
              <a:solidFill>
                <a:srgbClr val="000000"/>
              </a:solidFill>
              <a:effectLst/>
              <a:uFillTx/>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 name="PlaceHolder 1"/>
          <p:cNvSpPr>
            <a:spLocks noGrp="1" noRot="1" noChangeAspect="1"/>
          </p:cNvSpPr>
          <p:nvPr>
            <p:ph type="sldImg"/>
          </p:nvPr>
        </p:nvSpPr>
        <p:spPr>
          <a:xfrm>
            <a:off x="685800" y="1143000"/>
            <a:ext cx="5486400" cy="3086100"/>
          </a:xfrm>
          <a:prstGeom prst="rect">
            <a:avLst/>
          </a:prstGeom>
          <a:ln w="0">
            <a:noFill/>
          </a:ln>
        </p:spPr>
      </p:sp>
      <p:sp>
        <p:nvSpPr>
          <p:cNvPr id="7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dirty="0">
                <a:solidFill>
                  <a:srgbClr val="000000"/>
                </a:solidFill>
                <a:effectLst/>
                <a:uFillTx/>
                <a:latin typeface="Arial"/>
              </a:rPr>
              <a:t>Gu → Gu OS — Session 1</a:t>
            </a:r>
          </a:p>
          <a:p>
            <a:pPr indent="0">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err="1">
                <a:solidFill>
                  <a:srgbClr val="000000"/>
                </a:solidFill>
                <a:effectLst/>
                <a:uFillTx/>
                <a:latin typeface="Arial"/>
              </a:rPr>
              <a:t>Terminar</a:t>
            </a:r>
            <a:r>
              <a:rPr lang="en-US" sz="2000" b="0" u="none" strike="noStrike" dirty="0">
                <a:solidFill>
                  <a:srgbClr val="000000"/>
                </a:solidFill>
                <a:effectLst/>
                <a:uFillTx/>
                <a:latin typeface="Arial"/>
              </a:rPr>
              <a:t> con </a:t>
            </a:r>
            <a:r>
              <a:rPr lang="en-US" sz="2000" b="0" u="none" strike="noStrike" dirty="0" err="1">
                <a:solidFill>
                  <a:srgbClr val="000000"/>
                </a:solidFill>
                <a:effectLst/>
                <a:uFillTx/>
                <a:latin typeface="Arial"/>
              </a:rPr>
              <a:t>una</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pregunta</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abierta</a:t>
            </a:r>
            <a:r>
              <a:rPr lang="en-US" sz="2000" b="0" u="none" strike="noStrike" dirty="0">
                <a:solidFill>
                  <a:srgbClr val="000000"/>
                </a:solidFill>
                <a:effectLst/>
                <a:uFillTx/>
                <a:latin typeface="Arial"/>
              </a:rPr>
              <a:t>. No </a:t>
            </a:r>
            <a:r>
              <a:rPr lang="en-US" sz="2000" b="0" u="none" strike="noStrike" dirty="0" err="1">
                <a:solidFill>
                  <a:srgbClr val="000000"/>
                </a:solidFill>
                <a:effectLst/>
                <a:uFillTx/>
                <a:latin typeface="Arial"/>
              </a:rPr>
              <a:t>pedir</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acuerdo</a:t>
            </a:r>
            <a:r>
              <a:rPr lang="en-US" sz="2000" b="0" u="none" strike="noStrike" dirty="0">
                <a:solidFill>
                  <a:srgbClr val="000000"/>
                </a:solidFill>
                <a:effectLst/>
                <a:uFillTx/>
                <a:latin typeface="Arial"/>
              </a:rPr>
              <a:t> total </a:t>
            </a:r>
            <a:r>
              <a:rPr lang="en-US" sz="2000" b="0" u="none" strike="noStrike" dirty="0" err="1">
                <a:solidFill>
                  <a:srgbClr val="000000"/>
                </a:solidFill>
                <a:effectLst/>
                <a:uFillTx/>
                <a:latin typeface="Arial"/>
              </a:rPr>
              <a:t>todavía</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pedir</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dudas</a:t>
            </a:r>
            <a:r>
              <a:rPr lang="en-US" sz="2000" b="0" u="none" strike="noStrike" dirty="0">
                <a:solidFill>
                  <a:srgbClr val="000000"/>
                </a:solidFill>
                <a:effectLst/>
                <a:uFillTx/>
                <a:latin typeface="Arial"/>
              </a:rPr>
              <a:t> y </a:t>
            </a:r>
            <a:r>
              <a:rPr lang="en-US" sz="2000" b="0" u="none" strike="noStrike" dirty="0" err="1">
                <a:solidFill>
                  <a:srgbClr val="000000"/>
                </a:solidFill>
                <a:effectLst/>
                <a:uFillTx/>
                <a:latin typeface="Arial"/>
              </a:rPr>
              <a:t>objeciones</a:t>
            </a:r>
            <a:r>
              <a:rPr lang="en-US" sz="2000" b="0" u="none" strike="noStrike" dirty="0">
                <a:solidFill>
                  <a:srgbClr val="000000"/>
                </a:solidFill>
                <a:effectLst/>
                <a:uFillTx/>
                <a:latin typeface="Arial"/>
              </a:rPr>
              <a:t>. Lo </a:t>
            </a:r>
            <a:r>
              <a:rPr lang="en-US" sz="2000" b="0" u="none" strike="noStrike" dirty="0" err="1">
                <a:solidFill>
                  <a:srgbClr val="000000"/>
                </a:solidFill>
                <a:effectLst/>
                <a:uFillTx/>
                <a:latin typeface="Arial"/>
              </a:rPr>
              <a:t>que</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salga</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aquí</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alimenta</a:t>
            </a:r>
            <a:r>
              <a:rPr lang="en-US" sz="2000" b="0" u="none" strike="noStrike" dirty="0">
                <a:solidFill>
                  <a:srgbClr val="000000"/>
                </a:solidFill>
                <a:effectLst/>
                <a:uFillTx/>
                <a:latin typeface="Arial"/>
              </a:rPr>
              <a:t> el deep dive </a:t>
            </a:r>
            <a:r>
              <a:rPr lang="en-US" sz="2000" b="0" u="none" strike="noStrike" dirty="0" err="1">
                <a:solidFill>
                  <a:srgbClr val="000000"/>
                </a:solidFill>
                <a:effectLst/>
                <a:uFillTx/>
                <a:latin typeface="Arial"/>
              </a:rPr>
              <a:t>técnico</a:t>
            </a:r>
            <a:r>
              <a:rPr lang="en-US" sz="2000" b="0" u="none" strike="noStrike" dirty="0">
                <a:solidFill>
                  <a:srgbClr val="000000"/>
                </a:solidFill>
                <a:effectLst/>
                <a:uFillTx/>
                <a:latin typeface="Arial"/>
              </a:rPr>
              <a:t> y el roadmap.</a:t>
            </a:r>
          </a:p>
          <a:p>
            <a:pPr indent="0">
              <a:lnSpc>
                <a:spcPct val="100000"/>
              </a:lnSpc>
              <a:buNone/>
            </a:pPr>
            <a:endParaRPr lang="en-US" sz="2000" b="0" u="none" strike="noStrike" dirty="0">
              <a:solidFill>
                <a:srgbClr val="000000"/>
              </a:solidFill>
              <a:effectLst/>
              <a:uFillTx/>
              <a:latin typeface="Arial"/>
            </a:endParaRPr>
          </a:p>
          <a:p>
            <a:pPr indent="0">
              <a:lnSpc>
                <a:spcPct val="100000"/>
              </a:lnSpc>
              <a:buNone/>
            </a:pPr>
            <a:r>
              <a:rPr lang="en-US" sz="2000" b="0" u="none" strike="noStrike" dirty="0">
                <a:solidFill>
                  <a:srgbClr val="000000"/>
                </a:solidFill>
                <a:effectLst/>
                <a:uFillTx/>
                <a:latin typeface="Arial"/>
              </a:rPr>
              <a:t>---</a:t>
            </a:r>
          </a:p>
          <a:p>
            <a:pPr indent="0">
              <a:lnSpc>
                <a:spcPct val="100000"/>
              </a:lnSpc>
              <a:buNone/>
            </a:pPr>
            <a:endParaRPr lang="en-US" sz="2000" b="0" u="none" strike="noStrike" dirty="0">
              <a:solidFill>
                <a:srgbClr val="000000"/>
              </a:solidFill>
              <a:effectLst/>
              <a:uFillTx/>
              <a:latin typeface="Arial"/>
            </a:endParaRPr>
          </a:p>
          <a:p>
            <a:r>
              <a:rPr lang="es-MX" sz="2000" b="1" dirty="0"/>
              <a:t>Resultado de negocio → responsabilidad/capacidad de producto → capacidad técnica → evidencia de validación.</a:t>
            </a:r>
            <a:endParaRPr lang="es-MX" sz="2000" dirty="0"/>
          </a:p>
          <a:p>
            <a:endParaRPr lang="es-MX" sz="2000" dirty="0"/>
          </a:p>
          <a:p>
            <a:r>
              <a:rPr lang="es-MX" sz="2000" dirty="0"/>
              <a:t>¿Por qué introducir </a:t>
            </a:r>
            <a:r>
              <a:rPr lang="es-MX" sz="1200" kern="1200" dirty="0">
                <a:solidFill>
                  <a:schemeClr val="tx1"/>
                </a:solidFill>
                <a:latin typeface="+mn-lt"/>
                <a:ea typeface="+mn-ea"/>
                <a:cs typeface="+mn-cs"/>
              </a:rPr>
              <a:t>responsabilidad</a:t>
            </a:r>
            <a:r>
              <a:rPr lang="es-MX" sz="2000" dirty="0"/>
              <a:t>?</a:t>
            </a:r>
          </a:p>
          <a:p>
            <a:endParaRPr lang="es-MX" sz="2000" dirty="0"/>
          </a:p>
          <a:p>
            <a:r>
              <a:rPr lang="es-MX" sz="2000" dirty="0"/>
              <a:t>Porque justamente acabamos de decir:</a:t>
            </a:r>
          </a:p>
          <a:p>
            <a:r>
              <a:rPr lang="es-MX" sz="2000" b="1" dirty="0"/>
              <a:t>El </a:t>
            </a:r>
            <a:r>
              <a:rPr lang="es-MX" sz="2000" b="1" dirty="0" err="1"/>
              <a:t>roadmap</a:t>
            </a:r>
            <a:r>
              <a:rPr lang="es-MX" sz="2000" b="1" dirty="0"/>
              <a:t> debe empezar por responsabilidades de negocio y terminar en capacidades técnicas, no al revés.</a:t>
            </a:r>
            <a:endParaRPr lang="es-MX" sz="2000" dirty="0"/>
          </a:p>
          <a:p>
            <a:endParaRPr lang="es-MX" sz="2000" dirty="0"/>
          </a:p>
          <a:p>
            <a:r>
              <a:rPr lang="es-MX" sz="2000" dirty="0"/>
              <a:t>Por ejemplo:</a:t>
            </a:r>
          </a:p>
          <a:p>
            <a:r>
              <a:rPr lang="es-MX" sz="2000" b="1" dirty="0"/>
              <a:t>Resultado</a:t>
            </a:r>
            <a:endParaRPr lang="es-MX" sz="2000" dirty="0"/>
          </a:p>
          <a:p>
            <a:r>
              <a:rPr lang="es-MX" sz="2000" dirty="0"/>
              <a:t>aumentar visitas efectivas.</a:t>
            </a:r>
          </a:p>
          <a:p>
            <a:r>
              <a:rPr lang="es-MX" sz="2000" dirty="0"/>
              <a:t>↓</a:t>
            </a:r>
          </a:p>
          <a:p>
            <a:r>
              <a:rPr lang="es-MX" sz="2000" b="1" dirty="0"/>
              <a:t>Responsabilidad de producto</a:t>
            </a:r>
            <a:endParaRPr lang="es-MX" sz="2000" dirty="0"/>
          </a:p>
          <a:p>
            <a:r>
              <a:rPr lang="es-MX" sz="2000" dirty="0"/>
              <a:t>mantener y avanzar oportunidades de prospectos de manera situacional.</a:t>
            </a:r>
          </a:p>
          <a:p>
            <a:r>
              <a:rPr lang="es-MX" sz="2000" dirty="0"/>
              <a:t>↓</a:t>
            </a:r>
          </a:p>
          <a:p>
            <a:r>
              <a:rPr lang="es-MX" sz="2000" b="1" dirty="0"/>
              <a:t>Capacidad</a:t>
            </a:r>
            <a:endParaRPr lang="es-MX" sz="2000" dirty="0"/>
          </a:p>
          <a:p>
            <a:r>
              <a:rPr lang="es-MX" sz="2000" dirty="0" err="1"/>
              <a:t>Relationship</a:t>
            </a:r>
            <a:r>
              <a:rPr lang="es-MX" sz="2000" dirty="0"/>
              <a:t> </a:t>
            </a:r>
            <a:r>
              <a:rPr lang="es-MX" sz="2000" dirty="0" err="1"/>
              <a:t>Operations</a:t>
            </a:r>
            <a:r>
              <a:rPr lang="es-MX" sz="2000" dirty="0"/>
              <a:t> / Lead </a:t>
            </a:r>
            <a:r>
              <a:rPr lang="es-MX" sz="2000" dirty="0" err="1"/>
              <a:t>Opportunity</a:t>
            </a:r>
            <a:r>
              <a:rPr lang="es-MX" sz="2000" dirty="0"/>
              <a:t> Case.</a:t>
            </a:r>
          </a:p>
          <a:p>
            <a:r>
              <a:rPr lang="es-MX" sz="2000" dirty="0"/>
              <a:t>↓</a:t>
            </a:r>
          </a:p>
          <a:p>
            <a:r>
              <a:rPr lang="es-MX" sz="2000" b="1" dirty="0"/>
              <a:t>Capacidad técnica</a:t>
            </a:r>
            <a:endParaRPr lang="es-MX" sz="2000" dirty="0"/>
          </a:p>
          <a:p>
            <a:r>
              <a:rPr lang="es-MX" sz="2000" dirty="0"/>
              <a:t>Supervisor de Caso + </a:t>
            </a:r>
            <a:r>
              <a:rPr lang="es-MX" sz="2000" dirty="0" err="1"/>
              <a:t>scheduler</a:t>
            </a:r>
            <a:r>
              <a:rPr lang="es-MX" sz="2000" dirty="0"/>
              <a:t> + </a:t>
            </a:r>
            <a:r>
              <a:rPr lang="es-MX" sz="2000" dirty="0" err="1"/>
              <a:t>events</a:t>
            </a:r>
            <a:r>
              <a:rPr lang="es-MX" sz="2000" dirty="0"/>
              <a:t> + Work </a:t>
            </a:r>
            <a:r>
              <a:rPr lang="es-MX" sz="2000" dirty="0" err="1"/>
              <a:t>Items</a:t>
            </a:r>
            <a:r>
              <a:rPr lang="es-MX" sz="2000" dirty="0"/>
              <a:t> + </a:t>
            </a:r>
            <a:r>
              <a:rPr lang="es-MX" sz="2000" dirty="0" err="1"/>
              <a:t>policies</a:t>
            </a:r>
            <a:r>
              <a:rPr lang="es-MX" sz="2000" dirty="0"/>
              <a:t> + human </a:t>
            </a:r>
            <a:r>
              <a:rPr lang="es-MX" sz="2000" dirty="0" err="1"/>
              <a:t>involvement</a:t>
            </a:r>
            <a:r>
              <a:rPr lang="es-MX" sz="2000" dirty="0"/>
              <a:t>.</a:t>
            </a:r>
          </a:p>
          <a:p>
            <a:r>
              <a:rPr lang="es-MX" sz="2000" dirty="0"/>
              <a:t>↓</a:t>
            </a:r>
          </a:p>
          <a:p>
            <a:r>
              <a:rPr lang="es-MX" sz="2000" b="1" dirty="0"/>
              <a:t>Evidencia</a:t>
            </a:r>
            <a:endParaRPr lang="es-MX" sz="2000" dirty="0"/>
          </a:p>
          <a:p>
            <a:r>
              <a:rPr lang="es-MX" sz="2000" dirty="0"/>
              <a:t>oportunidades avanzadas, visitas solicitadas/realizadas, </a:t>
            </a:r>
            <a:r>
              <a:rPr lang="es-MX" sz="2000" dirty="0" err="1"/>
              <a:t>retries</a:t>
            </a:r>
            <a:r>
              <a:rPr lang="es-MX" sz="2000" dirty="0"/>
              <a:t> correctos, intervención humana adecuada, etc.</a:t>
            </a:r>
          </a:p>
          <a:p>
            <a:endParaRPr lang="es-MX" sz="2000" dirty="0"/>
          </a:p>
          <a:p>
            <a:r>
              <a:rPr lang="es-MX" sz="2000" dirty="0"/>
              <a:t>--</a:t>
            </a:r>
          </a:p>
          <a:p>
            <a:r>
              <a:rPr lang="es-MX" sz="2000" b="1" dirty="0"/>
              <a:t>La pregunta ¿Qué responsabilidad de negocio real deberíamos poder delegar a </a:t>
            </a:r>
            <a:r>
              <a:rPr lang="es-MX" sz="2000" b="1" dirty="0" err="1"/>
              <a:t>Gu</a:t>
            </a:r>
            <a:r>
              <a:rPr lang="es-MX" sz="2000" b="1" dirty="0"/>
              <a:t> primero —y qué resultado demostraría que funciona?</a:t>
            </a:r>
            <a:endParaRPr lang="es-MX" sz="2000" dirty="0"/>
          </a:p>
          <a:p>
            <a:endParaRPr lang="es-MX" sz="2000" dirty="0"/>
          </a:p>
          <a:p>
            <a:r>
              <a:rPr lang="es-MX" sz="2000" dirty="0"/>
              <a:t>Es buena porque evita respuestas tipo:</a:t>
            </a:r>
          </a:p>
          <a:p>
            <a:r>
              <a:rPr lang="es-MX" sz="2000" dirty="0"/>
              <a:t>“que haga valuaciones”,</a:t>
            </a:r>
            <a:br>
              <a:rPr lang="es-MX" sz="2000" dirty="0"/>
            </a:br>
            <a:r>
              <a:rPr lang="es-MX" sz="2000" dirty="0"/>
              <a:t>“que mande </a:t>
            </a:r>
            <a:r>
              <a:rPr lang="es-MX" sz="2000" dirty="0" err="1"/>
              <a:t>follow</a:t>
            </a:r>
            <a:r>
              <a:rPr lang="es-MX" sz="2000" dirty="0"/>
              <a:t>-ups”,</a:t>
            </a:r>
            <a:br>
              <a:rPr lang="es-MX" sz="2000" dirty="0"/>
            </a:br>
            <a:r>
              <a:rPr lang="es-MX" sz="2000" dirty="0"/>
              <a:t>“que analice campañas”.</a:t>
            </a:r>
          </a:p>
          <a:p>
            <a:endParaRPr lang="es-MX" sz="2000" dirty="0"/>
          </a:p>
          <a:p>
            <a:r>
              <a:rPr lang="es-MX" sz="2000" dirty="0"/>
              <a:t>Y fuerza a pensar:</a:t>
            </a:r>
          </a:p>
          <a:p>
            <a:r>
              <a:rPr lang="es-MX" sz="2000" b="1" dirty="0"/>
              <a:t>responsabilidad + </a:t>
            </a:r>
            <a:r>
              <a:rPr lang="es-MX" sz="2000" b="1" dirty="0" err="1"/>
              <a:t>outcome</a:t>
            </a:r>
            <a:endParaRPr lang="es-MX" sz="2000" dirty="0"/>
          </a:p>
          <a:p>
            <a:r>
              <a:rPr lang="es-MX" sz="2000" dirty="0"/>
              <a:t>que es exactamente el principio #1 de la </a:t>
            </a:r>
            <a:r>
              <a:rPr lang="es-MX" sz="2000" dirty="0" err="1"/>
              <a:t>slide</a:t>
            </a:r>
            <a:r>
              <a:rPr lang="es-MX" sz="2000" dirty="0"/>
              <a:t> anterior.</a:t>
            </a:r>
          </a:p>
          <a:p>
            <a:endParaRPr lang="es-MX" sz="2000" dirty="0"/>
          </a:p>
          <a:p>
            <a:r>
              <a:rPr lang="es-MX" sz="2000" dirty="0"/>
              <a:t>Ejemplo:</a:t>
            </a:r>
          </a:p>
          <a:p>
            <a:r>
              <a:rPr lang="es-MX" sz="2000" dirty="0"/>
              <a:t>“Que </a:t>
            </a:r>
            <a:r>
              <a:rPr lang="es-MX" sz="2000" dirty="0" err="1"/>
              <a:t>Gu</a:t>
            </a:r>
            <a:r>
              <a:rPr lang="es-MX" sz="2000" dirty="0"/>
              <a:t> pueda </a:t>
            </a:r>
            <a:r>
              <a:rPr lang="es-MX" sz="2000" b="1" dirty="0"/>
              <a:t>mantener y avanzar de manera autónoma una oportunidad de comprador</a:t>
            </a:r>
            <a:r>
              <a:rPr lang="es-MX" sz="2000" dirty="0"/>
              <a:t> durante semanas </a:t>
            </a:r>
            <a:r>
              <a:rPr lang="es-MX" sz="2000" b="1" dirty="0"/>
              <a:t>hasta conseguir una visita efectiva</a:t>
            </a:r>
            <a:r>
              <a:rPr lang="es-MX" sz="2000" dirty="0"/>
              <a:t>, involucrando al asesor cuando corresponda.”</a:t>
            </a:r>
          </a:p>
          <a:p>
            <a:r>
              <a:rPr lang="es-MX" sz="2000" dirty="0"/>
              <a:t>Eso ya tiene mucho más valor para empezar a construir </a:t>
            </a:r>
            <a:r>
              <a:rPr lang="es-MX" sz="2000" dirty="0" err="1"/>
              <a:t>roadmap</a:t>
            </a:r>
            <a:r>
              <a:rPr lang="es-MX" sz="2000" dirty="0"/>
              <a:t>.</a:t>
            </a:r>
          </a:p>
          <a:p>
            <a:endParaRPr lang="es-MX" sz="2000" dirty="0"/>
          </a:p>
          <a:p>
            <a:endParaRPr lang="es-MX" sz="2000" dirty="0"/>
          </a:p>
          <a:p>
            <a:pPr indent="0">
              <a:lnSpc>
                <a:spcPct val="100000"/>
              </a:lnSpc>
              <a:buNone/>
            </a:pPr>
            <a:endParaRPr lang="en-US" sz="2000" b="0" u="none" strike="noStrike" dirty="0">
              <a:solidFill>
                <a:srgbClr val="000000"/>
              </a:solidFill>
              <a:effectLst/>
              <a:uFillTx/>
              <a:latin typeface="Arial"/>
            </a:endParaRPr>
          </a:p>
        </p:txBody>
      </p:sp>
      <p:sp>
        <p:nvSpPr>
          <p:cNvPr id="725"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DCEA3A8-EA2D-4F64-8991-83D3AAA1D92E}"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Aptos"/>
              </a:rPr>
              <a:t>Click to edit the title text format</a:t>
            </a:r>
          </a:p>
        </p:txBody>
      </p:sp>
      <p:sp>
        <p:nvSpPr>
          <p:cNvPr id="3" name="PlaceHolder 2"/>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Aptos"/>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Aptos"/>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Aptos"/>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MASTER">
    <p:bg>
      <p:bgPr>
        <a:solidFill>
          <a:srgbClr val="FBFA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Aptos"/>
              </a:rPr>
              <a:t>Click to edit the title text format</a:t>
            </a:r>
          </a:p>
        </p:txBody>
      </p:sp>
      <p:sp>
        <p:nvSpPr>
          <p:cNvPr id="3" name="PlaceHolder 2"/>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Aptos"/>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Aptos"/>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Aptos"/>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UNGGA_LIGHT">
    <p:bg>
      <p:bgPr>
        <a:solidFill>
          <a:srgbClr val="FBFAFE"/>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5B2DB6"/>
          </a:solidFill>
          <a:ln w="12700">
            <a:solidFill>
              <a:srgbClr val="5B2DB6"/>
            </a:solidFill>
            <a:prstDash val="solid"/>
          </a:ln>
        </p:spPr>
        <p:txBody>
          <a:bodyPr/>
          <a:lstStyle/>
          <a:p>
            <a:endParaRPr lang="es-MX"/>
          </a:p>
        </p:txBody>
      </p:sp>
      <p:sp>
        <p:nvSpPr>
          <p:cNvPr id="3" name="Text 1"/>
          <p:cNvSpPr/>
          <p:nvPr/>
        </p:nvSpPr>
        <p:spPr>
          <a:xfrm>
            <a:off x="566928" y="6537960"/>
            <a:ext cx="1097280" cy="164592"/>
          </a:xfrm>
          <a:prstGeom prst="rect">
            <a:avLst/>
          </a:prstGeom>
          <a:noFill/>
          <a:ln/>
        </p:spPr>
        <p:txBody>
          <a:bodyPr wrap="square" lIns="0" tIns="0" rIns="0" bIns="0" rtlCol="0" anchor="ctr"/>
          <a:lstStyle/>
          <a:p>
            <a:pPr marL="0" indent="0">
              <a:buNone/>
            </a:pPr>
            <a:r>
              <a:rPr lang="en-US" sz="750" kern="0" spc="120" dirty="0">
                <a:solidFill>
                  <a:srgbClr val="8D86A0"/>
                </a:solidFill>
                <a:latin typeface="Inter" pitchFamily="34" charset="0"/>
                <a:ea typeface="Inter" pitchFamily="34" charset="-122"/>
                <a:cs typeface="Inter" pitchFamily="34" charset="-120"/>
              </a:rPr>
              <a:t>CONFIDENTIAL</a:t>
            </a:r>
            <a:endParaRPr lang="en-US" sz="750" dirty="0"/>
          </a:p>
        </p:txBody>
      </p:sp>
      <p:sp>
        <p:nvSpPr>
          <p:cNvPr id="4" name="Text 2"/>
          <p:cNvSpPr/>
          <p:nvPr/>
        </p:nvSpPr>
        <p:spPr>
          <a:xfrm>
            <a:off x="10561320" y="6510528"/>
            <a:ext cx="914400" cy="182880"/>
          </a:xfrm>
          <a:prstGeom prst="rect">
            <a:avLst/>
          </a:prstGeom>
          <a:noFill/>
          <a:ln/>
        </p:spPr>
        <p:txBody>
          <a:bodyPr wrap="square" lIns="0" tIns="0" rIns="0" bIns="0" rtlCol="0" anchor="ctr"/>
          <a:lstStyle/>
          <a:p>
            <a:pPr marL="0" indent="0" algn="r">
              <a:buNone/>
            </a:pPr>
            <a:r>
              <a:rPr lang="en-US" sz="800" dirty="0">
                <a:solidFill>
                  <a:srgbClr val="8D86A0"/>
                </a:solidFill>
                <a:latin typeface="Inter" pitchFamily="34" charset="0"/>
                <a:ea typeface="Inter" pitchFamily="34" charset="-122"/>
                <a:cs typeface="Inter" pitchFamily="34" charset="-120"/>
              </a:rPr>
              <a:t>ungga.com</a:t>
            </a:r>
            <a:endParaRPr lang="en-US" sz="800" dirty="0"/>
          </a:p>
        </p:txBody>
      </p:sp>
      <p:sp>
        <p:nvSpPr>
          <p:cNvPr id="25" name="Slide Number Placeholder 0"/>
          <p:cNvSpPr>
            <a:spLocks noGrp="1"/>
          </p:cNvSpPr>
          <p:nvPr>
            <p:ph type="sldNum" sz="quarter" idx="4294967295"/>
          </p:nvPr>
        </p:nvSpPr>
        <p:spPr>
          <a:xfrm>
            <a:off x="11631168" y="6510528"/>
            <a:ext cx="219456"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8D86A0"/>
                </a:solidFill>
                <a:latin typeface="Inter"/>
                <a:ea typeface="Inter"/>
                <a:cs typeface="Inter"/>
              </a:defRPr>
            </a:lvl1pPr>
          </a:lstStyle>
          <a:p>
            <a:pPr algn="r"/>
            <a:fld id="{F7021451-1387-4CA6-816F-3879F97B5CBC}" type="slidenum">
              <a:rPr lang="en-US" b="0"/>
              <a:t>‹Nº›</a:t>
            </a:fld>
            <a:endParaRPr lang="en-US"/>
          </a:p>
        </p:txBody>
      </p:sp>
    </p:spTree>
    <p:extLst>
      <p:ext uri="{BB962C8B-B14F-4D97-AF65-F5344CB8AC3E}">
        <p14:creationId xmlns:p14="http://schemas.microsoft.com/office/powerpoint/2010/main" val="1388421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86141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1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1349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UNGGA_BLANK">
    <p:bg>
      <p:bgPr>
        <a:solidFill>
          <a:srgbClr val="FBFA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0"/>
          </a:xfrm>
          <a:prstGeom prst="line">
            <a:avLst/>
          </a:prstGeom>
          <a:noFill/>
          <a:ln w="50800">
            <a:solidFill>
              <a:srgbClr val="5E2BCF"/>
            </a:solidFill>
            <a:prstDash val="solid"/>
          </a:ln>
        </p:spPr>
        <p:txBody>
          <a:bodyPr/>
          <a:lstStyle/>
          <a:p>
            <a:endParaRPr lang="es-MX"/>
          </a:p>
        </p:txBody>
      </p:sp>
      <p:sp>
        <p:nvSpPr>
          <p:cNvPr id="3" name="Text 1"/>
          <p:cNvSpPr/>
          <p:nvPr/>
        </p:nvSpPr>
        <p:spPr>
          <a:xfrm>
            <a:off x="420624" y="6601968"/>
            <a:ext cx="1097280" cy="109728"/>
          </a:xfrm>
          <a:prstGeom prst="rect">
            <a:avLst/>
          </a:prstGeom>
          <a:noFill/>
          <a:ln/>
        </p:spPr>
        <p:txBody>
          <a:bodyPr wrap="square" rtlCol="0" anchor="ctr"/>
          <a:lstStyle/>
          <a:p>
            <a:pPr marL="0" indent="0">
              <a:buNone/>
            </a:pPr>
            <a:r>
              <a:rPr lang="en-US" sz="650" dirty="0">
                <a:solidFill>
                  <a:srgbClr val="7A728D"/>
                </a:solidFill>
                <a:latin typeface="Inter" pitchFamily="34" charset="0"/>
                <a:ea typeface="Inter" pitchFamily="34" charset="-122"/>
                <a:cs typeface="Inter" pitchFamily="34" charset="-120"/>
              </a:rPr>
              <a:t>CONFIDENTIAL</a:t>
            </a:r>
            <a:endParaRPr lang="en-US" sz="650" dirty="0"/>
          </a:p>
        </p:txBody>
      </p:sp>
      <p:sp>
        <p:nvSpPr>
          <p:cNvPr id="4" name="Text 2"/>
          <p:cNvSpPr/>
          <p:nvPr/>
        </p:nvSpPr>
        <p:spPr>
          <a:xfrm>
            <a:off x="10927080" y="6601968"/>
            <a:ext cx="685800" cy="109728"/>
          </a:xfrm>
          <a:prstGeom prst="rect">
            <a:avLst/>
          </a:prstGeom>
          <a:noFill/>
          <a:ln/>
        </p:spPr>
        <p:txBody>
          <a:bodyPr wrap="square" rtlCol="0" anchor="ctr"/>
          <a:lstStyle/>
          <a:p>
            <a:pPr marL="0" indent="0" algn="r">
              <a:buNone/>
            </a:pPr>
            <a:r>
              <a:rPr lang="en-US" sz="650" dirty="0">
                <a:solidFill>
                  <a:srgbClr val="7A728D"/>
                </a:solidFill>
                <a:latin typeface="Inter" pitchFamily="34" charset="0"/>
                <a:ea typeface="Inter" pitchFamily="34" charset="-122"/>
                <a:cs typeface="Inter" pitchFamily="34" charset="-120"/>
              </a:rPr>
              <a:t>ungga.com</a:t>
            </a:r>
            <a:endParaRPr lang="en-US" sz="650" dirty="0"/>
          </a:p>
        </p:txBody>
      </p:sp>
      <p:sp>
        <p:nvSpPr>
          <p:cNvPr id="5" name="Text 3"/>
          <p:cNvSpPr/>
          <p:nvPr/>
        </p:nvSpPr>
        <p:spPr>
          <a:xfrm>
            <a:off x="11503152" y="6601968"/>
            <a:ext cx="384048" cy="109728"/>
          </a:xfrm>
          <a:prstGeom prst="rect">
            <a:avLst/>
          </a:prstGeom>
          <a:noFill/>
          <a:ln/>
        </p:spPr>
        <p:txBody>
          <a:bodyPr wrap="square" rtlCol="0" anchor="ctr"/>
          <a:lstStyle/>
          <a:p>
            <a:pPr marL="0" indent="0" algn="r">
              <a:buNone/>
            </a:pPr>
            <a:r>
              <a:rPr lang="en-US" sz="650" dirty="0">
                <a:solidFill>
                  <a:srgbClr val="7A728D"/>
                </a:solidFill>
                <a:latin typeface="Inter" pitchFamily="34" charset="0"/>
                <a:ea typeface="Inter" pitchFamily="34" charset="-122"/>
                <a:cs typeface="Inter" pitchFamily="34" charset="-120"/>
              </a:rPr>
              <a:t>16</a:t>
            </a:r>
            <a:endParaRPr lang="en-US" sz="650" dirty="0"/>
          </a:p>
        </p:txBody>
      </p:sp>
    </p:spTree>
    <p:extLst>
      <p:ext uri="{BB962C8B-B14F-4D97-AF65-F5344CB8AC3E}">
        <p14:creationId xmlns:p14="http://schemas.microsoft.com/office/powerpoint/2010/main" val="2332295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UNGGA_DARK">
    <p:bg>
      <p:bgPr>
        <a:solidFill>
          <a:srgbClr val="1A1231"/>
        </a:solidFill>
        <a:effectLst/>
      </p:bgPr>
    </p:bg>
    <p:spTree>
      <p:nvGrpSpPr>
        <p:cNvPr id="1" name=""/>
        <p:cNvGrpSpPr/>
        <p:nvPr/>
      </p:nvGrpSpPr>
      <p:grpSpPr>
        <a:xfrm>
          <a:off x="0" y="0"/>
          <a:ext cx="0" cy="0"/>
          <a:chOff x="0" y="0"/>
          <a:chExt cx="0" cy="0"/>
        </a:xfrm>
      </p:grpSpPr>
      <p:sp>
        <p:nvSpPr>
          <p:cNvPr id="2" name="Text 0"/>
          <p:cNvSpPr/>
          <p:nvPr/>
        </p:nvSpPr>
        <p:spPr>
          <a:xfrm>
            <a:off x="566928" y="6537960"/>
            <a:ext cx="1097280" cy="164592"/>
          </a:xfrm>
          <a:prstGeom prst="rect">
            <a:avLst/>
          </a:prstGeom>
          <a:noFill/>
          <a:ln/>
        </p:spPr>
        <p:txBody>
          <a:bodyPr wrap="square" lIns="0" tIns="0" rIns="0" bIns="0" rtlCol="0" anchor="ctr"/>
          <a:lstStyle/>
          <a:p>
            <a:pPr marL="0" indent="0">
              <a:buNone/>
            </a:pPr>
            <a:r>
              <a:rPr lang="en-US" sz="750" kern="0" spc="120" dirty="0">
                <a:solidFill>
                  <a:srgbClr val="BFB5D8"/>
                </a:solidFill>
                <a:latin typeface="Inter" pitchFamily="34" charset="0"/>
                <a:ea typeface="Inter" pitchFamily="34" charset="-122"/>
                <a:cs typeface="Inter" pitchFamily="34" charset="-120"/>
              </a:rPr>
              <a:t>CONFIDENTIAL</a:t>
            </a:r>
            <a:endParaRPr lang="en-US" sz="750" dirty="0"/>
          </a:p>
        </p:txBody>
      </p:sp>
      <p:sp>
        <p:nvSpPr>
          <p:cNvPr id="3" name="Text 1"/>
          <p:cNvSpPr/>
          <p:nvPr/>
        </p:nvSpPr>
        <p:spPr>
          <a:xfrm>
            <a:off x="10561320" y="6510528"/>
            <a:ext cx="914400" cy="182880"/>
          </a:xfrm>
          <a:prstGeom prst="rect">
            <a:avLst/>
          </a:prstGeom>
          <a:noFill/>
          <a:ln/>
        </p:spPr>
        <p:txBody>
          <a:bodyPr wrap="square" lIns="0" tIns="0" rIns="0" bIns="0" rtlCol="0" anchor="ctr"/>
          <a:lstStyle/>
          <a:p>
            <a:pPr marL="0" indent="0" algn="r">
              <a:buNone/>
            </a:pPr>
            <a:r>
              <a:rPr lang="en-US" sz="800" dirty="0">
                <a:solidFill>
                  <a:srgbClr val="BFB5D8"/>
                </a:solidFill>
                <a:latin typeface="Inter" pitchFamily="34" charset="0"/>
                <a:ea typeface="Inter" pitchFamily="34" charset="-122"/>
                <a:cs typeface="Inter" pitchFamily="34" charset="-120"/>
              </a:rPr>
              <a:t>ungga.com</a:t>
            </a:r>
            <a:endParaRPr lang="en-US" sz="800" dirty="0"/>
          </a:p>
        </p:txBody>
      </p:sp>
      <p:sp>
        <p:nvSpPr>
          <p:cNvPr id="25" name="Slide Number Placeholder 0"/>
          <p:cNvSpPr>
            <a:spLocks noGrp="1"/>
          </p:cNvSpPr>
          <p:nvPr>
            <p:ph type="sldNum" sz="quarter" idx="4294967295"/>
          </p:nvPr>
        </p:nvSpPr>
        <p:spPr>
          <a:xfrm>
            <a:off x="11631168" y="6510528"/>
            <a:ext cx="219456"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BFB5D8"/>
                </a:solidFill>
                <a:latin typeface="Inter"/>
                <a:ea typeface="Inter"/>
                <a:cs typeface="Inter"/>
              </a:defRPr>
            </a:lvl1pPr>
          </a:lstStyle>
          <a:p>
            <a:pPr algn="r"/>
            <a:fld id="{F7021451-1387-4CA6-816F-3879F97B5CBC}" type="slidenum">
              <a:rPr lang="en-US" b="0"/>
              <a:t>‹Nº›</a:t>
            </a:fld>
            <a:endParaRPr lang="en-US"/>
          </a:p>
        </p:txBody>
      </p:sp>
    </p:spTree>
    <p:extLst>
      <p:ext uri="{BB962C8B-B14F-4D97-AF65-F5344CB8AC3E}">
        <p14:creationId xmlns:p14="http://schemas.microsoft.com/office/powerpoint/2010/main" val="21791630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2963F-7807-BE2F-FE72-EA34549F89D1}"/>
            </a:ext>
          </a:extLst>
        </p:cNvPr>
        <p:cNvGrpSpPr/>
        <p:nvPr/>
      </p:nvGrpSpPr>
      <p:grpSpPr>
        <a:xfrm>
          <a:off x="0" y="0"/>
          <a:ext cx="0" cy="0"/>
          <a:chOff x="0" y="0"/>
          <a:chExt cx="0" cy="0"/>
        </a:xfrm>
      </p:grpSpPr>
      <p:sp>
        <p:nvSpPr>
          <p:cNvPr id="10" name="Shape 0">
            <a:extLst>
              <a:ext uri="{FF2B5EF4-FFF2-40B4-BE49-F238E27FC236}">
                <a16:creationId xmlns:a16="http://schemas.microsoft.com/office/drawing/2014/main" id="{15224E59-A114-EF97-9AD5-4F714DE083E5}"/>
              </a:ext>
            </a:extLst>
          </p:cNvPr>
          <p:cNvSpPr/>
          <p:nvPr/>
        </p:nvSpPr>
        <p:spPr>
          <a:xfrm>
            <a:off x="0" y="0"/>
            <a:ext cx="12191400" cy="6857640"/>
          </a:xfrm>
          <a:prstGeom prst="rect">
            <a:avLst/>
          </a:prstGeom>
          <a:solidFill>
            <a:srgbClr val="20143D"/>
          </a:solidFill>
          <a:ln w="12700">
            <a:solidFill>
              <a:srgbClr val="20143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FFFFFF"/>
              </a:solidFill>
              <a:effectLst/>
              <a:uFillTx/>
              <a:latin typeface="+mj-lt"/>
            </a:endParaRPr>
          </a:p>
        </p:txBody>
      </p:sp>
      <p:sp>
        <p:nvSpPr>
          <p:cNvPr id="11" name="Text 1">
            <a:extLst>
              <a:ext uri="{FF2B5EF4-FFF2-40B4-BE49-F238E27FC236}">
                <a16:creationId xmlns:a16="http://schemas.microsoft.com/office/drawing/2014/main" id="{8965042D-42A4-D40C-B362-56D62F2B4A66}"/>
              </a:ext>
            </a:extLst>
          </p:cNvPr>
          <p:cNvSpPr/>
          <p:nvPr/>
        </p:nvSpPr>
        <p:spPr>
          <a:xfrm>
            <a:off x="567000" y="502920"/>
            <a:ext cx="41144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dirty="0">
                <a:solidFill>
                  <a:srgbClr val="CAB9FF"/>
                </a:solidFill>
                <a:effectLst/>
                <a:uFillTx/>
                <a:latin typeface="Aptos"/>
                <a:ea typeface="Aptos"/>
              </a:rPr>
              <a:t>UNGGA | INTERNAL SESSION</a:t>
            </a:r>
            <a:endParaRPr lang="en-US" sz="1200" b="0" u="none" strike="noStrike" dirty="0">
              <a:solidFill>
                <a:srgbClr val="FFFFFF"/>
              </a:solidFill>
              <a:effectLst/>
              <a:uFillTx/>
              <a:latin typeface="Arial"/>
            </a:endParaRPr>
          </a:p>
        </p:txBody>
      </p:sp>
      <p:sp>
        <p:nvSpPr>
          <p:cNvPr id="12" name="Text 2">
            <a:extLst>
              <a:ext uri="{FF2B5EF4-FFF2-40B4-BE49-F238E27FC236}">
                <a16:creationId xmlns:a16="http://schemas.microsoft.com/office/drawing/2014/main" id="{0316C7E0-8E26-4A2B-880B-6FEF8F6163B9}"/>
              </a:ext>
            </a:extLst>
          </p:cNvPr>
          <p:cNvSpPr/>
          <p:nvPr/>
        </p:nvSpPr>
        <p:spPr>
          <a:xfrm>
            <a:off x="567000" y="1492856"/>
            <a:ext cx="5943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500" b="1" u="none" strike="noStrike" dirty="0">
                <a:solidFill>
                  <a:srgbClr val="FFFFFF"/>
                </a:solidFill>
                <a:effectLst/>
                <a:uFillTx/>
                <a:ea typeface="Aptos Display"/>
              </a:rPr>
              <a:t>Gu → Gu OS</a:t>
            </a:r>
            <a:endParaRPr lang="en-US" sz="3500" b="0" u="none" strike="noStrike" dirty="0">
              <a:solidFill>
                <a:srgbClr val="FFFFFF"/>
              </a:solidFill>
              <a:effectLst/>
              <a:uFillTx/>
            </a:endParaRPr>
          </a:p>
        </p:txBody>
      </p:sp>
      <p:sp>
        <p:nvSpPr>
          <p:cNvPr id="13" name="Text 3">
            <a:extLst>
              <a:ext uri="{FF2B5EF4-FFF2-40B4-BE49-F238E27FC236}">
                <a16:creationId xmlns:a16="http://schemas.microsoft.com/office/drawing/2014/main" id="{8F476939-C89E-34BC-BFF7-E9DA39ED9558}"/>
              </a:ext>
            </a:extLst>
          </p:cNvPr>
          <p:cNvSpPr/>
          <p:nvPr/>
        </p:nvSpPr>
        <p:spPr>
          <a:xfrm>
            <a:off x="567000" y="2235832"/>
            <a:ext cx="7589160" cy="63971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000" b="0" u="none" strike="noStrike" dirty="0">
                <a:solidFill>
                  <a:srgbClr val="E9E2FF"/>
                </a:solidFill>
                <a:effectLst/>
                <a:uFillTx/>
                <a:latin typeface="Aptos"/>
                <a:ea typeface="Aptos"/>
              </a:rPr>
              <a:t>Visión, </a:t>
            </a:r>
            <a:r>
              <a:rPr lang="en-US" sz="3000" b="0" u="none" strike="noStrike" dirty="0" err="1">
                <a:solidFill>
                  <a:srgbClr val="E9E2FF"/>
                </a:solidFill>
                <a:effectLst/>
                <a:uFillTx/>
                <a:latin typeface="Aptos"/>
                <a:ea typeface="Aptos"/>
              </a:rPr>
              <a:t>producto</a:t>
            </a:r>
            <a:r>
              <a:rPr lang="en-US" sz="3000" b="0" u="none" strike="noStrike" dirty="0">
                <a:solidFill>
                  <a:srgbClr val="E9E2FF"/>
                </a:solidFill>
                <a:effectLst/>
                <a:uFillTx/>
                <a:latin typeface="Aptos"/>
                <a:ea typeface="Aptos"/>
              </a:rPr>
              <a:t> y </a:t>
            </a:r>
            <a:r>
              <a:rPr lang="en-US" sz="3000" b="0" u="none" strike="noStrike" dirty="0" err="1">
                <a:solidFill>
                  <a:srgbClr val="E9E2FF"/>
                </a:solidFill>
                <a:effectLst/>
                <a:uFillTx/>
                <a:latin typeface="Aptos"/>
                <a:ea typeface="Aptos"/>
              </a:rPr>
              <a:t>modelo</a:t>
            </a:r>
            <a:r>
              <a:rPr lang="en-US" sz="3000" b="0" u="none" strike="noStrike" dirty="0">
                <a:solidFill>
                  <a:srgbClr val="E9E2FF"/>
                </a:solidFill>
                <a:effectLst/>
                <a:uFillTx/>
                <a:latin typeface="Aptos"/>
                <a:ea typeface="Aptos"/>
              </a:rPr>
              <a:t> </a:t>
            </a:r>
            <a:r>
              <a:rPr lang="en-US" sz="3000" b="0" u="none" strike="noStrike" dirty="0" err="1">
                <a:solidFill>
                  <a:srgbClr val="E9E2FF"/>
                </a:solidFill>
                <a:effectLst/>
                <a:uFillTx/>
                <a:latin typeface="Aptos"/>
                <a:ea typeface="Aptos"/>
              </a:rPr>
              <a:t>operativo</a:t>
            </a:r>
            <a:endParaRPr lang="en-US" sz="3000" b="0" u="none" strike="noStrike" dirty="0">
              <a:solidFill>
                <a:srgbClr val="FFFFFF"/>
              </a:solidFill>
              <a:effectLst/>
              <a:uFillTx/>
              <a:latin typeface="Arial"/>
            </a:endParaRPr>
          </a:p>
        </p:txBody>
      </p:sp>
      <p:sp>
        <p:nvSpPr>
          <p:cNvPr id="14" name="Text 4">
            <a:extLst>
              <a:ext uri="{FF2B5EF4-FFF2-40B4-BE49-F238E27FC236}">
                <a16:creationId xmlns:a16="http://schemas.microsoft.com/office/drawing/2014/main" id="{3880D93C-3FD0-A8BD-A47F-30288E4BE158}"/>
              </a:ext>
            </a:extLst>
          </p:cNvPr>
          <p:cNvSpPr/>
          <p:nvPr/>
        </p:nvSpPr>
        <p:spPr>
          <a:xfrm>
            <a:off x="567000" y="3139243"/>
            <a:ext cx="5943240" cy="65106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900" b="0" u="none" strike="noStrike" dirty="0" err="1">
                <a:solidFill>
                  <a:srgbClr val="CFC3F4"/>
                </a:solidFill>
                <a:effectLst/>
                <a:uFillTx/>
                <a:latin typeface="Aptos"/>
                <a:ea typeface="Aptos"/>
              </a:rPr>
              <a:t>Sesión</a:t>
            </a:r>
            <a:r>
              <a:rPr lang="en-US" sz="1900" b="0" u="none" strike="noStrike" dirty="0">
                <a:solidFill>
                  <a:srgbClr val="CFC3F4"/>
                </a:solidFill>
                <a:effectLst/>
                <a:uFillTx/>
                <a:latin typeface="Aptos"/>
                <a:ea typeface="Aptos"/>
              </a:rPr>
              <a:t> 1 · </a:t>
            </a:r>
            <a:r>
              <a:rPr lang="en-US" sz="1900" b="0" u="none" strike="noStrike" dirty="0" err="1">
                <a:solidFill>
                  <a:srgbClr val="CFC3F4"/>
                </a:solidFill>
                <a:effectLst/>
                <a:uFillTx/>
                <a:latin typeface="Aptos"/>
                <a:ea typeface="Aptos"/>
              </a:rPr>
              <a:t>Alineación</a:t>
            </a:r>
            <a:r>
              <a:rPr lang="en-US" sz="1900" b="0" u="none" strike="noStrike" dirty="0">
                <a:solidFill>
                  <a:srgbClr val="CFC3F4"/>
                </a:solidFill>
                <a:effectLst/>
                <a:uFillTx/>
                <a:latin typeface="Aptos"/>
                <a:ea typeface="Aptos"/>
              </a:rPr>
              <a:t> interna para </a:t>
            </a:r>
            <a:r>
              <a:rPr lang="en-US" sz="1900" b="0" u="none" strike="noStrike" dirty="0" err="1">
                <a:solidFill>
                  <a:srgbClr val="CFC3F4"/>
                </a:solidFill>
                <a:effectLst/>
                <a:uFillTx/>
                <a:latin typeface="Aptos"/>
                <a:ea typeface="Aptos"/>
              </a:rPr>
              <a:t>cofundadores</a:t>
            </a:r>
            <a:r>
              <a:rPr lang="en-US" sz="1900" b="0" u="none" strike="noStrike" dirty="0">
                <a:solidFill>
                  <a:srgbClr val="CFC3F4"/>
                </a:solidFill>
                <a:effectLst/>
                <a:uFillTx/>
                <a:latin typeface="Aptos"/>
                <a:ea typeface="Aptos"/>
              </a:rPr>
              <a:t> y </a:t>
            </a:r>
            <a:r>
              <a:rPr lang="en-US" sz="1900" b="0" u="none" strike="noStrike" dirty="0" err="1">
                <a:solidFill>
                  <a:srgbClr val="CFC3F4"/>
                </a:solidFill>
                <a:effectLst/>
                <a:uFillTx/>
                <a:latin typeface="Aptos"/>
                <a:ea typeface="Aptos"/>
              </a:rPr>
              <a:t>equipo</a:t>
            </a:r>
            <a:r>
              <a:rPr lang="en-US" sz="1900" b="0" u="none" strike="noStrike" dirty="0">
                <a:solidFill>
                  <a:srgbClr val="CFC3F4"/>
                </a:solidFill>
                <a:effectLst/>
                <a:uFillTx/>
                <a:latin typeface="Aptos"/>
                <a:ea typeface="Aptos"/>
              </a:rPr>
              <a:t> de </a:t>
            </a:r>
            <a:r>
              <a:rPr lang="en-US" sz="1900" b="0" u="none" strike="noStrike" dirty="0" err="1">
                <a:solidFill>
                  <a:srgbClr val="CFC3F4"/>
                </a:solidFill>
                <a:effectLst/>
                <a:uFillTx/>
                <a:latin typeface="Aptos"/>
                <a:ea typeface="Aptos"/>
              </a:rPr>
              <a:t>producto</a:t>
            </a:r>
            <a:r>
              <a:rPr lang="en-US" sz="1900" b="0" u="none" strike="noStrike" dirty="0">
                <a:solidFill>
                  <a:srgbClr val="CFC3F4"/>
                </a:solidFill>
                <a:effectLst/>
                <a:uFillTx/>
                <a:latin typeface="Aptos"/>
                <a:ea typeface="Aptos"/>
              </a:rPr>
              <a:t>/</a:t>
            </a:r>
            <a:r>
              <a:rPr lang="en-US" sz="1900" b="0" u="none" strike="noStrike" dirty="0" err="1">
                <a:solidFill>
                  <a:srgbClr val="CFC3F4"/>
                </a:solidFill>
                <a:effectLst/>
                <a:uFillTx/>
                <a:latin typeface="Aptos"/>
                <a:ea typeface="Aptos"/>
              </a:rPr>
              <a:t>ingeniería</a:t>
            </a:r>
            <a:endParaRPr lang="en-US" sz="1900" b="0" u="none" strike="noStrike" dirty="0">
              <a:solidFill>
                <a:srgbClr val="FFFFFF"/>
              </a:solidFill>
              <a:effectLst/>
              <a:uFillTx/>
              <a:latin typeface="Arial"/>
            </a:endParaRPr>
          </a:p>
        </p:txBody>
      </p:sp>
      <p:grpSp>
        <p:nvGrpSpPr>
          <p:cNvPr id="6" name="Grupo 5">
            <a:extLst>
              <a:ext uri="{FF2B5EF4-FFF2-40B4-BE49-F238E27FC236}">
                <a16:creationId xmlns:a16="http://schemas.microsoft.com/office/drawing/2014/main" id="{DE9A4AB5-D5B5-17AD-36D9-6AE2C79C9394}"/>
              </a:ext>
            </a:extLst>
          </p:cNvPr>
          <p:cNvGrpSpPr/>
          <p:nvPr/>
        </p:nvGrpSpPr>
        <p:grpSpPr>
          <a:xfrm>
            <a:off x="567000" y="5053773"/>
            <a:ext cx="6300939" cy="894741"/>
            <a:chOff x="567000" y="4826909"/>
            <a:chExt cx="6949080" cy="769869"/>
          </a:xfrm>
        </p:grpSpPr>
        <p:sp>
          <p:nvSpPr>
            <p:cNvPr id="15" name="Shape 5">
              <a:extLst>
                <a:ext uri="{FF2B5EF4-FFF2-40B4-BE49-F238E27FC236}">
                  <a16:creationId xmlns:a16="http://schemas.microsoft.com/office/drawing/2014/main" id="{A6164349-3215-A4F6-3FBF-8BE60EEECA6B}"/>
                </a:ext>
              </a:extLst>
            </p:cNvPr>
            <p:cNvSpPr/>
            <p:nvPr/>
          </p:nvSpPr>
          <p:spPr>
            <a:xfrm>
              <a:off x="567000" y="4826909"/>
              <a:ext cx="6949080" cy="769869"/>
            </a:xfrm>
            <a:prstGeom prst="roundRect">
              <a:avLst>
                <a:gd name="adj" fmla="val 18750"/>
              </a:avLst>
            </a:prstGeom>
            <a:solidFill>
              <a:srgbClr val="FFFFFF">
                <a:alpha val="10000"/>
              </a:srgbClr>
            </a:solidFill>
            <a:ln w="12700">
              <a:solidFill>
                <a:srgbClr val="7B49E6">
                  <a:alpha val="6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3000" b="0" u="none" strike="noStrike" dirty="0">
                <a:solidFill>
                  <a:srgbClr val="000000"/>
                </a:solidFill>
                <a:effectLst/>
                <a:uFillTx/>
              </a:endParaRPr>
            </a:p>
          </p:txBody>
        </p:sp>
        <p:sp>
          <p:nvSpPr>
            <p:cNvPr id="16" name="Text 6">
              <a:extLst>
                <a:ext uri="{FF2B5EF4-FFF2-40B4-BE49-F238E27FC236}">
                  <a16:creationId xmlns:a16="http://schemas.microsoft.com/office/drawing/2014/main" id="{ED36FB87-AC9C-401E-792E-E0B9300034F1}"/>
                </a:ext>
              </a:extLst>
            </p:cNvPr>
            <p:cNvSpPr/>
            <p:nvPr/>
          </p:nvSpPr>
          <p:spPr>
            <a:xfrm>
              <a:off x="786240" y="4943252"/>
              <a:ext cx="6491880" cy="53063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0" u="none" strike="noStrike" dirty="0" err="1">
                  <a:solidFill>
                    <a:srgbClr val="FFFFFF"/>
                  </a:solidFill>
                  <a:effectLst/>
                  <a:uFillTx/>
                  <a:latin typeface="Aptos"/>
                  <a:ea typeface="Aptos"/>
                </a:rPr>
                <a:t>Objetivo</a:t>
              </a:r>
              <a:r>
                <a:rPr lang="en-US" sz="1500" b="0" u="none" strike="noStrike" dirty="0">
                  <a:solidFill>
                    <a:srgbClr val="FFFFFF"/>
                  </a:solidFill>
                  <a:effectLst/>
                  <a:uFillTx/>
                  <a:latin typeface="Aptos"/>
                  <a:ea typeface="Aptos"/>
                </a:rPr>
                <a:t>: </a:t>
              </a:r>
              <a:r>
                <a:rPr lang="en-US" sz="1500" b="0" u="none" strike="noStrike" dirty="0" err="1">
                  <a:solidFill>
                    <a:srgbClr val="FFFFFF"/>
                  </a:solidFill>
                  <a:effectLst/>
                  <a:uFillTx/>
                  <a:latin typeface="Aptos"/>
                  <a:ea typeface="Aptos"/>
                </a:rPr>
                <a:t>salir</a:t>
              </a:r>
              <a:r>
                <a:rPr lang="en-US" sz="1500" b="0" u="none" strike="noStrike" dirty="0">
                  <a:solidFill>
                    <a:srgbClr val="FFFFFF"/>
                  </a:solidFill>
                  <a:effectLst/>
                  <a:uFillTx/>
                  <a:latin typeface="Aptos"/>
                  <a:ea typeface="Aptos"/>
                </a:rPr>
                <a:t> con un </a:t>
              </a:r>
              <a:r>
                <a:rPr lang="en-US" sz="1500" b="0" u="none" strike="noStrike" dirty="0" err="1">
                  <a:solidFill>
                    <a:srgbClr val="FFFFFF"/>
                  </a:solidFill>
                  <a:effectLst/>
                  <a:uFillTx/>
                  <a:latin typeface="Aptos"/>
                  <a:ea typeface="Aptos"/>
                </a:rPr>
                <a:t>lenguaje</a:t>
              </a:r>
              <a:r>
                <a:rPr lang="en-US" sz="1500" b="0" u="none" strike="noStrike" dirty="0">
                  <a:solidFill>
                    <a:srgbClr val="FFFFFF"/>
                  </a:solidFill>
                  <a:effectLst/>
                  <a:uFillTx/>
                  <a:latin typeface="Aptos"/>
                  <a:ea typeface="Aptos"/>
                </a:rPr>
                <a:t> </a:t>
              </a:r>
              <a:r>
                <a:rPr lang="en-US" sz="1500" b="0" u="none" strike="noStrike" dirty="0" err="1">
                  <a:solidFill>
                    <a:srgbClr val="FFFFFF"/>
                  </a:solidFill>
                  <a:effectLst/>
                  <a:uFillTx/>
                  <a:latin typeface="Aptos"/>
                  <a:ea typeface="Aptos"/>
                </a:rPr>
                <a:t>común</a:t>
              </a:r>
              <a:r>
                <a:rPr lang="en-US" sz="1500" b="0" u="none" strike="noStrike" dirty="0">
                  <a:solidFill>
                    <a:srgbClr val="FFFFFF"/>
                  </a:solidFill>
                  <a:effectLst/>
                  <a:uFillTx/>
                  <a:latin typeface="Aptos"/>
                  <a:ea typeface="Aptos"/>
                </a:rPr>
                <a:t> </a:t>
              </a:r>
              <a:r>
                <a:rPr lang="en-US" sz="1500" b="0" u="none" strike="noStrike" dirty="0" err="1">
                  <a:solidFill>
                    <a:srgbClr val="FFFFFF"/>
                  </a:solidFill>
                  <a:effectLst/>
                  <a:uFillTx/>
                  <a:latin typeface="Aptos"/>
                  <a:ea typeface="Aptos"/>
                </a:rPr>
                <a:t>sobre</a:t>
              </a:r>
              <a:r>
                <a:rPr lang="en-US" sz="1500" b="0" u="none" strike="noStrike" dirty="0">
                  <a:solidFill>
                    <a:srgbClr val="FFFFFF"/>
                  </a:solidFill>
                  <a:effectLst/>
                  <a:uFillTx/>
                  <a:latin typeface="Aptos"/>
                  <a:ea typeface="Aptos"/>
                </a:rPr>
                <a:t> </a:t>
              </a:r>
              <a:r>
                <a:rPr lang="en-US" sz="1500" b="0" u="none" strike="noStrike" dirty="0" err="1">
                  <a:solidFill>
                    <a:srgbClr val="FFFFFF"/>
                  </a:solidFill>
                  <a:effectLst/>
                  <a:uFillTx/>
                  <a:latin typeface="Aptos"/>
                  <a:ea typeface="Aptos"/>
                </a:rPr>
                <a:t>qué</a:t>
              </a:r>
              <a:r>
                <a:rPr lang="en-US" sz="1500" b="0" u="none" strike="noStrike" dirty="0">
                  <a:solidFill>
                    <a:srgbClr val="FFFFFF"/>
                  </a:solidFill>
                  <a:effectLst/>
                  <a:uFillTx/>
                  <a:latin typeface="Aptos"/>
                  <a:ea typeface="Aptos"/>
                </a:rPr>
                <a:t> </a:t>
              </a:r>
              <a:r>
                <a:rPr lang="en-US" sz="1500" b="0" u="none" strike="noStrike" dirty="0" err="1">
                  <a:solidFill>
                    <a:srgbClr val="FFFFFF"/>
                  </a:solidFill>
                  <a:effectLst/>
                  <a:uFillTx/>
                  <a:latin typeface="Aptos"/>
                  <a:ea typeface="Aptos"/>
                </a:rPr>
                <a:t>significa</a:t>
              </a:r>
              <a:r>
                <a:rPr lang="en-US" sz="1500" b="0" u="none" strike="noStrike" dirty="0">
                  <a:solidFill>
                    <a:srgbClr val="FFFFFF"/>
                  </a:solidFill>
                  <a:effectLst/>
                  <a:uFillTx/>
                  <a:latin typeface="Aptos"/>
                  <a:ea typeface="Aptos"/>
                </a:rPr>
                <a:t> Gu OS y </a:t>
              </a:r>
              <a:r>
                <a:rPr lang="en-US" sz="1500" b="0" u="none" strike="noStrike" dirty="0" err="1">
                  <a:solidFill>
                    <a:srgbClr val="FFFFFF"/>
                  </a:solidFill>
                  <a:effectLst/>
                  <a:uFillTx/>
                  <a:latin typeface="Aptos"/>
                  <a:ea typeface="Aptos"/>
                </a:rPr>
                <a:t>qué</a:t>
              </a:r>
              <a:r>
                <a:rPr lang="en-US" sz="1500" b="0" u="none" strike="noStrike" dirty="0">
                  <a:solidFill>
                    <a:srgbClr val="FFFFFF"/>
                  </a:solidFill>
                  <a:effectLst/>
                  <a:uFillTx/>
                  <a:latin typeface="Aptos"/>
                  <a:ea typeface="Aptos"/>
                </a:rPr>
                <a:t> </a:t>
              </a:r>
              <a:r>
                <a:rPr lang="en-US" sz="1500" b="0" u="none" strike="noStrike" dirty="0" err="1">
                  <a:solidFill>
                    <a:srgbClr val="FFFFFF"/>
                  </a:solidFill>
                  <a:effectLst/>
                  <a:uFillTx/>
                  <a:latin typeface="Aptos"/>
                  <a:ea typeface="Aptos"/>
                </a:rPr>
                <a:t>implica</a:t>
              </a:r>
              <a:r>
                <a:rPr lang="en-US" sz="1500" b="0" u="none" strike="noStrike" dirty="0">
                  <a:solidFill>
                    <a:srgbClr val="FFFFFF"/>
                  </a:solidFill>
                  <a:effectLst/>
                  <a:uFillTx/>
                  <a:latin typeface="Aptos"/>
                  <a:ea typeface="Aptos"/>
                </a:rPr>
                <a:t> para </a:t>
              </a:r>
              <a:r>
                <a:rPr lang="en-US" sz="1500" b="0" u="none" strike="noStrike" dirty="0" err="1">
                  <a:solidFill>
                    <a:srgbClr val="FFFFFF"/>
                  </a:solidFill>
                  <a:effectLst/>
                  <a:uFillTx/>
                  <a:latin typeface="Aptos"/>
                  <a:ea typeface="Aptos"/>
                </a:rPr>
                <a:t>producto</a:t>
              </a:r>
              <a:r>
                <a:rPr lang="en-US" sz="1500" b="0" u="none" strike="noStrike" dirty="0">
                  <a:solidFill>
                    <a:srgbClr val="FFFFFF"/>
                  </a:solidFill>
                  <a:effectLst/>
                  <a:uFillTx/>
                  <a:latin typeface="Aptos"/>
                  <a:ea typeface="Aptos"/>
                </a:rPr>
                <a:t>, </a:t>
              </a:r>
              <a:r>
                <a:rPr lang="en-US" sz="1500" b="0" u="none" strike="noStrike" dirty="0" err="1">
                  <a:solidFill>
                    <a:srgbClr val="FFFFFF"/>
                  </a:solidFill>
                  <a:effectLst/>
                  <a:uFillTx/>
                  <a:latin typeface="Aptos"/>
                  <a:ea typeface="Aptos"/>
                </a:rPr>
                <a:t>tecnología</a:t>
              </a:r>
              <a:r>
                <a:rPr lang="en-US" sz="1500" b="0" u="none" strike="noStrike" dirty="0">
                  <a:solidFill>
                    <a:srgbClr val="FFFFFF"/>
                  </a:solidFill>
                  <a:effectLst/>
                  <a:uFillTx/>
                  <a:latin typeface="Aptos"/>
                  <a:ea typeface="Aptos"/>
                </a:rPr>
                <a:t> y </a:t>
              </a:r>
              <a:r>
                <a:rPr lang="en-US" sz="1500" b="0" u="none" strike="noStrike" dirty="0" err="1">
                  <a:solidFill>
                    <a:srgbClr val="FFFFFF"/>
                  </a:solidFill>
                  <a:effectLst/>
                  <a:uFillTx/>
                  <a:latin typeface="Aptos"/>
                  <a:ea typeface="Aptos"/>
                </a:rPr>
                <a:t>crecimiento</a:t>
              </a:r>
              <a:r>
                <a:rPr lang="en-US" sz="1500" b="0" u="none" strike="noStrike" dirty="0">
                  <a:solidFill>
                    <a:srgbClr val="FFFFFF"/>
                  </a:solidFill>
                  <a:effectLst/>
                  <a:uFillTx/>
                  <a:latin typeface="Aptos"/>
                  <a:ea typeface="Aptos"/>
                </a:rPr>
                <a:t>.</a:t>
              </a:r>
              <a:endParaRPr lang="en-US" sz="1500" b="0" u="none" strike="noStrike" dirty="0">
                <a:solidFill>
                  <a:srgbClr val="FFFFFF"/>
                </a:solidFill>
                <a:effectLst/>
                <a:uFillTx/>
                <a:latin typeface="Arial"/>
              </a:endParaRPr>
            </a:p>
          </p:txBody>
        </p:sp>
      </p:grpSp>
      <p:sp>
        <p:nvSpPr>
          <p:cNvPr id="17" name="Shape 7">
            <a:extLst>
              <a:ext uri="{FF2B5EF4-FFF2-40B4-BE49-F238E27FC236}">
                <a16:creationId xmlns:a16="http://schemas.microsoft.com/office/drawing/2014/main" id="{4AA47739-366C-D04A-0CA4-C2554390AD0D}"/>
              </a:ext>
            </a:extLst>
          </p:cNvPr>
          <p:cNvSpPr/>
          <p:nvPr/>
        </p:nvSpPr>
        <p:spPr>
          <a:xfrm>
            <a:off x="7675580" y="1100947"/>
            <a:ext cx="3328274" cy="3205734"/>
          </a:xfrm>
          <a:prstGeom prst="ellipse">
            <a:avLst/>
          </a:prstGeom>
          <a:solidFill>
            <a:srgbClr val="FFFFFF">
              <a:alpha val="7000"/>
            </a:srgbClr>
          </a:solidFill>
          <a:ln w="15240">
            <a:solidFill>
              <a:srgbClr val="7B49E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 name="Text 8">
            <a:extLst>
              <a:ext uri="{FF2B5EF4-FFF2-40B4-BE49-F238E27FC236}">
                <a16:creationId xmlns:a16="http://schemas.microsoft.com/office/drawing/2014/main" id="{4BFFEF0A-570F-33D2-136B-839BCE005F9E}"/>
              </a:ext>
            </a:extLst>
          </p:cNvPr>
          <p:cNvSpPr/>
          <p:nvPr/>
        </p:nvSpPr>
        <p:spPr>
          <a:xfrm>
            <a:off x="8507788" y="3702852"/>
            <a:ext cx="16455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400" b="1" u="none" strike="noStrike" dirty="0">
                <a:solidFill>
                  <a:srgbClr val="FFFFFF"/>
                </a:solidFill>
                <a:effectLst/>
                <a:uFillTx/>
                <a:latin typeface="Aptos Display"/>
                <a:ea typeface="Aptos Display"/>
              </a:rPr>
              <a:t>Gu</a:t>
            </a:r>
            <a:endParaRPr lang="en-US" sz="2400" b="0" u="none" strike="noStrike" dirty="0">
              <a:solidFill>
                <a:srgbClr val="FFFFFF"/>
              </a:solidFill>
              <a:effectLst/>
              <a:uFillTx/>
              <a:latin typeface="Arial"/>
            </a:endParaRPr>
          </a:p>
        </p:txBody>
      </p:sp>
      <p:sp>
        <p:nvSpPr>
          <p:cNvPr id="19" name="Shape 9">
            <a:extLst>
              <a:ext uri="{FF2B5EF4-FFF2-40B4-BE49-F238E27FC236}">
                <a16:creationId xmlns:a16="http://schemas.microsoft.com/office/drawing/2014/main" id="{4580023E-1CF3-E90A-C87B-06232376F2D5}"/>
              </a:ext>
            </a:extLst>
          </p:cNvPr>
          <p:cNvSpPr/>
          <p:nvPr/>
        </p:nvSpPr>
        <p:spPr>
          <a:xfrm>
            <a:off x="9374254" y="4370760"/>
            <a:ext cx="360" cy="622080"/>
          </a:xfrm>
          <a:prstGeom prst="line">
            <a:avLst/>
          </a:prstGeom>
          <a:ln w="22860">
            <a:solidFill>
              <a:srgbClr val="CAB9FF"/>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20" name="Shape 10">
            <a:extLst>
              <a:ext uri="{FF2B5EF4-FFF2-40B4-BE49-F238E27FC236}">
                <a16:creationId xmlns:a16="http://schemas.microsoft.com/office/drawing/2014/main" id="{680639FB-D27D-D3DB-D44B-45166BA776E1}"/>
              </a:ext>
            </a:extLst>
          </p:cNvPr>
          <p:cNvSpPr/>
          <p:nvPr/>
        </p:nvSpPr>
        <p:spPr>
          <a:xfrm>
            <a:off x="7956934" y="5084280"/>
            <a:ext cx="2880000" cy="840960"/>
          </a:xfrm>
          <a:prstGeom prst="roundRect">
            <a:avLst>
              <a:gd name="adj" fmla="val 14130"/>
            </a:avLst>
          </a:prstGeom>
          <a:solidFill>
            <a:srgbClr val="7B49E6"/>
          </a:solidFill>
          <a:ln w="12700">
            <a:solidFill>
              <a:srgbClr val="7B49E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1" name="Text 11">
            <a:extLst>
              <a:ext uri="{FF2B5EF4-FFF2-40B4-BE49-F238E27FC236}">
                <a16:creationId xmlns:a16="http://schemas.microsoft.com/office/drawing/2014/main" id="{ED89F9FD-33CD-3FDC-D2A2-120B1544279E}"/>
              </a:ext>
            </a:extLst>
          </p:cNvPr>
          <p:cNvSpPr/>
          <p:nvPr/>
        </p:nvSpPr>
        <p:spPr>
          <a:xfrm>
            <a:off x="8459854" y="5374032"/>
            <a:ext cx="19198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400" b="1" u="none" strike="noStrike" dirty="0">
                <a:solidFill>
                  <a:srgbClr val="FFFFFF"/>
                </a:solidFill>
                <a:effectLst/>
                <a:uFillTx/>
                <a:latin typeface="Aptos Display"/>
                <a:ea typeface="Aptos Display"/>
              </a:rPr>
              <a:t>Gu OS</a:t>
            </a:r>
            <a:endParaRPr lang="en-US" sz="2400" b="0" u="none" strike="noStrike" dirty="0">
              <a:solidFill>
                <a:srgbClr val="FFFFFF"/>
              </a:solidFill>
              <a:effectLst/>
              <a:uFillTx/>
              <a:latin typeface="Arial"/>
            </a:endParaRPr>
          </a:p>
        </p:txBody>
      </p:sp>
      <p:sp>
        <p:nvSpPr>
          <p:cNvPr id="23" name="Text 13">
            <a:extLst>
              <a:ext uri="{FF2B5EF4-FFF2-40B4-BE49-F238E27FC236}">
                <a16:creationId xmlns:a16="http://schemas.microsoft.com/office/drawing/2014/main" id="{0A392EEC-8670-C71D-F5B6-133FE9D865A3}"/>
              </a:ext>
            </a:extLst>
          </p:cNvPr>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u="none" strike="noStrike">
                <a:solidFill>
                  <a:srgbClr val="7E7798"/>
                </a:solidFill>
                <a:effectLst/>
                <a:uFillTx/>
                <a:latin typeface="Aptos"/>
                <a:ea typeface="Aptos"/>
              </a:rPr>
              <a:t>CONFIDENTIAL</a:t>
            </a:r>
            <a:endParaRPr lang="en-US" sz="650" b="0" u="none" strike="noStrike">
              <a:solidFill>
                <a:srgbClr val="FFFFFF"/>
              </a:solidFill>
              <a:effectLst/>
              <a:uFillTx/>
              <a:latin typeface="Arial"/>
            </a:endParaRPr>
          </a:p>
        </p:txBody>
      </p:sp>
      <p:sp>
        <p:nvSpPr>
          <p:cNvPr id="24" name="Text 14">
            <a:extLst>
              <a:ext uri="{FF2B5EF4-FFF2-40B4-BE49-F238E27FC236}">
                <a16:creationId xmlns:a16="http://schemas.microsoft.com/office/drawing/2014/main" id="{A0D1D728-2877-56A1-C3AA-A5A762FE2D61}"/>
              </a:ext>
            </a:extLst>
          </p:cNvPr>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650" b="0" u="none" strike="noStrike">
                <a:solidFill>
                  <a:srgbClr val="7E7798"/>
                </a:solidFill>
                <a:effectLst/>
                <a:uFillTx/>
                <a:latin typeface="Aptos"/>
                <a:ea typeface="Aptos"/>
              </a:rPr>
              <a:t>ungga.com</a:t>
            </a:r>
            <a:endParaRPr lang="en-US" sz="650" b="0" u="none" strike="noStrike">
              <a:solidFill>
                <a:srgbClr val="FFFFFF"/>
              </a:solidFill>
              <a:effectLst/>
              <a:uFillTx/>
              <a:latin typeface="Arial"/>
            </a:endParaRPr>
          </a:p>
        </p:txBody>
      </p:sp>
      <p:sp>
        <p:nvSpPr>
          <p:cNvPr id="25" name="Text 15">
            <a:extLst>
              <a:ext uri="{FF2B5EF4-FFF2-40B4-BE49-F238E27FC236}">
                <a16:creationId xmlns:a16="http://schemas.microsoft.com/office/drawing/2014/main" id="{9EC56527-DFE0-0B6D-1A22-25AA8DCC0C05}"/>
              </a:ext>
            </a:extLst>
          </p:cNvPr>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b="0" u="none" strike="noStrike" dirty="0">
                <a:solidFill>
                  <a:srgbClr val="7E7798"/>
                </a:solidFill>
                <a:effectLst/>
                <a:uFillTx/>
                <a:latin typeface="Aptos"/>
                <a:ea typeface="Aptos"/>
              </a:rPr>
              <a:t>1</a:t>
            </a:r>
            <a:endParaRPr lang="en-US" sz="800" b="0" u="none" strike="noStrike" dirty="0">
              <a:solidFill>
                <a:srgbClr val="FFFFFF"/>
              </a:solidFill>
              <a:effectLst/>
              <a:uFillTx/>
              <a:latin typeface="Arial"/>
            </a:endParaRPr>
          </a:p>
        </p:txBody>
      </p:sp>
      <p:pic>
        <p:nvPicPr>
          <p:cNvPr id="3" name="Image 1" descr="/mnt/data/gu_current.png">
            <a:extLst>
              <a:ext uri="{FF2B5EF4-FFF2-40B4-BE49-F238E27FC236}">
                <a16:creationId xmlns:a16="http://schemas.microsoft.com/office/drawing/2014/main" id="{D77E7C4F-7352-9E81-3C07-3CA65B7EBBA1}"/>
              </a:ext>
            </a:extLst>
          </p:cNvPr>
          <p:cNvPicPr>
            <a:picLocks noChangeAspect="1"/>
          </p:cNvPicPr>
          <p:nvPr/>
        </p:nvPicPr>
        <p:blipFill>
          <a:blip r:embed="rId3"/>
          <a:stretch>
            <a:fillRect/>
          </a:stretch>
        </p:blipFill>
        <p:spPr>
          <a:xfrm>
            <a:off x="8083216" y="1275732"/>
            <a:ext cx="2454948" cy="2454948"/>
          </a:xfrm>
          <a:prstGeom prst="rect">
            <a:avLst/>
          </a:prstGeom>
        </p:spPr>
      </p:pic>
      <p:pic>
        <p:nvPicPr>
          <p:cNvPr id="5" name="Image 0" descr="/mnt/data/ungga_logo_white.png">
            <a:extLst>
              <a:ext uri="{FF2B5EF4-FFF2-40B4-BE49-F238E27FC236}">
                <a16:creationId xmlns:a16="http://schemas.microsoft.com/office/drawing/2014/main" id="{36B525D3-2083-A56F-9803-2A3BA63A2A9C}"/>
              </a:ext>
            </a:extLst>
          </p:cNvPr>
          <p:cNvPicPr>
            <a:picLocks noChangeAspect="1"/>
          </p:cNvPicPr>
          <p:nvPr/>
        </p:nvPicPr>
        <p:blipFill>
          <a:blip r:embed="rId4"/>
          <a:stretch>
            <a:fillRect/>
          </a:stretch>
        </p:blipFill>
        <p:spPr>
          <a:xfrm>
            <a:off x="10867587" y="396427"/>
            <a:ext cx="791013" cy="658800"/>
          </a:xfrm>
          <a:prstGeom prst="rect">
            <a:avLst/>
          </a:prstGeom>
        </p:spPr>
      </p:pic>
    </p:spTree>
    <p:extLst>
      <p:ext uri="{BB962C8B-B14F-4D97-AF65-F5344CB8AC3E}">
        <p14:creationId xmlns:p14="http://schemas.microsoft.com/office/powerpoint/2010/main" val="3562743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26" name="Shape 0"/>
          <p:cNvSpPr/>
          <p:nvPr/>
        </p:nvSpPr>
        <p:spPr>
          <a:xfrm>
            <a:off x="0" y="0"/>
            <a:ext cx="12191400" cy="63720"/>
          </a:xfrm>
          <a:prstGeom prst="rect">
            <a:avLst/>
          </a:prstGeom>
          <a:solidFill>
            <a:srgbClr val="5F2CCB"/>
          </a:solidFill>
          <a:ln w="12700">
            <a:solidFill>
              <a:srgbClr val="5F2CCB">
                <a:alpha val="0"/>
              </a:srgbClr>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FFFFFF"/>
              </a:solidFill>
              <a:effectLst/>
              <a:uFillTx/>
              <a:latin typeface="Arial"/>
            </a:endParaRPr>
          </a:p>
        </p:txBody>
      </p:sp>
      <p:sp>
        <p:nvSpPr>
          <p:cNvPr id="27" name="Text 1"/>
          <p:cNvSpPr/>
          <p:nvPr/>
        </p:nvSpPr>
        <p:spPr>
          <a:xfrm>
            <a:off x="567000" y="438840"/>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dirty="0">
                <a:solidFill>
                  <a:srgbClr val="5F2CCB"/>
                </a:solidFill>
                <a:effectLst/>
                <a:uFillTx/>
                <a:latin typeface="Aptos"/>
                <a:ea typeface="Aptos"/>
              </a:rPr>
              <a:t>CÓMO USAR ESTA SESIÓN</a:t>
            </a:r>
            <a:endParaRPr lang="en-US" sz="1200" b="0" u="none" strike="noStrike" dirty="0">
              <a:solidFill>
                <a:srgbClr val="000000"/>
              </a:solidFill>
              <a:effectLst/>
              <a:uFillTx/>
              <a:latin typeface="Arial"/>
            </a:endParaRPr>
          </a:p>
        </p:txBody>
      </p:sp>
      <p:sp>
        <p:nvSpPr>
          <p:cNvPr id="28" name="Text 2"/>
          <p:cNvSpPr/>
          <p:nvPr/>
        </p:nvSpPr>
        <p:spPr>
          <a:xfrm>
            <a:off x="567000" y="804600"/>
            <a:ext cx="10405800" cy="822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2600" b="1" u="none" strike="noStrike" dirty="0">
                <a:solidFill>
                  <a:srgbClr val="151327"/>
                </a:solidFill>
                <a:effectLst/>
                <a:uFillTx/>
                <a:latin typeface="Aptos Display"/>
                <a:ea typeface="Aptos Display"/>
              </a:rPr>
              <a:t>No se </a:t>
            </a:r>
            <a:r>
              <a:rPr lang="en-US" sz="2600" b="1" u="none" strike="noStrike" dirty="0" err="1">
                <a:solidFill>
                  <a:srgbClr val="151327"/>
                </a:solidFill>
                <a:effectLst/>
                <a:uFillTx/>
                <a:latin typeface="Aptos Display"/>
                <a:ea typeface="Aptos Display"/>
              </a:rPr>
              <a:t>trata</a:t>
            </a:r>
            <a:r>
              <a:rPr lang="en-US" sz="2600" b="1" u="none" strike="noStrike" dirty="0">
                <a:solidFill>
                  <a:srgbClr val="151327"/>
                </a:solidFill>
                <a:effectLst/>
                <a:uFillTx/>
                <a:latin typeface="Aptos Display"/>
                <a:ea typeface="Aptos Display"/>
              </a:rPr>
              <a:t> de </a:t>
            </a:r>
            <a:r>
              <a:rPr lang="en-US" sz="2600" b="1" u="none" strike="noStrike" dirty="0" err="1">
                <a:solidFill>
                  <a:srgbClr val="151327"/>
                </a:solidFill>
                <a:effectLst/>
                <a:uFillTx/>
                <a:latin typeface="Aptos Display"/>
                <a:ea typeface="Aptos Display"/>
              </a:rPr>
              <a:t>presentar</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una</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lista</a:t>
            </a:r>
            <a:r>
              <a:rPr lang="en-US" sz="2600" b="1" u="none" strike="noStrike" dirty="0">
                <a:solidFill>
                  <a:srgbClr val="151327"/>
                </a:solidFill>
                <a:effectLst/>
                <a:uFillTx/>
                <a:latin typeface="Aptos Display"/>
                <a:ea typeface="Aptos Display"/>
              </a:rPr>
              <a:t> de más “features” </a:t>
            </a:r>
            <a:r>
              <a:rPr lang="en-US" sz="2600" b="1" u="none" strike="noStrike" dirty="0" err="1">
                <a:solidFill>
                  <a:srgbClr val="151327"/>
                </a:solidFill>
                <a:effectLst/>
                <a:uFillTx/>
                <a:latin typeface="Aptos Display"/>
                <a:ea typeface="Aptos Display"/>
              </a:rPr>
              <a:t>sino</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alinear</a:t>
            </a:r>
            <a:r>
              <a:rPr lang="en-US" sz="2600" b="1" u="none" strike="noStrike" dirty="0">
                <a:solidFill>
                  <a:srgbClr val="151327"/>
                </a:solidFill>
                <a:effectLst/>
                <a:uFillTx/>
                <a:latin typeface="Aptos Display"/>
                <a:ea typeface="Aptos Display"/>
              </a:rPr>
              <a:t> un </a:t>
            </a:r>
            <a:r>
              <a:rPr lang="en-US" sz="2600" b="1" u="none" strike="noStrike" dirty="0" err="1">
                <a:solidFill>
                  <a:srgbClr val="151327"/>
                </a:solidFill>
                <a:effectLst/>
                <a:uFillTx/>
                <a:latin typeface="Aptos Display"/>
                <a:ea typeface="Aptos Display"/>
              </a:rPr>
              <a:t>modelo</a:t>
            </a:r>
            <a:r>
              <a:rPr lang="en-US" sz="2600" b="1" u="none" strike="noStrike" dirty="0">
                <a:solidFill>
                  <a:srgbClr val="151327"/>
                </a:solidFill>
                <a:effectLst/>
                <a:uFillTx/>
                <a:latin typeface="Aptos Display"/>
                <a:ea typeface="Aptos Display"/>
              </a:rPr>
              <a:t> mental.</a:t>
            </a:r>
            <a:endParaRPr lang="en-US" sz="2600" b="0" u="none" strike="noStrike" dirty="0">
              <a:solidFill>
                <a:srgbClr val="000000"/>
              </a:solidFill>
              <a:effectLst/>
              <a:uFillTx/>
              <a:latin typeface="Arial"/>
            </a:endParaRPr>
          </a:p>
        </p:txBody>
      </p:sp>
      <p:sp>
        <p:nvSpPr>
          <p:cNvPr id="29" name="Text 3"/>
          <p:cNvSpPr/>
          <p:nvPr/>
        </p:nvSpPr>
        <p:spPr>
          <a:xfrm>
            <a:off x="567000" y="1700530"/>
            <a:ext cx="1069812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b="0" u="none" strike="noStrike" dirty="0">
                <a:solidFill>
                  <a:srgbClr val="6F6888"/>
                </a:solidFill>
                <a:effectLst/>
                <a:uFillTx/>
                <a:latin typeface="Aptos"/>
                <a:ea typeface="Aptos"/>
              </a:rPr>
              <a:t>La meta es </a:t>
            </a:r>
            <a:r>
              <a:rPr lang="en-US" b="0" u="none" strike="noStrike" dirty="0" err="1">
                <a:solidFill>
                  <a:srgbClr val="6F6888"/>
                </a:solidFill>
                <a:effectLst/>
                <a:uFillTx/>
                <a:latin typeface="Aptos"/>
                <a:ea typeface="Aptos"/>
              </a:rPr>
              <a:t>que</a:t>
            </a:r>
            <a:r>
              <a:rPr lang="en-US" b="0" u="none" strike="noStrike" dirty="0">
                <a:solidFill>
                  <a:srgbClr val="6F6888"/>
                </a:solidFill>
                <a:effectLst/>
                <a:uFillTx/>
                <a:latin typeface="Aptos"/>
                <a:ea typeface="Aptos"/>
              </a:rPr>
              <a:t> </a:t>
            </a:r>
            <a:r>
              <a:rPr lang="en-US" b="1" u="none" strike="noStrike" dirty="0" err="1">
                <a:solidFill>
                  <a:srgbClr val="6F6888"/>
                </a:solidFill>
                <a:effectLst/>
                <a:uFillTx/>
                <a:latin typeface="Aptos"/>
                <a:ea typeface="Aptos"/>
              </a:rPr>
              <a:t>negocio</a:t>
            </a:r>
            <a:r>
              <a:rPr lang="en-US" b="0" u="none" strike="noStrike" dirty="0">
                <a:solidFill>
                  <a:srgbClr val="6F6888"/>
                </a:solidFill>
                <a:effectLst/>
                <a:uFillTx/>
                <a:latin typeface="Aptos"/>
                <a:ea typeface="Aptos"/>
              </a:rPr>
              <a:t>, </a:t>
            </a:r>
            <a:r>
              <a:rPr lang="en-US" b="1" u="none" strike="noStrike" dirty="0" err="1">
                <a:solidFill>
                  <a:srgbClr val="6F6888"/>
                </a:solidFill>
                <a:effectLst/>
                <a:uFillTx/>
                <a:latin typeface="Aptos"/>
                <a:ea typeface="Aptos"/>
              </a:rPr>
              <a:t>producto</a:t>
            </a:r>
            <a:r>
              <a:rPr lang="en-US" b="1" u="none" strike="noStrike" dirty="0">
                <a:solidFill>
                  <a:srgbClr val="6F6888"/>
                </a:solidFill>
                <a:effectLst/>
                <a:uFillTx/>
                <a:latin typeface="Aptos"/>
                <a:ea typeface="Aptos"/>
              </a:rPr>
              <a:t> </a:t>
            </a:r>
            <a:r>
              <a:rPr lang="en-US" b="0" u="none" strike="noStrike" dirty="0">
                <a:solidFill>
                  <a:srgbClr val="6F6888"/>
                </a:solidFill>
                <a:effectLst/>
                <a:uFillTx/>
                <a:latin typeface="Aptos"/>
                <a:ea typeface="Aptos"/>
              </a:rPr>
              <a:t>e </a:t>
            </a:r>
            <a:r>
              <a:rPr lang="en-US" b="1" u="none" strike="noStrike" dirty="0" err="1">
                <a:solidFill>
                  <a:srgbClr val="6F6888"/>
                </a:solidFill>
                <a:effectLst/>
                <a:uFillTx/>
                <a:latin typeface="Aptos"/>
                <a:ea typeface="Aptos"/>
              </a:rPr>
              <a:t>ingeniería</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entiendan</a:t>
            </a:r>
            <a:r>
              <a:rPr lang="en-US" b="0" u="none" strike="noStrike" dirty="0">
                <a:solidFill>
                  <a:srgbClr val="6F6888"/>
                </a:solidFill>
                <a:effectLst/>
                <a:uFillTx/>
                <a:latin typeface="Aptos"/>
                <a:ea typeface="Aptos"/>
              </a:rPr>
              <a:t> la </a:t>
            </a:r>
            <a:r>
              <a:rPr lang="en-US" b="0" u="none" strike="noStrike" dirty="0" err="1">
                <a:solidFill>
                  <a:srgbClr val="6F6888"/>
                </a:solidFill>
                <a:effectLst/>
                <a:uFillTx/>
                <a:latin typeface="Aptos"/>
                <a:ea typeface="Aptos"/>
              </a:rPr>
              <a:t>misma</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historia</a:t>
            </a:r>
            <a:r>
              <a:rPr lang="en-US" b="0" u="none" strike="noStrike" dirty="0">
                <a:solidFill>
                  <a:srgbClr val="6F6888"/>
                </a:solidFill>
                <a:effectLst/>
                <a:uFillTx/>
                <a:latin typeface="Aptos"/>
                <a:ea typeface="Aptos"/>
              </a:rPr>
              <a:t> y </a:t>
            </a:r>
            <a:r>
              <a:rPr lang="en-US" b="0" u="none" strike="noStrike" dirty="0" err="1">
                <a:solidFill>
                  <a:srgbClr val="6F6888"/>
                </a:solidFill>
                <a:effectLst/>
                <a:uFillTx/>
                <a:latin typeface="Aptos"/>
                <a:ea typeface="Aptos"/>
              </a:rPr>
              <a:t>puedan</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desafiarla</a:t>
            </a:r>
            <a:r>
              <a:rPr lang="en-US" b="0" u="none" strike="noStrike" dirty="0">
                <a:solidFill>
                  <a:srgbClr val="6F6888"/>
                </a:solidFill>
                <a:effectLst/>
                <a:uFillTx/>
                <a:latin typeface="Aptos"/>
                <a:ea typeface="Aptos"/>
              </a:rPr>
              <a:t>.</a:t>
            </a:r>
            <a:endParaRPr lang="en-US" b="0" u="none" strike="noStrike" dirty="0">
              <a:solidFill>
                <a:srgbClr val="000000"/>
              </a:solidFill>
              <a:effectLst/>
              <a:uFillTx/>
              <a:latin typeface="Arial"/>
            </a:endParaRPr>
          </a:p>
        </p:txBody>
      </p:sp>
      <p:sp>
        <p:nvSpPr>
          <p:cNvPr id="31" name="Text 5"/>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u="none" strike="noStrike">
                <a:solidFill>
                  <a:srgbClr val="7E7798"/>
                </a:solidFill>
                <a:effectLst/>
                <a:uFillTx/>
                <a:latin typeface="Aptos"/>
                <a:ea typeface="Aptos"/>
              </a:rPr>
              <a:t>CONFIDENTIAL</a:t>
            </a:r>
            <a:endParaRPr lang="en-US" sz="650" b="0" u="none" strike="noStrike">
              <a:solidFill>
                <a:srgbClr val="000000"/>
              </a:solidFill>
              <a:effectLst/>
              <a:uFillTx/>
              <a:latin typeface="Arial"/>
            </a:endParaRPr>
          </a:p>
        </p:txBody>
      </p:sp>
      <p:sp>
        <p:nvSpPr>
          <p:cNvPr id="32" name="Text 6"/>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650" b="0" u="none" strike="noStrike">
                <a:solidFill>
                  <a:srgbClr val="7E7798"/>
                </a:solidFill>
                <a:effectLst/>
                <a:uFillTx/>
                <a:latin typeface="Aptos"/>
                <a:ea typeface="Aptos"/>
              </a:rPr>
              <a:t>ungga.com</a:t>
            </a:r>
            <a:endParaRPr lang="en-US" sz="650" b="0" u="none" strike="noStrike">
              <a:solidFill>
                <a:srgbClr val="000000"/>
              </a:solidFill>
              <a:effectLst/>
              <a:uFillTx/>
              <a:latin typeface="Arial"/>
            </a:endParaRPr>
          </a:p>
        </p:txBody>
      </p:sp>
      <p:sp>
        <p:nvSpPr>
          <p:cNvPr id="33" name="Text 7"/>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b="0" u="none" strike="noStrike" dirty="0">
                <a:solidFill>
                  <a:srgbClr val="7E7798"/>
                </a:solidFill>
                <a:effectLst/>
                <a:uFillTx/>
                <a:latin typeface="Aptos"/>
                <a:ea typeface="Aptos"/>
              </a:rPr>
              <a:t>2</a:t>
            </a:r>
            <a:endParaRPr lang="en-US" sz="800" b="0" u="none" strike="noStrike" dirty="0">
              <a:solidFill>
                <a:srgbClr val="000000"/>
              </a:solidFill>
              <a:effectLst/>
              <a:uFillTx/>
              <a:latin typeface="Arial"/>
            </a:endParaRPr>
          </a:p>
        </p:txBody>
      </p:sp>
      <p:sp>
        <p:nvSpPr>
          <p:cNvPr id="34" name="Text 8"/>
          <p:cNvSpPr/>
          <p:nvPr/>
        </p:nvSpPr>
        <p:spPr>
          <a:xfrm>
            <a:off x="685800" y="2462911"/>
            <a:ext cx="2377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dirty="0">
                <a:solidFill>
                  <a:srgbClr val="5F2CCB"/>
                </a:solidFill>
                <a:effectLst/>
                <a:uFillTx/>
                <a:latin typeface="Aptos"/>
                <a:ea typeface="Aptos"/>
              </a:rPr>
              <a:t>RESULTADO ESPERADO</a:t>
            </a:r>
            <a:endParaRPr lang="en-US" sz="1600" b="0" u="none" strike="noStrike" dirty="0">
              <a:solidFill>
                <a:srgbClr val="000000"/>
              </a:solidFill>
              <a:effectLst/>
              <a:uFillTx/>
              <a:latin typeface="Arial"/>
            </a:endParaRPr>
          </a:p>
        </p:txBody>
      </p:sp>
      <p:sp>
        <p:nvSpPr>
          <p:cNvPr id="35" name="Shape 9"/>
          <p:cNvSpPr/>
          <p:nvPr/>
        </p:nvSpPr>
        <p:spPr>
          <a:xfrm>
            <a:off x="685800" y="2828671"/>
            <a:ext cx="3291480" cy="1191290"/>
          </a:xfrm>
          <a:prstGeom prst="roundRect">
            <a:avLst>
              <a:gd name="adj" fmla="val 9524"/>
            </a:avLst>
          </a:prstGeom>
          <a:solidFill>
            <a:srgbClr val="FFFFFF"/>
          </a:solidFill>
          <a:ln w="12700">
            <a:solidFill>
              <a:srgbClr val="DED2F6"/>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 name="Text 10"/>
          <p:cNvSpPr/>
          <p:nvPr/>
        </p:nvSpPr>
        <p:spPr>
          <a:xfrm>
            <a:off x="887040" y="3048271"/>
            <a:ext cx="28890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600" b="1" u="none" strike="noStrike" dirty="0" err="1">
                <a:solidFill>
                  <a:srgbClr val="151327"/>
                </a:solidFill>
                <a:effectLst/>
                <a:uFillTx/>
                <a:latin typeface="Aptos Display"/>
                <a:ea typeface="Aptos Display"/>
              </a:rPr>
              <a:t>Lenguaje</a:t>
            </a:r>
            <a:r>
              <a:rPr lang="en-US" sz="1600" b="1" u="none" strike="noStrike" dirty="0">
                <a:solidFill>
                  <a:srgbClr val="151327"/>
                </a:solidFill>
                <a:effectLst/>
                <a:uFillTx/>
                <a:latin typeface="Aptos Display"/>
                <a:ea typeface="Aptos Display"/>
              </a:rPr>
              <a:t> </a:t>
            </a:r>
            <a:r>
              <a:rPr lang="en-US" sz="1600" b="1" u="none" strike="noStrike" dirty="0" err="1">
                <a:solidFill>
                  <a:srgbClr val="151327"/>
                </a:solidFill>
                <a:effectLst/>
                <a:uFillTx/>
                <a:latin typeface="Aptos Display"/>
                <a:ea typeface="Aptos Display"/>
              </a:rPr>
              <a:t>común</a:t>
            </a:r>
            <a:endParaRPr lang="en-US" sz="1600" b="0" u="none" strike="noStrike" dirty="0">
              <a:solidFill>
                <a:srgbClr val="000000"/>
              </a:solidFill>
              <a:effectLst/>
              <a:uFillTx/>
              <a:latin typeface="Arial"/>
            </a:endParaRPr>
          </a:p>
        </p:txBody>
      </p:sp>
      <p:sp>
        <p:nvSpPr>
          <p:cNvPr id="37" name="Text 11"/>
          <p:cNvSpPr/>
          <p:nvPr/>
        </p:nvSpPr>
        <p:spPr>
          <a:xfrm>
            <a:off x="941760" y="3510975"/>
            <a:ext cx="2725779" cy="384686"/>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200" b="0" u="none" strike="noStrike" dirty="0">
                <a:solidFill>
                  <a:srgbClr val="6F6888"/>
                </a:solidFill>
                <a:effectLst/>
                <a:uFillTx/>
                <a:latin typeface="Aptos"/>
                <a:ea typeface="Aptos"/>
              </a:rPr>
              <a:t>Gu, Gu OS, Cases, </a:t>
            </a:r>
            <a:r>
              <a:rPr lang="en-US" sz="1200" b="0" u="none" strike="noStrike" dirty="0" err="1">
                <a:solidFill>
                  <a:srgbClr val="6F6888"/>
                </a:solidFill>
                <a:effectLst/>
                <a:uFillTx/>
                <a:latin typeface="Aptos"/>
                <a:ea typeface="Aptos"/>
              </a:rPr>
              <a:t>dominios</a:t>
            </a:r>
            <a:r>
              <a:rPr lang="en-US" sz="1200" b="0" u="none" strike="noStrike" dirty="0">
                <a:solidFill>
                  <a:srgbClr val="6F6888"/>
                </a:solidFill>
                <a:effectLst/>
                <a:uFillTx/>
                <a:latin typeface="Aptos"/>
                <a:ea typeface="Aptos"/>
              </a:rPr>
              <a:t> </a:t>
            </a:r>
            <a:r>
              <a:rPr lang="en-US" sz="1200" b="0" u="none" strike="noStrike" dirty="0" err="1">
                <a:solidFill>
                  <a:srgbClr val="6F6888"/>
                </a:solidFill>
                <a:effectLst/>
                <a:uFillTx/>
                <a:latin typeface="Aptos"/>
                <a:ea typeface="Aptos"/>
              </a:rPr>
              <a:t>operativos</a:t>
            </a:r>
            <a:r>
              <a:rPr lang="en-US" sz="1200" b="0" u="none" strike="noStrike" dirty="0">
                <a:solidFill>
                  <a:srgbClr val="6F6888"/>
                </a:solidFill>
                <a:effectLst/>
                <a:uFillTx/>
                <a:latin typeface="Aptos"/>
                <a:ea typeface="Aptos"/>
              </a:rPr>
              <a:t>, </a:t>
            </a:r>
            <a:r>
              <a:rPr lang="en-US" sz="1200" b="0" i="1" u="none" strike="noStrike" dirty="0">
                <a:solidFill>
                  <a:srgbClr val="6F6888"/>
                </a:solidFill>
                <a:effectLst/>
                <a:uFillTx/>
                <a:latin typeface="Aptos"/>
                <a:ea typeface="Aptos"/>
              </a:rPr>
              <a:t>Business Brain</a:t>
            </a:r>
            <a:r>
              <a:rPr lang="en-US" sz="1200" b="0" u="none" strike="noStrike" dirty="0">
                <a:solidFill>
                  <a:srgbClr val="6F6888"/>
                </a:solidFill>
                <a:effectLst/>
                <a:uFillTx/>
                <a:latin typeface="Aptos"/>
                <a:ea typeface="Aptos"/>
              </a:rPr>
              <a:t>, </a:t>
            </a:r>
            <a:r>
              <a:rPr lang="en-US" sz="1200" b="0" i="1" u="none" strike="noStrike" dirty="0">
                <a:solidFill>
                  <a:srgbClr val="6F6888"/>
                </a:solidFill>
                <a:effectLst/>
                <a:uFillTx/>
                <a:latin typeface="Aptos"/>
                <a:ea typeface="Aptos"/>
              </a:rPr>
              <a:t>Relationship Ops</a:t>
            </a:r>
            <a:r>
              <a:rPr lang="en-US" sz="1200" b="0" u="none" strike="noStrike" dirty="0">
                <a:solidFill>
                  <a:srgbClr val="6F6888"/>
                </a:solidFill>
                <a:effectLst/>
                <a:uFillTx/>
                <a:latin typeface="Aptos"/>
                <a:ea typeface="Aptos"/>
              </a:rPr>
              <a:t>, </a:t>
            </a:r>
            <a:r>
              <a:rPr lang="en-US" sz="1200" b="0" i="1" u="none" strike="noStrike" dirty="0">
                <a:solidFill>
                  <a:srgbClr val="6F6888"/>
                </a:solidFill>
                <a:effectLst/>
                <a:uFillTx/>
                <a:latin typeface="Aptos"/>
                <a:ea typeface="Aptos"/>
              </a:rPr>
              <a:t>Network</a:t>
            </a:r>
            <a:r>
              <a:rPr lang="en-US" sz="1200" b="0" u="none" strike="noStrike" dirty="0">
                <a:solidFill>
                  <a:srgbClr val="6F6888"/>
                </a:solidFill>
                <a:effectLst/>
                <a:uFillTx/>
                <a:latin typeface="Aptos"/>
                <a:ea typeface="Aptos"/>
              </a:rPr>
              <a:t>.</a:t>
            </a:r>
            <a:endParaRPr lang="en-US" sz="1200" b="0" u="none" strike="noStrike" dirty="0">
              <a:solidFill>
                <a:srgbClr val="000000"/>
              </a:solidFill>
              <a:effectLst/>
              <a:uFillTx/>
              <a:latin typeface="Arial"/>
            </a:endParaRPr>
          </a:p>
        </p:txBody>
      </p:sp>
      <p:sp>
        <p:nvSpPr>
          <p:cNvPr id="38" name="Shape 12"/>
          <p:cNvSpPr/>
          <p:nvPr/>
        </p:nvSpPr>
        <p:spPr>
          <a:xfrm>
            <a:off x="4434840" y="2828671"/>
            <a:ext cx="3291480" cy="1191290"/>
          </a:xfrm>
          <a:prstGeom prst="roundRect">
            <a:avLst>
              <a:gd name="adj" fmla="val 9524"/>
            </a:avLst>
          </a:prstGeom>
          <a:solidFill>
            <a:srgbClr val="FFFFFF"/>
          </a:solidFill>
          <a:ln w="12700">
            <a:solidFill>
              <a:srgbClr val="DED2F6"/>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 name="Text 13"/>
          <p:cNvSpPr/>
          <p:nvPr/>
        </p:nvSpPr>
        <p:spPr>
          <a:xfrm>
            <a:off x="4636080" y="3048271"/>
            <a:ext cx="28890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600" b="1" u="none" strike="noStrike">
                <a:solidFill>
                  <a:srgbClr val="151327"/>
                </a:solidFill>
                <a:effectLst/>
                <a:uFillTx/>
                <a:latin typeface="Aptos Display"/>
                <a:ea typeface="Aptos Display"/>
              </a:rPr>
              <a:t>Criterios de decisión</a:t>
            </a:r>
            <a:endParaRPr lang="en-US" sz="1600" b="0" u="none" strike="noStrike">
              <a:solidFill>
                <a:srgbClr val="000000"/>
              </a:solidFill>
              <a:effectLst/>
              <a:uFillTx/>
              <a:latin typeface="Arial"/>
            </a:endParaRPr>
          </a:p>
        </p:txBody>
      </p:sp>
      <p:sp>
        <p:nvSpPr>
          <p:cNvPr id="40" name="Text 14"/>
          <p:cNvSpPr/>
          <p:nvPr/>
        </p:nvSpPr>
        <p:spPr>
          <a:xfrm>
            <a:off x="4705920" y="3471967"/>
            <a:ext cx="2779560" cy="438479"/>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200" b="0" u="none" strike="noStrike" dirty="0" err="1">
                <a:solidFill>
                  <a:srgbClr val="6F6888"/>
                </a:solidFill>
                <a:effectLst/>
                <a:uFillTx/>
                <a:latin typeface="Aptos"/>
                <a:ea typeface="Aptos"/>
              </a:rPr>
              <a:t>Qué</a:t>
            </a:r>
            <a:r>
              <a:rPr lang="en-US" sz="1200" b="0" u="none" strike="noStrike" dirty="0">
                <a:solidFill>
                  <a:srgbClr val="6F6888"/>
                </a:solidFill>
                <a:effectLst/>
                <a:uFillTx/>
                <a:latin typeface="Aptos"/>
                <a:ea typeface="Aptos"/>
              </a:rPr>
              <a:t> </a:t>
            </a:r>
            <a:r>
              <a:rPr lang="en-US" sz="1200" b="0" u="none" strike="noStrike" dirty="0" err="1">
                <a:solidFill>
                  <a:srgbClr val="6F6888"/>
                </a:solidFill>
                <a:effectLst/>
                <a:uFillTx/>
                <a:latin typeface="Aptos"/>
                <a:ea typeface="Aptos"/>
              </a:rPr>
              <a:t>debemos</a:t>
            </a:r>
            <a:r>
              <a:rPr lang="en-US" sz="1200" b="0" u="none" strike="noStrike" dirty="0">
                <a:solidFill>
                  <a:srgbClr val="6F6888"/>
                </a:solidFill>
                <a:effectLst/>
                <a:uFillTx/>
                <a:latin typeface="Aptos"/>
                <a:ea typeface="Aptos"/>
              </a:rPr>
              <a:t> </a:t>
            </a:r>
            <a:r>
              <a:rPr lang="en-US" sz="1200" b="0" u="none" strike="noStrike" dirty="0" err="1">
                <a:solidFill>
                  <a:srgbClr val="6F6888"/>
                </a:solidFill>
                <a:effectLst/>
                <a:uFillTx/>
                <a:latin typeface="Aptos"/>
                <a:ea typeface="Aptos"/>
              </a:rPr>
              <a:t>poseer</a:t>
            </a:r>
            <a:r>
              <a:rPr lang="en-US" sz="1200" b="0" u="none" strike="noStrike" dirty="0">
                <a:solidFill>
                  <a:srgbClr val="6F6888"/>
                </a:solidFill>
                <a:effectLst/>
                <a:uFillTx/>
                <a:latin typeface="Aptos"/>
                <a:ea typeface="Aptos"/>
              </a:rPr>
              <a:t>, </a:t>
            </a:r>
            <a:r>
              <a:rPr lang="en-US" sz="1200" b="0" u="none" strike="noStrike" dirty="0" err="1">
                <a:solidFill>
                  <a:srgbClr val="6F6888"/>
                </a:solidFill>
                <a:effectLst/>
                <a:uFillTx/>
                <a:latin typeface="Aptos"/>
                <a:ea typeface="Aptos"/>
              </a:rPr>
              <a:t>qué</a:t>
            </a:r>
            <a:r>
              <a:rPr lang="en-US" sz="1200" b="0" u="none" strike="noStrike" dirty="0">
                <a:solidFill>
                  <a:srgbClr val="6F6888"/>
                </a:solidFill>
                <a:effectLst/>
                <a:uFillTx/>
                <a:latin typeface="Aptos"/>
                <a:ea typeface="Aptos"/>
              </a:rPr>
              <a:t> </a:t>
            </a:r>
            <a:r>
              <a:rPr lang="en-US" sz="1200" b="0" u="none" strike="noStrike" dirty="0" err="1">
                <a:solidFill>
                  <a:srgbClr val="6F6888"/>
                </a:solidFill>
                <a:effectLst/>
                <a:uFillTx/>
                <a:latin typeface="Aptos"/>
                <a:ea typeface="Aptos"/>
              </a:rPr>
              <a:t>debemos</a:t>
            </a:r>
            <a:r>
              <a:rPr lang="en-US" sz="1200" b="0" u="none" strike="noStrike" dirty="0">
                <a:solidFill>
                  <a:srgbClr val="6F6888"/>
                </a:solidFill>
                <a:effectLst/>
                <a:uFillTx/>
                <a:latin typeface="Aptos"/>
                <a:ea typeface="Aptos"/>
              </a:rPr>
              <a:t> </a:t>
            </a:r>
            <a:r>
              <a:rPr lang="en-US" sz="1200" b="0" u="none" strike="noStrike" dirty="0" err="1">
                <a:solidFill>
                  <a:srgbClr val="6F6888"/>
                </a:solidFill>
                <a:effectLst/>
                <a:uFillTx/>
                <a:latin typeface="Aptos"/>
                <a:ea typeface="Aptos"/>
              </a:rPr>
              <a:t>orquestar</a:t>
            </a:r>
            <a:r>
              <a:rPr lang="en-US" sz="1200" b="0" u="none" strike="noStrike" dirty="0">
                <a:solidFill>
                  <a:srgbClr val="6F6888"/>
                </a:solidFill>
                <a:effectLst/>
                <a:uFillTx/>
                <a:latin typeface="Aptos"/>
                <a:ea typeface="Aptos"/>
              </a:rPr>
              <a:t> y </a:t>
            </a:r>
            <a:r>
              <a:rPr lang="en-US" sz="1200" b="0" u="none" strike="noStrike" dirty="0" err="1">
                <a:solidFill>
                  <a:srgbClr val="6F6888"/>
                </a:solidFill>
                <a:effectLst/>
                <a:uFillTx/>
                <a:latin typeface="Aptos"/>
                <a:ea typeface="Aptos"/>
              </a:rPr>
              <a:t>qué</a:t>
            </a:r>
            <a:r>
              <a:rPr lang="en-US" sz="1200" b="0" u="none" strike="noStrike" dirty="0">
                <a:solidFill>
                  <a:srgbClr val="6F6888"/>
                </a:solidFill>
                <a:effectLst/>
                <a:uFillTx/>
                <a:latin typeface="Aptos"/>
                <a:ea typeface="Aptos"/>
              </a:rPr>
              <a:t> no </a:t>
            </a:r>
            <a:r>
              <a:rPr lang="en-US" sz="1200" b="0" u="none" strike="noStrike" dirty="0" err="1">
                <a:solidFill>
                  <a:srgbClr val="6F6888"/>
                </a:solidFill>
                <a:effectLst/>
                <a:uFillTx/>
                <a:latin typeface="Aptos"/>
                <a:ea typeface="Aptos"/>
              </a:rPr>
              <a:t>conviene</a:t>
            </a:r>
            <a:r>
              <a:rPr lang="en-US" sz="1200" b="0" u="none" strike="noStrike" dirty="0">
                <a:solidFill>
                  <a:srgbClr val="6F6888"/>
                </a:solidFill>
                <a:effectLst/>
                <a:uFillTx/>
                <a:latin typeface="Aptos"/>
                <a:ea typeface="Aptos"/>
              </a:rPr>
              <a:t> </a:t>
            </a:r>
            <a:r>
              <a:rPr lang="en-US" sz="1200" b="0" u="none" strike="noStrike" dirty="0" err="1">
                <a:solidFill>
                  <a:srgbClr val="6F6888"/>
                </a:solidFill>
                <a:effectLst/>
                <a:uFillTx/>
                <a:latin typeface="Aptos"/>
                <a:ea typeface="Aptos"/>
              </a:rPr>
              <a:t>reconstruir</a:t>
            </a:r>
            <a:r>
              <a:rPr lang="en-US" sz="1200" b="0" u="none" strike="noStrike" dirty="0">
                <a:solidFill>
                  <a:srgbClr val="6F6888"/>
                </a:solidFill>
                <a:effectLst/>
                <a:uFillTx/>
                <a:latin typeface="Aptos"/>
                <a:ea typeface="Aptos"/>
              </a:rPr>
              <a:t>.</a:t>
            </a:r>
            <a:endParaRPr lang="en-US" sz="1200" b="0" u="none" strike="noStrike" dirty="0">
              <a:solidFill>
                <a:srgbClr val="000000"/>
              </a:solidFill>
              <a:effectLst/>
              <a:uFillTx/>
              <a:latin typeface="Arial"/>
            </a:endParaRPr>
          </a:p>
        </p:txBody>
      </p:sp>
      <p:sp>
        <p:nvSpPr>
          <p:cNvPr id="41" name="Shape 15"/>
          <p:cNvSpPr/>
          <p:nvPr/>
        </p:nvSpPr>
        <p:spPr>
          <a:xfrm>
            <a:off x="8183880" y="2828671"/>
            <a:ext cx="3291480" cy="1191290"/>
          </a:xfrm>
          <a:prstGeom prst="roundRect">
            <a:avLst>
              <a:gd name="adj" fmla="val 9524"/>
            </a:avLst>
          </a:prstGeom>
          <a:solidFill>
            <a:srgbClr val="FFFFFF"/>
          </a:solidFill>
          <a:ln w="12700">
            <a:solidFill>
              <a:srgbClr val="DED2F6"/>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2" name="Text 16"/>
          <p:cNvSpPr/>
          <p:nvPr/>
        </p:nvSpPr>
        <p:spPr>
          <a:xfrm>
            <a:off x="8385120" y="3048271"/>
            <a:ext cx="28890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600" b="1" u="none" strike="noStrike" dirty="0" err="1">
                <a:solidFill>
                  <a:srgbClr val="151327"/>
                </a:solidFill>
                <a:effectLst/>
                <a:uFillTx/>
                <a:latin typeface="Aptos Display"/>
                <a:ea typeface="Aptos Display"/>
              </a:rPr>
              <a:t>Preguntas</a:t>
            </a:r>
            <a:r>
              <a:rPr lang="en-US" sz="1600" b="1" u="none" strike="noStrike" dirty="0">
                <a:solidFill>
                  <a:srgbClr val="151327"/>
                </a:solidFill>
                <a:effectLst/>
                <a:uFillTx/>
                <a:latin typeface="Aptos Display"/>
                <a:ea typeface="Aptos Display"/>
              </a:rPr>
              <a:t> clave</a:t>
            </a:r>
            <a:endParaRPr lang="en-US" sz="1600" b="0" u="none" strike="noStrike" dirty="0">
              <a:solidFill>
                <a:srgbClr val="000000"/>
              </a:solidFill>
              <a:effectLst/>
              <a:uFillTx/>
              <a:latin typeface="Arial"/>
            </a:endParaRPr>
          </a:p>
        </p:txBody>
      </p:sp>
      <p:sp>
        <p:nvSpPr>
          <p:cNvPr id="43" name="Text 17"/>
          <p:cNvSpPr/>
          <p:nvPr/>
        </p:nvSpPr>
        <p:spPr>
          <a:xfrm>
            <a:off x="8439840" y="3533986"/>
            <a:ext cx="2779560" cy="376459"/>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200" b="0" u="none" strike="noStrike" dirty="0" err="1">
                <a:solidFill>
                  <a:srgbClr val="6F6888"/>
                </a:solidFill>
                <a:effectLst/>
                <a:uFillTx/>
                <a:latin typeface="Aptos"/>
                <a:ea typeface="Aptos"/>
              </a:rPr>
              <a:t>Qué</a:t>
            </a:r>
            <a:r>
              <a:rPr lang="en-US" sz="1200" b="0" u="none" strike="noStrike" dirty="0">
                <a:solidFill>
                  <a:srgbClr val="6F6888"/>
                </a:solidFill>
                <a:effectLst/>
                <a:uFillTx/>
                <a:latin typeface="Aptos"/>
                <a:ea typeface="Aptos"/>
              </a:rPr>
              <a:t> </a:t>
            </a:r>
            <a:r>
              <a:rPr lang="en-US" sz="1200" b="0" u="none" strike="noStrike" dirty="0" err="1">
                <a:solidFill>
                  <a:srgbClr val="6F6888"/>
                </a:solidFill>
                <a:effectLst/>
                <a:uFillTx/>
                <a:latin typeface="Aptos"/>
                <a:ea typeface="Aptos"/>
              </a:rPr>
              <a:t>validar</a:t>
            </a:r>
            <a:r>
              <a:rPr lang="en-US" sz="1200" b="0" u="none" strike="noStrike" dirty="0">
                <a:solidFill>
                  <a:srgbClr val="6F6888"/>
                </a:solidFill>
                <a:effectLst/>
                <a:uFillTx/>
                <a:latin typeface="Aptos"/>
                <a:ea typeface="Aptos"/>
              </a:rPr>
              <a:t> en </a:t>
            </a:r>
            <a:r>
              <a:rPr lang="en-US" sz="1200" b="0" u="none" strike="noStrike" dirty="0" err="1">
                <a:solidFill>
                  <a:srgbClr val="6F6888"/>
                </a:solidFill>
                <a:effectLst/>
                <a:uFillTx/>
                <a:latin typeface="Aptos"/>
                <a:ea typeface="Aptos"/>
              </a:rPr>
              <a:t>producto</a:t>
            </a:r>
            <a:r>
              <a:rPr lang="en-US" sz="1200" b="0" u="none" strike="noStrike" dirty="0">
                <a:solidFill>
                  <a:srgbClr val="6F6888"/>
                </a:solidFill>
                <a:effectLst/>
                <a:uFillTx/>
                <a:latin typeface="Aptos"/>
                <a:ea typeface="Aptos"/>
              </a:rPr>
              <a:t>, </a:t>
            </a:r>
            <a:r>
              <a:rPr lang="en-US" sz="1200" b="0" u="none" strike="noStrike" dirty="0" err="1">
                <a:solidFill>
                  <a:srgbClr val="6F6888"/>
                </a:solidFill>
                <a:effectLst/>
                <a:uFillTx/>
                <a:latin typeface="Aptos"/>
                <a:ea typeface="Aptos"/>
              </a:rPr>
              <a:t>arquitectura</a:t>
            </a:r>
            <a:r>
              <a:rPr lang="en-US" sz="1200" b="0" u="none" strike="noStrike" dirty="0">
                <a:solidFill>
                  <a:srgbClr val="6F6888"/>
                </a:solidFill>
                <a:effectLst/>
                <a:uFillTx/>
                <a:latin typeface="Aptos"/>
                <a:ea typeface="Aptos"/>
              </a:rPr>
              <a:t>, </a:t>
            </a:r>
            <a:r>
              <a:rPr lang="en-US" sz="1200" b="0" u="none" strike="noStrike" dirty="0" err="1">
                <a:solidFill>
                  <a:srgbClr val="6F6888"/>
                </a:solidFill>
                <a:effectLst/>
                <a:uFillTx/>
                <a:latin typeface="Aptos"/>
                <a:ea typeface="Aptos"/>
              </a:rPr>
              <a:t>datos</a:t>
            </a:r>
            <a:r>
              <a:rPr lang="en-US" sz="1200" b="0" u="none" strike="noStrike" dirty="0">
                <a:solidFill>
                  <a:srgbClr val="6F6888"/>
                </a:solidFill>
                <a:effectLst/>
                <a:uFillTx/>
                <a:latin typeface="Aptos"/>
                <a:ea typeface="Aptos"/>
              </a:rPr>
              <a:t>, UX y </a:t>
            </a:r>
            <a:r>
              <a:rPr lang="en-US" sz="1200" b="0" i="1" u="none" strike="noStrike" dirty="0">
                <a:solidFill>
                  <a:srgbClr val="6F6888"/>
                </a:solidFill>
                <a:effectLst/>
                <a:uFillTx/>
                <a:latin typeface="Aptos"/>
                <a:ea typeface="Aptos"/>
              </a:rPr>
              <a:t>roadmap</a:t>
            </a:r>
            <a:r>
              <a:rPr lang="en-US" sz="1200" b="0" u="none" strike="noStrike" dirty="0">
                <a:solidFill>
                  <a:srgbClr val="6F6888"/>
                </a:solidFill>
                <a:effectLst/>
                <a:uFillTx/>
                <a:latin typeface="Aptos"/>
                <a:ea typeface="Aptos"/>
              </a:rPr>
              <a:t>.</a:t>
            </a:r>
            <a:endParaRPr lang="en-US" sz="1200" b="0" u="none" strike="noStrike" dirty="0">
              <a:solidFill>
                <a:srgbClr val="000000"/>
              </a:solidFill>
              <a:effectLst/>
              <a:uFillTx/>
              <a:latin typeface="Arial"/>
            </a:endParaRPr>
          </a:p>
        </p:txBody>
      </p:sp>
      <p:sp>
        <p:nvSpPr>
          <p:cNvPr id="44" name="Text 18"/>
          <p:cNvSpPr/>
          <p:nvPr/>
        </p:nvSpPr>
        <p:spPr>
          <a:xfrm>
            <a:off x="685800" y="4428871"/>
            <a:ext cx="1371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dirty="0">
                <a:solidFill>
                  <a:srgbClr val="A84A7A"/>
                </a:solidFill>
                <a:effectLst/>
                <a:uFillTx/>
                <a:latin typeface="Aptos"/>
                <a:ea typeface="Aptos"/>
              </a:rPr>
              <a:t>NO ES</a:t>
            </a:r>
            <a:endParaRPr lang="en-US" sz="1600" b="0" u="none" strike="noStrike" dirty="0">
              <a:solidFill>
                <a:srgbClr val="000000"/>
              </a:solidFill>
              <a:effectLst/>
              <a:uFillTx/>
              <a:latin typeface="Arial"/>
            </a:endParaRPr>
          </a:p>
        </p:txBody>
      </p:sp>
      <p:sp>
        <p:nvSpPr>
          <p:cNvPr id="45" name="Shape 19"/>
          <p:cNvSpPr/>
          <p:nvPr/>
        </p:nvSpPr>
        <p:spPr>
          <a:xfrm>
            <a:off x="731520" y="4867711"/>
            <a:ext cx="72720" cy="72720"/>
          </a:xfrm>
          <a:prstGeom prst="ellipse">
            <a:avLst/>
          </a:prstGeom>
          <a:solidFill>
            <a:srgbClr val="A84A7A"/>
          </a:solidFill>
          <a:ln w="12700">
            <a:solidFill>
              <a:srgbClr val="A84A7A"/>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en-US" sz="1600" b="0" u="none" strike="noStrike">
              <a:solidFill>
                <a:srgbClr val="FFFFFF"/>
              </a:solidFill>
              <a:effectLst/>
              <a:uFillTx/>
              <a:latin typeface="Arial"/>
            </a:endParaRPr>
          </a:p>
        </p:txBody>
      </p:sp>
      <p:sp>
        <p:nvSpPr>
          <p:cNvPr id="46" name="Text 20"/>
          <p:cNvSpPr/>
          <p:nvPr/>
        </p:nvSpPr>
        <p:spPr>
          <a:xfrm>
            <a:off x="896040" y="4794631"/>
            <a:ext cx="49557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dirty="0">
                <a:solidFill>
                  <a:srgbClr val="151327"/>
                </a:solidFill>
                <a:effectLst/>
                <a:uFillTx/>
                <a:latin typeface="Aptos"/>
                <a:ea typeface="Aptos"/>
              </a:rPr>
              <a:t>No es </a:t>
            </a:r>
            <a:r>
              <a:rPr lang="en-US" sz="1600" b="0" u="none" strike="noStrike" dirty="0" err="1">
                <a:solidFill>
                  <a:srgbClr val="151327"/>
                </a:solidFill>
                <a:effectLst/>
                <a:uFillTx/>
                <a:latin typeface="Aptos"/>
                <a:ea typeface="Aptos"/>
              </a:rPr>
              <a:t>una</a:t>
            </a:r>
            <a:r>
              <a:rPr lang="en-US" sz="1600" b="0" u="none" strike="noStrike" dirty="0">
                <a:solidFill>
                  <a:srgbClr val="151327"/>
                </a:solidFill>
                <a:effectLst/>
                <a:uFillTx/>
                <a:latin typeface="Aptos"/>
                <a:ea typeface="Aptos"/>
              </a:rPr>
              <a:t> </a:t>
            </a:r>
            <a:r>
              <a:rPr lang="en-US" sz="1600" b="0" u="none" strike="noStrike" dirty="0" err="1">
                <a:solidFill>
                  <a:srgbClr val="151327"/>
                </a:solidFill>
                <a:effectLst/>
                <a:uFillTx/>
                <a:latin typeface="Aptos"/>
                <a:ea typeface="Aptos"/>
              </a:rPr>
              <a:t>especificación</a:t>
            </a:r>
            <a:r>
              <a:rPr lang="en-US" sz="1600" b="0" u="none" strike="noStrike" dirty="0">
                <a:solidFill>
                  <a:srgbClr val="151327"/>
                </a:solidFill>
                <a:effectLst/>
                <a:uFillTx/>
                <a:latin typeface="Aptos"/>
                <a:ea typeface="Aptos"/>
              </a:rPr>
              <a:t> final.</a:t>
            </a:r>
            <a:endParaRPr lang="en-US" sz="1600" b="0" u="none" strike="noStrike" dirty="0">
              <a:solidFill>
                <a:srgbClr val="000000"/>
              </a:solidFill>
              <a:effectLst/>
              <a:uFillTx/>
              <a:latin typeface="Arial"/>
            </a:endParaRPr>
          </a:p>
        </p:txBody>
      </p:sp>
      <p:sp>
        <p:nvSpPr>
          <p:cNvPr id="47" name="Shape 21"/>
          <p:cNvSpPr/>
          <p:nvPr/>
        </p:nvSpPr>
        <p:spPr>
          <a:xfrm>
            <a:off x="731520" y="5288551"/>
            <a:ext cx="72720" cy="72720"/>
          </a:xfrm>
          <a:prstGeom prst="ellipse">
            <a:avLst/>
          </a:prstGeom>
          <a:solidFill>
            <a:srgbClr val="A84A7A"/>
          </a:solidFill>
          <a:ln w="12700">
            <a:solidFill>
              <a:srgbClr val="A84A7A"/>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en-US" sz="1600" b="0" u="none" strike="noStrike">
              <a:solidFill>
                <a:srgbClr val="FFFFFF"/>
              </a:solidFill>
              <a:effectLst/>
              <a:uFillTx/>
              <a:latin typeface="Arial"/>
            </a:endParaRPr>
          </a:p>
        </p:txBody>
      </p:sp>
      <p:sp>
        <p:nvSpPr>
          <p:cNvPr id="48" name="Text 22"/>
          <p:cNvSpPr/>
          <p:nvPr/>
        </p:nvSpPr>
        <p:spPr>
          <a:xfrm>
            <a:off x="896040" y="5215111"/>
            <a:ext cx="49557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151327"/>
                </a:solidFill>
                <a:effectLst/>
                <a:uFillTx/>
                <a:latin typeface="Aptos"/>
                <a:ea typeface="Aptos"/>
              </a:rPr>
              <a:t>No es una promesa de implementación inmediata.</a:t>
            </a:r>
            <a:endParaRPr lang="en-US" sz="1600" b="0" u="none" strike="noStrike">
              <a:solidFill>
                <a:srgbClr val="000000"/>
              </a:solidFill>
              <a:effectLst/>
              <a:uFillTx/>
              <a:latin typeface="Arial"/>
            </a:endParaRPr>
          </a:p>
        </p:txBody>
      </p:sp>
      <p:sp>
        <p:nvSpPr>
          <p:cNvPr id="49" name="Shape 23"/>
          <p:cNvSpPr/>
          <p:nvPr/>
        </p:nvSpPr>
        <p:spPr>
          <a:xfrm>
            <a:off x="731520" y="5709031"/>
            <a:ext cx="72720" cy="72720"/>
          </a:xfrm>
          <a:prstGeom prst="ellipse">
            <a:avLst/>
          </a:prstGeom>
          <a:solidFill>
            <a:srgbClr val="A84A7A"/>
          </a:solidFill>
          <a:ln w="12700">
            <a:solidFill>
              <a:srgbClr val="A84A7A"/>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en-US" sz="1600" b="0" u="none" strike="noStrike">
              <a:solidFill>
                <a:srgbClr val="FFFFFF"/>
              </a:solidFill>
              <a:effectLst/>
              <a:uFillTx/>
              <a:latin typeface="Arial"/>
            </a:endParaRPr>
          </a:p>
        </p:txBody>
      </p:sp>
      <p:sp>
        <p:nvSpPr>
          <p:cNvPr id="50" name="Text 24"/>
          <p:cNvSpPr/>
          <p:nvPr/>
        </p:nvSpPr>
        <p:spPr>
          <a:xfrm>
            <a:off x="896040" y="5635951"/>
            <a:ext cx="49557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dirty="0">
                <a:solidFill>
                  <a:srgbClr val="151327"/>
                </a:solidFill>
                <a:effectLst/>
                <a:uFillTx/>
                <a:latin typeface="Aptos"/>
                <a:ea typeface="Aptos"/>
              </a:rPr>
              <a:t>No es un </a:t>
            </a:r>
            <a:r>
              <a:rPr lang="en-US" sz="1600" b="0" u="none" strike="noStrike" dirty="0" err="1">
                <a:solidFill>
                  <a:srgbClr val="151327"/>
                </a:solidFill>
                <a:effectLst/>
                <a:uFillTx/>
                <a:latin typeface="Aptos"/>
                <a:ea typeface="Aptos"/>
              </a:rPr>
              <a:t>reemplazo</a:t>
            </a:r>
            <a:r>
              <a:rPr lang="en-US" sz="1600" b="0" u="none" strike="noStrike" dirty="0">
                <a:solidFill>
                  <a:srgbClr val="151327"/>
                </a:solidFill>
                <a:effectLst/>
                <a:uFillTx/>
                <a:latin typeface="Aptos"/>
                <a:ea typeface="Aptos"/>
              </a:rPr>
              <a:t> del </a:t>
            </a:r>
            <a:r>
              <a:rPr lang="en-US" sz="1600" b="0" i="1" u="none" strike="noStrike" dirty="0">
                <a:solidFill>
                  <a:srgbClr val="151327"/>
                </a:solidFill>
                <a:effectLst/>
                <a:uFillTx/>
                <a:latin typeface="Aptos"/>
                <a:ea typeface="Aptos"/>
              </a:rPr>
              <a:t>deep dive </a:t>
            </a:r>
            <a:r>
              <a:rPr lang="en-US" sz="1600" b="0" u="none" strike="noStrike" dirty="0" err="1">
                <a:solidFill>
                  <a:srgbClr val="151327"/>
                </a:solidFill>
                <a:effectLst/>
                <a:uFillTx/>
                <a:latin typeface="Aptos"/>
                <a:ea typeface="Aptos"/>
              </a:rPr>
              <a:t>técnico</a:t>
            </a:r>
            <a:r>
              <a:rPr lang="en-US" sz="1600" b="0" u="none" strike="noStrike" dirty="0">
                <a:solidFill>
                  <a:srgbClr val="151327"/>
                </a:solidFill>
                <a:effectLst/>
                <a:uFillTx/>
                <a:latin typeface="Aptos"/>
                <a:ea typeface="Aptos"/>
              </a:rPr>
              <a:t>.</a:t>
            </a:r>
            <a:endParaRPr lang="en-US" sz="1600" b="0" u="none" strike="noStrike" dirty="0">
              <a:solidFill>
                <a:srgbClr val="000000"/>
              </a:solidFill>
              <a:effectLst/>
              <a:uFillTx/>
              <a:latin typeface="Arial"/>
            </a:endParaRPr>
          </a:p>
        </p:txBody>
      </p:sp>
      <p:sp>
        <p:nvSpPr>
          <p:cNvPr id="51" name="Text 25"/>
          <p:cNvSpPr/>
          <p:nvPr/>
        </p:nvSpPr>
        <p:spPr>
          <a:xfrm>
            <a:off x="6400800" y="4428871"/>
            <a:ext cx="1371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dirty="0">
                <a:solidFill>
                  <a:srgbClr val="078C53"/>
                </a:solidFill>
                <a:effectLst/>
                <a:uFillTx/>
                <a:latin typeface="Aptos"/>
                <a:ea typeface="Aptos"/>
              </a:rPr>
              <a:t>SÍ ES</a:t>
            </a:r>
            <a:endParaRPr lang="en-US" sz="1600" b="0" u="none" strike="noStrike" dirty="0">
              <a:solidFill>
                <a:srgbClr val="000000"/>
              </a:solidFill>
              <a:effectLst/>
              <a:uFillTx/>
              <a:latin typeface="Arial"/>
            </a:endParaRPr>
          </a:p>
        </p:txBody>
      </p:sp>
      <p:sp>
        <p:nvSpPr>
          <p:cNvPr id="52" name="Shape 26"/>
          <p:cNvSpPr/>
          <p:nvPr/>
        </p:nvSpPr>
        <p:spPr>
          <a:xfrm>
            <a:off x="6446520" y="4867711"/>
            <a:ext cx="72720" cy="72720"/>
          </a:xfrm>
          <a:prstGeom prst="ellipse">
            <a:avLst/>
          </a:prstGeom>
          <a:solidFill>
            <a:srgbClr val="078C53"/>
          </a:solidFill>
          <a:ln w="12700">
            <a:solidFill>
              <a:srgbClr val="078C5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en-US" sz="1600" b="0" u="none" strike="noStrike">
              <a:solidFill>
                <a:srgbClr val="FFFFFF"/>
              </a:solidFill>
              <a:effectLst/>
              <a:uFillTx/>
              <a:latin typeface="Arial"/>
            </a:endParaRPr>
          </a:p>
        </p:txBody>
      </p:sp>
      <p:sp>
        <p:nvSpPr>
          <p:cNvPr id="53" name="Text 27"/>
          <p:cNvSpPr/>
          <p:nvPr/>
        </p:nvSpPr>
        <p:spPr>
          <a:xfrm>
            <a:off x="6611040" y="4794631"/>
            <a:ext cx="47728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151327"/>
                </a:solidFill>
                <a:effectLst/>
                <a:uFillTx/>
                <a:latin typeface="Aptos"/>
                <a:ea typeface="Aptos"/>
              </a:rPr>
              <a:t>Una tesis de producto y operación.</a:t>
            </a:r>
            <a:endParaRPr lang="en-US" sz="1600" b="0" u="none" strike="noStrike">
              <a:solidFill>
                <a:srgbClr val="000000"/>
              </a:solidFill>
              <a:effectLst/>
              <a:uFillTx/>
              <a:latin typeface="Arial"/>
            </a:endParaRPr>
          </a:p>
        </p:txBody>
      </p:sp>
      <p:sp>
        <p:nvSpPr>
          <p:cNvPr id="54" name="Shape 28"/>
          <p:cNvSpPr/>
          <p:nvPr/>
        </p:nvSpPr>
        <p:spPr>
          <a:xfrm>
            <a:off x="6446520" y="5288551"/>
            <a:ext cx="72720" cy="72720"/>
          </a:xfrm>
          <a:prstGeom prst="ellipse">
            <a:avLst/>
          </a:prstGeom>
          <a:solidFill>
            <a:srgbClr val="078C53"/>
          </a:solidFill>
          <a:ln w="12700">
            <a:solidFill>
              <a:srgbClr val="078C5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en-US" sz="1600" b="0" u="none" strike="noStrike">
              <a:solidFill>
                <a:srgbClr val="FFFFFF"/>
              </a:solidFill>
              <a:effectLst/>
              <a:uFillTx/>
              <a:latin typeface="Arial"/>
            </a:endParaRPr>
          </a:p>
        </p:txBody>
      </p:sp>
      <p:sp>
        <p:nvSpPr>
          <p:cNvPr id="55" name="Text 29"/>
          <p:cNvSpPr/>
          <p:nvPr/>
        </p:nvSpPr>
        <p:spPr>
          <a:xfrm>
            <a:off x="6611040" y="5215111"/>
            <a:ext cx="47728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151327"/>
                </a:solidFill>
                <a:effectLst/>
                <a:uFillTx/>
                <a:latin typeface="Aptos"/>
                <a:ea typeface="Aptos"/>
              </a:rPr>
              <a:t>Una guía para decidir prioridades.</a:t>
            </a:r>
            <a:endParaRPr lang="en-US" sz="1600" b="0" u="none" strike="noStrike">
              <a:solidFill>
                <a:srgbClr val="000000"/>
              </a:solidFill>
              <a:effectLst/>
              <a:uFillTx/>
              <a:latin typeface="Arial"/>
            </a:endParaRPr>
          </a:p>
        </p:txBody>
      </p:sp>
      <p:sp>
        <p:nvSpPr>
          <p:cNvPr id="56" name="Shape 30"/>
          <p:cNvSpPr/>
          <p:nvPr/>
        </p:nvSpPr>
        <p:spPr>
          <a:xfrm>
            <a:off x="6446520" y="5709031"/>
            <a:ext cx="72720" cy="72720"/>
          </a:xfrm>
          <a:prstGeom prst="ellipse">
            <a:avLst/>
          </a:prstGeom>
          <a:solidFill>
            <a:srgbClr val="078C53"/>
          </a:solidFill>
          <a:ln w="12700">
            <a:solidFill>
              <a:srgbClr val="078C5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en-US" sz="1600" b="0" u="none" strike="noStrike">
              <a:solidFill>
                <a:srgbClr val="FFFFFF"/>
              </a:solidFill>
              <a:effectLst/>
              <a:uFillTx/>
              <a:latin typeface="Arial"/>
            </a:endParaRPr>
          </a:p>
        </p:txBody>
      </p:sp>
      <p:sp>
        <p:nvSpPr>
          <p:cNvPr id="57" name="Text 31"/>
          <p:cNvSpPr/>
          <p:nvPr/>
        </p:nvSpPr>
        <p:spPr>
          <a:xfrm>
            <a:off x="6611040" y="5635951"/>
            <a:ext cx="47728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151327"/>
                </a:solidFill>
                <a:effectLst/>
                <a:uFillTx/>
                <a:latin typeface="Aptos"/>
                <a:ea typeface="Aptos"/>
              </a:rPr>
              <a:t>Una invitación a debatir con rigor.</a:t>
            </a:r>
            <a:endParaRPr lang="en-US" sz="1600" b="0" u="none" strike="noStrike">
              <a:solidFill>
                <a:srgbClr val="000000"/>
              </a:solidFill>
              <a:effectLst/>
              <a:uFillTx/>
              <a:latin typeface="Arial"/>
            </a:endParaRPr>
          </a:p>
        </p:txBody>
      </p:sp>
      <p:pic>
        <p:nvPicPr>
          <p:cNvPr id="3" name="Image 0" descr="/mnt/data/ungga_logo_purple.png">
            <a:extLst>
              <a:ext uri="{FF2B5EF4-FFF2-40B4-BE49-F238E27FC236}">
                <a16:creationId xmlns:a16="http://schemas.microsoft.com/office/drawing/2014/main" id="{D3FDD390-E3E9-D7C4-44A0-BF2BD45BAAC0}"/>
              </a:ext>
            </a:extLst>
          </p:cNvPr>
          <p:cNvPicPr>
            <a:picLocks noChangeAspect="1"/>
          </p:cNvPicPr>
          <p:nvPr/>
        </p:nvPicPr>
        <p:blipFill>
          <a:blip r:embed="rId3"/>
          <a:stretch>
            <a:fillRect/>
          </a:stretch>
        </p:blipFill>
        <p:spPr>
          <a:xfrm>
            <a:off x="11109960" y="449715"/>
            <a:ext cx="566928" cy="4721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58" name="Shape 0"/>
          <p:cNvSpPr/>
          <p:nvPr/>
        </p:nvSpPr>
        <p:spPr>
          <a:xfrm>
            <a:off x="0" y="0"/>
            <a:ext cx="12191400" cy="63720"/>
          </a:xfrm>
          <a:prstGeom prst="rect">
            <a:avLst/>
          </a:prstGeom>
          <a:solidFill>
            <a:srgbClr val="5F2CCB"/>
          </a:solidFill>
          <a:ln w="12700">
            <a:solidFill>
              <a:srgbClr val="5F2CCB">
                <a:alpha val="0"/>
              </a:srgbClr>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FFFFFF"/>
              </a:solidFill>
              <a:effectLst/>
              <a:uFillTx/>
              <a:latin typeface="Arial"/>
            </a:endParaRPr>
          </a:p>
        </p:txBody>
      </p:sp>
      <p:sp>
        <p:nvSpPr>
          <p:cNvPr id="59" name="Text 1"/>
          <p:cNvSpPr/>
          <p:nvPr/>
        </p:nvSpPr>
        <p:spPr>
          <a:xfrm>
            <a:off x="567000" y="415394"/>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dirty="0">
                <a:solidFill>
                  <a:srgbClr val="5F2CCB"/>
                </a:solidFill>
                <a:effectLst/>
                <a:uFillTx/>
                <a:latin typeface="Aptos"/>
                <a:ea typeface="Aptos"/>
              </a:rPr>
              <a:t>TESIS CENTRAL</a:t>
            </a:r>
            <a:endParaRPr lang="en-US" sz="1200" b="0" u="none" strike="noStrike" dirty="0">
              <a:solidFill>
                <a:srgbClr val="000000"/>
              </a:solidFill>
              <a:effectLst/>
              <a:uFillTx/>
              <a:latin typeface="Arial"/>
            </a:endParaRPr>
          </a:p>
        </p:txBody>
      </p:sp>
      <p:sp>
        <p:nvSpPr>
          <p:cNvPr id="60" name="Text 2"/>
          <p:cNvSpPr/>
          <p:nvPr/>
        </p:nvSpPr>
        <p:spPr>
          <a:xfrm>
            <a:off x="567000" y="734262"/>
            <a:ext cx="10195200" cy="776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n-US" sz="2600" b="1" u="none" strike="noStrike" dirty="0">
                <a:solidFill>
                  <a:srgbClr val="151327"/>
                </a:solidFill>
                <a:effectLst/>
                <a:uFillTx/>
                <a:latin typeface="Aptos Display"/>
                <a:ea typeface="Aptos Display"/>
              </a:rPr>
              <a:t>La </a:t>
            </a:r>
            <a:r>
              <a:rPr lang="en-US" sz="2600" b="1" u="none" strike="noStrike" dirty="0" err="1">
                <a:solidFill>
                  <a:srgbClr val="151327"/>
                </a:solidFill>
                <a:effectLst/>
                <a:uFillTx/>
                <a:latin typeface="Aptos Display"/>
                <a:ea typeface="Aptos Display"/>
              </a:rPr>
              <a:t>oportunidad</a:t>
            </a:r>
            <a:r>
              <a:rPr lang="en-US" sz="2600" b="1" u="none" strike="noStrike" dirty="0">
                <a:solidFill>
                  <a:srgbClr val="151327"/>
                </a:solidFill>
                <a:effectLst/>
                <a:uFillTx/>
                <a:latin typeface="Aptos Display"/>
                <a:ea typeface="Aptos Display"/>
              </a:rPr>
              <a:t> no es </a:t>
            </a:r>
            <a:r>
              <a:rPr lang="en-US" sz="2600" b="1" u="none" strike="noStrike" dirty="0" err="1">
                <a:solidFill>
                  <a:srgbClr val="151327"/>
                </a:solidFill>
                <a:effectLst/>
                <a:uFillTx/>
                <a:latin typeface="Aptos Display"/>
                <a:ea typeface="Aptos Display"/>
              </a:rPr>
              <a:t>agregar</a:t>
            </a:r>
            <a:r>
              <a:rPr lang="en-US" sz="2600" b="1" u="none" strike="noStrike" dirty="0">
                <a:solidFill>
                  <a:srgbClr val="151327"/>
                </a:solidFill>
                <a:effectLst/>
                <a:uFillTx/>
                <a:latin typeface="Aptos Display"/>
                <a:ea typeface="Aptos Display"/>
              </a:rPr>
              <a:t> IA al software </a:t>
            </a:r>
            <a:r>
              <a:rPr lang="en-US" sz="2600" b="1" u="none" strike="noStrike" dirty="0" err="1">
                <a:solidFill>
                  <a:srgbClr val="151327"/>
                </a:solidFill>
                <a:effectLst/>
                <a:uFillTx/>
                <a:latin typeface="Aptos Display"/>
                <a:ea typeface="Aptos Display"/>
              </a:rPr>
              <a:t>inmobiliario</a:t>
            </a:r>
            <a:r>
              <a:rPr lang="en-US" sz="2600" b="1" u="none" strike="noStrike" dirty="0">
                <a:solidFill>
                  <a:srgbClr val="151327"/>
                </a:solidFill>
                <a:effectLst/>
                <a:uFillTx/>
                <a:latin typeface="Aptos Display"/>
                <a:ea typeface="Aptos Display"/>
              </a:rPr>
              <a:t>. Es </a:t>
            </a:r>
            <a:r>
              <a:rPr lang="en-US" sz="2600" b="1" u="none" strike="noStrike" dirty="0" err="1">
                <a:solidFill>
                  <a:srgbClr val="151327"/>
                </a:solidFill>
                <a:effectLst/>
                <a:uFillTx/>
                <a:latin typeface="Aptos Display"/>
                <a:ea typeface="Aptos Display"/>
              </a:rPr>
              <a:t>hacer</a:t>
            </a:r>
            <a:r>
              <a:rPr lang="en-US" sz="2600" b="1" u="none" strike="noStrike" dirty="0">
                <a:solidFill>
                  <a:srgbClr val="151327"/>
                </a:solidFill>
                <a:effectLst/>
                <a:uFillTx/>
                <a:latin typeface="Aptos Display"/>
                <a:ea typeface="Aptos Display"/>
              </a:rPr>
              <a:t> delegable más </a:t>
            </a:r>
            <a:r>
              <a:rPr lang="en-US" sz="2600" b="1" u="none" strike="noStrike" dirty="0" err="1">
                <a:solidFill>
                  <a:srgbClr val="151327"/>
                </a:solidFill>
                <a:effectLst/>
                <a:uFillTx/>
                <a:latin typeface="Aptos Display"/>
                <a:ea typeface="Aptos Display"/>
              </a:rPr>
              <a:t>trabajo</a:t>
            </a:r>
            <a:r>
              <a:rPr lang="en-US" sz="2600" b="1" u="none" strike="noStrike" dirty="0">
                <a:solidFill>
                  <a:srgbClr val="151327"/>
                </a:solidFill>
                <a:effectLst/>
                <a:uFillTx/>
                <a:latin typeface="Aptos Display"/>
                <a:ea typeface="Aptos Display"/>
              </a:rPr>
              <a:t> real.</a:t>
            </a:r>
            <a:endParaRPr lang="en-US" sz="2600" b="0" u="none" strike="noStrike" dirty="0">
              <a:solidFill>
                <a:srgbClr val="000000"/>
              </a:solidFill>
              <a:effectLst/>
              <a:uFillTx/>
              <a:latin typeface="Arial"/>
            </a:endParaRPr>
          </a:p>
        </p:txBody>
      </p:sp>
      <p:sp>
        <p:nvSpPr>
          <p:cNvPr id="61" name="Text 3"/>
          <p:cNvSpPr/>
          <p:nvPr/>
        </p:nvSpPr>
        <p:spPr>
          <a:xfrm>
            <a:off x="567000" y="1610312"/>
            <a:ext cx="10698120" cy="680917"/>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n-US" b="1" u="none" strike="noStrike" dirty="0">
                <a:solidFill>
                  <a:srgbClr val="6F6888"/>
                </a:solidFill>
                <a:effectLst/>
                <a:uFillTx/>
                <a:latin typeface="Aptos"/>
                <a:ea typeface="Aptos"/>
              </a:rPr>
              <a:t>Gu</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fue</a:t>
            </a:r>
            <a:r>
              <a:rPr lang="en-US" b="0" u="none" strike="noStrike" dirty="0">
                <a:solidFill>
                  <a:srgbClr val="6F6888"/>
                </a:solidFill>
                <a:effectLst/>
                <a:uFillTx/>
                <a:latin typeface="Aptos"/>
                <a:ea typeface="Aptos"/>
              </a:rPr>
              <a:t> el </a:t>
            </a:r>
            <a:r>
              <a:rPr lang="en-US" b="0" i="1" u="none" strike="noStrike" dirty="0">
                <a:solidFill>
                  <a:srgbClr val="6F6888"/>
                </a:solidFill>
                <a:effectLst/>
                <a:uFillTx/>
                <a:latin typeface="Aptos"/>
                <a:ea typeface="Aptos"/>
              </a:rPr>
              <a:t>wedge</a:t>
            </a:r>
            <a:r>
              <a:rPr lang="en-US" b="0" u="none" strike="noStrike" dirty="0">
                <a:solidFill>
                  <a:srgbClr val="6F6888"/>
                </a:solidFill>
                <a:effectLst/>
                <a:uFillTx/>
                <a:latin typeface="Aptos"/>
                <a:ea typeface="Aptos"/>
              </a:rPr>
              <a:t> (punto de entrada). </a:t>
            </a:r>
            <a:r>
              <a:rPr lang="en-US" b="1" u="none" strike="noStrike" dirty="0">
                <a:solidFill>
                  <a:srgbClr val="6F6888"/>
                </a:solidFill>
                <a:effectLst/>
                <a:uFillTx/>
                <a:latin typeface="Aptos"/>
                <a:ea typeface="Aptos"/>
              </a:rPr>
              <a:t>Gu OS </a:t>
            </a:r>
            <a:r>
              <a:rPr lang="en-US" b="0" u="none" strike="noStrike" dirty="0">
                <a:solidFill>
                  <a:srgbClr val="6F6888"/>
                </a:solidFill>
                <a:effectLst/>
                <a:uFillTx/>
                <a:latin typeface="Aptos"/>
                <a:ea typeface="Aptos"/>
              </a:rPr>
              <a:t>es el </a:t>
            </a:r>
            <a:r>
              <a:rPr lang="en-US" b="0" u="none" strike="noStrike" dirty="0" err="1">
                <a:solidFill>
                  <a:srgbClr val="6F6888"/>
                </a:solidFill>
                <a:effectLst/>
                <a:uFillTx/>
                <a:latin typeface="Aptos"/>
                <a:ea typeface="Aptos"/>
              </a:rPr>
              <a:t>entorno</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que</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permite</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que</a:t>
            </a:r>
            <a:r>
              <a:rPr lang="en-US" b="0" u="none" strike="noStrike" dirty="0">
                <a:solidFill>
                  <a:srgbClr val="6F6888"/>
                </a:solidFill>
                <a:effectLst/>
                <a:uFillTx/>
                <a:latin typeface="Aptos"/>
                <a:ea typeface="Aptos"/>
              </a:rPr>
              <a:t> ese </a:t>
            </a:r>
            <a:r>
              <a:rPr lang="en-US" b="0" u="none" strike="noStrike" dirty="0" err="1">
                <a:solidFill>
                  <a:srgbClr val="6F6888"/>
                </a:solidFill>
                <a:effectLst/>
                <a:uFillTx/>
                <a:latin typeface="Aptos"/>
                <a:ea typeface="Aptos"/>
              </a:rPr>
              <a:t>trabajo</a:t>
            </a:r>
            <a:r>
              <a:rPr lang="en-US" b="0" u="none" strike="noStrike" dirty="0">
                <a:solidFill>
                  <a:srgbClr val="6F6888"/>
                </a:solidFill>
                <a:effectLst/>
                <a:uFillTx/>
                <a:latin typeface="Aptos"/>
                <a:ea typeface="Aptos"/>
              </a:rPr>
              <a:t> sea durable, </a:t>
            </a:r>
            <a:r>
              <a:rPr lang="en-US" b="0" u="none" strike="noStrike" dirty="0" err="1">
                <a:solidFill>
                  <a:srgbClr val="6F6888"/>
                </a:solidFill>
                <a:effectLst/>
                <a:uFillTx/>
                <a:latin typeface="Aptos"/>
                <a:ea typeface="Aptos"/>
              </a:rPr>
              <a:t>gobernado</a:t>
            </a:r>
            <a:r>
              <a:rPr lang="en-US" b="0" u="none" strike="noStrike" dirty="0">
                <a:solidFill>
                  <a:srgbClr val="6F6888"/>
                </a:solidFill>
                <a:effectLst/>
                <a:uFillTx/>
                <a:latin typeface="Aptos"/>
                <a:ea typeface="Aptos"/>
              </a:rPr>
              <a:t> y </a:t>
            </a:r>
            <a:r>
              <a:rPr lang="en-US" b="0" u="none" strike="noStrike" dirty="0" err="1">
                <a:solidFill>
                  <a:srgbClr val="6F6888"/>
                </a:solidFill>
                <a:effectLst/>
                <a:uFillTx/>
                <a:latin typeface="Aptos"/>
                <a:ea typeface="Aptos"/>
              </a:rPr>
              <a:t>ampliable</a:t>
            </a:r>
            <a:r>
              <a:rPr lang="en-US" b="0" u="none" strike="noStrike" dirty="0">
                <a:solidFill>
                  <a:srgbClr val="6F6888"/>
                </a:solidFill>
                <a:effectLst/>
                <a:uFillTx/>
                <a:latin typeface="Aptos"/>
                <a:ea typeface="Aptos"/>
              </a:rPr>
              <a:t>.</a:t>
            </a:r>
            <a:endParaRPr lang="en-US" b="0" u="none" strike="noStrike" dirty="0">
              <a:solidFill>
                <a:srgbClr val="000000"/>
              </a:solidFill>
              <a:effectLst/>
              <a:uFillTx/>
              <a:latin typeface="Arial"/>
            </a:endParaRPr>
          </a:p>
        </p:txBody>
      </p:sp>
      <p:sp>
        <p:nvSpPr>
          <p:cNvPr id="63" name="Text 5"/>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u="none" strike="noStrike">
                <a:solidFill>
                  <a:srgbClr val="7E7798"/>
                </a:solidFill>
                <a:effectLst/>
                <a:uFillTx/>
                <a:latin typeface="Aptos"/>
                <a:ea typeface="Aptos"/>
              </a:rPr>
              <a:t>CONFIDENTIAL</a:t>
            </a:r>
            <a:endParaRPr lang="en-US" sz="650" b="0" u="none" strike="noStrike">
              <a:solidFill>
                <a:srgbClr val="000000"/>
              </a:solidFill>
              <a:effectLst/>
              <a:uFillTx/>
              <a:latin typeface="Arial"/>
            </a:endParaRPr>
          </a:p>
        </p:txBody>
      </p:sp>
      <p:sp>
        <p:nvSpPr>
          <p:cNvPr id="64" name="Text 6"/>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650" b="0" u="none" strike="noStrike">
                <a:solidFill>
                  <a:srgbClr val="7E7798"/>
                </a:solidFill>
                <a:effectLst/>
                <a:uFillTx/>
                <a:latin typeface="Aptos"/>
                <a:ea typeface="Aptos"/>
              </a:rPr>
              <a:t>ungga.com</a:t>
            </a:r>
            <a:endParaRPr lang="en-US" sz="650" b="0" u="none" strike="noStrike">
              <a:solidFill>
                <a:srgbClr val="000000"/>
              </a:solidFill>
              <a:effectLst/>
              <a:uFillTx/>
              <a:latin typeface="Arial"/>
            </a:endParaRPr>
          </a:p>
        </p:txBody>
      </p:sp>
      <p:sp>
        <p:nvSpPr>
          <p:cNvPr id="65" name="Text 7"/>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b="0" u="none" strike="noStrike">
                <a:solidFill>
                  <a:srgbClr val="7E7798"/>
                </a:solidFill>
                <a:effectLst/>
                <a:uFillTx/>
                <a:latin typeface="Aptos"/>
                <a:ea typeface="Aptos"/>
              </a:rPr>
              <a:t>3</a:t>
            </a:r>
            <a:endParaRPr lang="en-US" sz="800" b="0" u="none" strike="noStrike">
              <a:solidFill>
                <a:srgbClr val="000000"/>
              </a:solidFill>
              <a:effectLst/>
              <a:uFillTx/>
              <a:latin typeface="Arial"/>
            </a:endParaRPr>
          </a:p>
        </p:txBody>
      </p:sp>
      <p:sp>
        <p:nvSpPr>
          <p:cNvPr id="66" name="Shape 8"/>
          <p:cNvSpPr/>
          <p:nvPr/>
        </p:nvSpPr>
        <p:spPr>
          <a:xfrm>
            <a:off x="1005840" y="2388640"/>
            <a:ext cx="9235080" cy="707775"/>
          </a:xfrm>
          <a:prstGeom prst="roundRect">
            <a:avLst>
              <a:gd name="adj" fmla="val 15385"/>
            </a:avLst>
          </a:prstGeom>
          <a:solidFill>
            <a:srgbClr val="FFFFFF"/>
          </a:solidFill>
          <a:ln w="12700">
            <a:solidFill>
              <a:srgbClr val="DED2F6"/>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7" name="Text 9"/>
          <p:cNvSpPr/>
          <p:nvPr/>
        </p:nvSpPr>
        <p:spPr>
          <a:xfrm>
            <a:off x="1207080" y="2502814"/>
            <a:ext cx="8832600" cy="228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dirty="0">
                <a:solidFill>
                  <a:srgbClr val="151327"/>
                </a:solidFill>
                <a:effectLst/>
                <a:uFillTx/>
                <a:latin typeface="Aptos Display"/>
                <a:ea typeface="Aptos Display"/>
              </a:rPr>
              <a:t>Software </a:t>
            </a:r>
            <a:r>
              <a:rPr lang="en-US" sz="2000" b="1" u="none" strike="noStrike" dirty="0" err="1">
                <a:solidFill>
                  <a:srgbClr val="151327"/>
                </a:solidFill>
                <a:effectLst/>
                <a:uFillTx/>
                <a:latin typeface="Aptos Display"/>
                <a:ea typeface="Aptos Display"/>
              </a:rPr>
              <a:t>tradicional</a:t>
            </a:r>
            <a:endParaRPr lang="en-US" sz="2000" b="0" u="none" strike="noStrike" dirty="0">
              <a:solidFill>
                <a:srgbClr val="000000"/>
              </a:solidFill>
              <a:effectLst/>
              <a:uFillTx/>
              <a:latin typeface="Arial"/>
            </a:endParaRPr>
          </a:p>
        </p:txBody>
      </p:sp>
      <p:sp>
        <p:nvSpPr>
          <p:cNvPr id="68" name="Text 10"/>
          <p:cNvSpPr/>
          <p:nvPr/>
        </p:nvSpPr>
        <p:spPr>
          <a:xfrm>
            <a:off x="1261800" y="2807746"/>
            <a:ext cx="8723160" cy="219096"/>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0" u="none" strike="noStrike" dirty="0" err="1">
                <a:solidFill>
                  <a:srgbClr val="6F6888"/>
                </a:solidFill>
                <a:effectLst/>
                <a:uFillTx/>
                <a:latin typeface="Aptos"/>
                <a:ea typeface="Aptos"/>
              </a:rPr>
              <a:t>Digitaliza</a:t>
            </a:r>
            <a:r>
              <a:rPr lang="en-US" sz="1400" b="0" u="none" strike="noStrike" dirty="0">
                <a:solidFill>
                  <a:srgbClr val="6F6888"/>
                </a:solidFill>
                <a:effectLst/>
                <a:uFillTx/>
                <a:latin typeface="Aptos"/>
                <a:ea typeface="Aptos"/>
              </a:rPr>
              <a:t> </a:t>
            </a:r>
            <a:r>
              <a:rPr lang="en-US" sz="1400" b="0" u="none" strike="noStrike" dirty="0" err="1">
                <a:solidFill>
                  <a:srgbClr val="6F6888"/>
                </a:solidFill>
                <a:effectLst/>
                <a:uFillTx/>
                <a:latin typeface="Aptos"/>
                <a:ea typeface="Aptos"/>
              </a:rPr>
              <a:t>piezas</a:t>
            </a:r>
            <a:r>
              <a:rPr lang="en-US" sz="1400" b="0" u="none" strike="noStrike" dirty="0">
                <a:solidFill>
                  <a:srgbClr val="6F6888"/>
                </a:solidFill>
                <a:effectLst/>
                <a:uFillTx/>
                <a:latin typeface="Aptos"/>
                <a:ea typeface="Aptos"/>
              </a:rPr>
              <a:t> del </a:t>
            </a:r>
            <a:r>
              <a:rPr lang="en-US" sz="1400" b="0" u="none" strike="noStrike" dirty="0" err="1">
                <a:solidFill>
                  <a:srgbClr val="6F6888"/>
                </a:solidFill>
                <a:effectLst/>
                <a:uFillTx/>
                <a:latin typeface="Aptos"/>
                <a:ea typeface="Aptos"/>
              </a:rPr>
              <a:t>trabajo</a:t>
            </a:r>
            <a:r>
              <a:rPr lang="en-US" sz="1400" b="0" u="none" strike="noStrike" dirty="0">
                <a:solidFill>
                  <a:srgbClr val="6F6888"/>
                </a:solidFill>
                <a:effectLst/>
                <a:uFillTx/>
                <a:latin typeface="Aptos"/>
                <a:ea typeface="Aptos"/>
              </a:rPr>
              <a:t>.</a:t>
            </a:r>
            <a:endParaRPr lang="en-US" sz="1400" b="0" u="none" strike="noStrike" dirty="0">
              <a:solidFill>
                <a:srgbClr val="000000"/>
              </a:solidFill>
              <a:effectLst/>
              <a:uFillTx/>
              <a:latin typeface="Arial"/>
            </a:endParaRPr>
          </a:p>
        </p:txBody>
      </p:sp>
      <p:sp>
        <p:nvSpPr>
          <p:cNvPr id="69" name="Shape 11"/>
          <p:cNvSpPr/>
          <p:nvPr/>
        </p:nvSpPr>
        <p:spPr>
          <a:xfrm>
            <a:off x="5669280" y="3148772"/>
            <a:ext cx="0" cy="146159"/>
          </a:xfrm>
          <a:prstGeom prst="line">
            <a:avLst/>
          </a:prstGeom>
          <a:ln w="16510">
            <a:solidFill>
              <a:srgbClr val="B5A4D8"/>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0" name="Shape 12"/>
          <p:cNvSpPr/>
          <p:nvPr/>
        </p:nvSpPr>
        <p:spPr>
          <a:xfrm>
            <a:off x="1463040" y="3341011"/>
            <a:ext cx="8320680" cy="737481"/>
          </a:xfrm>
          <a:prstGeom prst="roundRect">
            <a:avLst>
              <a:gd name="adj" fmla="val 15385"/>
            </a:avLst>
          </a:prstGeom>
          <a:solidFill>
            <a:srgbClr val="FFFFFF"/>
          </a:solidFill>
          <a:ln w="12700">
            <a:solidFill>
              <a:srgbClr val="DED2F6"/>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1" name="Text 13"/>
          <p:cNvSpPr/>
          <p:nvPr/>
        </p:nvSpPr>
        <p:spPr>
          <a:xfrm>
            <a:off x="1664280" y="3427294"/>
            <a:ext cx="7918200" cy="228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dirty="0" err="1">
                <a:solidFill>
                  <a:srgbClr val="151327"/>
                </a:solidFill>
                <a:effectLst/>
                <a:uFillTx/>
                <a:latin typeface="Aptos Display"/>
                <a:ea typeface="Aptos Display"/>
              </a:rPr>
              <a:t>Copilotos</a:t>
            </a:r>
            <a:endParaRPr lang="en-US" sz="2000" b="0" u="none" strike="noStrike" dirty="0">
              <a:solidFill>
                <a:srgbClr val="000000"/>
              </a:solidFill>
              <a:effectLst/>
              <a:uFillTx/>
              <a:latin typeface="Arial"/>
            </a:endParaRPr>
          </a:p>
        </p:txBody>
      </p:sp>
      <p:sp>
        <p:nvSpPr>
          <p:cNvPr id="72" name="Text 14"/>
          <p:cNvSpPr/>
          <p:nvPr/>
        </p:nvSpPr>
        <p:spPr>
          <a:xfrm>
            <a:off x="1719000" y="3712347"/>
            <a:ext cx="7808760" cy="265105"/>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0" u="none" strike="noStrike" dirty="0" err="1">
                <a:solidFill>
                  <a:srgbClr val="6F6888"/>
                </a:solidFill>
                <a:effectLst/>
                <a:uFillTx/>
                <a:latin typeface="Aptos"/>
                <a:ea typeface="Aptos"/>
              </a:rPr>
              <a:t>Asisten</a:t>
            </a:r>
            <a:r>
              <a:rPr lang="en-US" sz="1400" b="0" u="none" strike="noStrike" dirty="0">
                <a:solidFill>
                  <a:srgbClr val="6F6888"/>
                </a:solidFill>
                <a:effectLst/>
                <a:uFillTx/>
                <a:latin typeface="Aptos"/>
                <a:ea typeface="Aptos"/>
              </a:rPr>
              <a:t> al </a:t>
            </a:r>
            <a:r>
              <a:rPr lang="en-US" sz="1400" b="0" u="none" strike="noStrike" dirty="0" err="1">
                <a:solidFill>
                  <a:srgbClr val="6F6888"/>
                </a:solidFill>
                <a:effectLst/>
                <a:uFillTx/>
                <a:latin typeface="Aptos"/>
                <a:ea typeface="Aptos"/>
              </a:rPr>
              <a:t>usuario</a:t>
            </a:r>
            <a:r>
              <a:rPr lang="en-US" sz="1400" b="0" u="none" strike="noStrike" dirty="0">
                <a:solidFill>
                  <a:srgbClr val="6F6888"/>
                </a:solidFill>
                <a:effectLst/>
                <a:uFillTx/>
                <a:latin typeface="Aptos"/>
                <a:ea typeface="Aptos"/>
              </a:rPr>
              <a:t> </a:t>
            </a:r>
            <a:r>
              <a:rPr lang="en-US" sz="1400" b="0" u="none" strike="noStrike" dirty="0" err="1">
                <a:solidFill>
                  <a:srgbClr val="6F6888"/>
                </a:solidFill>
                <a:effectLst/>
                <a:uFillTx/>
                <a:latin typeface="Aptos"/>
                <a:ea typeface="Aptos"/>
              </a:rPr>
              <a:t>dentro</a:t>
            </a:r>
            <a:r>
              <a:rPr lang="en-US" sz="1400" b="0" u="none" strike="noStrike" dirty="0">
                <a:solidFill>
                  <a:srgbClr val="6F6888"/>
                </a:solidFill>
                <a:effectLst/>
                <a:uFillTx/>
                <a:latin typeface="Aptos"/>
                <a:ea typeface="Aptos"/>
              </a:rPr>
              <a:t> del software.</a:t>
            </a:r>
            <a:endParaRPr lang="en-US" sz="1400" b="0" u="none" strike="noStrike" dirty="0">
              <a:solidFill>
                <a:srgbClr val="000000"/>
              </a:solidFill>
              <a:effectLst/>
              <a:uFillTx/>
              <a:latin typeface="Arial"/>
            </a:endParaRPr>
          </a:p>
        </p:txBody>
      </p:sp>
      <p:sp>
        <p:nvSpPr>
          <p:cNvPr id="73" name="Shape 15"/>
          <p:cNvSpPr/>
          <p:nvPr/>
        </p:nvSpPr>
        <p:spPr>
          <a:xfrm>
            <a:off x="5669280" y="4121523"/>
            <a:ext cx="360" cy="146160"/>
          </a:xfrm>
          <a:prstGeom prst="line">
            <a:avLst/>
          </a:prstGeom>
          <a:ln w="16510">
            <a:solidFill>
              <a:srgbClr val="B5A4D8"/>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4" name="Shape 16"/>
          <p:cNvSpPr/>
          <p:nvPr/>
        </p:nvSpPr>
        <p:spPr>
          <a:xfrm>
            <a:off x="1920240" y="4289956"/>
            <a:ext cx="7406280" cy="784038"/>
          </a:xfrm>
          <a:prstGeom prst="roundRect">
            <a:avLst>
              <a:gd name="adj" fmla="val 15385"/>
            </a:avLst>
          </a:prstGeom>
          <a:solidFill>
            <a:srgbClr val="FFFFFF"/>
          </a:solidFill>
          <a:ln w="12700">
            <a:solidFill>
              <a:srgbClr val="DED2F6"/>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5" name="Text 17"/>
          <p:cNvSpPr/>
          <p:nvPr/>
        </p:nvSpPr>
        <p:spPr>
          <a:xfrm>
            <a:off x="2121480" y="4376239"/>
            <a:ext cx="7003800" cy="228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dirty="0" err="1">
                <a:solidFill>
                  <a:srgbClr val="151327"/>
                </a:solidFill>
                <a:effectLst/>
                <a:uFillTx/>
                <a:latin typeface="Aptos Display"/>
                <a:ea typeface="Aptos Display"/>
              </a:rPr>
              <a:t>Agentes</a:t>
            </a:r>
            <a:endParaRPr lang="en-US" sz="2000" b="0" u="none" strike="noStrike" dirty="0">
              <a:solidFill>
                <a:srgbClr val="000000"/>
              </a:solidFill>
              <a:effectLst/>
              <a:uFillTx/>
              <a:latin typeface="Arial"/>
            </a:endParaRPr>
          </a:p>
        </p:txBody>
      </p:sp>
      <p:sp>
        <p:nvSpPr>
          <p:cNvPr id="76" name="Text 18"/>
          <p:cNvSpPr/>
          <p:nvPr/>
        </p:nvSpPr>
        <p:spPr>
          <a:xfrm>
            <a:off x="2176200" y="4681170"/>
            <a:ext cx="6894360" cy="336201"/>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s-ES" sz="1400" b="0" u="none" strike="noStrike" dirty="0">
                <a:solidFill>
                  <a:srgbClr val="6F6888"/>
                </a:solidFill>
                <a:effectLst/>
                <a:uFillTx/>
                <a:latin typeface="Aptos"/>
                <a:ea typeface="Aptos"/>
              </a:rPr>
              <a:t>Pueden razonar y ejecutar trabajo con mayor autonomía</a:t>
            </a:r>
            <a:r>
              <a:rPr lang="en-US" sz="1400" b="0" u="none" strike="noStrike" dirty="0">
                <a:solidFill>
                  <a:srgbClr val="6F6888"/>
                </a:solidFill>
                <a:effectLst/>
                <a:uFillTx/>
                <a:latin typeface="Aptos"/>
                <a:ea typeface="Aptos"/>
              </a:rPr>
              <a:t>.</a:t>
            </a:r>
            <a:endParaRPr lang="en-US" sz="1400" b="0" u="none" strike="noStrike" dirty="0">
              <a:solidFill>
                <a:srgbClr val="000000"/>
              </a:solidFill>
              <a:effectLst/>
              <a:uFillTx/>
              <a:latin typeface="Arial"/>
            </a:endParaRPr>
          </a:p>
        </p:txBody>
      </p:sp>
      <p:sp>
        <p:nvSpPr>
          <p:cNvPr id="77" name="Shape 19"/>
          <p:cNvSpPr/>
          <p:nvPr/>
        </p:nvSpPr>
        <p:spPr>
          <a:xfrm>
            <a:off x="5669280" y="5130102"/>
            <a:ext cx="360" cy="146160"/>
          </a:xfrm>
          <a:prstGeom prst="line">
            <a:avLst/>
          </a:prstGeom>
          <a:ln w="16510">
            <a:solidFill>
              <a:srgbClr val="B5A4D8"/>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8" name="Shape 20"/>
          <p:cNvSpPr/>
          <p:nvPr/>
        </p:nvSpPr>
        <p:spPr>
          <a:xfrm>
            <a:off x="2377440" y="5322342"/>
            <a:ext cx="6491880" cy="1096818"/>
          </a:xfrm>
          <a:prstGeom prst="roundRect">
            <a:avLst>
              <a:gd name="adj" fmla="val 15385"/>
            </a:avLst>
          </a:prstGeom>
          <a:solidFill>
            <a:srgbClr val="20143D"/>
          </a:solidFill>
          <a:ln w="12700">
            <a:solidFill>
              <a:srgbClr val="20143D"/>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9" name="Text 21"/>
          <p:cNvSpPr/>
          <p:nvPr/>
        </p:nvSpPr>
        <p:spPr>
          <a:xfrm>
            <a:off x="2578680" y="5461887"/>
            <a:ext cx="6089400" cy="228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i="1" u="none" strike="noStrike" dirty="0">
                <a:solidFill>
                  <a:srgbClr val="FFFFFF"/>
                </a:solidFill>
                <a:effectLst/>
                <a:uFillTx/>
                <a:latin typeface="Aptos Display"/>
                <a:ea typeface="Aptos Display"/>
              </a:rPr>
              <a:t>Gu powered by Gu OS</a:t>
            </a:r>
            <a:endParaRPr lang="en-US" sz="2000" b="0" i="1" u="none" strike="noStrike" dirty="0">
              <a:solidFill>
                <a:srgbClr val="000000"/>
              </a:solidFill>
              <a:effectLst/>
              <a:uFillTx/>
              <a:latin typeface="Arial"/>
            </a:endParaRPr>
          </a:p>
        </p:txBody>
      </p:sp>
      <p:sp>
        <p:nvSpPr>
          <p:cNvPr id="80" name="Text 22"/>
          <p:cNvSpPr/>
          <p:nvPr/>
        </p:nvSpPr>
        <p:spPr>
          <a:xfrm>
            <a:off x="2633400" y="5806574"/>
            <a:ext cx="5979960" cy="4713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s-ES" sz="1400" b="0" u="none" strike="noStrike" dirty="0" err="1">
                <a:solidFill>
                  <a:srgbClr val="E8DFFF"/>
                </a:solidFill>
                <a:effectLst/>
                <a:uFillTx/>
                <a:latin typeface="Aptos"/>
                <a:ea typeface="Aptos"/>
              </a:rPr>
              <a:t>Gu</a:t>
            </a:r>
            <a:r>
              <a:rPr lang="es-ES" sz="1400" b="0" u="none" strike="noStrike" dirty="0">
                <a:solidFill>
                  <a:srgbClr val="E8DFFF"/>
                </a:solidFill>
                <a:effectLst/>
                <a:uFillTx/>
                <a:latin typeface="Aptos"/>
                <a:ea typeface="Aptos"/>
              </a:rPr>
              <a:t> puede coordinar y ejecutar trabajo manteniendo contexto, responsabilidad y continuidad a través de la operación</a:t>
            </a:r>
            <a:r>
              <a:rPr lang="en-US" sz="1400" b="0" u="none" strike="noStrike" dirty="0">
                <a:solidFill>
                  <a:srgbClr val="E8DFFF"/>
                </a:solidFill>
                <a:effectLst/>
                <a:uFillTx/>
                <a:latin typeface="Aptos"/>
                <a:ea typeface="Aptos"/>
              </a:rPr>
              <a:t>.</a:t>
            </a:r>
            <a:endParaRPr lang="en-US" sz="1400" b="0" u="none" strike="noStrike" dirty="0">
              <a:solidFill>
                <a:srgbClr val="000000"/>
              </a:solidFill>
              <a:effectLst/>
              <a:uFillTx/>
              <a:latin typeface="Arial"/>
            </a:endParaRPr>
          </a:p>
        </p:txBody>
      </p:sp>
      <p:grpSp>
        <p:nvGrpSpPr>
          <p:cNvPr id="4" name="Grupo 3">
            <a:extLst>
              <a:ext uri="{FF2B5EF4-FFF2-40B4-BE49-F238E27FC236}">
                <a16:creationId xmlns:a16="http://schemas.microsoft.com/office/drawing/2014/main" id="{7CC5D15F-9FEC-69D6-6DE7-395F1E57F608}"/>
              </a:ext>
            </a:extLst>
          </p:cNvPr>
          <p:cNvGrpSpPr/>
          <p:nvPr/>
        </p:nvGrpSpPr>
        <p:grpSpPr>
          <a:xfrm>
            <a:off x="9412357" y="5340868"/>
            <a:ext cx="1981067" cy="1096818"/>
            <a:chOff x="3732614" y="5826318"/>
            <a:chExt cx="4542346" cy="383760"/>
          </a:xfrm>
        </p:grpSpPr>
        <p:sp>
          <p:nvSpPr>
            <p:cNvPr id="81" name="Shape 23"/>
            <p:cNvSpPr/>
            <p:nvPr/>
          </p:nvSpPr>
          <p:spPr>
            <a:xfrm>
              <a:off x="3732614" y="5826318"/>
              <a:ext cx="4542346" cy="383760"/>
            </a:xfrm>
            <a:prstGeom prst="roundRect">
              <a:avLst>
                <a:gd name="adj" fmla="val 19048"/>
              </a:avLst>
            </a:prstGeom>
            <a:solidFill>
              <a:srgbClr val="F1EBFF"/>
            </a:solidFill>
            <a:ln w="12700">
              <a:solidFill>
                <a:srgbClr val="F1EB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2" name="Text 24"/>
            <p:cNvSpPr/>
            <p:nvPr/>
          </p:nvSpPr>
          <p:spPr>
            <a:xfrm>
              <a:off x="3931920" y="5890977"/>
              <a:ext cx="42973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s-ES" sz="1400" b="1" u="none" strike="noStrike" dirty="0">
                  <a:solidFill>
                    <a:srgbClr val="5F2CCB"/>
                  </a:solidFill>
                  <a:effectLst/>
                  <a:uFillTx/>
                  <a:latin typeface="Aptos"/>
                  <a:ea typeface="Aptos"/>
                </a:rPr>
                <a:t>Los humanos lideran.</a:t>
              </a:r>
            </a:p>
            <a:p>
              <a:pPr algn="ctr" defTabSz="914400">
                <a:lnSpc>
                  <a:spcPct val="100000"/>
                </a:lnSpc>
                <a:tabLst>
                  <a:tab pos="0" algn="l"/>
                </a:tabLst>
              </a:pPr>
              <a:r>
                <a:rPr lang="es-ES" sz="1400" b="1" u="none" strike="noStrike" dirty="0" err="1">
                  <a:solidFill>
                    <a:srgbClr val="5F2CCB"/>
                  </a:solidFill>
                  <a:effectLst/>
                  <a:uFillTx/>
                  <a:latin typeface="Aptos"/>
                  <a:ea typeface="Aptos"/>
                </a:rPr>
                <a:t>Gu</a:t>
              </a:r>
              <a:r>
                <a:rPr lang="es-ES" sz="1400" b="1" u="none" strike="noStrike" dirty="0">
                  <a:solidFill>
                    <a:srgbClr val="5F2CCB"/>
                  </a:solidFill>
                  <a:effectLst/>
                  <a:uFillTx/>
                  <a:latin typeface="Aptos"/>
                  <a:ea typeface="Aptos"/>
                </a:rPr>
                <a:t> hace el trabajo</a:t>
              </a:r>
              <a:r>
                <a:rPr lang="en-US" sz="1400" b="1" u="none" strike="noStrike" dirty="0">
                  <a:solidFill>
                    <a:srgbClr val="5F2CCB"/>
                  </a:solidFill>
                  <a:effectLst/>
                  <a:uFillTx/>
                  <a:latin typeface="Aptos"/>
                  <a:ea typeface="Aptos"/>
                </a:rPr>
                <a:t>.</a:t>
              </a:r>
              <a:endParaRPr lang="en-US" sz="1400" b="0" u="none" strike="noStrike" dirty="0">
                <a:solidFill>
                  <a:srgbClr val="000000"/>
                </a:solidFill>
                <a:effectLst/>
                <a:uFillTx/>
                <a:latin typeface="Arial"/>
              </a:endParaRPr>
            </a:p>
          </p:txBody>
        </p:sp>
      </p:grpSp>
      <p:pic>
        <p:nvPicPr>
          <p:cNvPr id="3" name="Image 0" descr="/mnt/data/ungga_logo_purple.png">
            <a:extLst>
              <a:ext uri="{FF2B5EF4-FFF2-40B4-BE49-F238E27FC236}">
                <a16:creationId xmlns:a16="http://schemas.microsoft.com/office/drawing/2014/main" id="{4F9B90EC-E4BA-64F3-9945-086A21DB2605}"/>
              </a:ext>
            </a:extLst>
          </p:cNvPr>
          <p:cNvPicPr>
            <a:picLocks noChangeAspect="1"/>
          </p:cNvPicPr>
          <p:nvPr/>
        </p:nvPicPr>
        <p:blipFill>
          <a:blip r:embed="rId3"/>
          <a:stretch>
            <a:fillRect/>
          </a:stretch>
        </p:blipFill>
        <p:spPr>
          <a:xfrm>
            <a:off x="11109960" y="449715"/>
            <a:ext cx="566928" cy="4721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603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69270" y="326524"/>
            <a:ext cx="2120196" cy="276999"/>
          </a:xfrm>
          <a:prstGeom prst="rect">
            <a:avLst/>
          </a:prstGeom>
          <a:noFill/>
        </p:spPr>
        <p:txBody>
          <a:bodyPr wrap="none">
            <a:spAutoFit/>
          </a:bodyPr>
          <a:lstStyle/>
          <a:p>
            <a:pPr>
              <a:defRPr sz="1100" b="1">
                <a:solidFill>
                  <a:srgbClr val="6034D3"/>
                </a:solidFill>
              </a:defRPr>
            </a:pPr>
            <a:r>
              <a:rPr sz="1200" dirty="0"/>
              <a:t>EL PROBLEMA DE NEGOCIO</a:t>
            </a:r>
          </a:p>
        </p:txBody>
      </p:sp>
      <p:sp>
        <p:nvSpPr>
          <p:cNvPr id="5" name="TextBox 4"/>
          <p:cNvSpPr txBox="1"/>
          <p:nvPr/>
        </p:nvSpPr>
        <p:spPr>
          <a:xfrm>
            <a:off x="91440" y="6510528"/>
            <a:ext cx="914400" cy="137160"/>
          </a:xfrm>
          <a:prstGeom prst="rect">
            <a:avLst/>
          </a:prstGeom>
          <a:noFill/>
        </p:spPr>
        <p:txBody>
          <a:bodyPr wrap="none">
            <a:spAutoFit/>
          </a:bodyPr>
          <a:lstStyle/>
          <a:p>
            <a:pPr>
              <a:defRPr sz="800">
                <a:solidFill>
                  <a:srgbClr val="746F93"/>
                </a:solidFill>
              </a:defRPr>
            </a:pPr>
            <a:r>
              <a:t>CONFIDENTIAL</a:t>
            </a:r>
          </a:p>
        </p:txBody>
      </p:sp>
      <p:sp>
        <p:nvSpPr>
          <p:cNvPr id="6" name="TextBox 5"/>
          <p:cNvSpPr txBox="1"/>
          <p:nvPr/>
        </p:nvSpPr>
        <p:spPr>
          <a:xfrm>
            <a:off x="10744200" y="6510528"/>
            <a:ext cx="914400" cy="137160"/>
          </a:xfrm>
          <a:prstGeom prst="rect">
            <a:avLst/>
          </a:prstGeom>
          <a:noFill/>
        </p:spPr>
        <p:txBody>
          <a:bodyPr wrap="none">
            <a:spAutoFit/>
          </a:bodyPr>
          <a:lstStyle/>
          <a:p>
            <a:pPr algn="r">
              <a:defRPr sz="800">
                <a:solidFill>
                  <a:srgbClr val="746F93"/>
                </a:solidFill>
              </a:defRPr>
            </a:pPr>
            <a:r>
              <a:t>ungga.com</a:t>
            </a:r>
          </a:p>
        </p:txBody>
      </p:sp>
      <p:sp>
        <p:nvSpPr>
          <p:cNvPr id="7" name="TextBox 6"/>
          <p:cNvSpPr txBox="1"/>
          <p:nvPr/>
        </p:nvSpPr>
        <p:spPr>
          <a:xfrm>
            <a:off x="11722608" y="6510528"/>
            <a:ext cx="182880" cy="137160"/>
          </a:xfrm>
          <a:prstGeom prst="rect">
            <a:avLst/>
          </a:prstGeom>
          <a:noFill/>
        </p:spPr>
        <p:txBody>
          <a:bodyPr wrap="none">
            <a:spAutoFit/>
          </a:bodyPr>
          <a:lstStyle/>
          <a:p>
            <a:pPr algn="r">
              <a:defRPr sz="800">
                <a:solidFill>
                  <a:srgbClr val="746F93"/>
                </a:solidFill>
              </a:defRPr>
            </a:pPr>
            <a:r>
              <a:rPr dirty="0"/>
              <a:t>4</a:t>
            </a:r>
          </a:p>
        </p:txBody>
      </p:sp>
      <p:sp>
        <p:nvSpPr>
          <p:cNvPr id="8" name="TextBox 7"/>
          <p:cNvSpPr txBox="1"/>
          <p:nvPr/>
        </p:nvSpPr>
        <p:spPr>
          <a:xfrm>
            <a:off x="500826" y="749808"/>
            <a:ext cx="10469880" cy="738664"/>
          </a:xfrm>
          <a:prstGeom prst="rect">
            <a:avLst/>
          </a:prstGeom>
          <a:noFill/>
        </p:spPr>
        <p:txBody>
          <a:bodyPr wrap="square" lIns="0" tIns="0" rIns="0" bIns="0">
            <a:spAutoFit/>
          </a:bodyPr>
          <a:lstStyle/>
          <a:p>
            <a:pPr algn="l">
              <a:defRPr sz="2400" b="1">
                <a:solidFill>
                  <a:srgbClr val="14132B"/>
                </a:solidFill>
              </a:defRPr>
            </a:pPr>
            <a:r>
              <a:rPr dirty="0"/>
              <a:t>A las </a:t>
            </a:r>
            <a:r>
              <a:rPr dirty="0" err="1"/>
              <a:t>inmobiliarias</a:t>
            </a:r>
            <a:r>
              <a:rPr dirty="0"/>
              <a:t> les cuesta </a:t>
            </a:r>
            <a:r>
              <a:rPr dirty="0" err="1"/>
              <a:t>generar</a:t>
            </a:r>
            <a:r>
              <a:rPr dirty="0"/>
              <a:t> </a:t>
            </a:r>
            <a:r>
              <a:rPr dirty="0" err="1"/>
              <a:t>suficientes</a:t>
            </a:r>
            <a:r>
              <a:rPr dirty="0"/>
              <a:t> </a:t>
            </a:r>
            <a:r>
              <a:rPr dirty="0" err="1"/>
              <a:t>oportunidades</a:t>
            </a:r>
            <a:r>
              <a:rPr dirty="0"/>
              <a:t> </a:t>
            </a:r>
            <a:r>
              <a:rPr dirty="0" err="1"/>
              <a:t>calificadas</a:t>
            </a:r>
            <a:r>
              <a:rPr dirty="0"/>
              <a:t> y </a:t>
            </a:r>
            <a:r>
              <a:rPr dirty="0" err="1"/>
              <a:t>demasiadas</a:t>
            </a:r>
            <a:r>
              <a:rPr dirty="0"/>
              <a:t> se </a:t>
            </a:r>
            <a:r>
              <a:rPr dirty="0" err="1"/>
              <a:t>pierden</a:t>
            </a:r>
            <a:r>
              <a:rPr dirty="0"/>
              <a:t> antes de </a:t>
            </a:r>
            <a:r>
              <a:rPr dirty="0" err="1"/>
              <a:t>convertirse</a:t>
            </a:r>
            <a:r>
              <a:rPr dirty="0"/>
              <a:t> en visitas y </a:t>
            </a:r>
            <a:r>
              <a:rPr dirty="0" err="1"/>
              <a:t>transacciones</a:t>
            </a:r>
            <a:r>
              <a:rPr dirty="0"/>
              <a:t>.</a:t>
            </a:r>
          </a:p>
        </p:txBody>
      </p:sp>
      <p:sp>
        <p:nvSpPr>
          <p:cNvPr id="9" name="Rounded Rectangle 8"/>
          <p:cNvSpPr/>
          <p:nvPr/>
        </p:nvSpPr>
        <p:spPr>
          <a:xfrm>
            <a:off x="566928" y="1737360"/>
            <a:ext cx="5349240" cy="4114800"/>
          </a:xfrm>
          <a:prstGeom prst="roundRect">
            <a:avLst>
              <a:gd name="adj" fmla="val 6225"/>
            </a:avLst>
          </a:prstGeom>
          <a:solidFill>
            <a:srgbClr val="FFFFFF"/>
          </a:solidFill>
          <a:ln w="13970">
            <a:solidFill>
              <a:srgbClr val="DDD4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217699" y="1737360"/>
            <a:ext cx="5568916" cy="4114800"/>
          </a:xfrm>
          <a:prstGeom prst="roundRect">
            <a:avLst>
              <a:gd name="adj" fmla="val 6761"/>
            </a:avLst>
          </a:prstGeom>
          <a:solidFill>
            <a:srgbClr val="FFFFFF"/>
          </a:solidFill>
          <a:ln w="13970">
            <a:solidFill>
              <a:srgbClr val="DDD4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04672" y="1956816"/>
            <a:ext cx="1508760" cy="320040"/>
          </a:xfrm>
          <a:prstGeom prst="roundRect">
            <a:avLst/>
          </a:prstGeom>
          <a:solidFill>
            <a:srgbClr val="603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dirty="0">
                <a:solidFill>
                  <a:srgbClr val="FFFFFF"/>
                </a:solidFill>
              </a:rPr>
              <a:t>GENERAR DEMANDA</a:t>
            </a:r>
          </a:p>
        </p:txBody>
      </p:sp>
      <p:sp>
        <p:nvSpPr>
          <p:cNvPr id="12" name="Rounded Rectangle 11"/>
          <p:cNvSpPr/>
          <p:nvPr/>
        </p:nvSpPr>
        <p:spPr>
          <a:xfrm>
            <a:off x="6455443" y="1956816"/>
            <a:ext cx="1645920" cy="320040"/>
          </a:xfrm>
          <a:prstGeom prst="roundRect">
            <a:avLst/>
          </a:prstGeom>
          <a:solidFill>
            <a:srgbClr val="C55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CONVERTIR DEMANDA</a:t>
            </a:r>
          </a:p>
        </p:txBody>
      </p:sp>
      <p:sp>
        <p:nvSpPr>
          <p:cNvPr id="13" name="TextBox 12"/>
          <p:cNvSpPr txBox="1"/>
          <p:nvPr/>
        </p:nvSpPr>
        <p:spPr>
          <a:xfrm>
            <a:off x="868680" y="2468880"/>
            <a:ext cx="4297680" cy="685800"/>
          </a:xfrm>
          <a:prstGeom prst="rect">
            <a:avLst/>
          </a:prstGeom>
          <a:noFill/>
        </p:spPr>
        <p:txBody>
          <a:bodyPr wrap="square" lIns="0" tIns="0" rIns="0" bIns="0">
            <a:spAutoFit/>
          </a:bodyPr>
          <a:lstStyle/>
          <a:p>
            <a:pPr algn="l">
              <a:defRPr sz="1800" b="1">
                <a:solidFill>
                  <a:srgbClr val="14132B"/>
                </a:solidFill>
              </a:defRPr>
            </a:pPr>
            <a:r>
              <a:t>Generar suficientes oportunidades calificadas de forma predecible es difícil.</a:t>
            </a:r>
          </a:p>
        </p:txBody>
      </p:sp>
      <p:sp>
        <p:nvSpPr>
          <p:cNvPr id="14" name="Rounded Rectangle 13"/>
          <p:cNvSpPr/>
          <p:nvPr/>
        </p:nvSpPr>
        <p:spPr>
          <a:xfrm>
            <a:off x="932688" y="3352044"/>
            <a:ext cx="1097280" cy="503420"/>
          </a:xfrm>
          <a:prstGeom prst="roundRect">
            <a:avLst/>
          </a:prstGeom>
          <a:solidFill>
            <a:srgbClr val="F2ED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a:solidFill>
                  <a:srgbClr val="6034D3"/>
                </a:solidFill>
              </a:rPr>
              <a:t>Portales</a:t>
            </a:r>
          </a:p>
        </p:txBody>
      </p:sp>
      <p:sp>
        <p:nvSpPr>
          <p:cNvPr id="15" name="Rounded Rectangle 14"/>
          <p:cNvSpPr/>
          <p:nvPr/>
        </p:nvSpPr>
        <p:spPr>
          <a:xfrm>
            <a:off x="2331720" y="3352044"/>
            <a:ext cx="1188720" cy="503420"/>
          </a:xfrm>
          <a:prstGeom prst="roundRect">
            <a:avLst/>
          </a:prstGeom>
          <a:solidFill>
            <a:srgbClr val="F2ED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a:solidFill>
                  <a:srgbClr val="6034D3"/>
                </a:solidFill>
              </a:rPr>
              <a:t>Redes </a:t>
            </a:r>
            <a:r>
              <a:rPr sz="1400" b="1" dirty="0" err="1">
                <a:solidFill>
                  <a:srgbClr val="6034D3"/>
                </a:solidFill>
              </a:rPr>
              <a:t>pagadas</a:t>
            </a:r>
            <a:endParaRPr sz="1400" b="1" dirty="0">
              <a:solidFill>
                <a:srgbClr val="6034D3"/>
              </a:solidFill>
            </a:endParaRPr>
          </a:p>
        </p:txBody>
      </p:sp>
      <p:sp>
        <p:nvSpPr>
          <p:cNvPr id="16" name="Rounded Rectangle 15"/>
          <p:cNvSpPr/>
          <p:nvPr/>
        </p:nvSpPr>
        <p:spPr>
          <a:xfrm>
            <a:off x="3968496" y="3352044"/>
            <a:ext cx="1051560" cy="503420"/>
          </a:xfrm>
          <a:prstGeom prst="roundRect">
            <a:avLst/>
          </a:prstGeom>
          <a:solidFill>
            <a:srgbClr val="F2ED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err="1">
                <a:solidFill>
                  <a:srgbClr val="6034D3"/>
                </a:solidFill>
              </a:rPr>
              <a:t>Orgánico</a:t>
            </a:r>
            <a:endParaRPr sz="1400" b="1" dirty="0">
              <a:solidFill>
                <a:srgbClr val="6034D3"/>
              </a:solidFill>
            </a:endParaRPr>
          </a:p>
        </p:txBody>
      </p:sp>
      <p:sp>
        <p:nvSpPr>
          <p:cNvPr id="17" name="Rounded Rectangle 16"/>
          <p:cNvSpPr/>
          <p:nvPr/>
        </p:nvSpPr>
        <p:spPr>
          <a:xfrm>
            <a:off x="932688" y="4041195"/>
            <a:ext cx="1097280" cy="442121"/>
          </a:xfrm>
          <a:prstGeom prst="roundRect">
            <a:avLst/>
          </a:prstGeom>
          <a:solidFill>
            <a:srgbClr val="F2ED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6034D3"/>
                </a:solidFill>
              </a:rPr>
              <a:t>Referidos</a:t>
            </a:r>
          </a:p>
        </p:txBody>
      </p:sp>
      <p:sp>
        <p:nvSpPr>
          <p:cNvPr id="18" name="Rounded Rectangle 17"/>
          <p:cNvSpPr/>
          <p:nvPr/>
        </p:nvSpPr>
        <p:spPr>
          <a:xfrm>
            <a:off x="2441448" y="4041195"/>
            <a:ext cx="960120" cy="442121"/>
          </a:xfrm>
          <a:prstGeom prst="roundRect">
            <a:avLst/>
          </a:prstGeom>
          <a:solidFill>
            <a:srgbClr val="F2ED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6034D3"/>
                </a:solidFill>
              </a:rPr>
              <a:t>Offline</a:t>
            </a:r>
          </a:p>
        </p:txBody>
      </p:sp>
      <p:sp>
        <p:nvSpPr>
          <p:cNvPr id="19" name="Rounded Rectangle 18"/>
          <p:cNvSpPr/>
          <p:nvPr/>
        </p:nvSpPr>
        <p:spPr>
          <a:xfrm>
            <a:off x="3986784" y="4041195"/>
            <a:ext cx="1005840" cy="442121"/>
          </a:xfrm>
          <a:prstGeom prst="roundRect">
            <a:avLst/>
          </a:prstGeom>
          <a:solidFill>
            <a:srgbClr val="F2ED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6034D3"/>
                </a:solidFill>
              </a:rPr>
              <a:t>Agencias</a:t>
            </a:r>
          </a:p>
        </p:txBody>
      </p:sp>
      <p:sp>
        <p:nvSpPr>
          <p:cNvPr id="20" name="TextBox 19"/>
          <p:cNvSpPr txBox="1"/>
          <p:nvPr/>
        </p:nvSpPr>
        <p:spPr>
          <a:xfrm>
            <a:off x="868680" y="4906361"/>
            <a:ext cx="4480560" cy="492443"/>
          </a:xfrm>
          <a:prstGeom prst="rect">
            <a:avLst/>
          </a:prstGeom>
          <a:noFill/>
        </p:spPr>
        <p:txBody>
          <a:bodyPr wrap="square" lIns="0" tIns="0" rIns="0" bIns="0">
            <a:spAutoFit/>
          </a:bodyPr>
          <a:lstStyle/>
          <a:p>
            <a:pPr>
              <a:defRPr sz="1300" b="1">
                <a:solidFill>
                  <a:srgbClr val="746F93"/>
                </a:solidFill>
              </a:defRPr>
            </a:pPr>
            <a:r>
              <a:rPr sz="1600" dirty="0" err="1"/>
              <a:t>Múltiples</a:t>
            </a:r>
            <a:r>
              <a:rPr sz="1600" dirty="0"/>
              <a:t> </a:t>
            </a:r>
            <a:r>
              <a:rPr sz="1600" dirty="0" err="1"/>
              <a:t>fuentes</a:t>
            </a:r>
            <a:r>
              <a:rPr lang="es-MX" sz="1600" dirty="0"/>
              <a:t> → </a:t>
            </a:r>
            <a:r>
              <a:rPr sz="1600" dirty="0" err="1"/>
              <a:t>Esfuerzo</a:t>
            </a:r>
            <a:r>
              <a:rPr sz="1600" dirty="0"/>
              <a:t> </a:t>
            </a:r>
            <a:r>
              <a:rPr sz="1600" dirty="0" err="1"/>
              <a:t>significativ</a:t>
            </a:r>
            <a:r>
              <a:rPr lang="es-MX" sz="1600" dirty="0"/>
              <a:t>o </a:t>
            </a:r>
            <a:r>
              <a:rPr lang="es-MX" sz="1600" dirty="0">
                <a:solidFill>
                  <a:schemeClr val="tx1">
                    <a:lumMod val="50000"/>
                    <a:lumOff val="50000"/>
                  </a:schemeClr>
                </a:solidFill>
              </a:rPr>
              <a:t>→ </a:t>
            </a:r>
            <a:r>
              <a:rPr sz="1600" dirty="0" err="1"/>
              <a:t>Resultados</a:t>
            </a:r>
            <a:r>
              <a:rPr sz="1600" dirty="0"/>
              <a:t> posteriores </a:t>
            </a:r>
            <a:r>
              <a:rPr sz="1600" dirty="0" err="1"/>
              <a:t>inciertos</a:t>
            </a:r>
            <a:endParaRPr sz="1600" dirty="0"/>
          </a:p>
        </p:txBody>
      </p:sp>
      <p:sp>
        <p:nvSpPr>
          <p:cNvPr id="21" name="TextBox 20"/>
          <p:cNvSpPr txBox="1"/>
          <p:nvPr/>
        </p:nvSpPr>
        <p:spPr>
          <a:xfrm>
            <a:off x="6510307" y="2468880"/>
            <a:ext cx="4343400" cy="685800"/>
          </a:xfrm>
          <a:prstGeom prst="rect">
            <a:avLst/>
          </a:prstGeom>
          <a:noFill/>
        </p:spPr>
        <p:txBody>
          <a:bodyPr wrap="square" lIns="0" tIns="0" rIns="0" bIns="0">
            <a:spAutoFit/>
          </a:bodyPr>
          <a:lstStyle/>
          <a:p>
            <a:pPr algn="l">
              <a:defRPr sz="1800" b="1">
                <a:solidFill>
                  <a:srgbClr val="14132B"/>
                </a:solidFill>
              </a:defRPr>
            </a:pPr>
            <a:r>
              <a:rPr dirty="0" err="1"/>
              <a:t>Demasiadas</a:t>
            </a:r>
            <a:r>
              <a:rPr dirty="0"/>
              <a:t> </a:t>
            </a:r>
            <a:r>
              <a:rPr dirty="0" err="1"/>
              <a:t>oportunidades</a:t>
            </a:r>
            <a:r>
              <a:rPr dirty="0"/>
              <a:t> se </a:t>
            </a:r>
            <a:r>
              <a:rPr dirty="0" err="1"/>
              <a:t>estancan</a:t>
            </a:r>
            <a:r>
              <a:rPr dirty="0"/>
              <a:t> antes de </a:t>
            </a:r>
            <a:r>
              <a:rPr dirty="0" err="1"/>
              <a:t>llegar</a:t>
            </a:r>
            <a:r>
              <a:rPr dirty="0"/>
              <a:t> a </a:t>
            </a:r>
            <a:r>
              <a:rPr dirty="0" err="1"/>
              <a:t>una</a:t>
            </a:r>
            <a:r>
              <a:rPr dirty="0"/>
              <a:t> visita.</a:t>
            </a:r>
          </a:p>
        </p:txBody>
      </p:sp>
      <p:sp>
        <p:nvSpPr>
          <p:cNvPr id="22" name="Oval 21"/>
          <p:cNvSpPr/>
          <p:nvPr/>
        </p:nvSpPr>
        <p:spPr>
          <a:xfrm>
            <a:off x="6528595" y="3291177"/>
            <a:ext cx="91440" cy="91440"/>
          </a:xfrm>
          <a:prstGeom prst="ellipse">
            <a:avLst/>
          </a:prstGeom>
          <a:solidFill>
            <a:srgbClr val="C55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3" name="TextBox 22"/>
          <p:cNvSpPr txBox="1"/>
          <p:nvPr/>
        </p:nvSpPr>
        <p:spPr>
          <a:xfrm>
            <a:off x="6757195" y="3236313"/>
            <a:ext cx="1417320" cy="215444"/>
          </a:xfrm>
          <a:prstGeom prst="rect">
            <a:avLst/>
          </a:prstGeom>
          <a:noFill/>
        </p:spPr>
        <p:txBody>
          <a:bodyPr wrap="square" lIns="0" tIns="0" rIns="0" bIns="0">
            <a:spAutoFit/>
          </a:bodyPr>
          <a:lstStyle/>
          <a:p>
            <a:pPr algn="l">
              <a:defRPr sz="1260" b="1">
                <a:solidFill>
                  <a:srgbClr val="14132B"/>
                </a:solidFill>
              </a:defRPr>
            </a:pPr>
            <a:r>
              <a:rPr sz="1400" dirty="0"/>
              <a:t>Respuesta </a:t>
            </a:r>
            <a:r>
              <a:rPr sz="1400" dirty="0" err="1"/>
              <a:t>tardía</a:t>
            </a:r>
            <a:endParaRPr sz="1400" dirty="0"/>
          </a:p>
        </p:txBody>
      </p:sp>
      <p:sp>
        <p:nvSpPr>
          <p:cNvPr id="24" name="TextBox 23"/>
          <p:cNvSpPr txBox="1"/>
          <p:nvPr/>
        </p:nvSpPr>
        <p:spPr>
          <a:xfrm>
            <a:off x="8399811" y="3236313"/>
            <a:ext cx="3211196" cy="184666"/>
          </a:xfrm>
          <a:prstGeom prst="rect">
            <a:avLst/>
          </a:prstGeom>
          <a:noFill/>
        </p:spPr>
        <p:txBody>
          <a:bodyPr wrap="square" lIns="0" tIns="0" rIns="0" bIns="0">
            <a:spAutoFit/>
          </a:bodyPr>
          <a:lstStyle/>
          <a:p>
            <a:pPr algn="l">
              <a:defRPr sz="1070" b="0">
                <a:solidFill>
                  <a:srgbClr val="746F93"/>
                </a:solidFill>
              </a:defRPr>
            </a:pPr>
            <a:r>
              <a:rPr sz="1200" dirty="0"/>
              <a:t>La </a:t>
            </a:r>
            <a:r>
              <a:rPr sz="1200" dirty="0" err="1"/>
              <a:t>demanda</a:t>
            </a:r>
            <a:r>
              <a:rPr sz="1200" dirty="0"/>
              <a:t> </a:t>
            </a:r>
            <a:r>
              <a:rPr sz="1200" dirty="0" err="1"/>
              <a:t>llega</a:t>
            </a:r>
            <a:r>
              <a:rPr sz="1200" dirty="0"/>
              <a:t> 24/7. La </a:t>
            </a:r>
            <a:r>
              <a:rPr sz="1200" dirty="0" err="1"/>
              <a:t>atención</a:t>
            </a:r>
            <a:r>
              <a:rPr sz="1200" dirty="0"/>
              <a:t> humana no.</a:t>
            </a:r>
          </a:p>
        </p:txBody>
      </p:sp>
      <p:sp>
        <p:nvSpPr>
          <p:cNvPr id="25" name="Oval 24"/>
          <p:cNvSpPr/>
          <p:nvPr/>
        </p:nvSpPr>
        <p:spPr>
          <a:xfrm>
            <a:off x="6528595" y="3757299"/>
            <a:ext cx="91440" cy="91440"/>
          </a:xfrm>
          <a:prstGeom prst="ellipse">
            <a:avLst/>
          </a:prstGeom>
          <a:solidFill>
            <a:srgbClr val="603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6" name="TextBox 25"/>
          <p:cNvSpPr txBox="1"/>
          <p:nvPr/>
        </p:nvSpPr>
        <p:spPr>
          <a:xfrm>
            <a:off x="6757195" y="3702436"/>
            <a:ext cx="1417320" cy="430887"/>
          </a:xfrm>
          <a:prstGeom prst="rect">
            <a:avLst/>
          </a:prstGeom>
          <a:noFill/>
        </p:spPr>
        <p:txBody>
          <a:bodyPr wrap="square" lIns="0" tIns="0" rIns="0" bIns="0">
            <a:spAutoFit/>
          </a:bodyPr>
          <a:lstStyle/>
          <a:p>
            <a:pPr algn="l">
              <a:defRPr sz="1260" b="1">
                <a:solidFill>
                  <a:srgbClr val="14132B"/>
                </a:solidFill>
              </a:defRPr>
            </a:pPr>
            <a:r>
              <a:rPr sz="1400"/>
              <a:t>Seguimiento inconsistente</a:t>
            </a:r>
          </a:p>
        </p:txBody>
      </p:sp>
      <p:sp>
        <p:nvSpPr>
          <p:cNvPr id="27" name="TextBox 26"/>
          <p:cNvSpPr txBox="1"/>
          <p:nvPr/>
        </p:nvSpPr>
        <p:spPr>
          <a:xfrm>
            <a:off x="8399811" y="3702436"/>
            <a:ext cx="3211196" cy="369332"/>
          </a:xfrm>
          <a:prstGeom prst="rect">
            <a:avLst/>
          </a:prstGeom>
          <a:noFill/>
        </p:spPr>
        <p:txBody>
          <a:bodyPr wrap="square" lIns="0" tIns="0" rIns="0" bIns="0">
            <a:spAutoFit/>
          </a:bodyPr>
          <a:lstStyle/>
          <a:p>
            <a:pPr algn="l">
              <a:defRPr sz="1070" b="0">
                <a:solidFill>
                  <a:srgbClr val="746F93"/>
                </a:solidFill>
              </a:defRPr>
            </a:pPr>
            <a:r>
              <a:rPr sz="1200" dirty="0"/>
              <a:t>Las </a:t>
            </a:r>
            <a:r>
              <a:rPr sz="1200" dirty="0" err="1"/>
              <a:t>oportunidades</a:t>
            </a:r>
            <a:r>
              <a:rPr sz="1200" dirty="0"/>
              <a:t> </a:t>
            </a:r>
            <a:r>
              <a:rPr sz="1200" dirty="0" err="1"/>
              <a:t>dependen</a:t>
            </a:r>
            <a:r>
              <a:rPr sz="1200" dirty="0"/>
              <a:t> de memoria y </a:t>
            </a:r>
            <a:r>
              <a:rPr sz="1200" dirty="0" err="1"/>
              <a:t>disciplina</a:t>
            </a:r>
            <a:r>
              <a:rPr sz="1200" dirty="0"/>
              <a:t>.</a:t>
            </a:r>
          </a:p>
        </p:txBody>
      </p:sp>
      <p:sp>
        <p:nvSpPr>
          <p:cNvPr id="28" name="Oval 27"/>
          <p:cNvSpPr/>
          <p:nvPr/>
        </p:nvSpPr>
        <p:spPr>
          <a:xfrm>
            <a:off x="6528595" y="4278508"/>
            <a:ext cx="91440" cy="91440"/>
          </a:xfrm>
          <a:prstGeom prst="ellipse">
            <a:avLst/>
          </a:prstGeom>
          <a:solidFill>
            <a:srgbClr val="603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9" name="TextBox 28"/>
          <p:cNvSpPr txBox="1"/>
          <p:nvPr/>
        </p:nvSpPr>
        <p:spPr>
          <a:xfrm>
            <a:off x="6757195" y="4223644"/>
            <a:ext cx="1467006" cy="430887"/>
          </a:xfrm>
          <a:prstGeom prst="rect">
            <a:avLst/>
          </a:prstGeom>
          <a:noFill/>
        </p:spPr>
        <p:txBody>
          <a:bodyPr wrap="square" lIns="0" tIns="0" rIns="0" bIns="0">
            <a:spAutoFit/>
          </a:bodyPr>
          <a:lstStyle/>
          <a:p>
            <a:pPr algn="l">
              <a:defRPr sz="1260" b="1">
                <a:solidFill>
                  <a:srgbClr val="14132B"/>
                </a:solidFill>
              </a:defRPr>
            </a:pPr>
            <a:r>
              <a:rPr sz="1400" dirty="0"/>
              <a:t>Matches </a:t>
            </a:r>
            <a:r>
              <a:rPr sz="1400" dirty="0" err="1"/>
              <a:t>desaprovechados</a:t>
            </a:r>
            <a:endParaRPr sz="1400" dirty="0"/>
          </a:p>
        </p:txBody>
      </p:sp>
      <p:sp>
        <p:nvSpPr>
          <p:cNvPr id="30" name="TextBox 29"/>
          <p:cNvSpPr txBox="1"/>
          <p:nvPr/>
        </p:nvSpPr>
        <p:spPr>
          <a:xfrm>
            <a:off x="8399811" y="4223644"/>
            <a:ext cx="3211196" cy="369332"/>
          </a:xfrm>
          <a:prstGeom prst="rect">
            <a:avLst/>
          </a:prstGeom>
          <a:noFill/>
        </p:spPr>
        <p:txBody>
          <a:bodyPr wrap="square" lIns="0" tIns="0" rIns="0" bIns="0">
            <a:spAutoFit/>
          </a:bodyPr>
          <a:lstStyle/>
          <a:p>
            <a:pPr algn="l">
              <a:defRPr sz="1070" b="0">
                <a:solidFill>
                  <a:srgbClr val="746F93"/>
                </a:solidFill>
              </a:defRPr>
            </a:pPr>
            <a:r>
              <a:rPr sz="1200" dirty="0"/>
              <a:t>La </a:t>
            </a:r>
            <a:r>
              <a:rPr sz="1200" dirty="0" err="1"/>
              <a:t>propiedad</a:t>
            </a:r>
            <a:r>
              <a:rPr sz="1200" dirty="0"/>
              <a:t> </a:t>
            </a:r>
            <a:r>
              <a:rPr sz="1200" dirty="0" err="1"/>
              <a:t>adecuada</a:t>
            </a:r>
            <a:r>
              <a:rPr sz="1200" dirty="0"/>
              <a:t> </a:t>
            </a:r>
            <a:r>
              <a:rPr sz="1200" dirty="0" err="1"/>
              <a:t>puede</a:t>
            </a:r>
            <a:r>
              <a:rPr sz="1200" dirty="0"/>
              <a:t> </a:t>
            </a:r>
            <a:r>
              <a:rPr sz="1200" dirty="0" err="1"/>
              <a:t>estar</a:t>
            </a:r>
            <a:r>
              <a:rPr sz="1200" dirty="0"/>
              <a:t> en </a:t>
            </a:r>
            <a:r>
              <a:rPr sz="1200" dirty="0" err="1"/>
              <a:t>otro</a:t>
            </a:r>
            <a:r>
              <a:rPr sz="1200" dirty="0"/>
              <a:t> </a:t>
            </a:r>
            <a:r>
              <a:rPr sz="1200" dirty="0" err="1"/>
              <a:t>inventario</a:t>
            </a:r>
            <a:r>
              <a:rPr sz="1200" dirty="0"/>
              <a:t>.</a:t>
            </a:r>
          </a:p>
        </p:txBody>
      </p:sp>
      <p:sp>
        <p:nvSpPr>
          <p:cNvPr id="31" name="Oval 30"/>
          <p:cNvSpPr/>
          <p:nvPr/>
        </p:nvSpPr>
        <p:spPr>
          <a:xfrm>
            <a:off x="6528595" y="4799716"/>
            <a:ext cx="91440" cy="91440"/>
          </a:xfrm>
          <a:prstGeom prst="ellipse">
            <a:avLst/>
          </a:prstGeom>
          <a:solidFill>
            <a:srgbClr val="603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2" name="TextBox 31"/>
          <p:cNvSpPr txBox="1"/>
          <p:nvPr/>
        </p:nvSpPr>
        <p:spPr>
          <a:xfrm>
            <a:off x="6757195" y="4744852"/>
            <a:ext cx="1417320" cy="215444"/>
          </a:xfrm>
          <a:prstGeom prst="rect">
            <a:avLst/>
          </a:prstGeom>
          <a:noFill/>
        </p:spPr>
        <p:txBody>
          <a:bodyPr wrap="square" lIns="0" tIns="0" rIns="0" bIns="0">
            <a:spAutoFit/>
          </a:bodyPr>
          <a:lstStyle/>
          <a:p>
            <a:pPr algn="l">
              <a:defRPr sz="1260" b="1">
                <a:solidFill>
                  <a:srgbClr val="14132B"/>
                </a:solidFill>
              </a:defRPr>
            </a:pPr>
            <a:r>
              <a:rPr lang="es-MX" sz="1400" dirty="0"/>
              <a:t>“</a:t>
            </a:r>
            <a:r>
              <a:rPr sz="1400" dirty="0"/>
              <a:t>No-shows</a:t>
            </a:r>
            <a:r>
              <a:rPr lang="es-MX" sz="1400" dirty="0"/>
              <a:t>"</a:t>
            </a:r>
            <a:endParaRPr sz="1400" dirty="0"/>
          </a:p>
        </p:txBody>
      </p:sp>
      <p:sp>
        <p:nvSpPr>
          <p:cNvPr id="33" name="TextBox 32"/>
          <p:cNvSpPr txBox="1"/>
          <p:nvPr/>
        </p:nvSpPr>
        <p:spPr>
          <a:xfrm>
            <a:off x="8399810" y="4744852"/>
            <a:ext cx="3211196" cy="369332"/>
          </a:xfrm>
          <a:prstGeom prst="rect">
            <a:avLst/>
          </a:prstGeom>
          <a:noFill/>
        </p:spPr>
        <p:txBody>
          <a:bodyPr wrap="square" lIns="0" tIns="0" rIns="0" bIns="0">
            <a:spAutoFit/>
          </a:bodyPr>
          <a:lstStyle/>
          <a:p>
            <a:pPr algn="l">
              <a:defRPr sz="1070" b="0">
                <a:solidFill>
                  <a:srgbClr val="746F93"/>
                </a:solidFill>
              </a:defRPr>
            </a:pPr>
            <a:r>
              <a:rPr sz="1200" dirty="0"/>
              <a:t>Una </a:t>
            </a:r>
            <a:r>
              <a:rPr sz="1200" dirty="0" err="1"/>
              <a:t>cita</a:t>
            </a:r>
            <a:r>
              <a:rPr sz="1200" dirty="0"/>
              <a:t> </a:t>
            </a:r>
            <a:r>
              <a:rPr sz="1200" dirty="0" err="1"/>
              <a:t>agendada</a:t>
            </a:r>
            <a:r>
              <a:rPr sz="1200" dirty="0"/>
              <a:t> no </a:t>
            </a:r>
            <a:r>
              <a:rPr sz="1200" dirty="0" err="1"/>
              <a:t>siempre</a:t>
            </a:r>
            <a:r>
              <a:rPr sz="1200" dirty="0"/>
              <a:t> </a:t>
            </a:r>
            <a:r>
              <a:rPr sz="1200" dirty="0" err="1"/>
              <a:t>significa</a:t>
            </a:r>
            <a:r>
              <a:rPr sz="1200" dirty="0"/>
              <a:t> </a:t>
            </a:r>
            <a:r>
              <a:rPr sz="1200" dirty="0" err="1"/>
              <a:t>una</a:t>
            </a:r>
            <a:r>
              <a:rPr sz="1200" dirty="0"/>
              <a:t> visita </a:t>
            </a:r>
            <a:r>
              <a:rPr sz="1200" dirty="0" err="1"/>
              <a:t>realizada</a:t>
            </a:r>
            <a:r>
              <a:rPr sz="1200" dirty="0"/>
              <a:t>.</a:t>
            </a:r>
          </a:p>
        </p:txBody>
      </p:sp>
      <p:sp>
        <p:nvSpPr>
          <p:cNvPr id="34" name="Oval 33"/>
          <p:cNvSpPr/>
          <p:nvPr/>
        </p:nvSpPr>
        <p:spPr>
          <a:xfrm>
            <a:off x="6528595" y="5298890"/>
            <a:ext cx="91440" cy="91440"/>
          </a:xfrm>
          <a:prstGeom prst="ellipse">
            <a:avLst/>
          </a:prstGeom>
          <a:solidFill>
            <a:srgbClr val="603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5" name="TextBox 34"/>
          <p:cNvSpPr txBox="1"/>
          <p:nvPr/>
        </p:nvSpPr>
        <p:spPr>
          <a:xfrm>
            <a:off x="6757195" y="5244026"/>
            <a:ext cx="1417320" cy="430887"/>
          </a:xfrm>
          <a:prstGeom prst="rect">
            <a:avLst/>
          </a:prstGeom>
          <a:noFill/>
        </p:spPr>
        <p:txBody>
          <a:bodyPr wrap="square" lIns="0" tIns="0" rIns="0" bIns="0">
            <a:spAutoFit/>
          </a:bodyPr>
          <a:lstStyle/>
          <a:p>
            <a:pPr algn="l">
              <a:defRPr sz="1260" b="1">
                <a:solidFill>
                  <a:srgbClr val="14132B"/>
                </a:solidFill>
              </a:defRPr>
            </a:pPr>
            <a:r>
              <a:rPr sz="1400"/>
              <a:t>Oportunidades estancadas</a:t>
            </a:r>
          </a:p>
        </p:txBody>
      </p:sp>
      <p:sp>
        <p:nvSpPr>
          <p:cNvPr id="36" name="TextBox 35"/>
          <p:cNvSpPr txBox="1"/>
          <p:nvPr/>
        </p:nvSpPr>
        <p:spPr>
          <a:xfrm>
            <a:off x="8399810" y="5211333"/>
            <a:ext cx="3211195" cy="369332"/>
          </a:xfrm>
          <a:prstGeom prst="rect">
            <a:avLst/>
          </a:prstGeom>
          <a:noFill/>
        </p:spPr>
        <p:txBody>
          <a:bodyPr wrap="square" lIns="0" tIns="0" rIns="0" bIns="0">
            <a:spAutoFit/>
          </a:bodyPr>
          <a:lstStyle/>
          <a:p>
            <a:pPr algn="l">
              <a:defRPr sz="1070" b="0">
                <a:solidFill>
                  <a:srgbClr val="746F93"/>
                </a:solidFill>
              </a:defRPr>
            </a:pPr>
            <a:r>
              <a:rPr sz="1200" dirty="0"/>
              <a:t>Sin </a:t>
            </a:r>
            <a:r>
              <a:rPr sz="1200" dirty="0" err="1"/>
              <a:t>una</a:t>
            </a:r>
            <a:r>
              <a:rPr sz="1200" dirty="0"/>
              <a:t> </a:t>
            </a:r>
            <a:r>
              <a:rPr sz="1200" dirty="0" err="1"/>
              <a:t>siguiente</a:t>
            </a:r>
            <a:r>
              <a:rPr sz="1200" dirty="0"/>
              <a:t> </a:t>
            </a:r>
            <a:r>
              <a:rPr sz="1200" dirty="0" err="1"/>
              <a:t>acción</a:t>
            </a:r>
            <a:r>
              <a:rPr sz="1200" dirty="0"/>
              <a:t>, el momentum se </a:t>
            </a:r>
            <a:r>
              <a:rPr sz="1200" dirty="0" err="1"/>
              <a:t>pierde</a:t>
            </a:r>
            <a:r>
              <a:rPr sz="1200" dirty="0"/>
              <a:t>.</a:t>
            </a:r>
          </a:p>
        </p:txBody>
      </p:sp>
      <p:sp>
        <p:nvSpPr>
          <p:cNvPr id="37" name="Rounded Rectangle 36"/>
          <p:cNvSpPr/>
          <p:nvPr/>
        </p:nvSpPr>
        <p:spPr>
          <a:xfrm>
            <a:off x="804673" y="5953533"/>
            <a:ext cx="10806332" cy="484632"/>
          </a:xfrm>
          <a:prstGeom prst="roundRect">
            <a:avLst/>
          </a:prstGeom>
          <a:solidFill>
            <a:srgbClr val="F2EDFC"/>
          </a:solidFill>
          <a:ln w="13970">
            <a:solidFill>
              <a:srgbClr val="DDD4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8" name="TextBox 37"/>
          <p:cNvSpPr txBox="1"/>
          <p:nvPr/>
        </p:nvSpPr>
        <p:spPr>
          <a:xfrm>
            <a:off x="932767" y="6120219"/>
            <a:ext cx="1869598" cy="184666"/>
          </a:xfrm>
          <a:prstGeom prst="rect">
            <a:avLst/>
          </a:prstGeom>
          <a:noFill/>
        </p:spPr>
        <p:txBody>
          <a:bodyPr wrap="square" lIns="0" tIns="0" rIns="0" bIns="0">
            <a:spAutoFit/>
          </a:bodyPr>
          <a:lstStyle/>
          <a:p>
            <a:pPr algn="l">
              <a:defRPr sz="1030" b="1">
                <a:solidFill>
                  <a:srgbClr val="14132B"/>
                </a:solidFill>
              </a:defRPr>
            </a:pPr>
            <a:r>
              <a:rPr sz="1200" dirty="0"/>
              <a:t>IMPACTO EN EL</a:t>
            </a:r>
            <a:r>
              <a:rPr lang="es-MX" sz="1200" dirty="0"/>
              <a:t> </a:t>
            </a:r>
            <a:r>
              <a:rPr sz="1200" dirty="0"/>
              <a:t>NEGOCIO:</a:t>
            </a:r>
          </a:p>
        </p:txBody>
      </p:sp>
      <p:sp>
        <p:nvSpPr>
          <p:cNvPr id="39" name="TextBox 38"/>
          <p:cNvSpPr txBox="1"/>
          <p:nvPr/>
        </p:nvSpPr>
        <p:spPr>
          <a:xfrm>
            <a:off x="9752678" y="6117232"/>
            <a:ext cx="1783080" cy="184666"/>
          </a:xfrm>
          <a:prstGeom prst="rect">
            <a:avLst/>
          </a:prstGeom>
          <a:noFill/>
        </p:spPr>
        <p:txBody>
          <a:bodyPr wrap="square" lIns="0" tIns="0" rIns="0" bIns="0">
            <a:spAutoFit/>
          </a:bodyPr>
          <a:lstStyle/>
          <a:p>
            <a:pPr algn="l">
              <a:defRPr sz="1030" b="1">
                <a:solidFill>
                  <a:srgbClr val="C55E82"/>
                </a:solidFill>
              </a:defRPr>
            </a:pPr>
            <a:r>
              <a:rPr sz="1200" dirty="0" err="1"/>
              <a:t>Comisiones</a:t>
            </a:r>
            <a:r>
              <a:rPr sz="1200" dirty="0"/>
              <a:t> </a:t>
            </a:r>
            <a:r>
              <a:rPr sz="1200" dirty="0" err="1"/>
              <a:t>perdidas</a:t>
            </a:r>
            <a:endParaRPr sz="1200" dirty="0"/>
          </a:p>
        </p:txBody>
      </p:sp>
      <p:sp>
        <p:nvSpPr>
          <p:cNvPr id="40" name="Oval 39"/>
          <p:cNvSpPr/>
          <p:nvPr/>
        </p:nvSpPr>
        <p:spPr>
          <a:xfrm>
            <a:off x="9588086" y="6208672"/>
            <a:ext cx="36576" cy="36576"/>
          </a:xfrm>
          <a:prstGeom prst="ellipse">
            <a:avLst/>
          </a:prstGeom>
          <a:solidFill>
            <a:srgbClr val="746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1" name="TextBox 40"/>
          <p:cNvSpPr txBox="1"/>
          <p:nvPr/>
        </p:nvSpPr>
        <p:spPr>
          <a:xfrm>
            <a:off x="3073711" y="6120219"/>
            <a:ext cx="2697480" cy="184666"/>
          </a:xfrm>
          <a:prstGeom prst="rect">
            <a:avLst/>
          </a:prstGeom>
          <a:noFill/>
        </p:spPr>
        <p:txBody>
          <a:bodyPr wrap="square" lIns="0" tIns="0" rIns="0" bIns="0">
            <a:spAutoFit/>
          </a:bodyPr>
          <a:lstStyle/>
          <a:p>
            <a:pPr algn="l">
              <a:defRPr sz="1030" b="1">
                <a:solidFill>
                  <a:srgbClr val="6034D3"/>
                </a:solidFill>
              </a:defRPr>
            </a:pPr>
            <a:r>
              <a:rPr sz="1200" dirty="0" err="1">
                <a:solidFill>
                  <a:srgbClr val="746F93"/>
                </a:solidFill>
              </a:rPr>
              <a:t>Esfuerzo</a:t>
            </a:r>
            <a:r>
              <a:rPr sz="1200" dirty="0">
                <a:solidFill>
                  <a:srgbClr val="746F93"/>
                </a:solidFill>
              </a:rPr>
              <a:t> de </a:t>
            </a:r>
            <a:r>
              <a:rPr sz="1200" dirty="0" err="1">
                <a:solidFill>
                  <a:srgbClr val="746F93"/>
                </a:solidFill>
              </a:rPr>
              <a:t>adquisición</a:t>
            </a:r>
            <a:r>
              <a:rPr sz="1200" dirty="0">
                <a:solidFill>
                  <a:srgbClr val="746F93"/>
                </a:solidFill>
              </a:rPr>
              <a:t> </a:t>
            </a:r>
            <a:r>
              <a:rPr sz="1200" dirty="0" err="1">
                <a:solidFill>
                  <a:srgbClr val="746F93"/>
                </a:solidFill>
              </a:rPr>
              <a:t>desperdiciado</a:t>
            </a:r>
            <a:endParaRPr sz="1200" dirty="0">
              <a:solidFill>
                <a:srgbClr val="746F93"/>
              </a:solidFill>
            </a:endParaRPr>
          </a:p>
        </p:txBody>
      </p:sp>
      <p:sp>
        <p:nvSpPr>
          <p:cNvPr id="42" name="Oval 41"/>
          <p:cNvSpPr/>
          <p:nvPr/>
        </p:nvSpPr>
        <p:spPr>
          <a:xfrm>
            <a:off x="2909119" y="6211659"/>
            <a:ext cx="36576" cy="36576"/>
          </a:xfrm>
          <a:prstGeom prst="ellipse">
            <a:avLst/>
          </a:prstGeom>
          <a:solidFill>
            <a:srgbClr val="746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3" name="TextBox 42"/>
          <p:cNvSpPr txBox="1"/>
          <p:nvPr/>
        </p:nvSpPr>
        <p:spPr>
          <a:xfrm>
            <a:off x="6072943" y="6120219"/>
            <a:ext cx="1600200" cy="184666"/>
          </a:xfrm>
          <a:prstGeom prst="rect">
            <a:avLst/>
          </a:prstGeom>
          <a:noFill/>
        </p:spPr>
        <p:txBody>
          <a:bodyPr wrap="square" lIns="0" tIns="0" rIns="0" bIns="0">
            <a:spAutoFit/>
          </a:bodyPr>
          <a:lstStyle/>
          <a:p>
            <a:pPr algn="l">
              <a:defRPr sz="1030" b="1">
                <a:solidFill>
                  <a:srgbClr val="14132B"/>
                </a:solidFill>
              </a:defRPr>
            </a:pPr>
            <a:r>
              <a:rPr sz="1200" dirty="0" err="1">
                <a:solidFill>
                  <a:srgbClr val="746F93"/>
                </a:solidFill>
              </a:rPr>
              <a:t>Crecimiento</a:t>
            </a:r>
            <a:r>
              <a:rPr sz="1200" dirty="0">
                <a:solidFill>
                  <a:srgbClr val="746F93"/>
                </a:solidFill>
              </a:rPr>
              <a:t> </a:t>
            </a:r>
            <a:r>
              <a:rPr sz="1200" dirty="0" err="1">
                <a:solidFill>
                  <a:srgbClr val="746F93"/>
                </a:solidFill>
              </a:rPr>
              <a:t>limitado</a:t>
            </a:r>
            <a:endParaRPr sz="1200" dirty="0">
              <a:solidFill>
                <a:srgbClr val="746F93"/>
              </a:solidFill>
            </a:endParaRPr>
          </a:p>
        </p:txBody>
      </p:sp>
      <p:sp>
        <p:nvSpPr>
          <p:cNvPr id="44" name="Oval 43"/>
          <p:cNvSpPr/>
          <p:nvPr/>
        </p:nvSpPr>
        <p:spPr>
          <a:xfrm>
            <a:off x="5908351" y="6211659"/>
            <a:ext cx="36576" cy="36576"/>
          </a:xfrm>
          <a:prstGeom prst="ellipse">
            <a:avLst/>
          </a:prstGeom>
          <a:solidFill>
            <a:srgbClr val="746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5" name="TextBox 44"/>
          <p:cNvSpPr txBox="1"/>
          <p:nvPr/>
        </p:nvSpPr>
        <p:spPr>
          <a:xfrm>
            <a:off x="7851832" y="6120219"/>
            <a:ext cx="1783080" cy="184666"/>
          </a:xfrm>
          <a:prstGeom prst="rect">
            <a:avLst/>
          </a:prstGeom>
          <a:noFill/>
        </p:spPr>
        <p:txBody>
          <a:bodyPr wrap="square" lIns="0" tIns="0" rIns="0" bIns="0">
            <a:spAutoFit/>
          </a:bodyPr>
          <a:lstStyle/>
          <a:p>
            <a:pPr algn="l">
              <a:defRPr sz="1030" b="1">
                <a:solidFill>
                  <a:srgbClr val="746F93"/>
                </a:solidFill>
              </a:defRPr>
            </a:pPr>
            <a:r>
              <a:rPr sz="1200" dirty="0" err="1">
                <a:solidFill>
                  <a:srgbClr val="746F93"/>
                </a:solidFill>
              </a:rPr>
              <a:t>Sobrecarga</a:t>
            </a:r>
            <a:r>
              <a:rPr sz="1200" dirty="0">
                <a:solidFill>
                  <a:srgbClr val="746F93"/>
                </a:solidFill>
              </a:rPr>
              <a:t> del </a:t>
            </a:r>
            <a:r>
              <a:rPr sz="1200" dirty="0" err="1">
                <a:solidFill>
                  <a:srgbClr val="746F93"/>
                </a:solidFill>
              </a:rPr>
              <a:t>equipo</a:t>
            </a:r>
            <a:endParaRPr sz="1200" dirty="0">
              <a:solidFill>
                <a:srgbClr val="746F93"/>
              </a:solidFill>
            </a:endParaRPr>
          </a:p>
        </p:txBody>
      </p:sp>
      <p:sp>
        <p:nvSpPr>
          <p:cNvPr id="46" name="Oval 45"/>
          <p:cNvSpPr/>
          <p:nvPr/>
        </p:nvSpPr>
        <p:spPr>
          <a:xfrm>
            <a:off x="7687240" y="6211659"/>
            <a:ext cx="36576" cy="36576"/>
          </a:xfrm>
          <a:prstGeom prst="ellipse">
            <a:avLst/>
          </a:prstGeom>
          <a:solidFill>
            <a:srgbClr val="746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pic>
        <p:nvPicPr>
          <p:cNvPr id="48" name="Image 0" descr="/mnt/data/ungga_logo_purple.png">
            <a:extLst>
              <a:ext uri="{FF2B5EF4-FFF2-40B4-BE49-F238E27FC236}">
                <a16:creationId xmlns:a16="http://schemas.microsoft.com/office/drawing/2014/main" id="{8984749F-FF4B-5C54-DC8E-A961DC34F65C}"/>
              </a:ext>
            </a:extLst>
          </p:cNvPr>
          <p:cNvPicPr>
            <a:picLocks noChangeAspect="1"/>
          </p:cNvPicPr>
          <p:nvPr/>
        </p:nvPicPr>
        <p:blipFill>
          <a:blip r:embed="rId2"/>
          <a:stretch>
            <a:fillRect/>
          </a:stretch>
        </p:blipFill>
        <p:spPr>
          <a:xfrm>
            <a:off x="11109960" y="449715"/>
            <a:ext cx="566928" cy="47217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49660-F7BF-53B9-8C53-6C54D233F7E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B9E945A-DD27-2CA7-F32B-9F67C0110C3C}"/>
              </a:ext>
            </a:extLst>
          </p:cNvPr>
          <p:cNvSpPr/>
          <p:nvPr/>
        </p:nvSpPr>
        <p:spPr>
          <a:xfrm>
            <a:off x="0" y="0"/>
            <a:ext cx="12191695" cy="82296"/>
          </a:xfrm>
          <a:prstGeom prst="rect">
            <a:avLst/>
          </a:prstGeom>
          <a:solidFill>
            <a:srgbClr val="603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4CB8478E-2E4B-0D76-8413-77E35DC818E3}"/>
              </a:ext>
            </a:extLst>
          </p:cNvPr>
          <p:cNvSpPr txBox="1"/>
          <p:nvPr/>
        </p:nvSpPr>
        <p:spPr>
          <a:xfrm>
            <a:off x="513660" y="282132"/>
            <a:ext cx="2550314" cy="276999"/>
          </a:xfrm>
          <a:prstGeom prst="rect">
            <a:avLst/>
          </a:prstGeom>
          <a:noFill/>
        </p:spPr>
        <p:txBody>
          <a:bodyPr wrap="none">
            <a:spAutoFit/>
          </a:bodyPr>
          <a:lstStyle/>
          <a:p>
            <a:pPr>
              <a:defRPr sz="1100" b="1">
                <a:solidFill>
                  <a:srgbClr val="6034D3"/>
                </a:solidFill>
              </a:defRPr>
            </a:pPr>
            <a:r>
              <a:rPr sz="1200" dirty="0"/>
              <a:t>POR QUÉ EL PROBLEMA PERSISTE</a:t>
            </a:r>
          </a:p>
        </p:txBody>
      </p:sp>
      <p:sp>
        <p:nvSpPr>
          <p:cNvPr id="5" name="TextBox 4">
            <a:extLst>
              <a:ext uri="{FF2B5EF4-FFF2-40B4-BE49-F238E27FC236}">
                <a16:creationId xmlns:a16="http://schemas.microsoft.com/office/drawing/2014/main" id="{FD133BDA-8959-BC5E-A259-CE4C925A6A2C}"/>
              </a:ext>
            </a:extLst>
          </p:cNvPr>
          <p:cNvSpPr txBox="1"/>
          <p:nvPr/>
        </p:nvSpPr>
        <p:spPr>
          <a:xfrm>
            <a:off x="91440" y="6510528"/>
            <a:ext cx="914400" cy="137160"/>
          </a:xfrm>
          <a:prstGeom prst="rect">
            <a:avLst/>
          </a:prstGeom>
          <a:noFill/>
        </p:spPr>
        <p:txBody>
          <a:bodyPr wrap="none">
            <a:spAutoFit/>
          </a:bodyPr>
          <a:lstStyle/>
          <a:p>
            <a:pPr>
              <a:defRPr sz="800">
                <a:solidFill>
                  <a:srgbClr val="746F93"/>
                </a:solidFill>
              </a:defRPr>
            </a:pPr>
            <a:r>
              <a:t>CONFIDENTIAL</a:t>
            </a:r>
          </a:p>
        </p:txBody>
      </p:sp>
      <p:sp>
        <p:nvSpPr>
          <p:cNvPr id="6" name="TextBox 5">
            <a:extLst>
              <a:ext uri="{FF2B5EF4-FFF2-40B4-BE49-F238E27FC236}">
                <a16:creationId xmlns:a16="http://schemas.microsoft.com/office/drawing/2014/main" id="{616A6015-3816-D581-AC2A-3C632E1747AF}"/>
              </a:ext>
            </a:extLst>
          </p:cNvPr>
          <p:cNvSpPr txBox="1"/>
          <p:nvPr/>
        </p:nvSpPr>
        <p:spPr>
          <a:xfrm>
            <a:off x="10744200" y="6510528"/>
            <a:ext cx="914400" cy="137160"/>
          </a:xfrm>
          <a:prstGeom prst="rect">
            <a:avLst/>
          </a:prstGeom>
          <a:noFill/>
        </p:spPr>
        <p:txBody>
          <a:bodyPr wrap="none">
            <a:spAutoFit/>
          </a:bodyPr>
          <a:lstStyle/>
          <a:p>
            <a:pPr algn="r">
              <a:defRPr sz="800">
                <a:solidFill>
                  <a:srgbClr val="746F93"/>
                </a:solidFill>
              </a:defRPr>
            </a:pPr>
            <a:r>
              <a:t>ungga.com</a:t>
            </a:r>
          </a:p>
        </p:txBody>
      </p:sp>
      <p:sp>
        <p:nvSpPr>
          <p:cNvPr id="7" name="TextBox 6">
            <a:extLst>
              <a:ext uri="{FF2B5EF4-FFF2-40B4-BE49-F238E27FC236}">
                <a16:creationId xmlns:a16="http://schemas.microsoft.com/office/drawing/2014/main" id="{ACF94B10-D529-48BC-9AED-38F135A61BA6}"/>
              </a:ext>
            </a:extLst>
          </p:cNvPr>
          <p:cNvSpPr txBox="1"/>
          <p:nvPr/>
        </p:nvSpPr>
        <p:spPr>
          <a:xfrm>
            <a:off x="11722608" y="6510528"/>
            <a:ext cx="182880" cy="137160"/>
          </a:xfrm>
          <a:prstGeom prst="rect">
            <a:avLst/>
          </a:prstGeom>
          <a:noFill/>
        </p:spPr>
        <p:txBody>
          <a:bodyPr wrap="none">
            <a:spAutoFit/>
          </a:bodyPr>
          <a:lstStyle/>
          <a:p>
            <a:pPr algn="r">
              <a:defRPr sz="800">
                <a:solidFill>
                  <a:srgbClr val="746F93"/>
                </a:solidFill>
              </a:defRPr>
            </a:pPr>
            <a:r>
              <a:t>5</a:t>
            </a:r>
          </a:p>
        </p:txBody>
      </p:sp>
      <p:sp>
        <p:nvSpPr>
          <p:cNvPr id="8" name="TextBox 7">
            <a:extLst>
              <a:ext uri="{FF2B5EF4-FFF2-40B4-BE49-F238E27FC236}">
                <a16:creationId xmlns:a16="http://schemas.microsoft.com/office/drawing/2014/main" id="{55049C50-EF60-879A-C707-96D474A73C66}"/>
              </a:ext>
            </a:extLst>
          </p:cNvPr>
          <p:cNvSpPr txBox="1"/>
          <p:nvPr/>
        </p:nvSpPr>
        <p:spPr>
          <a:xfrm>
            <a:off x="566928" y="749808"/>
            <a:ext cx="10177272" cy="400110"/>
          </a:xfrm>
          <a:prstGeom prst="rect">
            <a:avLst/>
          </a:prstGeom>
          <a:noFill/>
        </p:spPr>
        <p:txBody>
          <a:bodyPr wrap="square" lIns="0" tIns="0" rIns="0" bIns="0">
            <a:spAutoFit/>
          </a:bodyPr>
          <a:lstStyle/>
          <a:p>
            <a:pPr algn="l">
              <a:defRPr sz="2400" b="1">
                <a:solidFill>
                  <a:srgbClr val="14132B"/>
                </a:solidFill>
              </a:defRPr>
            </a:pPr>
            <a:r>
              <a:rPr sz="2600" dirty="0"/>
              <a:t>El </a:t>
            </a:r>
            <a:r>
              <a:rPr sz="2600" dirty="0" err="1"/>
              <a:t>humano</a:t>
            </a:r>
            <a:r>
              <a:rPr sz="2600" dirty="0"/>
              <a:t> </a:t>
            </a:r>
            <a:r>
              <a:rPr sz="2600" dirty="0" err="1"/>
              <a:t>sigue</a:t>
            </a:r>
            <a:r>
              <a:rPr sz="2600" dirty="0"/>
              <a:t> </a:t>
            </a:r>
            <a:r>
              <a:rPr sz="2600" dirty="0" err="1"/>
              <a:t>siendo</a:t>
            </a:r>
            <a:r>
              <a:rPr sz="2600" dirty="0"/>
              <a:t> el </a:t>
            </a:r>
            <a:r>
              <a:rPr sz="2600" dirty="0" err="1"/>
              <a:t>sistema</a:t>
            </a:r>
            <a:r>
              <a:rPr sz="2600" dirty="0"/>
              <a:t> </a:t>
            </a:r>
            <a:r>
              <a:rPr sz="2600" dirty="0" err="1"/>
              <a:t>operativo</a:t>
            </a:r>
            <a:r>
              <a:rPr sz="2600" dirty="0"/>
              <a:t>.</a:t>
            </a:r>
          </a:p>
        </p:txBody>
      </p:sp>
      <p:sp>
        <p:nvSpPr>
          <p:cNvPr id="38" name="Rounded Rectangle 37">
            <a:extLst>
              <a:ext uri="{FF2B5EF4-FFF2-40B4-BE49-F238E27FC236}">
                <a16:creationId xmlns:a16="http://schemas.microsoft.com/office/drawing/2014/main" id="{AFFBB9F2-CF8C-57CE-A11F-3840F22ABEB3}"/>
              </a:ext>
            </a:extLst>
          </p:cNvPr>
          <p:cNvSpPr/>
          <p:nvPr/>
        </p:nvSpPr>
        <p:spPr>
          <a:xfrm>
            <a:off x="851110" y="5614416"/>
            <a:ext cx="3063240" cy="658368"/>
          </a:xfrm>
          <a:prstGeom prst="roundRect">
            <a:avLst/>
          </a:prstGeom>
          <a:solidFill>
            <a:srgbClr val="FFFFFF"/>
          </a:solidFill>
          <a:ln w="13970">
            <a:solidFill>
              <a:srgbClr val="DDD4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a:extLst>
              <a:ext uri="{FF2B5EF4-FFF2-40B4-BE49-F238E27FC236}">
                <a16:creationId xmlns:a16="http://schemas.microsoft.com/office/drawing/2014/main" id="{AE146ADD-285D-05DB-CEB9-90A24E498497}"/>
              </a:ext>
            </a:extLst>
          </p:cNvPr>
          <p:cNvSpPr/>
          <p:nvPr/>
        </p:nvSpPr>
        <p:spPr>
          <a:xfrm>
            <a:off x="960838" y="5742432"/>
            <a:ext cx="82296" cy="82296"/>
          </a:xfrm>
          <a:prstGeom prst="ellipse">
            <a:avLst/>
          </a:prstGeom>
          <a:solidFill>
            <a:srgbClr val="603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CCD1D705-F63D-5CBB-CF23-D8E6F9DD0153}"/>
              </a:ext>
            </a:extLst>
          </p:cNvPr>
          <p:cNvSpPr txBox="1"/>
          <p:nvPr/>
        </p:nvSpPr>
        <p:spPr>
          <a:xfrm>
            <a:off x="1125430" y="5687568"/>
            <a:ext cx="2606040" cy="164592"/>
          </a:xfrm>
          <a:prstGeom prst="rect">
            <a:avLst/>
          </a:prstGeom>
          <a:noFill/>
        </p:spPr>
        <p:txBody>
          <a:bodyPr wrap="square" lIns="0" tIns="0" rIns="0" bIns="0">
            <a:spAutoFit/>
          </a:bodyPr>
          <a:lstStyle/>
          <a:p>
            <a:pPr algn="l">
              <a:defRPr sz="1050" b="1">
                <a:solidFill>
                  <a:srgbClr val="14132B"/>
                </a:solidFill>
              </a:defRPr>
            </a:pPr>
            <a:r>
              <a:t>Múltiples fuentes de demanda</a:t>
            </a:r>
          </a:p>
        </p:txBody>
      </p:sp>
      <p:sp>
        <p:nvSpPr>
          <p:cNvPr id="41" name="TextBox 40">
            <a:extLst>
              <a:ext uri="{FF2B5EF4-FFF2-40B4-BE49-F238E27FC236}">
                <a16:creationId xmlns:a16="http://schemas.microsoft.com/office/drawing/2014/main" id="{167CB13D-36F4-0F90-9788-44810B681169}"/>
              </a:ext>
            </a:extLst>
          </p:cNvPr>
          <p:cNvSpPr txBox="1"/>
          <p:nvPr/>
        </p:nvSpPr>
        <p:spPr>
          <a:xfrm>
            <a:off x="1125430" y="5870448"/>
            <a:ext cx="2651760" cy="201168"/>
          </a:xfrm>
          <a:prstGeom prst="rect">
            <a:avLst/>
          </a:prstGeom>
          <a:noFill/>
        </p:spPr>
        <p:txBody>
          <a:bodyPr wrap="square" lIns="0" tIns="0" rIns="0" bIns="0">
            <a:spAutoFit/>
          </a:bodyPr>
          <a:lstStyle/>
          <a:p>
            <a:pPr algn="l">
              <a:defRPr sz="960" b="0">
                <a:solidFill>
                  <a:srgbClr val="746F93"/>
                </a:solidFill>
              </a:defRPr>
            </a:pPr>
            <a:r>
              <a:t>Entradas fragmentadas crean trabajo de coordinación.</a:t>
            </a:r>
          </a:p>
        </p:txBody>
      </p:sp>
      <p:sp>
        <p:nvSpPr>
          <p:cNvPr id="42" name="Rounded Rectangle 41">
            <a:extLst>
              <a:ext uri="{FF2B5EF4-FFF2-40B4-BE49-F238E27FC236}">
                <a16:creationId xmlns:a16="http://schemas.microsoft.com/office/drawing/2014/main" id="{A81EFBB6-03F9-CFB5-9DBB-76A0B81F7D15}"/>
              </a:ext>
            </a:extLst>
          </p:cNvPr>
          <p:cNvSpPr/>
          <p:nvPr/>
        </p:nvSpPr>
        <p:spPr>
          <a:xfrm>
            <a:off x="4339856" y="5614416"/>
            <a:ext cx="3063240" cy="658368"/>
          </a:xfrm>
          <a:prstGeom prst="roundRect">
            <a:avLst/>
          </a:prstGeom>
          <a:solidFill>
            <a:srgbClr val="FFFFFF"/>
          </a:solidFill>
          <a:ln w="13970">
            <a:solidFill>
              <a:srgbClr val="DDD4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a:extLst>
              <a:ext uri="{FF2B5EF4-FFF2-40B4-BE49-F238E27FC236}">
                <a16:creationId xmlns:a16="http://schemas.microsoft.com/office/drawing/2014/main" id="{4D4D5C54-90C8-C708-7816-B2873EBDD5B0}"/>
              </a:ext>
            </a:extLst>
          </p:cNvPr>
          <p:cNvSpPr/>
          <p:nvPr/>
        </p:nvSpPr>
        <p:spPr>
          <a:xfrm>
            <a:off x="4440704" y="5742432"/>
            <a:ext cx="82296" cy="82296"/>
          </a:xfrm>
          <a:prstGeom prst="ellipse">
            <a:avLst/>
          </a:prstGeom>
          <a:solidFill>
            <a:srgbClr val="603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BE19D72D-ED49-E7EC-3F42-74E18F552EBF}"/>
              </a:ext>
            </a:extLst>
          </p:cNvPr>
          <p:cNvSpPr txBox="1"/>
          <p:nvPr/>
        </p:nvSpPr>
        <p:spPr>
          <a:xfrm>
            <a:off x="4614176" y="5687568"/>
            <a:ext cx="2606040" cy="164592"/>
          </a:xfrm>
          <a:prstGeom prst="rect">
            <a:avLst/>
          </a:prstGeom>
          <a:noFill/>
        </p:spPr>
        <p:txBody>
          <a:bodyPr wrap="square" lIns="0" tIns="0" rIns="0" bIns="0">
            <a:spAutoFit/>
          </a:bodyPr>
          <a:lstStyle/>
          <a:p>
            <a:pPr algn="l">
              <a:defRPr sz="1050" b="1">
                <a:solidFill>
                  <a:srgbClr val="14132B"/>
                </a:solidFill>
              </a:defRPr>
            </a:pPr>
            <a:r>
              <a:t>El trabajo atraviesa sistemas y personas</a:t>
            </a:r>
          </a:p>
        </p:txBody>
      </p:sp>
      <p:sp>
        <p:nvSpPr>
          <p:cNvPr id="45" name="TextBox 44">
            <a:extLst>
              <a:ext uri="{FF2B5EF4-FFF2-40B4-BE49-F238E27FC236}">
                <a16:creationId xmlns:a16="http://schemas.microsoft.com/office/drawing/2014/main" id="{F9114B68-7112-C4E4-3D15-FD5D2E7BDD2B}"/>
              </a:ext>
            </a:extLst>
          </p:cNvPr>
          <p:cNvSpPr txBox="1"/>
          <p:nvPr/>
        </p:nvSpPr>
        <p:spPr>
          <a:xfrm>
            <a:off x="4614176" y="5870448"/>
            <a:ext cx="2651760" cy="201168"/>
          </a:xfrm>
          <a:prstGeom prst="rect">
            <a:avLst/>
          </a:prstGeom>
          <a:noFill/>
        </p:spPr>
        <p:txBody>
          <a:bodyPr wrap="square" lIns="0" tIns="0" rIns="0" bIns="0">
            <a:spAutoFit/>
          </a:bodyPr>
          <a:lstStyle/>
          <a:p>
            <a:pPr algn="l">
              <a:defRPr sz="960" b="0">
                <a:solidFill>
                  <a:srgbClr val="746F93"/>
                </a:solidFill>
              </a:defRPr>
            </a:pPr>
            <a:r>
              <a:t>Ninguna herramienta contiene por sí sola toda la realidad operativa.</a:t>
            </a:r>
          </a:p>
        </p:txBody>
      </p:sp>
      <p:sp>
        <p:nvSpPr>
          <p:cNvPr id="46" name="Rounded Rectangle 45">
            <a:extLst>
              <a:ext uri="{FF2B5EF4-FFF2-40B4-BE49-F238E27FC236}">
                <a16:creationId xmlns:a16="http://schemas.microsoft.com/office/drawing/2014/main" id="{80FD8E6E-82C6-FE0E-36A2-A6B140DC0787}"/>
              </a:ext>
            </a:extLst>
          </p:cNvPr>
          <p:cNvSpPr/>
          <p:nvPr/>
        </p:nvSpPr>
        <p:spPr>
          <a:xfrm>
            <a:off x="7900690" y="5614416"/>
            <a:ext cx="3330472" cy="658368"/>
          </a:xfrm>
          <a:prstGeom prst="roundRect">
            <a:avLst/>
          </a:prstGeom>
          <a:solidFill>
            <a:srgbClr val="FFFFFF"/>
          </a:solidFill>
          <a:ln w="13970">
            <a:solidFill>
              <a:srgbClr val="DDD4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a:extLst>
              <a:ext uri="{FF2B5EF4-FFF2-40B4-BE49-F238E27FC236}">
                <a16:creationId xmlns:a16="http://schemas.microsoft.com/office/drawing/2014/main" id="{16EE2430-7F28-F661-52DA-CDB497E0F988}"/>
              </a:ext>
            </a:extLst>
          </p:cNvPr>
          <p:cNvSpPr/>
          <p:nvPr/>
        </p:nvSpPr>
        <p:spPr>
          <a:xfrm>
            <a:off x="8010418" y="5742432"/>
            <a:ext cx="82296" cy="82296"/>
          </a:xfrm>
          <a:prstGeom prst="ellipse">
            <a:avLst/>
          </a:prstGeom>
          <a:solidFill>
            <a:srgbClr val="C55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a:extLst>
              <a:ext uri="{FF2B5EF4-FFF2-40B4-BE49-F238E27FC236}">
                <a16:creationId xmlns:a16="http://schemas.microsoft.com/office/drawing/2014/main" id="{074507F3-1CCC-4BA2-4A8E-8C7983A14BD7}"/>
              </a:ext>
            </a:extLst>
          </p:cNvPr>
          <p:cNvSpPr txBox="1"/>
          <p:nvPr/>
        </p:nvSpPr>
        <p:spPr>
          <a:xfrm>
            <a:off x="8175011" y="5687568"/>
            <a:ext cx="2788920" cy="161583"/>
          </a:xfrm>
          <a:prstGeom prst="rect">
            <a:avLst/>
          </a:prstGeom>
          <a:noFill/>
        </p:spPr>
        <p:txBody>
          <a:bodyPr wrap="square" lIns="0" tIns="0" rIns="0" bIns="0">
            <a:spAutoFit/>
          </a:bodyPr>
          <a:lstStyle/>
          <a:p>
            <a:pPr algn="l">
              <a:defRPr sz="1050" b="1">
                <a:solidFill>
                  <a:srgbClr val="14132B"/>
                </a:solidFill>
              </a:defRPr>
            </a:pPr>
            <a:r>
              <a:rPr dirty="0"/>
              <a:t>La </a:t>
            </a:r>
            <a:r>
              <a:rPr dirty="0" err="1"/>
              <a:t>ejecución</a:t>
            </a:r>
            <a:r>
              <a:rPr dirty="0"/>
              <a:t> </a:t>
            </a:r>
            <a:r>
              <a:rPr dirty="0" err="1"/>
              <a:t>sigue</a:t>
            </a:r>
            <a:r>
              <a:rPr dirty="0"/>
              <a:t> </a:t>
            </a:r>
            <a:r>
              <a:rPr dirty="0" err="1"/>
              <a:t>dependiendo</a:t>
            </a:r>
            <a:r>
              <a:rPr dirty="0"/>
              <a:t> del </a:t>
            </a:r>
            <a:r>
              <a:rPr dirty="0" err="1"/>
              <a:t>humano</a:t>
            </a:r>
            <a:endParaRPr dirty="0"/>
          </a:p>
        </p:txBody>
      </p:sp>
      <p:sp>
        <p:nvSpPr>
          <p:cNvPr id="49" name="TextBox 48">
            <a:extLst>
              <a:ext uri="{FF2B5EF4-FFF2-40B4-BE49-F238E27FC236}">
                <a16:creationId xmlns:a16="http://schemas.microsoft.com/office/drawing/2014/main" id="{08B6662A-A4C5-A7E7-8FA7-9295FB0760E9}"/>
              </a:ext>
            </a:extLst>
          </p:cNvPr>
          <p:cNvSpPr txBox="1"/>
          <p:nvPr/>
        </p:nvSpPr>
        <p:spPr>
          <a:xfrm>
            <a:off x="8175011" y="5870448"/>
            <a:ext cx="2651760" cy="295466"/>
          </a:xfrm>
          <a:prstGeom prst="rect">
            <a:avLst/>
          </a:prstGeom>
          <a:noFill/>
        </p:spPr>
        <p:txBody>
          <a:bodyPr wrap="square" lIns="0" tIns="0" rIns="0" bIns="0">
            <a:spAutoFit/>
          </a:bodyPr>
          <a:lstStyle/>
          <a:p>
            <a:pPr algn="l">
              <a:defRPr sz="960" b="0">
                <a:solidFill>
                  <a:srgbClr val="746F93"/>
                </a:solidFill>
              </a:defRPr>
            </a:pPr>
            <a:r>
              <a:rPr dirty="0" err="1"/>
              <a:t>Disponibilidad</a:t>
            </a:r>
            <a:r>
              <a:rPr dirty="0"/>
              <a:t>, memoria</a:t>
            </a:r>
            <a:r>
              <a:rPr lang="es-ES" dirty="0"/>
              <a:t> </a:t>
            </a:r>
            <a:r>
              <a:rPr dirty="0"/>
              <a:t>y </a:t>
            </a:r>
            <a:r>
              <a:rPr dirty="0" err="1"/>
              <a:t>seguimiento</a:t>
            </a:r>
            <a:r>
              <a:rPr dirty="0"/>
              <a:t> </a:t>
            </a:r>
            <a:r>
              <a:rPr lang="es-ES" dirty="0"/>
              <a:t>humano </a:t>
            </a:r>
            <a:r>
              <a:rPr dirty="0" err="1"/>
              <a:t>siguen</a:t>
            </a:r>
            <a:r>
              <a:rPr dirty="0"/>
              <a:t> </a:t>
            </a:r>
            <a:r>
              <a:rPr dirty="0" err="1"/>
              <a:t>moldeando</a:t>
            </a:r>
            <a:r>
              <a:rPr dirty="0"/>
              <a:t> </a:t>
            </a:r>
            <a:r>
              <a:rPr dirty="0" err="1"/>
              <a:t>los</a:t>
            </a:r>
            <a:r>
              <a:rPr dirty="0"/>
              <a:t> </a:t>
            </a:r>
            <a:r>
              <a:rPr dirty="0" err="1"/>
              <a:t>resultados</a:t>
            </a:r>
            <a:r>
              <a:rPr dirty="0"/>
              <a:t>.</a:t>
            </a:r>
          </a:p>
        </p:txBody>
      </p:sp>
      <p:pic>
        <p:nvPicPr>
          <p:cNvPr id="51" name="Image 0" descr="/mnt/data/ungga_logo_purple.png">
            <a:extLst>
              <a:ext uri="{FF2B5EF4-FFF2-40B4-BE49-F238E27FC236}">
                <a16:creationId xmlns:a16="http://schemas.microsoft.com/office/drawing/2014/main" id="{3F66ADEC-8382-6A23-DE08-26005D803C8B}"/>
              </a:ext>
            </a:extLst>
          </p:cNvPr>
          <p:cNvPicPr>
            <a:picLocks noChangeAspect="1"/>
          </p:cNvPicPr>
          <p:nvPr/>
        </p:nvPicPr>
        <p:blipFill>
          <a:blip r:embed="rId3"/>
          <a:stretch>
            <a:fillRect/>
          </a:stretch>
        </p:blipFill>
        <p:spPr>
          <a:xfrm>
            <a:off x="11109960" y="449715"/>
            <a:ext cx="566928" cy="472170"/>
          </a:xfrm>
          <a:prstGeom prst="rect">
            <a:avLst/>
          </a:prstGeom>
        </p:spPr>
      </p:pic>
      <p:sp>
        <p:nvSpPr>
          <p:cNvPr id="50" name="Text 3">
            <a:extLst>
              <a:ext uri="{FF2B5EF4-FFF2-40B4-BE49-F238E27FC236}">
                <a16:creationId xmlns:a16="http://schemas.microsoft.com/office/drawing/2014/main" id="{ED091586-9357-C189-C64F-5EE19485D24E}"/>
              </a:ext>
            </a:extLst>
          </p:cNvPr>
          <p:cNvSpPr/>
          <p:nvPr/>
        </p:nvSpPr>
        <p:spPr>
          <a:xfrm>
            <a:off x="570515" y="1190240"/>
            <a:ext cx="10698120" cy="777649"/>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s-ES" u="none" strike="noStrike" dirty="0">
                <a:solidFill>
                  <a:srgbClr val="6F6888"/>
                </a:solidFill>
                <a:effectLst/>
                <a:uFillTx/>
                <a:latin typeface="Aptos"/>
                <a:ea typeface="Aptos"/>
              </a:rPr>
              <a:t>El software digitalizó las piezas, pero las personas todavía tienen que conectar manualmente demanda, conversaciones, sistemas y ejecución.</a:t>
            </a:r>
            <a:endParaRPr lang="en-US" b="0" u="none" strike="noStrike" dirty="0">
              <a:solidFill>
                <a:srgbClr val="000000"/>
              </a:solidFill>
              <a:effectLst/>
              <a:uFillTx/>
              <a:latin typeface="Arial"/>
            </a:endParaRPr>
          </a:p>
        </p:txBody>
      </p:sp>
      <p:sp>
        <p:nvSpPr>
          <p:cNvPr id="53" name="Shape 4">
            <a:extLst>
              <a:ext uri="{FF2B5EF4-FFF2-40B4-BE49-F238E27FC236}">
                <a16:creationId xmlns:a16="http://schemas.microsoft.com/office/drawing/2014/main" id="{7E87E6CD-548C-91C7-BC2A-95A5B6AC2DA4}"/>
              </a:ext>
            </a:extLst>
          </p:cNvPr>
          <p:cNvSpPr/>
          <p:nvPr/>
        </p:nvSpPr>
        <p:spPr>
          <a:xfrm>
            <a:off x="566928" y="2195444"/>
            <a:ext cx="1627632" cy="2450592"/>
          </a:xfrm>
          <a:prstGeom prst="roundRect">
            <a:avLst/>
          </a:prstGeom>
          <a:solidFill>
            <a:srgbClr val="FFFFFF"/>
          </a:solidFill>
          <a:ln w="12700">
            <a:solidFill>
              <a:srgbClr val="DACDF6"/>
            </a:solidFill>
            <a:prstDash val="solid"/>
          </a:ln>
          <a:effectLst>
            <a:outerShdw blurRad="12700" dist="12700" dir="2700000" algn="bl" rotWithShape="0">
              <a:srgbClr val="000000">
                <a:alpha val="8000"/>
              </a:srgbClr>
            </a:outerShdw>
          </a:effectLst>
        </p:spPr>
        <p:txBody>
          <a:bodyPr/>
          <a:lstStyle/>
          <a:p>
            <a:endParaRPr lang="es-MX"/>
          </a:p>
        </p:txBody>
      </p:sp>
      <p:sp>
        <p:nvSpPr>
          <p:cNvPr id="55" name="Text 5">
            <a:extLst>
              <a:ext uri="{FF2B5EF4-FFF2-40B4-BE49-F238E27FC236}">
                <a16:creationId xmlns:a16="http://schemas.microsoft.com/office/drawing/2014/main" id="{72DA3AB5-51E2-E1AF-679E-C0275341049E}"/>
              </a:ext>
            </a:extLst>
          </p:cNvPr>
          <p:cNvSpPr/>
          <p:nvPr/>
        </p:nvSpPr>
        <p:spPr>
          <a:xfrm>
            <a:off x="676656" y="2360036"/>
            <a:ext cx="1408176" cy="182880"/>
          </a:xfrm>
          <a:prstGeom prst="rect">
            <a:avLst/>
          </a:prstGeom>
          <a:noFill/>
          <a:ln/>
        </p:spPr>
        <p:txBody>
          <a:bodyPr wrap="square" lIns="0" tIns="0" rIns="0" bIns="0" rtlCol="0" anchor="ctr"/>
          <a:lstStyle/>
          <a:p>
            <a:pPr marL="0" indent="0" algn="ctr">
              <a:buNone/>
            </a:pPr>
            <a:r>
              <a:rPr lang="en-US" sz="1000" b="1" dirty="0">
                <a:solidFill>
                  <a:srgbClr val="6E43E9"/>
                </a:solidFill>
                <a:latin typeface="Aptos" pitchFamily="34" charset="0"/>
                <a:ea typeface="Aptos" pitchFamily="34" charset="-122"/>
                <a:cs typeface="Aptos" pitchFamily="34" charset="-120"/>
              </a:rPr>
              <a:t>FUENTES DE DEMANDA</a:t>
            </a:r>
            <a:endParaRPr lang="en-US" sz="1000" dirty="0"/>
          </a:p>
        </p:txBody>
      </p:sp>
      <p:sp>
        <p:nvSpPr>
          <p:cNvPr id="57" name="Text 6">
            <a:extLst>
              <a:ext uri="{FF2B5EF4-FFF2-40B4-BE49-F238E27FC236}">
                <a16:creationId xmlns:a16="http://schemas.microsoft.com/office/drawing/2014/main" id="{7EC8F423-359F-1EBB-357B-ED958FD1D0EF}"/>
              </a:ext>
            </a:extLst>
          </p:cNvPr>
          <p:cNvSpPr/>
          <p:nvPr/>
        </p:nvSpPr>
        <p:spPr>
          <a:xfrm>
            <a:off x="676656" y="2625212"/>
            <a:ext cx="1408176" cy="256032"/>
          </a:xfrm>
          <a:prstGeom prst="rect">
            <a:avLst/>
          </a:prstGeom>
          <a:noFill/>
          <a:ln/>
        </p:spPr>
        <p:txBody>
          <a:bodyPr wrap="square" lIns="0" tIns="0" rIns="0" bIns="0" rtlCol="0" anchor="ctr">
            <a:normAutofit lnSpcReduction="10000"/>
          </a:bodyPr>
          <a:lstStyle/>
          <a:p>
            <a:pPr marL="0" indent="0" algn="ctr">
              <a:buNone/>
            </a:pPr>
            <a:r>
              <a:rPr lang="en-US" sz="930" dirty="0">
                <a:solidFill>
                  <a:srgbClr val="736A89"/>
                </a:solidFill>
                <a:latin typeface="Aptos" pitchFamily="34" charset="0"/>
                <a:ea typeface="Aptos" pitchFamily="34" charset="-122"/>
                <a:cs typeface="Aptos" pitchFamily="34" charset="-120"/>
              </a:rPr>
              <a:t>Donde las </a:t>
            </a:r>
            <a:r>
              <a:rPr lang="en-US" sz="930" dirty="0" err="1">
                <a:solidFill>
                  <a:srgbClr val="736A89"/>
                </a:solidFill>
                <a:latin typeface="Aptos" pitchFamily="34" charset="0"/>
                <a:ea typeface="Aptos" pitchFamily="34" charset="-122"/>
                <a:cs typeface="Aptos" pitchFamily="34" charset="-120"/>
              </a:rPr>
              <a:t>oportunidades</a:t>
            </a:r>
            <a:r>
              <a:rPr lang="en-US" sz="930" dirty="0">
                <a:solidFill>
                  <a:srgbClr val="736A89"/>
                </a:solidFill>
                <a:latin typeface="Aptos" pitchFamily="34" charset="0"/>
                <a:ea typeface="Aptos" pitchFamily="34" charset="-122"/>
                <a:cs typeface="Aptos" pitchFamily="34" charset="-120"/>
              </a:rPr>
              <a:t> </a:t>
            </a:r>
            <a:r>
              <a:rPr lang="en-US" sz="930" dirty="0" err="1">
                <a:solidFill>
                  <a:srgbClr val="736A89"/>
                </a:solidFill>
                <a:latin typeface="Aptos" pitchFamily="34" charset="0"/>
                <a:ea typeface="Aptos" pitchFamily="34" charset="-122"/>
                <a:cs typeface="Aptos" pitchFamily="34" charset="-120"/>
              </a:rPr>
              <a:t>comienzan</a:t>
            </a:r>
            <a:endParaRPr lang="en-US" sz="930" dirty="0"/>
          </a:p>
        </p:txBody>
      </p:sp>
      <p:sp>
        <p:nvSpPr>
          <p:cNvPr id="59" name="Text 7">
            <a:extLst>
              <a:ext uri="{FF2B5EF4-FFF2-40B4-BE49-F238E27FC236}">
                <a16:creationId xmlns:a16="http://schemas.microsoft.com/office/drawing/2014/main" id="{C669F473-3638-08FE-FC66-B2B7395B0E56}"/>
              </a:ext>
            </a:extLst>
          </p:cNvPr>
          <p:cNvSpPr/>
          <p:nvPr/>
        </p:nvSpPr>
        <p:spPr>
          <a:xfrm>
            <a:off x="731520" y="3137276"/>
            <a:ext cx="566928" cy="246888"/>
          </a:xfrm>
          <a:prstGeom prst="rect">
            <a:avLst/>
          </a:prstGeom>
          <a:solidFill>
            <a:srgbClr val="F0EAFD"/>
          </a:solidFill>
          <a:ln>
            <a:solidFill>
              <a:srgbClr val="F0EAFD">
                <a:alpha val="0"/>
              </a:srgbClr>
            </a:solidFill>
          </a:ln>
        </p:spPr>
        <p:txBody>
          <a:bodyPr wrap="square" lIns="127" tIns="127" rIns="127" bIns="127" rtlCol="0" anchor="ctr"/>
          <a:lstStyle/>
          <a:p>
            <a:pPr marL="0" indent="0" algn="ctr">
              <a:buNone/>
            </a:pPr>
            <a:r>
              <a:rPr lang="en-US" sz="760" b="1" dirty="0">
                <a:solidFill>
                  <a:srgbClr val="5B2DBB"/>
                </a:solidFill>
                <a:latin typeface="Aptos" pitchFamily="34" charset="0"/>
                <a:ea typeface="Aptos" pitchFamily="34" charset="-122"/>
                <a:cs typeface="Aptos" pitchFamily="34" charset="-120"/>
              </a:rPr>
              <a:t>Portales</a:t>
            </a:r>
            <a:endParaRPr lang="en-US" sz="760" dirty="0"/>
          </a:p>
        </p:txBody>
      </p:sp>
      <p:sp>
        <p:nvSpPr>
          <p:cNvPr id="61" name="Text 8">
            <a:extLst>
              <a:ext uri="{FF2B5EF4-FFF2-40B4-BE49-F238E27FC236}">
                <a16:creationId xmlns:a16="http://schemas.microsoft.com/office/drawing/2014/main" id="{E7D16E9B-08A7-A3DF-E7E4-142013D1E787}"/>
              </a:ext>
            </a:extLst>
          </p:cNvPr>
          <p:cNvSpPr/>
          <p:nvPr/>
        </p:nvSpPr>
        <p:spPr>
          <a:xfrm>
            <a:off x="1463040" y="3137276"/>
            <a:ext cx="530352" cy="246888"/>
          </a:xfrm>
          <a:prstGeom prst="rect">
            <a:avLst/>
          </a:prstGeom>
          <a:solidFill>
            <a:srgbClr val="F0EAFD"/>
          </a:solidFill>
          <a:ln>
            <a:solidFill>
              <a:srgbClr val="F0EAFD">
                <a:alpha val="0"/>
              </a:srgbClr>
            </a:solidFill>
          </a:ln>
        </p:spPr>
        <p:txBody>
          <a:bodyPr wrap="square" lIns="127" tIns="127" rIns="127" bIns="127" rtlCol="0" anchor="ctr"/>
          <a:lstStyle/>
          <a:p>
            <a:pPr marL="0" indent="0" algn="ctr">
              <a:buNone/>
            </a:pPr>
            <a:r>
              <a:rPr lang="en-US" sz="760" b="1" dirty="0" err="1">
                <a:solidFill>
                  <a:srgbClr val="5B2DBB"/>
                </a:solidFill>
                <a:latin typeface="Aptos" pitchFamily="34" charset="0"/>
                <a:ea typeface="Aptos" pitchFamily="34" charset="-122"/>
                <a:cs typeface="Aptos" pitchFamily="34" charset="-120"/>
              </a:rPr>
              <a:t>Pagadas</a:t>
            </a:r>
            <a:endParaRPr lang="en-US" sz="760" dirty="0"/>
          </a:p>
        </p:txBody>
      </p:sp>
      <p:sp>
        <p:nvSpPr>
          <p:cNvPr id="63" name="Text 9">
            <a:extLst>
              <a:ext uri="{FF2B5EF4-FFF2-40B4-BE49-F238E27FC236}">
                <a16:creationId xmlns:a16="http://schemas.microsoft.com/office/drawing/2014/main" id="{DD04A0D7-A986-9A42-E651-A07AD020851C}"/>
              </a:ext>
            </a:extLst>
          </p:cNvPr>
          <p:cNvSpPr/>
          <p:nvPr/>
        </p:nvSpPr>
        <p:spPr>
          <a:xfrm>
            <a:off x="731520" y="3475604"/>
            <a:ext cx="566928" cy="246888"/>
          </a:xfrm>
          <a:prstGeom prst="rect">
            <a:avLst/>
          </a:prstGeom>
          <a:solidFill>
            <a:srgbClr val="F0EAFD"/>
          </a:solidFill>
          <a:ln>
            <a:solidFill>
              <a:srgbClr val="F0EAFD">
                <a:alpha val="0"/>
              </a:srgbClr>
            </a:solidFill>
          </a:ln>
        </p:spPr>
        <p:txBody>
          <a:bodyPr wrap="square" lIns="127" tIns="127" rIns="127" bIns="127" rtlCol="0" anchor="ctr"/>
          <a:lstStyle/>
          <a:p>
            <a:pPr marL="0" indent="0" algn="ctr">
              <a:buNone/>
            </a:pPr>
            <a:r>
              <a:rPr lang="en-US" sz="760" b="1" dirty="0" err="1">
                <a:solidFill>
                  <a:srgbClr val="5B2DBB"/>
                </a:solidFill>
                <a:latin typeface="Aptos" pitchFamily="34" charset="0"/>
                <a:ea typeface="Aptos" pitchFamily="34" charset="-122"/>
                <a:cs typeface="Aptos" pitchFamily="34" charset="-120"/>
              </a:rPr>
              <a:t>Orgánicas</a:t>
            </a:r>
            <a:endParaRPr lang="en-US" sz="760" dirty="0"/>
          </a:p>
        </p:txBody>
      </p:sp>
      <p:sp>
        <p:nvSpPr>
          <p:cNvPr id="65" name="Text 10">
            <a:extLst>
              <a:ext uri="{FF2B5EF4-FFF2-40B4-BE49-F238E27FC236}">
                <a16:creationId xmlns:a16="http://schemas.microsoft.com/office/drawing/2014/main" id="{0C955D63-92E9-5EF7-E5CB-D9E1D307E467}"/>
              </a:ext>
            </a:extLst>
          </p:cNvPr>
          <p:cNvSpPr/>
          <p:nvPr/>
        </p:nvSpPr>
        <p:spPr>
          <a:xfrm>
            <a:off x="1463040" y="3475604"/>
            <a:ext cx="530352" cy="246888"/>
          </a:xfrm>
          <a:prstGeom prst="rect">
            <a:avLst/>
          </a:prstGeom>
          <a:solidFill>
            <a:srgbClr val="F0EAFD"/>
          </a:solidFill>
          <a:ln>
            <a:solidFill>
              <a:srgbClr val="F0EAFD">
                <a:alpha val="0"/>
              </a:srgbClr>
            </a:solidFill>
          </a:ln>
        </p:spPr>
        <p:txBody>
          <a:bodyPr wrap="square" lIns="127" tIns="127" rIns="127" bIns="127" rtlCol="0" anchor="ctr"/>
          <a:lstStyle/>
          <a:p>
            <a:pPr marL="0" indent="0" algn="ctr">
              <a:buNone/>
            </a:pPr>
            <a:r>
              <a:rPr lang="en-US" sz="760" b="1" dirty="0" err="1">
                <a:solidFill>
                  <a:srgbClr val="5B2DBB"/>
                </a:solidFill>
                <a:latin typeface="Aptos" pitchFamily="34" charset="0"/>
                <a:ea typeface="Aptos" pitchFamily="34" charset="-122"/>
                <a:cs typeface="Aptos" pitchFamily="34" charset="-120"/>
              </a:rPr>
              <a:t>Referidos</a:t>
            </a:r>
            <a:endParaRPr lang="en-US" sz="760" dirty="0"/>
          </a:p>
        </p:txBody>
      </p:sp>
      <p:sp>
        <p:nvSpPr>
          <p:cNvPr id="67" name="Text 11">
            <a:extLst>
              <a:ext uri="{FF2B5EF4-FFF2-40B4-BE49-F238E27FC236}">
                <a16:creationId xmlns:a16="http://schemas.microsoft.com/office/drawing/2014/main" id="{513D5118-2571-9892-DE62-FA6D7C9E3164}"/>
              </a:ext>
            </a:extLst>
          </p:cNvPr>
          <p:cNvSpPr/>
          <p:nvPr/>
        </p:nvSpPr>
        <p:spPr>
          <a:xfrm>
            <a:off x="731520" y="3813932"/>
            <a:ext cx="566928" cy="246888"/>
          </a:xfrm>
          <a:prstGeom prst="rect">
            <a:avLst/>
          </a:prstGeom>
          <a:solidFill>
            <a:srgbClr val="F0EAFD"/>
          </a:solidFill>
          <a:ln>
            <a:solidFill>
              <a:srgbClr val="F0EAFD">
                <a:alpha val="0"/>
              </a:srgbClr>
            </a:solidFill>
          </a:ln>
        </p:spPr>
        <p:txBody>
          <a:bodyPr wrap="square" lIns="127" tIns="127" rIns="127" bIns="127" rtlCol="0" anchor="ctr"/>
          <a:lstStyle/>
          <a:p>
            <a:pPr marL="0" indent="0" algn="ctr">
              <a:buNone/>
            </a:pPr>
            <a:r>
              <a:rPr lang="en-US" sz="760" b="1" dirty="0">
                <a:solidFill>
                  <a:srgbClr val="5B2DBB"/>
                </a:solidFill>
                <a:latin typeface="Aptos" pitchFamily="34" charset="0"/>
                <a:ea typeface="Aptos" pitchFamily="34" charset="-122"/>
                <a:cs typeface="Aptos" pitchFamily="34" charset="-120"/>
              </a:rPr>
              <a:t>Offline</a:t>
            </a:r>
            <a:endParaRPr lang="en-US" sz="760" dirty="0"/>
          </a:p>
        </p:txBody>
      </p:sp>
      <p:sp>
        <p:nvSpPr>
          <p:cNvPr id="69" name="Text 12">
            <a:extLst>
              <a:ext uri="{FF2B5EF4-FFF2-40B4-BE49-F238E27FC236}">
                <a16:creationId xmlns:a16="http://schemas.microsoft.com/office/drawing/2014/main" id="{D4387458-3375-785E-9685-E196F288B74B}"/>
              </a:ext>
            </a:extLst>
          </p:cNvPr>
          <p:cNvSpPr/>
          <p:nvPr/>
        </p:nvSpPr>
        <p:spPr>
          <a:xfrm>
            <a:off x="1463040" y="3813932"/>
            <a:ext cx="530352" cy="246888"/>
          </a:xfrm>
          <a:prstGeom prst="rect">
            <a:avLst/>
          </a:prstGeom>
          <a:solidFill>
            <a:srgbClr val="F0EAFD"/>
          </a:solidFill>
          <a:ln>
            <a:solidFill>
              <a:srgbClr val="F0EAFD">
                <a:alpha val="0"/>
              </a:srgbClr>
            </a:solidFill>
          </a:ln>
        </p:spPr>
        <p:txBody>
          <a:bodyPr wrap="square" lIns="127" tIns="127" rIns="127" bIns="127" rtlCol="0" anchor="ctr"/>
          <a:lstStyle/>
          <a:p>
            <a:pPr marL="0" indent="0" algn="ctr">
              <a:buNone/>
            </a:pPr>
            <a:r>
              <a:rPr lang="en-US" sz="760" b="1" dirty="0" err="1">
                <a:solidFill>
                  <a:srgbClr val="5B2DBB"/>
                </a:solidFill>
                <a:latin typeface="Aptos" pitchFamily="34" charset="0"/>
                <a:ea typeface="Aptos" pitchFamily="34" charset="-122"/>
                <a:cs typeface="Aptos" pitchFamily="34" charset="-120"/>
              </a:rPr>
              <a:t>Agencias</a:t>
            </a:r>
            <a:endParaRPr lang="en-US" sz="760" dirty="0"/>
          </a:p>
        </p:txBody>
      </p:sp>
      <p:sp>
        <p:nvSpPr>
          <p:cNvPr id="71" name="Shape 13">
            <a:extLst>
              <a:ext uri="{FF2B5EF4-FFF2-40B4-BE49-F238E27FC236}">
                <a16:creationId xmlns:a16="http://schemas.microsoft.com/office/drawing/2014/main" id="{933FE82A-1D62-DB05-49C7-0334F13277B0}"/>
              </a:ext>
            </a:extLst>
          </p:cNvPr>
          <p:cNvSpPr/>
          <p:nvPr/>
        </p:nvSpPr>
        <p:spPr>
          <a:xfrm>
            <a:off x="2560320" y="2195444"/>
            <a:ext cx="1600200" cy="2450592"/>
          </a:xfrm>
          <a:prstGeom prst="roundRect">
            <a:avLst/>
          </a:prstGeom>
          <a:solidFill>
            <a:srgbClr val="FFFFFF"/>
          </a:solidFill>
          <a:ln w="12700">
            <a:solidFill>
              <a:srgbClr val="DACDF6"/>
            </a:solidFill>
            <a:prstDash val="solid"/>
          </a:ln>
          <a:effectLst>
            <a:outerShdw blurRad="12700" dist="12700" dir="2700000" algn="bl" rotWithShape="0">
              <a:srgbClr val="000000">
                <a:alpha val="8000"/>
              </a:srgbClr>
            </a:outerShdw>
          </a:effectLst>
        </p:spPr>
        <p:txBody>
          <a:bodyPr/>
          <a:lstStyle/>
          <a:p>
            <a:endParaRPr lang="es-MX"/>
          </a:p>
        </p:txBody>
      </p:sp>
      <p:sp>
        <p:nvSpPr>
          <p:cNvPr id="73" name="Text 14">
            <a:extLst>
              <a:ext uri="{FF2B5EF4-FFF2-40B4-BE49-F238E27FC236}">
                <a16:creationId xmlns:a16="http://schemas.microsoft.com/office/drawing/2014/main" id="{88EB8AFF-5A14-6FB3-13F7-AEF8C3002B28}"/>
              </a:ext>
            </a:extLst>
          </p:cNvPr>
          <p:cNvSpPr/>
          <p:nvPr/>
        </p:nvSpPr>
        <p:spPr>
          <a:xfrm>
            <a:off x="2670048" y="2360036"/>
            <a:ext cx="1380744" cy="182880"/>
          </a:xfrm>
          <a:prstGeom prst="rect">
            <a:avLst/>
          </a:prstGeom>
          <a:noFill/>
          <a:ln/>
        </p:spPr>
        <p:txBody>
          <a:bodyPr wrap="square" lIns="0" tIns="0" rIns="0" bIns="0" rtlCol="0" anchor="ctr"/>
          <a:lstStyle/>
          <a:p>
            <a:pPr marL="0" indent="0" algn="ctr">
              <a:buNone/>
            </a:pPr>
            <a:r>
              <a:rPr lang="en-US" sz="1000" b="1" dirty="0">
                <a:solidFill>
                  <a:srgbClr val="6E43E9"/>
                </a:solidFill>
                <a:latin typeface="Aptos" pitchFamily="34" charset="0"/>
              </a:rPr>
              <a:t>ENTRADA</a:t>
            </a:r>
            <a:endParaRPr lang="en-US" sz="1000" dirty="0"/>
          </a:p>
        </p:txBody>
      </p:sp>
      <p:sp>
        <p:nvSpPr>
          <p:cNvPr id="75" name="Text 15">
            <a:extLst>
              <a:ext uri="{FF2B5EF4-FFF2-40B4-BE49-F238E27FC236}">
                <a16:creationId xmlns:a16="http://schemas.microsoft.com/office/drawing/2014/main" id="{E2B3CE47-E5E5-4C5B-24BF-EB522173330F}"/>
              </a:ext>
            </a:extLst>
          </p:cNvPr>
          <p:cNvSpPr/>
          <p:nvPr/>
        </p:nvSpPr>
        <p:spPr>
          <a:xfrm>
            <a:off x="2670048" y="2625212"/>
            <a:ext cx="1380744" cy="256032"/>
          </a:xfrm>
          <a:prstGeom prst="rect">
            <a:avLst/>
          </a:prstGeom>
          <a:noFill/>
          <a:ln/>
        </p:spPr>
        <p:txBody>
          <a:bodyPr wrap="square" lIns="0" tIns="0" rIns="0" bIns="0" rtlCol="0" anchor="ctr">
            <a:normAutofit lnSpcReduction="10000"/>
          </a:bodyPr>
          <a:lstStyle/>
          <a:p>
            <a:pPr marL="0" indent="0" algn="ctr">
              <a:buNone/>
            </a:pPr>
            <a:r>
              <a:rPr lang="en-US" sz="930" dirty="0">
                <a:solidFill>
                  <a:srgbClr val="736A89"/>
                </a:solidFill>
                <a:latin typeface="Aptos" pitchFamily="34" charset="0"/>
                <a:ea typeface="Aptos" pitchFamily="34" charset="-122"/>
                <a:cs typeface="Aptos" pitchFamily="34" charset="-120"/>
              </a:rPr>
              <a:t>Donde las </a:t>
            </a:r>
            <a:r>
              <a:rPr lang="en-US" sz="930" dirty="0" err="1">
                <a:solidFill>
                  <a:srgbClr val="736A89"/>
                </a:solidFill>
                <a:latin typeface="Aptos" pitchFamily="34" charset="0"/>
                <a:ea typeface="Aptos" pitchFamily="34" charset="-122"/>
                <a:cs typeface="Aptos" pitchFamily="34" charset="-120"/>
              </a:rPr>
              <a:t>conversaciones</a:t>
            </a:r>
            <a:r>
              <a:rPr lang="en-US" sz="930" dirty="0">
                <a:solidFill>
                  <a:srgbClr val="736A89"/>
                </a:solidFill>
                <a:latin typeface="Aptos" pitchFamily="34" charset="0"/>
                <a:ea typeface="Aptos" pitchFamily="34" charset="-122"/>
                <a:cs typeface="Aptos" pitchFamily="34" charset="-120"/>
              </a:rPr>
              <a:t> </a:t>
            </a:r>
            <a:r>
              <a:rPr lang="en-US" sz="930" dirty="0" err="1">
                <a:solidFill>
                  <a:srgbClr val="736A89"/>
                </a:solidFill>
                <a:latin typeface="Aptos" pitchFamily="34" charset="0"/>
                <a:ea typeface="Aptos" pitchFamily="34" charset="-122"/>
                <a:cs typeface="Aptos" pitchFamily="34" charset="-120"/>
              </a:rPr>
              <a:t>comienzan</a:t>
            </a:r>
            <a:endParaRPr lang="en-US" sz="930" dirty="0"/>
          </a:p>
        </p:txBody>
      </p:sp>
      <p:sp>
        <p:nvSpPr>
          <p:cNvPr id="77" name="Text 16">
            <a:extLst>
              <a:ext uri="{FF2B5EF4-FFF2-40B4-BE49-F238E27FC236}">
                <a16:creationId xmlns:a16="http://schemas.microsoft.com/office/drawing/2014/main" id="{E01AC879-2265-6054-9325-965D480E6006}"/>
              </a:ext>
            </a:extLst>
          </p:cNvPr>
          <p:cNvSpPr/>
          <p:nvPr/>
        </p:nvSpPr>
        <p:spPr>
          <a:xfrm>
            <a:off x="2788920" y="3158752"/>
            <a:ext cx="1143000" cy="292608"/>
          </a:xfrm>
          <a:prstGeom prst="rect">
            <a:avLst/>
          </a:prstGeom>
          <a:solidFill>
            <a:srgbClr val="F0EAFD"/>
          </a:solidFill>
          <a:ln>
            <a:solidFill>
              <a:srgbClr val="F0EAFD">
                <a:alpha val="0"/>
              </a:srgbClr>
            </a:solidFill>
          </a:ln>
        </p:spPr>
        <p:txBody>
          <a:bodyPr wrap="square" lIns="127" tIns="127" rIns="127" bIns="127" rtlCol="0" anchor="ctr"/>
          <a:lstStyle/>
          <a:p>
            <a:pPr marL="0" indent="0" algn="ctr">
              <a:buNone/>
            </a:pPr>
            <a:r>
              <a:rPr lang="en-US" sz="760" b="1" dirty="0">
                <a:solidFill>
                  <a:srgbClr val="5B2DBB"/>
                </a:solidFill>
                <a:latin typeface="Aptos" pitchFamily="34" charset="0"/>
                <a:ea typeface="Aptos" pitchFamily="34" charset="-122"/>
                <a:cs typeface="Aptos" pitchFamily="34" charset="-120"/>
              </a:rPr>
              <a:t>WhatsApp</a:t>
            </a:r>
            <a:endParaRPr lang="en-US" sz="760" dirty="0"/>
          </a:p>
        </p:txBody>
      </p:sp>
      <p:sp>
        <p:nvSpPr>
          <p:cNvPr id="79" name="Text 17">
            <a:extLst>
              <a:ext uri="{FF2B5EF4-FFF2-40B4-BE49-F238E27FC236}">
                <a16:creationId xmlns:a16="http://schemas.microsoft.com/office/drawing/2014/main" id="{F504B868-81D4-5A13-C334-260A8A30AC37}"/>
              </a:ext>
            </a:extLst>
          </p:cNvPr>
          <p:cNvSpPr/>
          <p:nvPr/>
        </p:nvSpPr>
        <p:spPr>
          <a:xfrm>
            <a:off x="2788920" y="3570232"/>
            <a:ext cx="521208" cy="292608"/>
          </a:xfrm>
          <a:prstGeom prst="rect">
            <a:avLst/>
          </a:prstGeom>
          <a:solidFill>
            <a:srgbClr val="F0EAFD"/>
          </a:solidFill>
          <a:ln>
            <a:solidFill>
              <a:srgbClr val="F0EAFD">
                <a:alpha val="0"/>
              </a:srgbClr>
            </a:solidFill>
          </a:ln>
        </p:spPr>
        <p:txBody>
          <a:bodyPr wrap="square" lIns="127" tIns="127" rIns="127" bIns="127" rtlCol="0" anchor="ctr"/>
          <a:lstStyle/>
          <a:p>
            <a:pPr marL="0" indent="0" algn="ctr">
              <a:buNone/>
            </a:pPr>
            <a:r>
              <a:rPr lang="en-US" sz="760" b="1" dirty="0">
                <a:solidFill>
                  <a:srgbClr val="5B2DBB"/>
                </a:solidFill>
                <a:latin typeface="Aptos" pitchFamily="34" charset="0"/>
                <a:ea typeface="Aptos" pitchFamily="34" charset="-122"/>
                <a:cs typeface="Aptos" pitchFamily="34" charset="-120"/>
              </a:rPr>
              <a:t>Web</a:t>
            </a:r>
            <a:endParaRPr lang="en-US" sz="760" dirty="0"/>
          </a:p>
        </p:txBody>
      </p:sp>
      <p:sp>
        <p:nvSpPr>
          <p:cNvPr id="81" name="Text 18">
            <a:extLst>
              <a:ext uri="{FF2B5EF4-FFF2-40B4-BE49-F238E27FC236}">
                <a16:creationId xmlns:a16="http://schemas.microsoft.com/office/drawing/2014/main" id="{D5F61BE1-B0B7-EBEA-A9F0-76FB04DA472E}"/>
              </a:ext>
            </a:extLst>
          </p:cNvPr>
          <p:cNvSpPr/>
          <p:nvPr/>
        </p:nvSpPr>
        <p:spPr>
          <a:xfrm>
            <a:off x="3410712" y="3570232"/>
            <a:ext cx="521208" cy="292608"/>
          </a:xfrm>
          <a:prstGeom prst="rect">
            <a:avLst/>
          </a:prstGeom>
          <a:solidFill>
            <a:srgbClr val="F0EAFD"/>
          </a:solidFill>
          <a:ln>
            <a:solidFill>
              <a:srgbClr val="F0EAFD">
                <a:alpha val="0"/>
              </a:srgbClr>
            </a:solidFill>
          </a:ln>
        </p:spPr>
        <p:txBody>
          <a:bodyPr wrap="square" lIns="127" tIns="127" rIns="127" bIns="127" rtlCol="0" anchor="ctr"/>
          <a:lstStyle/>
          <a:p>
            <a:pPr marL="0" indent="0" algn="ctr">
              <a:buNone/>
            </a:pPr>
            <a:r>
              <a:rPr lang="en-US" sz="760" b="1" dirty="0">
                <a:solidFill>
                  <a:srgbClr val="5B2DBB"/>
                </a:solidFill>
                <a:latin typeface="Aptos" pitchFamily="34" charset="0"/>
                <a:ea typeface="Aptos" pitchFamily="34" charset="-122"/>
                <a:cs typeface="Aptos" pitchFamily="34" charset="-120"/>
              </a:rPr>
              <a:t>Telegram</a:t>
            </a:r>
            <a:endParaRPr lang="en-US" sz="760" dirty="0"/>
          </a:p>
        </p:txBody>
      </p:sp>
      <p:sp>
        <p:nvSpPr>
          <p:cNvPr id="83" name="Shape 19">
            <a:extLst>
              <a:ext uri="{FF2B5EF4-FFF2-40B4-BE49-F238E27FC236}">
                <a16:creationId xmlns:a16="http://schemas.microsoft.com/office/drawing/2014/main" id="{FECDDAB3-4907-3C5B-B392-AEAA8D3ED1E0}"/>
              </a:ext>
            </a:extLst>
          </p:cNvPr>
          <p:cNvSpPr/>
          <p:nvPr/>
        </p:nvSpPr>
        <p:spPr>
          <a:xfrm>
            <a:off x="4572000" y="2122292"/>
            <a:ext cx="2286000" cy="2596896"/>
          </a:xfrm>
          <a:prstGeom prst="roundRect">
            <a:avLst/>
          </a:prstGeom>
          <a:solidFill>
            <a:srgbClr val="23173D"/>
          </a:solidFill>
          <a:ln w="12700">
            <a:solidFill>
              <a:srgbClr val="3A2A57"/>
            </a:solidFill>
            <a:prstDash val="solid"/>
          </a:ln>
          <a:effectLst>
            <a:outerShdw blurRad="25400" dist="13970" dir="2700000" algn="bl" rotWithShape="0">
              <a:srgbClr val="000000">
                <a:alpha val="18000"/>
              </a:srgbClr>
            </a:outerShdw>
          </a:effectLst>
        </p:spPr>
        <p:txBody>
          <a:bodyPr/>
          <a:lstStyle/>
          <a:p>
            <a:endParaRPr lang="es-MX"/>
          </a:p>
        </p:txBody>
      </p:sp>
      <p:sp>
        <p:nvSpPr>
          <p:cNvPr id="85" name="Text 20">
            <a:extLst>
              <a:ext uri="{FF2B5EF4-FFF2-40B4-BE49-F238E27FC236}">
                <a16:creationId xmlns:a16="http://schemas.microsoft.com/office/drawing/2014/main" id="{3A849298-C05F-A312-ADB1-FC6D6AF3ED82}"/>
              </a:ext>
            </a:extLst>
          </p:cNvPr>
          <p:cNvSpPr/>
          <p:nvPr/>
        </p:nvSpPr>
        <p:spPr>
          <a:xfrm>
            <a:off x="5084064" y="2125176"/>
            <a:ext cx="1261872" cy="201168"/>
          </a:xfrm>
          <a:prstGeom prst="rect">
            <a:avLst/>
          </a:prstGeom>
          <a:solidFill>
            <a:srgbClr val="6E43E9"/>
          </a:solidFill>
          <a:ln>
            <a:solidFill>
              <a:srgbClr val="6E43E9"/>
            </a:solidFill>
          </a:ln>
        </p:spPr>
        <p:txBody>
          <a:bodyPr wrap="square" lIns="127" tIns="127" rIns="127" bIns="127" rtlCol="0" anchor="ctr"/>
          <a:lstStyle/>
          <a:p>
            <a:pPr marL="0" indent="0" algn="ctr">
              <a:buNone/>
            </a:pPr>
            <a:r>
              <a:rPr lang="en-US" sz="740" b="1" dirty="0">
                <a:solidFill>
                  <a:srgbClr val="FFFFFF"/>
                </a:solidFill>
                <a:latin typeface="Aptos" pitchFamily="34" charset="0"/>
                <a:ea typeface="Aptos" pitchFamily="34" charset="-122"/>
                <a:cs typeface="Aptos" pitchFamily="34" charset="-120"/>
              </a:rPr>
              <a:t>“middleware” manual</a:t>
            </a:r>
            <a:endParaRPr lang="en-US" sz="740" dirty="0"/>
          </a:p>
        </p:txBody>
      </p:sp>
      <p:sp>
        <p:nvSpPr>
          <p:cNvPr id="87" name="Text 21">
            <a:extLst>
              <a:ext uri="{FF2B5EF4-FFF2-40B4-BE49-F238E27FC236}">
                <a16:creationId xmlns:a16="http://schemas.microsoft.com/office/drawing/2014/main" id="{008C1304-239E-DF01-AA49-1F6790A3C63C}"/>
              </a:ext>
            </a:extLst>
          </p:cNvPr>
          <p:cNvSpPr/>
          <p:nvPr/>
        </p:nvSpPr>
        <p:spPr>
          <a:xfrm>
            <a:off x="4773168" y="2625212"/>
            <a:ext cx="1883664" cy="896112"/>
          </a:xfrm>
          <a:prstGeom prst="rect">
            <a:avLst/>
          </a:prstGeom>
          <a:noFill/>
          <a:ln/>
        </p:spPr>
        <p:txBody>
          <a:bodyPr wrap="square" lIns="127" tIns="127" rIns="127" bIns="127" rtlCol="0" anchor="ctr">
            <a:normAutofit lnSpcReduction="10000"/>
          </a:bodyPr>
          <a:lstStyle/>
          <a:p>
            <a:pPr marL="0" indent="0" algn="ctr">
              <a:buNone/>
            </a:pPr>
            <a:r>
              <a:rPr lang="en-US" sz="2000" b="1" dirty="0">
                <a:solidFill>
                  <a:srgbClr val="FFFFFF"/>
                </a:solidFill>
                <a:latin typeface="Aptos Display" pitchFamily="34" charset="0"/>
                <a:ea typeface="Aptos Display" pitchFamily="34" charset="-122"/>
                <a:cs typeface="Aptos Display" pitchFamily="34" charset="-120"/>
              </a:rPr>
              <a:t>CAPA DE COORDINACIÓN HUMANA</a:t>
            </a:r>
            <a:endParaRPr lang="en-US" sz="2000" dirty="0"/>
          </a:p>
        </p:txBody>
      </p:sp>
      <p:sp>
        <p:nvSpPr>
          <p:cNvPr id="89" name="Text 22">
            <a:extLst>
              <a:ext uri="{FF2B5EF4-FFF2-40B4-BE49-F238E27FC236}">
                <a16:creationId xmlns:a16="http://schemas.microsoft.com/office/drawing/2014/main" id="{B512AB9E-E441-77A5-906E-1D63151D1898}"/>
              </a:ext>
            </a:extLst>
          </p:cNvPr>
          <p:cNvSpPr/>
          <p:nvPr/>
        </p:nvSpPr>
        <p:spPr>
          <a:xfrm>
            <a:off x="4791456" y="3795644"/>
            <a:ext cx="1847088" cy="438912"/>
          </a:xfrm>
          <a:prstGeom prst="rect">
            <a:avLst/>
          </a:prstGeom>
          <a:noFill/>
          <a:ln/>
        </p:spPr>
        <p:txBody>
          <a:bodyPr wrap="square" lIns="127" tIns="127" rIns="127" bIns="127" rtlCol="0" anchor="ctr">
            <a:normAutofit lnSpcReduction="10000"/>
          </a:bodyPr>
          <a:lstStyle/>
          <a:p>
            <a:pPr marL="0" indent="0" algn="ctr">
              <a:buNone/>
            </a:pPr>
            <a:r>
              <a:rPr lang="en-US" sz="1010" dirty="0">
                <a:solidFill>
                  <a:srgbClr val="E6DFF8"/>
                </a:solidFill>
                <a:latin typeface="Aptos" pitchFamily="34" charset="0"/>
                <a:ea typeface="Aptos" pitchFamily="34" charset="-122"/>
                <a:cs typeface="Aptos" pitchFamily="34" charset="-120"/>
              </a:rPr>
              <a:t>Responder · </a:t>
            </a:r>
            <a:r>
              <a:rPr lang="en-US" sz="1010" dirty="0" err="1">
                <a:solidFill>
                  <a:srgbClr val="E6DFF8"/>
                </a:solidFill>
                <a:latin typeface="Aptos" pitchFamily="34" charset="0"/>
                <a:ea typeface="Aptos" pitchFamily="34" charset="-122"/>
                <a:cs typeface="Aptos" pitchFamily="34" charset="-120"/>
              </a:rPr>
              <a:t>Recordar</a:t>
            </a:r>
            <a:r>
              <a:rPr lang="en-US" sz="1010" dirty="0">
                <a:solidFill>
                  <a:srgbClr val="E6DFF8"/>
                </a:solidFill>
                <a:latin typeface="Aptos" pitchFamily="34" charset="0"/>
                <a:ea typeface="Aptos" pitchFamily="34" charset="-122"/>
                <a:cs typeface="Aptos" pitchFamily="34" charset="-120"/>
              </a:rPr>
              <a:t> · </a:t>
            </a:r>
            <a:r>
              <a:rPr lang="en-US" sz="1010" dirty="0" err="1">
                <a:solidFill>
                  <a:srgbClr val="E6DFF8"/>
                </a:solidFill>
                <a:latin typeface="Aptos" pitchFamily="34" charset="0"/>
                <a:ea typeface="Aptos" pitchFamily="34" charset="-122"/>
                <a:cs typeface="Aptos" pitchFamily="34" charset="-120"/>
              </a:rPr>
              <a:t>Buscar</a:t>
            </a:r>
            <a:endParaRPr lang="en-US" sz="1010" dirty="0"/>
          </a:p>
          <a:p>
            <a:pPr marL="0" indent="0" algn="ctr">
              <a:buNone/>
            </a:pPr>
            <a:r>
              <a:rPr lang="en-US" sz="1010" dirty="0" err="1">
                <a:solidFill>
                  <a:srgbClr val="E6DFF8"/>
                </a:solidFill>
                <a:latin typeface="Aptos" pitchFamily="34" charset="0"/>
                <a:ea typeface="Aptos" pitchFamily="34" charset="-122"/>
                <a:cs typeface="Aptos" pitchFamily="34" charset="-120"/>
              </a:rPr>
              <a:t>Coordinar</a:t>
            </a:r>
            <a:r>
              <a:rPr lang="en-US" sz="1010" dirty="0">
                <a:solidFill>
                  <a:srgbClr val="E6DFF8"/>
                </a:solidFill>
                <a:latin typeface="Aptos" pitchFamily="34" charset="0"/>
                <a:ea typeface="Aptos" pitchFamily="34" charset="-122"/>
                <a:cs typeface="Aptos" pitchFamily="34" charset="-120"/>
              </a:rPr>
              <a:t> · </a:t>
            </a:r>
            <a:r>
              <a:rPr lang="en-US" sz="1010" dirty="0" err="1">
                <a:solidFill>
                  <a:srgbClr val="E6DFF8"/>
                </a:solidFill>
                <a:latin typeface="Aptos" pitchFamily="34" charset="0"/>
                <a:ea typeface="Aptos" pitchFamily="34" charset="-122"/>
                <a:cs typeface="Aptos" pitchFamily="34" charset="-120"/>
              </a:rPr>
              <a:t>Actualizar</a:t>
            </a:r>
            <a:r>
              <a:rPr lang="en-US" sz="1010" dirty="0">
                <a:solidFill>
                  <a:srgbClr val="E6DFF8"/>
                </a:solidFill>
                <a:latin typeface="Aptos" pitchFamily="34" charset="0"/>
                <a:ea typeface="Aptos" pitchFamily="34" charset="-122"/>
                <a:cs typeface="Aptos" pitchFamily="34" charset="-120"/>
              </a:rPr>
              <a:t> · </a:t>
            </a:r>
          </a:p>
          <a:p>
            <a:pPr marL="0" indent="0" algn="ctr">
              <a:buNone/>
            </a:pPr>
            <a:r>
              <a:rPr lang="en-US" sz="1010" dirty="0">
                <a:solidFill>
                  <a:srgbClr val="E6DFF8"/>
                </a:solidFill>
                <a:latin typeface="Aptos" pitchFamily="34" charset="0"/>
                <a:ea typeface="Aptos" pitchFamily="34" charset="-122"/>
                <a:cs typeface="Aptos" pitchFamily="34" charset="-120"/>
              </a:rPr>
              <a:t>Dar </a:t>
            </a:r>
            <a:r>
              <a:rPr lang="en-US" sz="1010" dirty="0" err="1">
                <a:solidFill>
                  <a:srgbClr val="E6DFF8"/>
                </a:solidFill>
                <a:latin typeface="Aptos" pitchFamily="34" charset="0"/>
                <a:ea typeface="Aptos" pitchFamily="34" charset="-122"/>
                <a:cs typeface="Aptos" pitchFamily="34" charset="-120"/>
              </a:rPr>
              <a:t>seguimiento</a:t>
            </a:r>
            <a:endParaRPr lang="en-US" sz="1010" dirty="0"/>
          </a:p>
        </p:txBody>
      </p:sp>
      <p:sp>
        <p:nvSpPr>
          <p:cNvPr id="91" name="Shape 23">
            <a:extLst>
              <a:ext uri="{FF2B5EF4-FFF2-40B4-BE49-F238E27FC236}">
                <a16:creationId xmlns:a16="http://schemas.microsoft.com/office/drawing/2014/main" id="{D604C831-7DEB-BA9D-06BA-C3B43FAD1A50}"/>
              </a:ext>
            </a:extLst>
          </p:cNvPr>
          <p:cNvSpPr/>
          <p:nvPr/>
        </p:nvSpPr>
        <p:spPr>
          <a:xfrm>
            <a:off x="7333488" y="2195444"/>
            <a:ext cx="2057400" cy="2450592"/>
          </a:xfrm>
          <a:prstGeom prst="roundRect">
            <a:avLst/>
          </a:prstGeom>
          <a:solidFill>
            <a:srgbClr val="FFFFFF"/>
          </a:solidFill>
          <a:ln w="12700">
            <a:solidFill>
              <a:srgbClr val="DACDF6"/>
            </a:solidFill>
            <a:prstDash val="solid"/>
          </a:ln>
          <a:effectLst>
            <a:outerShdw blurRad="12700" dist="12700" dir="2700000" algn="bl" rotWithShape="0">
              <a:srgbClr val="000000">
                <a:alpha val="8000"/>
              </a:srgbClr>
            </a:outerShdw>
          </a:effectLst>
        </p:spPr>
        <p:txBody>
          <a:bodyPr/>
          <a:lstStyle/>
          <a:p>
            <a:endParaRPr lang="es-MX"/>
          </a:p>
        </p:txBody>
      </p:sp>
      <p:sp>
        <p:nvSpPr>
          <p:cNvPr id="93" name="Text 24">
            <a:extLst>
              <a:ext uri="{FF2B5EF4-FFF2-40B4-BE49-F238E27FC236}">
                <a16:creationId xmlns:a16="http://schemas.microsoft.com/office/drawing/2014/main" id="{44FB9266-0EA1-BAD1-5D13-B24A952E290B}"/>
              </a:ext>
            </a:extLst>
          </p:cNvPr>
          <p:cNvSpPr/>
          <p:nvPr/>
        </p:nvSpPr>
        <p:spPr>
          <a:xfrm>
            <a:off x="7443216" y="2360036"/>
            <a:ext cx="1837944" cy="182880"/>
          </a:xfrm>
          <a:prstGeom prst="rect">
            <a:avLst/>
          </a:prstGeom>
          <a:noFill/>
          <a:ln/>
        </p:spPr>
        <p:txBody>
          <a:bodyPr wrap="square" lIns="0" tIns="0" rIns="0" bIns="0" rtlCol="0" anchor="ctr"/>
          <a:lstStyle/>
          <a:p>
            <a:pPr marL="0" indent="0" algn="ctr">
              <a:buNone/>
            </a:pPr>
            <a:r>
              <a:rPr lang="en-US" sz="1000" b="1" dirty="0">
                <a:solidFill>
                  <a:srgbClr val="6E43E9"/>
                </a:solidFill>
                <a:latin typeface="Aptos" pitchFamily="34" charset="0"/>
                <a:ea typeface="Aptos" pitchFamily="34" charset="-122"/>
                <a:cs typeface="Aptos" pitchFamily="34" charset="-120"/>
              </a:rPr>
              <a:t>SISTEMAS + EJECUCIÓN</a:t>
            </a:r>
            <a:endParaRPr lang="en-US" sz="1000" dirty="0"/>
          </a:p>
        </p:txBody>
      </p:sp>
      <p:sp>
        <p:nvSpPr>
          <p:cNvPr id="95" name="Text 25">
            <a:extLst>
              <a:ext uri="{FF2B5EF4-FFF2-40B4-BE49-F238E27FC236}">
                <a16:creationId xmlns:a16="http://schemas.microsoft.com/office/drawing/2014/main" id="{BC294EC4-1A3A-86D5-953F-61021EFB72FA}"/>
              </a:ext>
            </a:extLst>
          </p:cNvPr>
          <p:cNvSpPr/>
          <p:nvPr/>
        </p:nvSpPr>
        <p:spPr>
          <a:xfrm>
            <a:off x="7443216" y="2625212"/>
            <a:ext cx="1837944" cy="256032"/>
          </a:xfrm>
          <a:prstGeom prst="rect">
            <a:avLst/>
          </a:prstGeom>
          <a:noFill/>
          <a:ln/>
        </p:spPr>
        <p:txBody>
          <a:bodyPr wrap="square" lIns="0" tIns="0" rIns="0" bIns="0" rtlCol="0" anchor="ctr">
            <a:normAutofit/>
          </a:bodyPr>
          <a:lstStyle/>
          <a:p>
            <a:pPr marL="0" indent="0" algn="ctr">
              <a:buNone/>
            </a:pPr>
            <a:r>
              <a:rPr lang="en-US" sz="930" dirty="0">
                <a:solidFill>
                  <a:srgbClr val="736A89"/>
                </a:solidFill>
                <a:latin typeface="Aptos" pitchFamily="34" charset="0"/>
                <a:ea typeface="Aptos" pitchFamily="34" charset="-122"/>
                <a:cs typeface="Aptos" pitchFamily="34" charset="-120"/>
              </a:rPr>
              <a:t>Donde el </a:t>
            </a:r>
            <a:r>
              <a:rPr lang="en-US" sz="930" dirty="0" err="1">
                <a:solidFill>
                  <a:srgbClr val="736A89"/>
                </a:solidFill>
                <a:latin typeface="Aptos" pitchFamily="34" charset="0"/>
                <a:ea typeface="Aptos" pitchFamily="34" charset="-122"/>
                <a:cs typeface="Aptos" pitchFamily="34" charset="-120"/>
              </a:rPr>
              <a:t>trabajo</a:t>
            </a:r>
            <a:r>
              <a:rPr lang="en-US" sz="930" dirty="0">
                <a:solidFill>
                  <a:srgbClr val="736A89"/>
                </a:solidFill>
                <a:latin typeface="Aptos" pitchFamily="34" charset="0"/>
                <a:ea typeface="Aptos" pitchFamily="34" charset="-122"/>
                <a:cs typeface="Aptos" pitchFamily="34" charset="-120"/>
              </a:rPr>
              <a:t> se </a:t>
            </a:r>
            <a:r>
              <a:rPr lang="en-US" sz="930" dirty="0" err="1">
                <a:solidFill>
                  <a:srgbClr val="736A89"/>
                </a:solidFill>
                <a:latin typeface="Aptos" pitchFamily="34" charset="0"/>
                <a:ea typeface="Aptos" pitchFamily="34" charset="-122"/>
                <a:cs typeface="Aptos" pitchFamily="34" charset="-120"/>
              </a:rPr>
              <a:t>realiza</a:t>
            </a:r>
            <a:endParaRPr lang="en-US" sz="930" dirty="0"/>
          </a:p>
        </p:txBody>
      </p:sp>
      <p:sp>
        <p:nvSpPr>
          <p:cNvPr id="97" name="Text 26">
            <a:extLst>
              <a:ext uri="{FF2B5EF4-FFF2-40B4-BE49-F238E27FC236}">
                <a16:creationId xmlns:a16="http://schemas.microsoft.com/office/drawing/2014/main" id="{8FBDBAA3-5652-7456-6390-E8F46260525E}"/>
              </a:ext>
            </a:extLst>
          </p:cNvPr>
          <p:cNvSpPr/>
          <p:nvPr/>
        </p:nvSpPr>
        <p:spPr>
          <a:xfrm>
            <a:off x="7498080" y="3137276"/>
            <a:ext cx="566928" cy="246888"/>
          </a:xfrm>
          <a:prstGeom prst="rect">
            <a:avLst/>
          </a:prstGeom>
          <a:solidFill>
            <a:srgbClr val="F1EEF7"/>
          </a:solidFill>
          <a:ln>
            <a:solidFill>
              <a:srgbClr val="F1EEF7">
                <a:alpha val="0"/>
              </a:srgbClr>
            </a:solidFill>
          </a:ln>
        </p:spPr>
        <p:txBody>
          <a:bodyPr wrap="square" lIns="127" tIns="127" rIns="127" bIns="127" rtlCol="0" anchor="ctr"/>
          <a:lstStyle/>
          <a:p>
            <a:pPr marL="0" indent="0" algn="ctr">
              <a:buNone/>
            </a:pPr>
            <a:r>
              <a:rPr lang="en-US" sz="760" b="1" dirty="0">
                <a:solidFill>
                  <a:srgbClr val="191529"/>
                </a:solidFill>
                <a:latin typeface="Aptos" pitchFamily="34" charset="0"/>
                <a:ea typeface="Aptos" pitchFamily="34" charset="-122"/>
                <a:cs typeface="Aptos" pitchFamily="34" charset="-120"/>
              </a:rPr>
              <a:t>CRM</a:t>
            </a:r>
            <a:endParaRPr lang="en-US" sz="760" dirty="0"/>
          </a:p>
        </p:txBody>
      </p:sp>
      <p:sp>
        <p:nvSpPr>
          <p:cNvPr id="99" name="Text 27">
            <a:extLst>
              <a:ext uri="{FF2B5EF4-FFF2-40B4-BE49-F238E27FC236}">
                <a16:creationId xmlns:a16="http://schemas.microsoft.com/office/drawing/2014/main" id="{01DDE2C4-D75C-3503-F262-970714291A2D}"/>
              </a:ext>
            </a:extLst>
          </p:cNvPr>
          <p:cNvSpPr/>
          <p:nvPr/>
        </p:nvSpPr>
        <p:spPr>
          <a:xfrm>
            <a:off x="8193024" y="3137276"/>
            <a:ext cx="749808" cy="246888"/>
          </a:xfrm>
          <a:prstGeom prst="rect">
            <a:avLst/>
          </a:prstGeom>
          <a:solidFill>
            <a:srgbClr val="F1EEF7"/>
          </a:solidFill>
          <a:ln>
            <a:solidFill>
              <a:srgbClr val="F1EEF7">
                <a:alpha val="0"/>
              </a:srgbClr>
            </a:solidFill>
          </a:ln>
        </p:spPr>
        <p:txBody>
          <a:bodyPr wrap="square" lIns="127" tIns="127" rIns="127" bIns="127" rtlCol="0" anchor="ctr"/>
          <a:lstStyle/>
          <a:p>
            <a:pPr marL="0" indent="0" algn="ctr">
              <a:buNone/>
            </a:pPr>
            <a:r>
              <a:rPr lang="en-US" sz="760" b="1" dirty="0" err="1">
                <a:solidFill>
                  <a:srgbClr val="191529"/>
                </a:solidFill>
                <a:latin typeface="Aptos" pitchFamily="34" charset="0"/>
                <a:ea typeface="Aptos" pitchFamily="34" charset="-122"/>
                <a:cs typeface="Aptos" pitchFamily="34" charset="-120"/>
              </a:rPr>
              <a:t>Inventario</a:t>
            </a:r>
            <a:endParaRPr lang="en-US" sz="760" dirty="0"/>
          </a:p>
        </p:txBody>
      </p:sp>
      <p:sp>
        <p:nvSpPr>
          <p:cNvPr id="101" name="Text 28">
            <a:extLst>
              <a:ext uri="{FF2B5EF4-FFF2-40B4-BE49-F238E27FC236}">
                <a16:creationId xmlns:a16="http://schemas.microsoft.com/office/drawing/2014/main" id="{8A84FF03-2BF3-15E6-24A2-E275DCE2472F}"/>
              </a:ext>
            </a:extLst>
          </p:cNvPr>
          <p:cNvSpPr/>
          <p:nvPr/>
        </p:nvSpPr>
        <p:spPr>
          <a:xfrm>
            <a:off x="7498080" y="3475604"/>
            <a:ext cx="713232" cy="246888"/>
          </a:xfrm>
          <a:prstGeom prst="rect">
            <a:avLst/>
          </a:prstGeom>
          <a:solidFill>
            <a:srgbClr val="F1EEF7"/>
          </a:solidFill>
          <a:ln>
            <a:solidFill>
              <a:srgbClr val="F1EEF7">
                <a:alpha val="0"/>
              </a:srgbClr>
            </a:solidFill>
          </a:ln>
        </p:spPr>
        <p:txBody>
          <a:bodyPr wrap="square" lIns="127" tIns="127" rIns="127" bIns="127" rtlCol="0" anchor="ctr"/>
          <a:lstStyle/>
          <a:p>
            <a:pPr marL="0" indent="0" algn="ctr">
              <a:buNone/>
            </a:pPr>
            <a:r>
              <a:rPr lang="en-US" sz="760" b="1" dirty="0">
                <a:solidFill>
                  <a:srgbClr val="191529"/>
                </a:solidFill>
                <a:latin typeface="Aptos" pitchFamily="34" charset="0"/>
                <a:ea typeface="Aptos" pitchFamily="34" charset="-122"/>
                <a:cs typeface="Aptos" pitchFamily="34" charset="-120"/>
              </a:rPr>
              <a:t>Calendario</a:t>
            </a:r>
            <a:endParaRPr lang="en-US" sz="760" dirty="0"/>
          </a:p>
        </p:txBody>
      </p:sp>
      <p:sp>
        <p:nvSpPr>
          <p:cNvPr id="103" name="Text 29">
            <a:extLst>
              <a:ext uri="{FF2B5EF4-FFF2-40B4-BE49-F238E27FC236}">
                <a16:creationId xmlns:a16="http://schemas.microsoft.com/office/drawing/2014/main" id="{00A04686-ADCD-84EB-9224-6064E42CC51F}"/>
              </a:ext>
            </a:extLst>
          </p:cNvPr>
          <p:cNvSpPr/>
          <p:nvPr/>
        </p:nvSpPr>
        <p:spPr>
          <a:xfrm>
            <a:off x="8357616" y="3475604"/>
            <a:ext cx="502920" cy="246888"/>
          </a:xfrm>
          <a:prstGeom prst="rect">
            <a:avLst/>
          </a:prstGeom>
          <a:solidFill>
            <a:srgbClr val="F1EEF7"/>
          </a:solidFill>
          <a:ln>
            <a:solidFill>
              <a:srgbClr val="F1EEF7">
                <a:alpha val="0"/>
              </a:srgbClr>
            </a:solidFill>
          </a:ln>
        </p:spPr>
        <p:txBody>
          <a:bodyPr wrap="square" lIns="127" tIns="127" rIns="127" bIns="127" rtlCol="0" anchor="ctr"/>
          <a:lstStyle/>
          <a:p>
            <a:pPr marL="0" indent="0" algn="ctr">
              <a:buNone/>
            </a:pPr>
            <a:r>
              <a:rPr lang="en-US" sz="760" b="1" dirty="0">
                <a:solidFill>
                  <a:srgbClr val="191529"/>
                </a:solidFill>
                <a:latin typeface="Aptos" pitchFamily="34" charset="0"/>
                <a:ea typeface="Aptos" pitchFamily="34" charset="-122"/>
                <a:cs typeface="Aptos" pitchFamily="34" charset="-120"/>
              </a:rPr>
              <a:t>Docs</a:t>
            </a:r>
            <a:endParaRPr lang="en-US" sz="760" dirty="0"/>
          </a:p>
        </p:txBody>
      </p:sp>
      <p:sp>
        <p:nvSpPr>
          <p:cNvPr id="105" name="Text 30">
            <a:extLst>
              <a:ext uri="{FF2B5EF4-FFF2-40B4-BE49-F238E27FC236}">
                <a16:creationId xmlns:a16="http://schemas.microsoft.com/office/drawing/2014/main" id="{DBD7A194-219E-AA5B-0075-6565469792FD}"/>
              </a:ext>
            </a:extLst>
          </p:cNvPr>
          <p:cNvSpPr/>
          <p:nvPr/>
        </p:nvSpPr>
        <p:spPr>
          <a:xfrm>
            <a:off x="7498080" y="3813932"/>
            <a:ext cx="658368" cy="246888"/>
          </a:xfrm>
          <a:prstGeom prst="rect">
            <a:avLst/>
          </a:prstGeom>
          <a:solidFill>
            <a:srgbClr val="F1EEF7"/>
          </a:solidFill>
          <a:ln>
            <a:solidFill>
              <a:srgbClr val="F1EEF7">
                <a:alpha val="0"/>
              </a:srgbClr>
            </a:solidFill>
          </a:ln>
        </p:spPr>
        <p:txBody>
          <a:bodyPr wrap="square" lIns="127" tIns="127" rIns="127" bIns="127" rtlCol="0" anchor="ctr"/>
          <a:lstStyle/>
          <a:p>
            <a:pPr marL="0" indent="0" algn="ctr">
              <a:buNone/>
            </a:pPr>
            <a:r>
              <a:rPr lang="en-US" sz="760" b="1" dirty="0">
                <a:solidFill>
                  <a:srgbClr val="191529"/>
                </a:solidFill>
                <a:latin typeface="Aptos" pitchFamily="34" charset="0"/>
                <a:ea typeface="Aptos" pitchFamily="34" charset="-122"/>
                <a:cs typeface="Aptos" pitchFamily="34" charset="-120"/>
              </a:rPr>
              <a:t>Personas</a:t>
            </a:r>
            <a:endParaRPr lang="en-US" sz="760" dirty="0"/>
          </a:p>
        </p:txBody>
      </p:sp>
      <p:sp>
        <p:nvSpPr>
          <p:cNvPr id="107" name="Text 31">
            <a:extLst>
              <a:ext uri="{FF2B5EF4-FFF2-40B4-BE49-F238E27FC236}">
                <a16:creationId xmlns:a16="http://schemas.microsoft.com/office/drawing/2014/main" id="{0A88083A-10F2-4CC9-B798-49F06169824D}"/>
              </a:ext>
            </a:extLst>
          </p:cNvPr>
          <p:cNvSpPr/>
          <p:nvPr/>
        </p:nvSpPr>
        <p:spPr>
          <a:xfrm>
            <a:off x="8275320" y="3813932"/>
            <a:ext cx="749808" cy="246888"/>
          </a:xfrm>
          <a:prstGeom prst="rect">
            <a:avLst/>
          </a:prstGeom>
          <a:solidFill>
            <a:srgbClr val="F1EEF7"/>
          </a:solidFill>
          <a:ln>
            <a:solidFill>
              <a:srgbClr val="F1EEF7">
                <a:alpha val="0"/>
              </a:srgbClr>
            </a:solidFill>
          </a:ln>
        </p:spPr>
        <p:txBody>
          <a:bodyPr wrap="square" lIns="127" tIns="127" rIns="127" bIns="127" rtlCol="0" anchor="ctr"/>
          <a:lstStyle/>
          <a:p>
            <a:pPr marL="0" indent="0" algn="ctr">
              <a:buNone/>
            </a:pPr>
            <a:r>
              <a:rPr lang="en-US" sz="760" b="1" dirty="0" err="1">
                <a:solidFill>
                  <a:srgbClr val="191529"/>
                </a:solidFill>
                <a:latin typeface="Aptos" pitchFamily="34" charset="0"/>
                <a:ea typeface="Aptos" pitchFamily="34" charset="-122"/>
                <a:cs typeface="Aptos" pitchFamily="34" charset="-120"/>
              </a:rPr>
              <a:t>Proveedores</a:t>
            </a:r>
            <a:endParaRPr lang="en-US" sz="760" dirty="0"/>
          </a:p>
        </p:txBody>
      </p:sp>
      <p:sp>
        <p:nvSpPr>
          <p:cNvPr id="109" name="Shape 32">
            <a:extLst>
              <a:ext uri="{FF2B5EF4-FFF2-40B4-BE49-F238E27FC236}">
                <a16:creationId xmlns:a16="http://schemas.microsoft.com/office/drawing/2014/main" id="{817E7C3D-0E1B-58F5-312E-FF8598E91850}"/>
              </a:ext>
            </a:extLst>
          </p:cNvPr>
          <p:cNvSpPr/>
          <p:nvPr/>
        </p:nvSpPr>
        <p:spPr>
          <a:xfrm>
            <a:off x="9802368" y="2195444"/>
            <a:ext cx="1783080" cy="2450592"/>
          </a:xfrm>
          <a:prstGeom prst="roundRect">
            <a:avLst/>
          </a:prstGeom>
          <a:solidFill>
            <a:srgbClr val="FFFFFF"/>
          </a:solidFill>
          <a:ln w="12700">
            <a:solidFill>
              <a:srgbClr val="DACDF6"/>
            </a:solidFill>
            <a:prstDash val="solid"/>
          </a:ln>
          <a:effectLst>
            <a:outerShdw blurRad="12700" dist="12700" dir="2700000" algn="bl" rotWithShape="0">
              <a:srgbClr val="000000">
                <a:alpha val="8000"/>
              </a:srgbClr>
            </a:outerShdw>
          </a:effectLst>
        </p:spPr>
        <p:txBody>
          <a:bodyPr/>
          <a:lstStyle/>
          <a:p>
            <a:endParaRPr lang="es-MX"/>
          </a:p>
        </p:txBody>
      </p:sp>
      <p:sp>
        <p:nvSpPr>
          <p:cNvPr id="111" name="Text 33">
            <a:extLst>
              <a:ext uri="{FF2B5EF4-FFF2-40B4-BE49-F238E27FC236}">
                <a16:creationId xmlns:a16="http://schemas.microsoft.com/office/drawing/2014/main" id="{24DC1512-4127-BEC8-E9E1-E2CE5CA03D4C}"/>
              </a:ext>
            </a:extLst>
          </p:cNvPr>
          <p:cNvSpPr/>
          <p:nvPr/>
        </p:nvSpPr>
        <p:spPr>
          <a:xfrm>
            <a:off x="9912096" y="2360036"/>
            <a:ext cx="1563624" cy="182880"/>
          </a:xfrm>
          <a:prstGeom prst="rect">
            <a:avLst/>
          </a:prstGeom>
          <a:noFill/>
          <a:ln/>
        </p:spPr>
        <p:txBody>
          <a:bodyPr wrap="square" lIns="0" tIns="0" rIns="0" bIns="0" rtlCol="0" anchor="ctr"/>
          <a:lstStyle/>
          <a:p>
            <a:pPr marL="0" indent="0" algn="ctr">
              <a:buNone/>
            </a:pPr>
            <a:r>
              <a:rPr lang="en-US" sz="1000" b="1" dirty="0">
                <a:solidFill>
                  <a:srgbClr val="6E43E9"/>
                </a:solidFill>
                <a:latin typeface="Aptos" pitchFamily="34" charset="0"/>
                <a:ea typeface="Aptos" pitchFamily="34" charset="-122"/>
                <a:cs typeface="Aptos" pitchFamily="34" charset="-120"/>
              </a:rPr>
              <a:t>RESULTADOS</a:t>
            </a:r>
            <a:endParaRPr lang="en-US" sz="1000" dirty="0"/>
          </a:p>
        </p:txBody>
      </p:sp>
      <p:sp>
        <p:nvSpPr>
          <p:cNvPr id="113" name="Text 34">
            <a:extLst>
              <a:ext uri="{FF2B5EF4-FFF2-40B4-BE49-F238E27FC236}">
                <a16:creationId xmlns:a16="http://schemas.microsoft.com/office/drawing/2014/main" id="{F42E5E78-6B1B-C5B2-0C03-5CC8DB3EFA09}"/>
              </a:ext>
            </a:extLst>
          </p:cNvPr>
          <p:cNvSpPr/>
          <p:nvPr/>
        </p:nvSpPr>
        <p:spPr>
          <a:xfrm>
            <a:off x="9912096" y="2696771"/>
            <a:ext cx="1563624" cy="256032"/>
          </a:xfrm>
          <a:prstGeom prst="rect">
            <a:avLst/>
          </a:prstGeom>
          <a:noFill/>
          <a:ln/>
        </p:spPr>
        <p:txBody>
          <a:bodyPr wrap="square" lIns="0" tIns="0" rIns="0" bIns="0" rtlCol="0" anchor="ctr">
            <a:normAutofit lnSpcReduction="10000"/>
          </a:bodyPr>
          <a:lstStyle/>
          <a:p>
            <a:pPr marL="0" indent="0" algn="ctr">
              <a:buNone/>
            </a:pPr>
            <a:r>
              <a:rPr lang="en-US" sz="930" dirty="0">
                <a:solidFill>
                  <a:srgbClr val="736A89"/>
                </a:solidFill>
                <a:latin typeface="Aptos" pitchFamily="34" charset="0"/>
                <a:ea typeface="Aptos" pitchFamily="34" charset="-122"/>
                <a:cs typeface="Aptos" pitchFamily="34" charset="-120"/>
              </a:rPr>
              <a:t>Donde </a:t>
            </a:r>
            <a:r>
              <a:rPr lang="en-US" sz="930" dirty="0" err="1">
                <a:solidFill>
                  <a:srgbClr val="736A89"/>
                </a:solidFill>
                <a:latin typeface="Aptos" pitchFamily="34" charset="0"/>
                <a:ea typeface="Aptos" pitchFamily="34" charset="-122"/>
                <a:cs typeface="Aptos" pitchFamily="34" charset="-120"/>
              </a:rPr>
              <a:t>los</a:t>
            </a:r>
            <a:r>
              <a:rPr lang="en-US" sz="930" dirty="0">
                <a:solidFill>
                  <a:srgbClr val="736A89"/>
                </a:solidFill>
                <a:latin typeface="Aptos" pitchFamily="34" charset="0"/>
                <a:ea typeface="Aptos" pitchFamily="34" charset="-122"/>
                <a:cs typeface="Aptos" pitchFamily="34" charset="-120"/>
              </a:rPr>
              <a:t> </a:t>
            </a:r>
            <a:r>
              <a:rPr lang="en-US" sz="930" dirty="0" err="1">
                <a:solidFill>
                  <a:srgbClr val="736A89"/>
                </a:solidFill>
                <a:latin typeface="Aptos" pitchFamily="34" charset="0"/>
                <a:ea typeface="Aptos" pitchFamily="34" charset="-122"/>
                <a:cs typeface="Aptos" pitchFamily="34" charset="-120"/>
              </a:rPr>
              <a:t>ingresos</a:t>
            </a:r>
            <a:r>
              <a:rPr lang="en-US" sz="930" dirty="0">
                <a:solidFill>
                  <a:srgbClr val="736A89"/>
                </a:solidFill>
                <a:latin typeface="Aptos" pitchFamily="34" charset="0"/>
                <a:ea typeface="Aptos" pitchFamily="34" charset="-122"/>
                <a:cs typeface="Aptos" pitchFamily="34" charset="-120"/>
              </a:rPr>
              <a:t> se </a:t>
            </a:r>
            <a:r>
              <a:rPr lang="en-US" sz="930" dirty="0" err="1">
                <a:solidFill>
                  <a:srgbClr val="736A89"/>
                </a:solidFill>
                <a:latin typeface="Aptos" pitchFamily="34" charset="0"/>
                <a:ea typeface="Aptos" pitchFamily="34" charset="-122"/>
                <a:cs typeface="Aptos" pitchFamily="34" charset="-120"/>
              </a:rPr>
              <a:t>hacen</a:t>
            </a:r>
            <a:r>
              <a:rPr lang="en-US" sz="930" dirty="0">
                <a:solidFill>
                  <a:srgbClr val="736A89"/>
                </a:solidFill>
                <a:latin typeface="Aptos" pitchFamily="34" charset="0"/>
                <a:ea typeface="Aptos" pitchFamily="34" charset="-122"/>
                <a:cs typeface="Aptos" pitchFamily="34" charset="-120"/>
              </a:rPr>
              <a:t> </a:t>
            </a:r>
            <a:r>
              <a:rPr lang="en-US" sz="930" dirty="0" err="1">
                <a:solidFill>
                  <a:srgbClr val="736A89"/>
                </a:solidFill>
                <a:latin typeface="Aptos" pitchFamily="34" charset="0"/>
                <a:ea typeface="Aptos" pitchFamily="34" charset="-122"/>
                <a:cs typeface="Aptos" pitchFamily="34" charset="-120"/>
              </a:rPr>
              <a:t>posibles</a:t>
            </a:r>
            <a:endParaRPr lang="en-US" sz="930" dirty="0"/>
          </a:p>
        </p:txBody>
      </p:sp>
      <p:sp>
        <p:nvSpPr>
          <p:cNvPr id="115" name="Text 35">
            <a:extLst>
              <a:ext uri="{FF2B5EF4-FFF2-40B4-BE49-F238E27FC236}">
                <a16:creationId xmlns:a16="http://schemas.microsoft.com/office/drawing/2014/main" id="{54ACEF20-B768-2546-7F2E-EB33733AC5B3}"/>
              </a:ext>
            </a:extLst>
          </p:cNvPr>
          <p:cNvSpPr/>
          <p:nvPr/>
        </p:nvSpPr>
        <p:spPr>
          <a:xfrm>
            <a:off x="10058400" y="3182996"/>
            <a:ext cx="1261872" cy="301752"/>
          </a:xfrm>
          <a:prstGeom prst="rect">
            <a:avLst/>
          </a:prstGeom>
          <a:solidFill>
            <a:srgbClr val="F0EAFD"/>
          </a:solidFill>
          <a:ln>
            <a:solidFill>
              <a:srgbClr val="F0EAFD"/>
            </a:solidFill>
          </a:ln>
        </p:spPr>
        <p:txBody>
          <a:bodyPr wrap="square" lIns="127" tIns="127" rIns="127" bIns="127" rtlCol="0" anchor="ctr"/>
          <a:lstStyle/>
          <a:p>
            <a:pPr marL="0" indent="0" algn="ctr">
              <a:buNone/>
            </a:pPr>
            <a:r>
              <a:rPr lang="en-US" sz="870" b="1" dirty="0">
                <a:solidFill>
                  <a:srgbClr val="5B2DBB"/>
                </a:solidFill>
                <a:latin typeface="Aptos" pitchFamily="34" charset="0"/>
                <a:ea typeface="Aptos" pitchFamily="34" charset="-122"/>
                <a:cs typeface="Aptos" pitchFamily="34" charset="-120"/>
              </a:rPr>
              <a:t>VISITAS</a:t>
            </a:r>
            <a:endParaRPr lang="en-US" sz="870" dirty="0"/>
          </a:p>
        </p:txBody>
      </p:sp>
      <p:sp>
        <p:nvSpPr>
          <p:cNvPr id="117" name="Text 36">
            <a:extLst>
              <a:ext uri="{FF2B5EF4-FFF2-40B4-BE49-F238E27FC236}">
                <a16:creationId xmlns:a16="http://schemas.microsoft.com/office/drawing/2014/main" id="{CF7F96B5-7A16-CFC5-2DDD-73BC24F9051F}"/>
              </a:ext>
            </a:extLst>
          </p:cNvPr>
          <p:cNvSpPr/>
          <p:nvPr/>
        </p:nvSpPr>
        <p:spPr>
          <a:xfrm>
            <a:off x="10058400" y="3658484"/>
            <a:ext cx="1261872" cy="301752"/>
          </a:xfrm>
          <a:prstGeom prst="rect">
            <a:avLst/>
          </a:prstGeom>
          <a:solidFill>
            <a:srgbClr val="E5F5EE"/>
          </a:solidFill>
          <a:ln>
            <a:solidFill>
              <a:srgbClr val="E5F5EE"/>
            </a:solidFill>
          </a:ln>
        </p:spPr>
        <p:txBody>
          <a:bodyPr wrap="square" lIns="127" tIns="127" rIns="127" bIns="127" rtlCol="0" anchor="ctr"/>
          <a:lstStyle/>
          <a:p>
            <a:pPr marL="0" indent="0" algn="ctr">
              <a:buNone/>
            </a:pPr>
            <a:r>
              <a:rPr lang="en-US" sz="850" b="1" dirty="0">
                <a:solidFill>
                  <a:srgbClr val="0E8A53"/>
                </a:solidFill>
                <a:latin typeface="Aptos" pitchFamily="34" charset="0"/>
                <a:ea typeface="Aptos" pitchFamily="34" charset="-122"/>
                <a:cs typeface="Aptos" pitchFamily="34" charset="-120"/>
              </a:rPr>
              <a:t>TRANSACCIONES</a:t>
            </a:r>
            <a:endParaRPr lang="en-US" sz="850" dirty="0"/>
          </a:p>
        </p:txBody>
      </p:sp>
      <p:sp>
        <p:nvSpPr>
          <p:cNvPr id="119" name="Shape 37">
            <a:extLst>
              <a:ext uri="{FF2B5EF4-FFF2-40B4-BE49-F238E27FC236}">
                <a16:creationId xmlns:a16="http://schemas.microsoft.com/office/drawing/2014/main" id="{7218FCA0-1379-18F1-C708-63C36EC45752}"/>
              </a:ext>
            </a:extLst>
          </p:cNvPr>
          <p:cNvSpPr/>
          <p:nvPr/>
        </p:nvSpPr>
        <p:spPr>
          <a:xfrm>
            <a:off x="10689336" y="3503036"/>
            <a:ext cx="0" cy="128016"/>
          </a:xfrm>
          <a:prstGeom prst="line">
            <a:avLst/>
          </a:prstGeom>
          <a:noFill/>
          <a:ln w="12700">
            <a:solidFill>
              <a:srgbClr val="6E43E9"/>
            </a:solidFill>
            <a:prstDash val="solid"/>
            <a:headEnd type="none"/>
            <a:tailEnd type="triangle"/>
          </a:ln>
        </p:spPr>
        <p:txBody>
          <a:bodyPr/>
          <a:lstStyle/>
          <a:p>
            <a:endParaRPr lang="es-MX"/>
          </a:p>
        </p:txBody>
      </p:sp>
      <p:sp>
        <p:nvSpPr>
          <p:cNvPr id="121" name="Shape 38">
            <a:extLst>
              <a:ext uri="{FF2B5EF4-FFF2-40B4-BE49-F238E27FC236}">
                <a16:creationId xmlns:a16="http://schemas.microsoft.com/office/drawing/2014/main" id="{9ED68D3D-2EBB-2C94-62B2-C53FFFDA84EC}"/>
              </a:ext>
            </a:extLst>
          </p:cNvPr>
          <p:cNvSpPr/>
          <p:nvPr/>
        </p:nvSpPr>
        <p:spPr>
          <a:xfrm>
            <a:off x="2258568" y="3420740"/>
            <a:ext cx="192024" cy="0"/>
          </a:xfrm>
          <a:prstGeom prst="line">
            <a:avLst/>
          </a:prstGeom>
          <a:noFill/>
          <a:ln w="17145">
            <a:solidFill>
              <a:srgbClr val="6E43E9"/>
            </a:solidFill>
            <a:prstDash val="solid"/>
            <a:headEnd type="none"/>
            <a:tailEnd type="triangle"/>
          </a:ln>
        </p:spPr>
        <p:txBody>
          <a:bodyPr/>
          <a:lstStyle/>
          <a:p>
            <a:endParaRPr lang="es-MX"/>
          </a:p>
        </p:txBody>
      </p:sp>
      <p:sp>
        <p:nvSpPr>
          <p:cNvPr id="123" name="Shape 39">
            <a:extLst>
              <a:ext uri="{FF2B5EF4-FFF2-40B4-BE49-F238E27FC236}">
                <a16:creationId xmlns:a16="http://schemas.microsoft.com/office/drawing/2014/main" id="{28FE5AC0-32B7-2A0B-2AD5-796BCA0A2479}"/>
              </a:ext>
            </a:extLst>
          </p:cNvPr>
          <p:cNvSpPr/>
          <p:nvPr/>
        </p:nvSpPr>
        <p:spPr>
          <a:xfrm>
            <a:off x="4224528" y="3420740"/>
            <a:ext cx="219456" cy="0"/>
          </a:xfrm>
          <a:prstGeom prst="line">
            <a:avLst/>
          </a:prstGeom>
          <a:noFill/>
          <a:ln w="17145">
            <a:solidFill>
              <a:srgbClr val="6E43E9"/>
            </a:solidFill>
            <a:prstDash val="solid"/>
            <a:headEnd type="none"/>
            <a:tailEnd type="triangle"/>
          </a:ln>
        </p:spPr>
        <p:txBody>
          <a:bodyPr/>
          <a:lstStyle/>
          <a:p>
            <a:endParaRPr lang="es-MX"/>
          </a:p>
        </p:txBody>
      </p:sp>
      <p:sp>
        <p:nvSpPr>
          <p:cNvPr id="125" name="Shape 40">
            <a:extLst>
              <a:ext uri="{FF2B5EF4-FFF2-40B4-BE49-F238E27FC236}">
                <a16:creationId xmlns:a16="http://schemas.microsoft.com/office/drawing/2014/main" id="{D1E9CD0E-83A7-17BD-800F-E6C9694C8EE0}"/>
              </a:ext>
            </a:extLst>
          </p:cNvPr>
          <p:cNvSpPr/>
          <p:nvPr/>
        </p:nvSpPr>
        <p:spPr>
          <a:xfrm>
            <a:off x="6986016" y="3420740"/>
            <a:ext cx="219456" cy="0"/>
          </a:xfrm>
          <a:prstGeom prst="line">
            <a:avLst/>
          </a:prstGeom>
          <a:noFill/>
          <a:ln w="17145">
            <a:solidFill>
              <a:srgbClr val="6E43E9"/>
            </a:solidFill>
            <a:prstDash val="solid"/>
            <a:headEnd type="none"/>
            <a:tailEnd type="triangle"/>
          </a:ln>
        </p:spPr>
        <p:txBody>
          <a:bodyPr/>
          <a:lstStyle/>
          <a:p>
            <a:endParaRPr lang="es-MX"/>
          </a:p>
        </p:txBody>
      </p:sp>
      <p:sp>
        <p:nvSpPr>
          <p:cNvPr id="127" name="Shape 41">
            <a:extLst>
              <a:ext uri="{FF2B5EF4-FFF2-40B4-BE49-F238E27FC236}">
                <a16:creationId xmlns:a16="http://schemas.microsoft.com/office/drawing/2014/main" id="{79CC586A-FF00-8BC6-2741-1A585D0002A4}"/>
              </a:ext>
            </a:extLst>
          </p:cNvPr>
          <p:cNvSpPr/>
          <p:nvPr/>
        </p:nvSpPr>
        <p:spPr>
          <a:xfrm>
            <a:off x="9454896" y="3420740"/>
            <a:ext cx="219456" cy="0"/>
          </a:xfrm>
          <a:prstGeom prst="line">
            <a:avLst/>
          </a:prstGeom>
          <a:noFill/>
          <a:ln w="17145">
            <a:solidFill>
              <a:srgbClr val="6E43E9"/>
            </a:solidFill>
            <a:prstDash val="solid"/>
            <a:headEnd type="none"/>
            <a:tailEnd type="triangle"/>
          </a:ln>
        </p:spPr>
        <p:txBody>
          <a:bodyPr/>
          <a:lstStyle/>
          <a:p>
            <a:endParaRPr lang="es-MX"/>
          </a:p>
        </p:txBody>
      </p:sp>
      <p:sp>
        <p:nvSpPr>
          <p:cNvPr id="129" name="Shape 42">
            <a:extLst>
              <a:ext uri="{FF2B5EF4-FFF2-40B4-BE49-F238E27FC236}">
                <a16:creationId xmlns:a16="http://schemas.microsoft.com/office/drawing/2014/main" id="{78425A49-42A0-357D-AB36-B28118D9411A}"/>
              </a:ext>
            </a:extLst>
          </p:cNvPr>
          <p:cNvSpPr/>
          <p:nvPr/>
        </p:nvSpPr>
        <p:spPr>
          <a:xfrm>
            <a:off x="640440" y="4956932"/>
            <a:ext cx="10945008" cy="566928"/>
          </a:xfrm>
          <a:prstGeom prst="roundRect">
            <a:avLst/>
          </a:prstGeom>
          <a:solidFill>
            <a:srgbClr val="F5F0FF"/>
          </a:solidFill>
          <a:ln w="12700">
            <a:solidFill>
              <a:srgbClr val="DACDF6"/>
            </a:solidFill>
            <a:prstDash val="solid"/>
          </a:ln>
        </p:spPr>
        <p:txBody>
          <a:bodyPr/>
          <a:lstStyle/>
          <a:p>
            <a:endParaRPr lang="es-MX"/>
          </a:p>
        </p:txBody>
      </p:sp>
      <p:sp>
        <p:nvSpPr>
          <p:cNvPr id="131" name="Text 43">
            <a:extLst>
              <a:ext uri="{FF2B5EF4-FFF2-40B4-BE49-F238E27FC236}">
                <a16:creationId xmlns:a16="http://schemas.microsoft.com/office/drawing/2014/main" id="{52C5F8CB-0EC1-FC6F-19AC-599D360E0A67}"/>
              </a:ext>
            </a:extLst>
          </p:cNvPr>
          <p:cNvSpPr/>
          <p:nvPr/>
        </p:nvSpPr>
        <p:spPr>
          <a:xfrm>
            <a:off x="1005840" y="5102970"/>
            <a:ext cx="10131552" cy="255414"/>
          </a:xfrm>
          <a:prstGeom prst="rect">
            <a:avLst/>
          </a:prstGeom>
          <a:noFill/>
          <a:ln/>
        </p:spPr>
        <p:txBody>
          <a:bodyPr wrap="square" lIns="0" tIns="0" rIns="0" bIns="0" rtlCol="0" anchor="ctr"/>
          <a:lstStyle/>
          <a:p>
            <a:pPr algn="ctr"/>
            <a:r>
              <a:rPr lang="es-ES" sz="1400" b="1" dirty="0">
                <a:solidFill>
                  <a:srgbClr val="191529"/>
                </a:solidFill>
                <a:latin typeface="Aptos" pitchFamily="34" charset="0"/>
                <a:ea typeface="Aptos" pitchFamily="34" charset="-122"/>
                <a:cs typeface="Aptos" pitchFamily="34" charset="-120"/>
              </a:rPr>
              <a:t>El cuello de botella no es la falta de herramientas, sino el esfuerzo humano necesario para mantener la operación conectada.</a:t>
            </a:r>
            <a:endParaRPr lang="en-US" sz="1400" dirty="0"/>
          </a:p>
        </p:txBody>
      </p:sp>
      <p:sp>
        <p:nvSpPr>
          <p:cNvPr id="133" name="Text 18">
            <a:extLst>
              <a:ext uri="{FF2B5EF4-FFF2-40B4-BE49-F238E27FC236}">
                <a16:creationId xmlns:a16="http://schemas.microsoft.com/office/drawing/2014/main" id="{437DBAF0-E12B-BCE5-5106-9CD6EFCED9B8}"/>
              </a:ext>
            </a:extLst>
          </p:cNvPr>
          <p:cNvSpPr/>
          <p:nvPr/>
        </p:nvSpPr>
        <p:spPr>
          <a:xfrm>
            <a:off x="3099816" y="3987764"/>
            <a:ext cx="521208" cy="292608"/>
          </a:xfrm>
          <a:prstGeom prst="rect">
            <a:avLst/>
          </a:prstGeom>
          <a:solidFill>
            <a:srgbClr val="F0EAFD"/>
          </a:solidFill>
          <a:ln>
            <a:solidFill>
              <a:srgbClr val="F0EAFD">
                <a:alpha val="0"/>
              </a:srgbClr>
            </a:solidFill>
          </a:ln>
        </p:spPr>
        <p:txBody>
          <a:bodyPr wrap="square" lIns="127" tIns="127" rIns="127" bIns="127" rtlCol="0" anchor="ctr"/>
          <a:lstStyle/>
          <a:p>
            <a:pPr marL="0" indent="0" algn="ctr">
              <a:buNone/>
            </a:pPr>
            <a:r>
              <a:rPr lang="en-US" sz="760" b="1" dirty="0">
                <a:solidFill>
                  <a:srgbClr val="5B2DBB"/>
                </a:solidFill>
                <a:latin typeface="Aptos" pitchFamily="34" charset="0"/>
                <a:ea typeface="Aptos" pitchFamily="34" charset="-122"/>
                <a:cs typeface="Aptos" pitchFamily="34" charset="-120"/>
              </a:rPr>
              <a:t>Voz</a:t>
            </a:r>
            <a:endParaRPr lang="en-US" sz="760" dirty="0"/>
          </a:p>
        </p:txBody>
      </p:sp>
    </p:spTree>
    <p:extLst>
      <p:ext uri="{BB962C8B-B14F-4D97-AF65-F5344CB8AC3E}">
        <p14:creationId xmlns:p14="http://schemas.microsoft.com/office/powerpoint/2010/main" val="298375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117" name="Shape 0"/>
          <p:cNvSpPr/>
          <p:nvPr/>
        </p:nvSpPr>
        <p:spPr>
          <a:xfrm>
            <a:off x="0" y="0"/>
            <a:ext cx="12191400" cy="63720"/>
          </a:xfrm>
          <a:prstGeom prst="rect">
            <a:avLst/>
          </a:prstGeom>
          <a:solidFill>
            <a:srgbClr val="5F2CCB"/>
          </a:solidFill>
          <a:ln w="12700">
            <a:solidFill>
              <a:srgbClr val="5F2CCB">
                <a:alpha val="0"/>
              </a:srgbClr>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FFFFFF"/>
              </a:solidFill>
              <a:effectLst/>
              <a:uFillTx/>
              <a:latin typeface="Arial"/>
            </a:endParaRPr>
          </a:p>
        </p:txBody>
      </p:sp>
      <p:sp>
        <p:nvSpPr>
          <p:cNvPr id="118" name="Text 1"/>
          <p:cNvSpPr/>
          <p:nvPr/>
        </p:nvSpPr>
        <p:spPr>
          <a:xfrm>
            <a:off x="567000" y="291271"/>
            <a:ext cx="6857640" cy="31172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dirty="0">
                <a:solidFill>
                  <a:srgbClr val="5F2CCB"/>
                </a:solidFill>
                <a:effectLst/>
                <a:uFillTx/>
                <a:latin typeface="Aptos"/>
                <a:ea typeface="Aptos"/>
              </a:rPr>
              <a:t>GU HOY</a:t>
            </a:r>
            <a:endParaRPr lang="en-US" sz="1200" b="0" u="none" strike="noStrike" dirty="0">
              <a:solidFill>
                <a:srgbClr val="000000"/>
              </a:solidFill>
              <a:effectLst/>
              <a:uFillTx/>
              <a:latin typeface="Arial"/>
            </a:endParaRPr>
          </a:p>
        </p:txBody>
      </p:sp>
      <p:sp>
        <p:nvSpPr>
          <p:cNvPr id="119" name="Text 2"/>
          <p:cNvSpPr/>
          <p:nvPr/>
        </p:nvSpPr>
        <p:spPr>
          <a:xfrm>
            <a:off x="567000" y="804600"/>
            <a:ext cx="10195200" cy="731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s-ES" sz="2550" b="1" u="none" strike="noStrike" dirty="0" err="1">
                <a:solidFill>
                  <a:srgbClr val="151327"/>
                </a:solidFill>
                <a:effectLst/>
                <a:uFillTx/>
                <a:latin typeface="Aptos Display"/>
                <a:ea typeface="Aptos Display"/>
              </a:rPr>
              <a:t>Gu</a:t>
            </a:r>
            <a:r>
              <a:rPr lang="es-ES" sz="2550" b="1" u="none" strike="noStrike" dirty="0">
                <a:solidFill>
                  <a:srgbClr val="151327"/>
                </a:solidFill>
                <a:effectLst/>
                <a:uFillTx/>
                <a:latin typeface="Aptos Display"/>
                <a:ea typeface="Aptos Display"/>
              </a:rPr>
              <a:t> se ganó el derecho a expandirse resolviendo primero un trabajo cercano a ingresos</a:t>
            </a:r>
            <a:r>
              <a:rPr lang="en-US" sz="2550" b="1" u="none" strike="noStrike" dirty="0">
                <a:solidFill>
                  <a:srgbClr val="151327"/>
                </a:solidFill>
                <a:effectLst/>
                <a:uFillTx/>
                <a:latin typeface="Aptos Display"/>
                <a:ea typeface="Aptos Display"/>
              </a:rPr>
              <a:t>.</a:t>
            </a:r>
            <a:endParaRPr lang="en-US" sz="2550" b="0" u="none" strike="noStrike" dirty="0">
              <a:solidFill>
                <a:srgbClr val="000000"/>
              </a:solidFill>
              <a:effectLst/>
              <a:uFillTx/>
              <a:latin typeface="Arial"/>
            </a:endParaRPr>
          </a:p>
        </p:txBody>
      </p:sp>
      <p:sp>
        <p:nvSpPr>
          <p:cNvPr id="120" name="Text 3"/>
          <p:cNvSpPr/>
          <p:nvPr/>
        </p:nvSpPr>
        <p:spPr>
          <a:xfrm>
            <a:off x="567000" y="1640895"/>
            <a:ext cx="1069812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s-ES" b="0" u="none" strike="noStrike" dirty="0">
                <a:solidFill>
                  <a:srgbClr val="6F6888"/>
                </a:solidFill>
                <a:effectLst/>
                <a:uFillTx/>
                <a:latin typeface="Aptos"/>
                <a:ea typeface="Aptos"/>
              </a:rPr>
              <a:t>El </a:t>
            </a:r>
            <a:r>
              <a:rPr lang="es-ES" b="0" i="1" u="none" strike="noStrike" dirty="0" err="1">
                <a:solidFill>
                  <a:srgbClr val="6F6888"/>
                </a:solidFill>
                <a:effectLst/>
                <a:uFillTx/>
                <a:latin typeface="Aptos"/>
                <a:ea typeface="Aptos"/>
              </a:rPr>
              <a:t>wedge</a:t>
            </a:r>
            <a:r>
              <a:rPr lang="es-ES" b="0" u="none" strike="noStrike" dirty="0">
                <a:solidFill>
                  <a:srgbClr val="6F6888"/>
                </a:solidFill>
                <a:effectLst/>
                <a:uFillTx/>
                <a:latin typeface="Aptos"/>
                <a:ea typeface="Aptos"/>
              </a:rPr>
              <a:t> actual es mover demanda entrante desde la primera interacción hacia </a:t>
            </a:r>
            <a:r>
              <a:rPr lang="es-ES" b="0" u="none" strike="noStrike" dirty="0" err="1">
                <a:solidFill>
                  <a:srgbClr val="6F6888"/>
                </a:solidFill>
                <a:effectLst/>
                <a:uFillTx/>
                <a:latin typeface="Aptos"/>
                <a:ea typeface="Aptos"/>
              </a:rPr>
              <a:t>matches</a:t>
            </a:r>
            <a:r>
              <a:rPr lang="es-ES" b="0" u="none" strike="noStrike" dirty="0">
                <a:solidFill>
                  <a:srgbClr val="6F6888"/>
                </a:solidFill>
                <a:effectLst/>
                <a:uFillTx/>
                <a:latin typeface="Aptos"/>
                <a:ea typeface="Aptos"/>
              </a:rPr>
              <a:t> relevantes y visitas</a:t>
            </a:r>
            <a:r>
              <a:rPr lang="en-US" b="0" u="none" strike="noStrike" dirty="0">
                <a:solidFill>
                  <a:srgbClr val="6F6888"/>
                </a:solidFill>
                <a:effectLst/>
                <a:uFillTx/>
                <a:latin typeface="Aptos"/>
                <a:ea typeface="Aptos"/>
              </a:rPr>
              <a:t>.</a:t>
            </a:r>
            <a:endParaRPr lang="en-US" b="0" u="none" strike="noStrike" dirty="0">
              <a:solidFill>
                <a:srgbClr val="000000"/>
              </a:solidFill>
              <a:effectLst/>
              <a:uFillTx/>
              <a:latin typeface="Arial"/>
            </a:endParaRPr>
          </a:p>
        </p:txBody>
      </p:sp>
      <p:sp>
        <p:nvSpPr>
          <p:cNvPr id="122" name="Text 5"/>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u="none" strike="noStrike">
                <a:solidFill>
                  <a:srgbClr val="7E7798"/>
                </a:solidFill>
                <a:effectLst/>
                <a:uFillTx/>
                <a:latin typeface="Aptos"/>
                <a:ea typeface="Aptos"/>
              </a:rPr>
              <a:t>CONFIDENTIAL</a:t>
            </a:r>
            <a:endParaRPr lang="en-US" sz="650" b="0" u="none" strike="noStrike">
              <a:solidFill>
                <a:srgbClr val="000000"/>
              </a:solidFill>
              <a:effectLst/>
              <a:uFillTx/>
              <a:latin typeface="Arial"/>
            </a:endParaRPr>
          </a:p>
        </p:txBody>
      </p:sp>
      <p:sp>
        <p:nvSpPr>
          <p:cNvPr id="123" name="Text 6"/>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650" b="0" u="none" strike="noStrike">
                <a:solidFill>
                  <a:srgbClr val="7E7798"/>
                </a:solidFill>
                <a:effectLst/>
                <a:uFillTx/>
                <a:latin typeface="Aptos"/>
                <a:ea typeface="Aptos"/>
              </a:rPr>
              <a:t>ungga.com</a:t>
            </a:r>
            <a:endParaRPr lang="en-US" sz="650" b="0" u="none" strike="noStrike">
              <a:solidFill>
                <a:srgbClr val="000000"/>
              </a:solidFill>
              <a:effectLst/>
              <a:uFillTx/>
              <a:latin typeface="Arial"/>
            </a:endParaRPr>
          </a:p>
        </p:txBody>
      </p:sp>
      <p:sp>
        <p:nvSpPr>
          <p:cNvPr id="124" name="Text 7"/>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dirty="0">
                <a:solidFill>
                  <a:srgbClr val="7E7798"/>
                </a:solidFill>
                <a:latin typeface="Aptos"/>
              </a:rPr>
              <a:t>6</a:t>
            </a:r>
            <a:endParaRPr lang="en-US" sz="800" b="0" u="none" strike="noStrike" dirty="0">
              <a:solidFill>
                <a:srgbClr val="000000"/>
              </a:solidFill>
              <a:effectLst/>
              <a:uFillTx/>
              <a:latin typeface="Arial"/>
            </a:endParaRPr>
          </a:p>
        </p:txBody>
      </p:sp>
      <p:sp>
        <p:nvSpPr>
          <p:cNvPr id="125" name="Shape 8"/>
          <p:cNvSpPr/>
          <p:nvPr/>
        </p:nvSpPr>
        <p:spPr>
          <a:xfrm>
            <a:off x="1174806" y="2566796"/>
            <a:ext cx="2034360" cy="360"/>
          </a:xfrm>
          <a:prstGeom prst="line">
            <a:avLst/>
          </a:prstGeom>
          <a:ln w="16510">
            <a:solidFill>
              <a:srgbClr val="AA98CE"/>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400" b="0" u="none" strike="noStrike">
              <a:solidFill>
                <a:srgbClr val="000000"/>
              </a:solidFill>
              <a:effectLst/>
              <a:uFillTx/>
              <a:latin typeface="Arial"/>
            </a:endParaRPr>
          </a:p>
        </p:txBody>
      </p:sp>
      <p:sp>
        <p:nvSpPr>
          <p:cNvPr id="126" name="Shape 9"/>
          <p:cNvSpPr/>
          <p:nvPr/>
        </p:nvSpPr>
        <p:spPr>
          <a:xfrm>
            <a:off x="3666366" y="2566796"/>
            <a:ext cx="2034720" cy="360"/>
          </a:xfrm>
          <a:prstGeom prst="line">
            <a:avLst/>
          </a:prstGeom>
          <a:ln w="16510">
            <a:solidFill>
              <a:srgbClr val="AA98CE"/>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400" b="0" u="none" strike="noStrike">
              <a:solidFill>
                <a:srgbClr val="000000"/>
              </a:solidFill>
              <a:effectLst/>
              <a:uFillTx/>
              <a:latin typeface="Arial"/>
            </a:endParaRPr>
          </a:p>
        </p:txBody>
      </p:sp>
      <p:sp>
        <p:nvSpPr>
          <p:cNvPr id="127" name="Shape 10"/>
          <p:cNvSpPr/>
          <p:nvPr/>
        </p:nvSpPr>
        <p:spPr>
          <a:xfrm>
            <a:off x="6158286" y="2566796"/>
            <a:ext cx="2034360" cy="360"/>
          </a:xfrm>
          <a:prstGeom prst="line">
            <a:avLst/>
          </a:prstGeom>
          <a:ln w="16510">
            <a:solidFill>
              <a:srgbClr val="AA98CE"/>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400" b="0" u="none" strike="noStrike">
              <a:solidFill>
                <a:srgbClr val="000000"/>
              </a:solidFill>
              <a:effectLst/>
              <a:uFillTx/>
              <a:latin typeface="Arial"/>
            </a:endParaRPr>
          </a:p>
        </p:txBody>
      </p:sp>
      <p:sp>
        <p:nvSpPr>
          <p:cNvPr id="128" name="Shape 11"/>
          <p:cNvSpPr/>
          <p:nvPr/>
        </p:nvSpPr>
        <p:spPr>
          <a:xfrm>
            <a:off x="8649846" y="2566796"/>
            <a:ext cx="2034720" cy="360"/>
          </a:xfrm>
          <a:prstGeom prst="line">
            <a:avLst/>
          </a:prstGeom>
          <a:ln w="16510">
            <a:solidFill>
              <a:srgbClr val="AA98CE"/>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400" b="0" u="none" strike="noStrike">
              <a:solidFill>
                <a:srgbClr val="000000"/>
              </a:solidFill>
              <a:effectLst/>
              <a:uFillTx/>
              <a:latin typeface="Arial"/>
            </a:endParaRPr>
          </a:p>
        </p:txBody>
      </p:sp>
      <p:sp>
        <p:nvSpPr>
          <p:cNvPr id="129" name="Shape 12"/>
          <p:cNvSpPr/>
          <p:nvPr/>
        </p:nvSpPr>
        <p:spPr>
          <a:xfrm>
            <a:off x="800046" y="2411636"/>
            <a:ext cx="292320" cy="292320"/>
          </a:xfrm>
          <a:prstGeom prst="ellipse">
            <a:avLst/>
          </a:prstGeom>
          <a:solidFill>
            <a:srgbClr val="5F2CCB"/>
          </a:solidFill>
          <a:ln w="12700">
            <a:solidFill>
              <a:srgbClr val="5F2CC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FFFFFF"/>
              </a:solidFill>
              <a:effectLst/>
              <a:uFillTx/>
              <a:latin typeface="Arial"/>
            </a:endParaRPr>
          </a:p>
        </p:txBody>
      </p:sp>
      <p:sp>
        <p:nvSpPr>
          <p:cNvPr id="130" name="Text 13"/>
          <p:cNvSpPr/>
          <p:nvPr/>
        </p:nvSpPr>
        <p:spPr>
          <a:xfrm>
            <a:off x="809046" y="2486234"/>
            <a:ext cx="2739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dirty="0">
                <a:solidFill>
                  <a:srgbClr val="FFFFFF"/>
                </a:solidFill>
                <a:effectLst/>
                <a:uFillTx/>
                <a:latin typeface="Aptos"/>
                <a:ea typeface="Aptos"/>
              </a:rPr>
              <a:t>1</a:t>
            </a:r>
            <a:endParaRPr lang="en-US" sz="1400" b="0" u="none" strike="noStrike" dirty="0">
              <a:solidFill>
                <a:srgbClr val="000000"/>
              </a:solidFill>
              <a:effectLst/>
              <a:uFillTx/>
              <a:latin typeface="Arial"/>
            </a:endParaRPr>
          </a:p>
        </p:txBody>
      </p:sp>
      <p:sp>
        <p:nvSpPr>
          <p:cNvPr id="131" name="Text 14"/>
          <p:cNvSpPr/>
          <p:nvPr/>
        </p:nvSpPr>
        <p:spPr>
          <a:xfrm>
            <a:off x="571135" y="2887195"/>
            <a:ext cx="1204399" cy="45815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10000"/>
          </a:bodyPr>
          <a:lstStyle/>
          <a:p>
            <a:pPr algn="ctr" defTabSz="914400">
              <a:lnSpc>
                <a:spcPct val="100000"/>
              </a:lnSpc>
              <a:tabLst>
                <a:tab pos="0" algn="l"/>
              </a:tabLst>
            </a:pPr>
            <a:r>
              <a:rPr lang="en-US" sz="1600" b="1" u="none" strike="noStrike" dirty="0" err="1">
                <a:solidFill>
                  <a:srgbClr val="151327"/>
                </a:solidFill>
                <a:effectLst/>
                <a:uFillTx/>
                <a:latin typeface="Aptos"/>
                <a:ea typeface="Aptos"/>
              </a:rPr>
              <a:t>Atender</a:t>
            </a:r>
            <a:r>
              <a:rPr lang="en-US" sz="1600" b="1" u="none" strike="noStrike" dirty="0">
                <a:solidFill>
                  <a:srgbClr val="151327"/>
                </a:solidFill>
                <a:effectLst/>
                <a:uFillTx/>
                <a:latin typeface="Aptos"/>
                <a:ea typeface="Aptos"/>
              </a:rPr>
              <a:t> </a:t>
            </a:r>
            <a:r>
              <a:rPr lang="en-US" sz="1600" b="1" u="none" strike="noStrike" dirty="0" err="1">
                <a:solidFill>
                  <a:srgbClr val="151327"/>
                </a:solidFill>
                <a:effectLst/>
                <a:uFillTx/>
                <a:latin typeface="Aptos"/>
                <a:ea typeface="Aptos"/>
              </a:rPr>
              <a:t>prospecto</a:t>
            </a:r>
            <a:endParaRPr lang="en-US" sz="1600" b="0" u="none" strike="noStrike" dirty="0">
              <a:solidFill>
                <a:srgbClr val="000000"/>
              </a:solidFill>
              <a:effectLst/>
              <a:uFillTx/>
              <a:latin typeface="Arial"/>
            </a:endParaRPr>
          </a:p>
        </p:txBody>
      </p:sp>
      <p:sp>
        <p:nvSpPr>
          <p:cNvPr id="132" name="Shape 15"/>
          <p:cNvSpPr/>
          <p:nvPr/>
        </p:nvSpPr>
        <p:spPr>
          <a:xfrm>
            <a:off x="3291606" y="2411636"/>
            <a:ext cx="292320" cy="292320"/>
          </a:xfrm>
          <a:prstGeom prst="ellipse">
            <a:avLst/>
          </a:prstGeom>
          <a:solidFill>
            <a:srgbClr val="546080"/>
          </a:solidFill>
          <a:ln w="12700">
            <a:solidFill>
              <a:srgbClr val="54608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FFFFFF"/>
              </a:solidFill>
              <a:effectLst/>
              <a:uFillTx/>
              <a:latin typeface="Arial"/>
            </a:endParaRPr>
          </a:p>
        </p:txBody>
      </p:sp>
      <p:sp>
        <p:nvSpPr>
          <p:cNvPr id="133" name="Text 16"/>
          <p:cNvSpPr/>
          <p:nvPr/>
        </p:nvSpPr>
        <p:spPr>
          <a:xfrm>
            <a:off x="3300966" y="2486234"/>
            <a:ext cx="2739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dirty="0">
                <a:solidFill>
                  <a:srgbClr val="FFFFFF"/>
                </a:solidFill>
                <a:effectLst/>
                <a:uFillTx/>
                <a:latin typeface="Aptos"/>
                <a:ea typeface="Aptos"/>
              </a:rPr>
              <a:t>2</a:t>
            </a:r>
            <a:endParaRPr lang="en-US" sz="1400" b="0" u="none" strike="noStrike" dirty="0">
              <a:solidFill>
                <a:srgbClr val="000000"/>
              </a:solidFill>
              <a:effectLst/>
              <a:uFillTx/>
              <a:latin typeface="Arial"/>
            </a:endParaRPr>
          </a:p>
        </p:txBody>
      </p:sp>
      <p:sp>
        <p:nvSpPr>
          <p:cNvPr id="134" name="Text 17"/>
          <p:cNvSpPr/>
          <p:nvPr/>
        </p:nvSpPr>
        <p:spPr>
          <a:xfrm>
            <a:off x="2583402" y="2887196"/>
            <a:ext cx="1531038" cy="45779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10000"/>
          </a:bodyPr>
          <a:lstStyle/>
          <a:p>
            <a:pPr algn="ctr" defTabSz="914400">
              <a:lnSpc>
                <a:spcPct val="100000"/>
              </a:lnSpc>
              <a:tabLst>
                <a:tab pos="0" algn="l"/>
              </a:tabLst>
            </a:pPr>
            <a:r>
              <a:rPr lang="en-US" sz="1600" b="1" u="none" strike="noStrike" dirty="0" err="1">
                <a:solidFill>
                  <a:srgbClr val="151327"/>
                </a:solidFill>
                <a:effectLst/>
                <a:uFillTx/>
                <a:latin typeface="Aptos"/>
                <a:ea typeface="Aptos"/>
              </a:rPr>
              <a:t>Entender</a:t>
            </a:r>
            <a:r>
              <a:rPr lang="en-US" sz="1600" b="1" u="none" strike="noStrike" dirty="0">
                <a:solidFill>
                  <a:srgbClr val="151327"/>
                </a:solidFill>
                <a:effectLst/>
                <a:uFillTx/>
                <a:latin typeface="Aptos"/>
                <a:ea typeface="Aptos"/>
              </a:rPr>
              <a:t> </a:t>
            </a:r>
            <a:r>
              <a:rPr lang="en-US" sz="1600" b="1" u="none" strike="noStrike" dirty="0" err="1">
                <a:solidFill>
                  <a:srgbClr val="151327"/>
                </a:solidFill>
                <a:effectLst/>
                <a:uFillTx/>
                <a:latin typeface="Aptos"/>
                <a:ea typeface="Aptos"/>
              </a:rPr>
              <a:t>requerimiento</a:t>
            </a:r>
            <a:endParaRPr lang="en-US" sz="1600" b="0" u="none" strike="noStrike" dirty="0">
              <a:solidFill>
                <a:srgbClr val="000000"/>
              </a:solidFill>
              <a:effectLst/>
              <a:uFillTx/>
              <a:latin typeface="Arial"/>
            </a:endParaRPr>
          </a:p>
        </p:txBody>
      </p:sp>
      <p:sp>
        <p:nvSpPr>
          <p:cNvPr id="135" name="Shape 18"/>
          <p:cNvSpPr/>
          <p:nvPr/>
        </p:nvSpPr>
        <p:spPr>
          <a:xfrm>
            <a:off x="5783526" y="2411636"/>
            <a:ext cx="292320" cy="292320"/>
          </a:xfrm>
          <a:prstGeom prst="ellipse">
            <a:avLst/>
          </a:prstGeom>
          <a:solidFill>
            <a:srgbClr val="078C53"/>
          </a:solidFill>
          <a:ln w="12700">
            <a:solidFill>
              <a:srgbClr val="078C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FFFFFF"/>
              </a:solidFill>
              <a:effectLst/>
              <a:uFillTx/>
              <a:latin typeface="Arial"/>
            </a:endParaRPr>
          </a:p>
        </p:txBody>
      </p:sp>
      <p:sp>
        <p:nvSpPr>
          <p:cNvPr id="136" name="Text 19"/>
          <p:cNvSpPr/>
          <p:nvPr/>
        </p:nvSpPr>
        <p:spPr>
          <a:xfrm>
            <a:off x="5792526" y="2486234"/>
            <a:ext cx="2739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ptos"/>
                <a:ea typeface="Aptos"/>
              </a:rPr>
              <a:t>3</a:t>
            </a:r>
            <a:endParaRPr lang="en-US" sz="1400" b="0" u="none" strike="noStrike">
              <a:solidFill>
                <a:srgbClr val="000000"/>
              </a:solidFill>
              <a:effectLst/>
              <a:uFillTx/>
              <a:latin typeface="Arial"/>
            </a:endParaRPr>
          </a:p>
        </p:txBody>
      </p:sp>
      <p:sp>
        <p:nvSpPr>
          <p:cNvPr id="137" name="Text 20"/>
          <p:cNvSpPr/>
          <p:nvPr/>
        </p:nvSpPr>
        <p:spPr>
          <a:xfrm>
            <a:off x="4730409" y="2826769"/>
            <a:ext cx="2371301" cy="62207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dirty="0">
                <a:solidFill>
                  <a:srgbClr val="151327"/>
                </a:solidFill>
                <a:effectLst/>
                <a:uFillTx/>
                <a:latin typeface="Aptos"/>
                <a:ea typeface="Aptos"/>
              </a:rPr>
              <a:t>Encontrar </a:t>
            </a:r>
            <a:r>
              <a:rPr lang="en-US" sz="1600" b="1" u="none" strike="noStrike" dirty="0" err="1">
                <a:solidFill>
                  <a:srgbClr val="151327"/>
                </a:solidFill>
                <a:effectLst/>
                <a:uFillTx/>
                <a:latin typeface="Aptos"/>
                <a:ea typeface="Aptos"/>
              </a:rPr>
              <a:t>propiedades</a:t>
            </a:r>
            <a:r>
              <a:rPr lang="en-US" sz="1600" b="1" u="none" strike="noStrike" dirty="0">
                <a:solidFill>
                  <a:srgbClr val="151327"/>
                </a:solidFill>
                <a:effectLst/>
                <a:uFillTx/>
                <a:latin typeface="Aptos"/>
                <a:ea typeface="Aptos"/>
              </a:rPr>
              <a:t> </a:t>
            </a:r>
            <a:r>
              <a:rPr lang="en-US" sz="1600" b="1" u="none" strike="noStrike" dirty="0" err="1">
                <a:solidFill>
                  <a:srgbClr val="151327"/>
                </a:solidFill>
                <a:effectLst/>
                <a:uFillTx/>
                <a:latin typeface="Aptos"/>
                <a:ea typeface="Aptos"/>
              </a:rPr>
              <a:t>relevantes</a:t>
            </a:r>
            <a:endParaRPr lang="en-US" sz="1600" b="0" u="none" strike="noStrike" dirty="0">
              <a:solidFill>
                <a:srgbClr val="000000"/>
              </a:solidFill>
              <a:effectLst/>
              <a:uFillTx/>
              <a:latin typeface="Arial"/>
            </a:endParaRPr>
          </a:p>
        </p:txBody>
      </p:sp>
      <p:sp>
        <p:nvSpPr>
          <p:cNvPr id="138" name="Shape 21"/>
          <p:cNvSpPr/>
          <p:nvPr/>
        </p:nvSpPr>
        <p:spPr>
          <a:xfrm>
            <a:off x="8275086" y="2411636"/>
            <a:ext cx="292320" cy="292320"/>
          </a:xfrm>
          <a:prstGeom prst="ellipse">
            <a:avLst/>
          </a:prstGeom>
          <a:solidFill>
            <a:srgbClr val="A84A7A"/>
          </a:solidFill>
          <a:ln w="12700">
            <a:solidFill>
              <a:srgbClr val="A84A7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FFFFFF"/>
              </a:solidFill>
              <a:effectLst/>
              <a:uFillTx/>
              <a:latin typeface="Arial"/>
            </a:endParaRPr>
          </a:p>
        </p:txBody>
      </p:sp>
      <p:sp>
        <p:nvSpPr>
          <p:cNvPr id="139" name="Text 22"/>
          <p:cNvSpPr/>
          <p:nvPr/>
        </p:nvSpPr>
        <p:spPr>
          <a:xfrm>
            <a:off x="8284446" y="2486234"/>
            <a:ext cx="2739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ptos"/>
                <a:ea typeface="Aptos"/>
              </a:rPr>
              <a:t>4</a:t>
            </a:r>
            <a:endParaRPr lang="en-US" sz="1400" b="0" u="none" strike="noStrike">
              <a:solidFill>
                <a:srgbClr val="000000"/>
              </a:solidFill>
              <a:effectLst/>
              <a:uFillTx/>
              <a:latin typeface="Arial"/>
            </a:endParaRPr>
          </a:p>
        </p:txBody>
      </p:sp>
      <p:sp>
        <p:nvSpPr>
          <p:cNvPr id="140" name="Text 23"/>
          <p:cNvSpPr/>
          <p:nvPr/>
        </p:nvSpPr>
        <p:spPr>
          <a:xfrm>
            <a:off x="7526278" y="2881697"/>
            <a:ext cx="1789935" cy="504917"/>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600" b="1" u="none" strike="noStrike" dirty="0" err="1">
                <a:solidFill>
                  <a:srgbClr val="151327"/>
                </a:solidFill>
                <a:effectLst/>
                <a:uFillTx/>
                <a:latin typeface="Aptos"/>
                <a:ea typeface="Aptos"/>
              </a:rPr>
              <a:t>Avanzar</a:t>
            </a:r>
            <a:r>
              <a:rPr lang="en-US" sz="1600" b="1" u="none" strike="noStrike" dirty="0">
                <a:solidFill>
                  <a:srgbClr val="151327"/>
                </a:solidFill>
                <a:effectLst/>
                <a:uFillTx/>
                <a:latin typeface="Aptos"/>
                <a:ea typeface="Aptos"/>
              </a:rPr>
              <a:t> </a:t>
            </a:r>
            <a:r>
              <a:rPr lang="en-US" sz="1600" b="1" u="none" strike="noStrike" dirty="0" err="1">
                <a:solidFill>
                  <a:srgbClr val="151327"/>
                </a:solidFill>
                <a:effectLst/>
                <a:uFillTx/>
                <a:latin typeface="Aptos"/>
                <a:ea typeface="Aptos"/>
              </a:rPr>
              <a:t>oportunidad</a:t>
            </a:r>
            <a:endParaRPr lang="en-US" sz="1600" b="0" u="none" strike="noStrike" dirty="0">
              <a:solidFill>
                <a:srgbClr val="000000"/>
              </a:solidFill>
              <a:effectLst/>
              <a:uFillTx/>
              <a:latin typeface="Arial"/>
            </a:endParaRPr>
          </a:p>
        </p:txBody>
      </p:sp>
      <p:sp>
        <p:nvSpPr>
          <p:cNvPr id="141" name="Shape 24"/>
          <p:cNvSpPr/>
          <p:nvPr/>
        </p:nvSpPr>
        <p:spPr>
          <a:xfrm>
            <a:off x="10767006" y="2411636"/>
            <a:ext cx="292320" cy="292320"/>
          </a:xfrm>
          <a:prstGeom prst="ellipse">
            <a:avLst/>
          </a:prstGeom>
          <a:solidFill>
            <a:srgbClr val="F39A2B"/>
          </a:solidFill>
          <a:ln w="12700">
            <a:solidFill>
              <a:srgbClr val="F39A2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000000"/>
              </a:solidFill>
              <a:effectLst/>
              <a:uFillTx/>
              <a:latin typeface="Arial"/>
            </a:endParaRPr>
          </a:p>
        </p:txBody>
      </p:sp>
      <p:sp>
        <p:nvSpPr>
          <p:cNvPr id="142" name="Text 25"/>
          <p:cNvSpPr/>
          <p:nvPr/>
        </p:nvSpPr>
        <p:spPr>
          <a:xfrm>
            <a:off x="10776006" y="2486234"/>
            <a:ext cx="2739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ptos"/>
                <a:ea typeface="Aptos"/>
              </a:rPr>
              <a:t>5</a:t>
            </a:r>
            <a:endParaRPr lang="en-US" sz="1400" b="0" u="none" strike="noStrike">
              <a:solidFill>
                <a:srgbClr val="000000"/>
              </a:solidFill>
              <a:effectLst/>
              <a:uFillTx/>
              <a:latin typeface="Arial"/>
            </a:endParaRPr>
          </a:p>
        </p:txBody>
      </p:sp>
      <p:sp>
        <p:nvSpPr>
          <p:cNvPr id="143" name="Text 26"/>
          <p:cNvSpPr/>
          <p:nvPr/>
        </p:nvSpPr>
        <p:spPr>
          <a:xfrm>
            <a:off x="10056585" y="2841823"/>
            <a:ext cx="1402029" cy="58828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600" b="1" u="none" strike="noStrike" dirty="0" err="1">
                <a:solidFill>
                  <a:srgbClr val="151327"/>
                </a:solidFill>
                <a:effectLst/>
                <a:uFillTx/>
                <a:latin typeface="Aptos"/>
                <a:ea typeface="Aptos"/>
              </a:rPr>
              <a:t>Coordinar</a:t>
            </a:r>
            <a:r>
              <a:rPr lang="en-US" sz="1600" b="1" u="none" strike="noStrike" dirty="0">
                <a:solidFill>
                  <a:srgbClr val="151327"/>
                </a:solidFill>
                <a:effectLst/>
                <a:uFillTx/>
                <a:latin typeface="Aptos"/>
                <a:ea typeface="Aptos"/>
              </a:rPr>
              <a:t> visita</a:t>
            </a:r>
            <a:endParaRPr lang="en-US" sz="1600" b="0" u="none" strike="noStrike" dirty="0">
              <a:solidFill>
                <a:srgbClr val="000000"/>
              </a:solidFill>
              <a:effectLst/>
              <a:uFillTx/>
              <a:latin typeface="Arial"/>
            </a:endParaRPr>
          </a:p>
        </p:txBody>
      </p:sp>
      <p:sp>
        <p:nvSpPr>
          <p:cNvPr id="144" name="Shape 27"/>
          <p:cNvSpPr/>
          <p:nvPr/>
        </p:nvSpPr>
        <p:spPr>
          <a:xfrm>
            <a:off x="646735" y="3965681"/>
            <a:ext cx="3382920" cy="1698760"/>
          </a:xfrm>
          <a:prstGeom prst="roundRect">
            <a:avLst>
              <a:gd name="adj" fmla="val 7692"/>
            </a:avLst>
          </a:prstGeom>
          <a:solidFill>
            <a:srgbClr val="FFFFFF"/>
          </a:solidFill>
          <a:ln w="12700">
            <a:solidFill>
              <a:srgbClr val="DED2F6"/>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5" name="Text 28"/>
          <p:cNvSpPr/>
          <p:nvPr/>
        </p:nvSpPr>
        <p:spPr>
          <a:xfrm>
            <a:off x="783895" y="4111841"/>
            <a:ext cx="31086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dirty="0">
                <a:solidFill>
                  <a:srgbClr val="5F2CCB"/>
                </a:solidFill>
                <a:effectLst/>
                <a:uFillTx/>
                <a:latin typeface="Aptos"/>
                <a:ea typeface="Aptos"/>
              </a:rPr>
              <a:t>QUÉ EXISTE</a:t>
            </a:r>
            <a:endParaRPr lang="en-US" sz="1600" b="0" u="none" strike="noStrike" dirty="0">
              <a:solidFill>
                <a:srgbClr val="000000"/>
              </a:solidFill>
              <a:effectLst/>
              <a:uFillTx/>
              <a:latin typeface="Arial"/>
            </a:endParaRPr>
          </a:p>
        </p:txBody>
      </p:sp>
      <p:sp>
        <p:nvSpPr>
          <p:cNvPr id="147" name="Text 30"/>
          <p:cNvSpPr/>
          <p:nvPr/>
        </p:nvSpPr>
        <p:spPr>
          <a:xfrm>
            <a:off x="808080" y="4548337"/>
            <a:ext cx="3002579" cy="822658"/>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a:tabLst>
                <a:tab pos="0" algn="l"/>
              </a:tabLst>
            </a:pPr>
            <a:r>
              <a:rPr lang="es-ES" sz="1200" dirty="0">
                <a:solidFill>
                  <a:srgbClr val="6F6888"/>
                </a:solidFill>
                <a:ea typeface="Aptos"/>
              </a:rPr>
              <a:t>Interactúa con prospectos, comprende su intención, busca y encuentra coincidencias en inventario y ayuda a mover la conversación hacia una visita</a:t>
            </a:r>
            <a:r>
              <a:rPr lang="en-US" sz="1200" b="0" u="none" strike="noStrike" dirty="0">
                <a:solidFill>
                  <a:srgbClr val="6F6888"/>
                </a:solidFill>
                <a:effectLst/>
                <a:uFillTx/>
                <a:latin typeface="Aptos"/>
                <a:ea typeface="Aptos"/>
              </a:rPr>
              <a:t>.</a:t>
            </a:r>
            <a:endParaRPr lang="en-US" sz="1200" b="0" u="none" strike="noStrike" dirty="0">
              <a:solidFill>
                <a:srgbClr val="000000"/>
              </a:solidFill>
              <a:effectLst/>
              <a:uFillTx/>
              <a:latin typeface="Arial"/>
            </a:endParaRPr>
          </a:p>
        </p:txBody>
      </p:sp>
      <p:sp>
        <p:nvSpPr>
          <p:cNvPr id="148" name="Shape 31"/>
          <p:cNvSpPr/>
          <p:nvPr/>
        </p:nvSpPr>
        <p:spPr>
          <a:xfrm>
            <a:off x="4198621" y="3965680"/>
            <a:ext cx="3619139" cy="1698040"/>
          </a:xfrm>
          <a:prstGeom prst="roundRect">
            <a:avLst>
              <a:gd name="adj" fmla="val 7692"/>
            </a:avLst>
          </a:prstGeom>
          <a:solidFill>
            <a:srgbClr val="FFFFFF"/>
          </a:solidFill>
          <a:ln w="12700">
            <a:solidFill>
              <a:srgbClr val="DED2F6"/>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9" name="Text 32"/>
          <p:cNvSpPr/>
          <p:nvPr/>
        </p:nvSpPr>
        <p:spPr>
          <a:xfrm>
            <a:off x="4335781" y="4111841"/>
            <a:ext cx="3344819"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dirty="0">
                <a:solidFill>
                  <a:srgbClr val="A84A7A"/>
                </a:solidFill>
                <a:effectLst/>
                <a:uFillTx/>
                <a:latin typeface="Aptos"/>
                <a:ea typeface="Aptos"/>
              </a:rPr>
              <a:t>L</a:t>
            </a:r>
            <a:r>
              <a:rPr lang="en-US" sz="1600" b="1" dirty="0">
                <a:solidFill>
                  <a:srgbClr val="A84A7A"/>
                </a:solidFill>
                <a:latin typeface="Aptos"/>
                <a:ea typeface="Aptos"/>
              </a:rPr>
              <a:t>I</a:t>
            </a:r>
            <a:r>
              <a:rPr lang="en-US" sz="1600" b="1" u="none" strike="noStrike" dirty="0">
                <a:solidFill>
                  <a:srgbClr val="A84A7A"/>
                </a:solidFill>
                <a:effectLst/>
                <a:uFillTx/>
                <a:latin typeface="Aptos"/>
                <a:ea typeface="Aptos"/>
              </a:rPr>
              <a:t>MIT</a:t>
            </a:r>
            <a:r>
              <a:rPr lang="en-US" sz="1600" b="1" dirty="0">
                <a:solidFill>
                  <a:srgbClr val="A84A7A"/>
                </a:solidFill>
                <a:latin typeface="Aptos"/>
                <a:ea typeface="Aptos"/>
              </a:rPr>
              <a:t>ACIÓN</a:t>
            </a:r>
            <a:endParaRPr lang="en-US" sz="1600" b="0" u="none" strike="noStrike" dirty="0">
              <a:solidFill>
                <a:srgbClr val="000000"/>
              </a:solidFill>
              <a:effectLst/>
              <a:uFillTx/>
              <a:latin typeface="Arial"/>
            </a:endParaRPr>
          </a:p>
        </p:txBody>
      </p:sp>
      <p:sp>
        <p:nvSpPr>
          <p:cNvPr id="151" name="Text 34"/>
          <p:cNvSpPr/>
          <p:nvPr/>
        </p:nvSpPr>
        <p:spPr>
          <a:xfrm>
            <a:off x="4335781" y="4495069"/>
            <a:ext cx="3344819" cy="935103"/>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a:tabLst>
                <a:tab pos="0" algn="l"/>
              </a:tabLst>
            </a:pPr>
            <a:r>
              <a:rPr lang="es-ES" sz="1200" dirty="0">
                <a:solidFill>
                  <a:srgbClr val="6F6888"/>
                </a:solidFill>
                <a:ea typeface="Aptos"/>
              </a:rPr>
              <a:t>El seguimiento actual sigue reglas </a:t>
            </a:r>
            <a:r>
              <a:rPr lang="es-ES" sz="1200" dirty="0" err="1">
                <a:solidFill>
                  <a:srgbClr val="6F6888"/>
                </a:solidFill>
                <a:ea typeface="Aptos"/>
              </a:rPr>
              <a:t>pre-programadas</a:t>
            </a:r>
            <a:r>
              <a:rPr lang="es-ES" sz="1200" dirty="0">
                <a:solidFill>
                  <a:srgbClr val="6F6888"/>
                </a:solidFill>
                <a:ea typeface="Aptos"/>
              </a:rPr>
              <a:t> después de periodos de inactividad. </a:t>
            </a:r>
            <a:r>
              <a:rPr lang="es-ES" sz="1200" b="1" dirty="0">
                <a:solidFill>
                  <a:srgbClr val="6F6888"/>
                </a:solidFill>
                <a:ea typeface="Aptos"/>
              </a:rPr>
              <a:t>No decide situacionalmente </a:t>
            </a:r>
            <a:r>
              <a:rPr lang="es-ES" sz="1200" dirty="0">
                <a:solidFill>
                  <a:srgbClr val="6F6888"/>
                </a:solidFill>
                <a:ea typeface="Aptos"/>
              </a:rPr>
              <a:t>qué necesita cada oportunidad para seguir avanzando</a:t>
            </a:r>
            <a:r>
              <a:rPr lang="en-US" sz="1200" b="0" u="none" strike="noStrike" dirty="0">
                <a:solidFill>
                  <a:srgbClr val="6F6888"/>
                </a:solidFill>
                <a:effectLst/>
                <a:uFillTx/>
                <a:latin typeface="Aptos"/>
                <a:ea typeface="Aptos"/>
              </a:rPr>
              <a:t>.</a:t>
            </a:r>
            <a:endParaRPr lang="en-US" sz="1200" b="0" u="none" strike="noStrike" dirty="0">
              <a:solidFill>
                <a:srgbClr val="000000"/>
              </a:solidFill>
              <a:effectLst/>
              <a:uFillTx/>
              <a:latin typeface="Arial"/>
            </a:endParaRPr>
          </a:p>
        </p:txBody>
      </p:sp>
      <p:sp>
        <p:nvSpPr>
          <p:cNvPr id="152" name="Shape 35"/>
          <p:cNvSpPr/>
          <p:nvPr/>
        </p:nvSpPr>
        <p:spPr>
          <a:xfrm>
            <a:off x="8001000" y="3965681"/>
            <a:ext cx="3382920" cy="1697678"/>
          </a:xfrm>
          <a:prstGeom prst="roundRect">
            <a:avLst>
              <a:gd name="adj" fmla="val 7692"/>
            </a:avLst>
          </a:prstGeom>
          <a:solidFill>
            <a:srgbClr val="FFFFFF"/>
          </a:solidFill>
          <a:ln w="12700">
            <a:solidFill>
              <a:srgbClr val="DED2F6"/>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3" name="Text 36"/>
          <p:cNvSpPr/>
          <p:nvPr/>
        </p:nvSpPr>
        <p:spPr>
          <a:xfrm>
            <a:off x="8138160" y="4111841"/>
            <a:ext cx="31086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dirty="0">
                <a:solidFill>
                  <a:srgbClr val="078C53"/>
                </a:solidFill>
                <a:effectLst/>
                <a:uFillTx/>
                <a:latin typeface="Aptos"/>
                <a:ea typeface="Aptos"/>
              </a:rPr>
              <a:t>EVOLUCIONAR</a:t>
            </a:r>
            <a:endParaRPr lang="en-US" sz="1600" b="0" u="none" strike="noStrike" dirty="0">
              <a:solidFill>
                <a:srgbClr val="000000"/>
              </a:solidFill>
              <a:effectLst/>
              <a:uFillTx/>
              <a:latin typeface="Arial"/>
            </a:endParaRPr>
          </a:p>
        </p:txBody>
      </p:sp>
      <p:sp>
        <p:nvSpPr>
          <p:cNvPr id="155" name="Text 38"/>
          <p:cNvSpPr/>
          <p:nvPr/>
        </p:nvSpPr>
        <p:spPr>
          <a:xfrm>
            <a:off x="8202240" y="4590256"/>
            <a:ext cx="2925720" cy="620939"/>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a:tabLst>
                <a:tab pos="0" algn="l"/>
              </a:tabLst>
            </a:pPr>
            <a:r>
              <a:rPr lang="es-ES" sz="1200" b="0" u="none" strike="noStrike" dirty="0">
                <a:solidFill>
                  <a:srgbClr val="6F6888"/>
                </a:solidFill>
                <a:effectLst/>
                <a:uFillTx/>
                <a:latin typeface="Aptos"/>
                <a:ea typeface="Aptos"/>
              </a:rPr>
              <a:t>Se debería mantener viva cada oportunidad y decidir qué hacer después según su estado, contexto, eventos y políticas</a:t>
            </a:r>
            <a:r>
              <a:rPr lang="es-ES" sz="1200" dirty="0">
                <a:solidFill>
                  <a:srgbClr val="6F6888"/>
                </a:solidFill>
                <a:ea typeface="Aptos"/>
              </a:rPr>
              <a:t>.</a:t>
            </a:r>
            <a:endParaRPr lang="en-US" sz="1200" b="0" u="none" strike="noStrike" dirty="0">
              <a:solidFill>
                <a:srgbClr val="000000"/>
              </a:solidFill>
              <a:effectLst/>
              <a:uFillTx/>
              <a:latin typeface="Arial"/>
            </a:endParaRPr>
          </a:p>
        </p:txBody>
      </p:sp>
      <p:pic>
        <p:nvPicPr>
          <p:cNvPr id="3" name="Image 0" descr="/mnt/data/ungga_logo_purple.png">
            <a:extLst>
              <a:ext uri="{FF2B5EF4-FFF2-40B4-BE49-F238E27FC236}">
                <a16:creationId xmlns:a16="http://schemas.microsoft.com/office/drawing/2014/main" id="{978850DD-C979-6AB3-743C-AD0803A825E8}"/>
              </a:ext>
            </a:extLst>
          </p:cNvPr>
          <p:cNvPicPr>
            <a:picLocks noChangeAspect="1"/>
          </p:cNvPicPr>
          <p:nvPr/>
        </p:nvPicPr>
        <p:blipFill>
          <a:blip r:embed="rId3"/>
          <a:stretch>
            <a:fillRect/>
          </a:stretch>
        </p:blipFill>
        <p:spPr>
          <a:xfrm>
            <a:off x="11109960" y="449715"/>
            <a:ext cx="566928" cy="472170"/>
          </a:xfrm>
          <a:prstGeom prst="rect">
            <a:avLst/>
          </a:prstGeom>
        </p:spPr>
      </p:pic>
      <p:grpSp>
        <p:nvGrpSpPr>
          <p:cNvPr id="4" name="Grupo 3">
            <a:extLst>
              <a:ext uri="{FF2B5EF4-FFF2-40B4-BE49-F238E27FC236}">
                <a16:creationId xmlns:a16="http://schemas.microsoft.com/office/drawing/2014/main" id="{EE315C07-4540-AB0B-9242-77C98B1EA0B5}"/>
              </a:ext>
            </a:extLst>
          </p:cNvPr>
          <p:cNvGrpSpPr/>
          <p:nvPr/>
        </p:nvGrpSpPr>
        <p:grpSpPr>
          <a:xfrm>
            <a:off x="1713390" y="5926547"/>
            <a:ext cx="8343195" cy="438480"/>
            <a:chOff x="2468880" y="5504760"/>
            <a:chExt cx="7223400" cy="438480"/>
          </a:xfrm>
        </p:grpSpPr>
        <p:sp>
          <p:nvSpPr>
            <p:cNvPr id="5" name="Shape 17">
              <a:extLst>
                <a:ext uri="{FF2B5EF4-FFF2-40B4-BE49-F238E27FC236}">
                  <a16:creationId xmlns:a16="http://schemas.microsoft.com/office/drawing/2014/main" id="{6B7EB617-8741-B8AC-7962-4F33CE2B2E03}"/>
                </a:ext>
              </a:extLst>
            </p:cNvPr>
            <p:cNvSpPr/>
            <p:nvPr/>
          </p:nvSpPr>
          <p:spPr>
            <a:xfrm>
              <a:off x="2468880" y="5504760"/>
              <a:ext cx="7223400" cy="438480"/>
            </a:xfrm>
            <a:prstGeom prst="roundRect">
              <a:avLst>
                <a:gd name="adj" fmla="val 16667"/>
              </a:avLst>
            </a:prstGeom>
            <a:solidFill>
              <a:srgbClr val="F1EBFF"/>
            </a:solidFill>
            <a:ln w="12700">
              <a:solidFill>
                <a:srgbClr val="F1EB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600" b="0" u="none" strike="noStrike">
                <a:solidFill>
                  <a:srgbClr val="000000"/>
                </a:solidFill>
                <a:effectLst/>
                <a:uFillTx/>
                <a:latin typeface="Arial"/>
              </a:endParaRPr>
            </a:p>
          </p:txBody>
        </p:sp>
        <p:sp>
          <p:nvSpPr>
            <p:cNvPr id="6" name="Text 18">
              <a:extLst>
                <a:ext uri="{FF2B5EF4-FFF2-40B4-BE49-F238E27FC236}">
                  <a16:creationId xmlns:a16="http://schemas.microsoft.com/office/drawing/2014/main" id="{078549CC-E9B7-6A1B-F623-9579DDAB3A8C}"/>
                </a:ext>
              </a:extLst>
            </p:cNvPr>
            <p:cNvSpPr/>
            <p:nvPr/>
          </p:nvSpPr>
          <p:spPr>
            <a:xfrm>
              <a:off x="2514600" y="5559480"/>
              <a:ext cx="71319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s-ES" sz="1400" b="1" u="none" strike="noStrike" dirty="0">
                  <a:solidFill>
                    <a:srgbClr val="5F2CCB"/>
                  </a:solidFill>
                  <a:effectLst/>
                  <a:uFillTx/>
                  <a:latin typeface="Aptos"/>
                  <a:ea typeface="Aptos"/>
                </a:rPr>
                <a:t>Automatizar un seguimiento no es lo mismo que asumir responsabilidad por la oportunidad</a:t>
              </a:r>
              <a:r>
                <a:rPr lang="en-US" sz="1400" b="1" u="none" strike="noStrike" dirty="0">
                  <a:solidFill>
                    <a:srgbClr val="5F2CCB"/>
                  </a:solidFill>
                  <a:effectLst/>
                  <a:uFillTx/>
                  <a:latin typeface="Aptos"/>
                  <a:ea typeface="Aptos"/>
                </a:rPr>
                <a:t>.</a:t>
              </a:r>
              <a:endParaRPr lang="en-US" sz="1400" b="0" u="none" strike="noStrike" dirty="0">
                <a:solidFill>
                  <a:srgbClr val="000000"/>
                </a:solidFill>
                <a:effectLst/>
                <a:uFillTx/>
                <a:latin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158" name="Shape 0"/>
          <p:cNvSpPr/>
          <p:nvPr/>
        </p:nvSpPr>
        <p:spPr>
          <a:xfrm>
            <a:off x="0" y="0"/>
            <a:ext cx="12191400" cy="63720"/>
          </a:xfrm>
          <a:prstGeom prst="rect">
            <a:avLst/>
          </a:prstGeom>
          <a:solidFill>
            <a:srgbClr val="5F2CCB"/>
          </a:solidFill>
          <a:ln w="12700">
            <a:solidFill>
              <a:srgbClr val="5F2CCB">
                <a:alpha val="0"/>
              </a:srgbClr>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FFFFFF"/>
              </a:solidFill>
              <a:effectLst/>
              <a:uFillTx/>
              <a:latin typeface="Arial"/>
            </a:endParaRPr>
          </a:p>
        </p:txBody>
      </p:sp>
      <p:sp>
        <p:nvSpPr>
          <p:cNvPr id="159" name="Text 1"/>
          <p:cNvSpPr/>
          <p:nvPr/>
        </p:nvSpPr>
        <p:spPr>
          <a:xfrm>
            <a:off x="567000" y="438840"/>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dirty="0">
                <a:solidFill>
                  <a:srgbClr val="5F2CCB"/>
                </a:solidFill>
                <a:effectLst/>
                <a:uFillTx/>
                <a:latin typeface="Aptos"/>
                <a:ea typeface="Aptos"/>
              </a:rPr>
              <a:t>INSIGHT GANADO</a:t>
            </a:r>
            <a:endParaRPr lang="en-US" sz="1200" b="0" u="none" strike="noStrike" dirty="0">
              <a:solidFill>
                <a:srgbClr val="000000"/>
              </a:solidFill>
              <a:effectLst/>
              <a:uFillTx/>
              <a:latin typeface="Arial"/>
            </a:endParaRPr>
          </a:p>
        </p:txBody>
      </p:sp>
      <p:sp>
        <p:nvSpPr>
          <p:cNvPr id="160" name="Text 2"/>
          <p:cNvSpPr/>
          <p:nvPr/>
        </p:nvSpPr>
        <p:spPr>
          <a:xfrm>
            <a:off x="567000" y="822356"/>
            <a:ext cx="10432433" cy="685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n-US" sz="2600" b="1" u="none" strike="noStrike" dirty="0">
                <a:solidFill>
                  <a:srgbClr val="151327"/>
                </a:solidFill>
                <a:effectLst/>
                <a:uFillTx/>
                <a:latin typeface="Aptos Display"/>
                <a:ea typeface="Aptos Display"/>
              </a:rPr>
              <a:t>La </a:t>
            </a:r>
            <a:r>
              <a:rPr lang="en-US" sz="2600" b="1" u="none" strike="noStrike" dirty="0" err="1">
                <a:solidFill>
                  <a:srgbClr val="151327"/>
                </a:solidFill>
                <a:effectLst/>
                <a:uFillTx/>
                <a:latin typeface="Aptos Display"/>
                <a:ea typeface="Aptos Display"/>
              </a:rPr>
              <a:t>conversación</a:t>
            </a:r>
            <a:r>
              <a:rPr lang="en-US" sz="2600" b="1" u="none" strike="noStrike" dirty="0">
                <a:solidFill>
                  <a:srgbClr val="151327"/>
                </a:solidFill>
                <a:effectLst/>
                <a:uFillTx/>
                <a:latin typeface="Aptos Display"/>
                <a:ea typeface="Aptos Display"/>
              </a:rPr>
              <a:t> es </a:t>
            </a:r>
            <a:r>
              <a:rPr lang="en-US" sz="2600" b="1" u="none" strike="noStrike" dirty="0" err="1">
                <a:solidFill>
                  <a:srgbClr val="151327"/>
                </a:solidFill>
                <a:effectLst/>
                <a:uFillTx/>
                <a:latin typeface="Aptos Display"/>
                <a:ea typeface="Aptos Display"/>
              </a:rPr>
              <a:t>importante</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pero</a:t>
            </a:r>
            <a:r>
              <a:rPr lang="en-US" sz="2600" b="1" u="none" strike="noStrike" dirty="0">
                <a:solidFill>
                  <a:srgbClr val="151327"/>
                </a:solidFill>
                <a:effectLst/>
                <a:uFillTx/>
                <a:latin typeface="Aptos Display"/>
                <a:ea typeface="Aptos Display"/>
              </a:rPr>
              <a:t> no </a:t>
            </a:r>
            <a:r>
              <a:rPr lang="en-US" sz="2600" b="1" u="none" strike="noStrike" dirty="0" err="1">
                <a:solidFill>
                  <a:srgbClr val="151327"/>
                </a:solidFill>
                <a:effectLst/>
                <a:uFillTx/>
                <a:latin typeface="Aptos Display"/>
                <a:ea typeface="Aptos Display"/>
              </a:rPr>
              <a:t>puede</a:t>
            </a:r>
            <a:r>
              <a:rPr lang="en-US" sz="2600" b="1" u="none" strike="noStrike" dirty="0">
                <a:solidFill>
                  <a:srgbClr val="151327"/>
                </a:solidFill>
                <a:effectLst/>
                <a:uFillTx/>
                <a:latin typeface="Aptos Display"/>
                <a:ea typeface="Aptos Display"/>
              </a:rPr>
              <a:t> ser la </a:t>
            </a:r>
            <a:r>
              <a:rPr lang="en-US" sz="2600" b="1" u="none" strike="noStrike" dirty="0" err="1">
                <a:solidFill>
                  <a:srgbClr val="151327"/>
                </a:solidFill>
                <a:effectLst/>
                <a:uFillTx/>
                <a:latin typeface="Aptos Display"/>
                <a:ea typeface="Aptos Display"/>
              </a:rPr>
              <a:t>única</a:t>
            </a:r>
            <a:r>
              <a:rPr lang="en-US" sz="2600" b="1" u="none" strike="noStrike" dirty="0">
                <a:solidFill>
                  <a:srgbClr val="151327"/>
                </a:solidFill>
                <a:effectLst/>
                <a:uFillTx/>
                <a:latin typeface="Aptos Display"/>
                <a:ea typeface="Aptos Display"/>
              </a:rPr>
              <a:t> </a:t>
            </a:r>
            <a:r>
              <a:rPr lang="en-US" sz="2600" b="1" dirty="0" err="1">
                <a:solidFill>
                  <a:srgbClr val="151327"/>
                </a:solidFill>
                <a:latin typeface="Aptos Display"/>
                <a:ea typeface="Aptos Display"/>
              </a:rPr>
              <a:t>f</a:t>
            </a:r>
            <a:r>
              <a:rPr lang="en-US" sz="2600" b="1" u="none" strike="noStrike" dirty="0" err="1">
                <a:solidFill>
                  <a:srgbClr val="151327"/>
                </a:solidFill>
                <a:effectLst/>
                <a:uFillTx/>
                <a:latin typeface="Aptos Display"/>
                <a:ea typeface="Aptos Display"/>
              </a:rPr>
              <a:t>uente</a:t>
            </a:r>
            <a:r>
              <a:rPr lang="en-US" sz="2600" b="1" u="none" strike="noStrike" dirty="0">
                <a:solidFill>
                  <a:srgbClr val="151327"/>
                </a:solidFill>
                <a:effectLst/>
                <a:uFillTx/>
                <a:latin typeface="Aptos Display"/>
                <a:ea typeface="Aptos Display"/>
              </a:rPr>
              <a:t> de </a:t>
            </a:r>
            <a:r>
              <a:rPr lang="en-US" sz="2600" b="1" u="none" strike="noStrike" dirty="0" err="1">
                <a:solidFill>
                  <a:srgbClr val="151327"/>
                </a:solidFill>
                <a:effectLst/>
                <a:uFillTx/>
                <a:latin typeface="Aptos Display"/>
                <a:ea typeface="Aptos Display"/>
              </a:rPr>
              <a:t>verdad</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operacional</a:t>
            </a:r>
            <a:r>
              <a:rPr lang="en-US" sz="2600" b="1" u="none" strike="noStrike" dirty="0">
                <a:solidFill>
                  <a:srgbClr val="151327"/>
                </a:solidFill>
                <a:effectLst/>
                <a:uFillTx/>
                <a:latin typeface="Aptos Display"/>
                <a:ea typeface="Aptos Display"/>
              </a:rPr>
              <a:t>.</a:t>
            </a:r>
            <a:endParaRPr lang="en-US" sz="2600" b="0" u="none" strike="noStrike" dirty="0">
              <a:solidFill>
                <a:srgbClr val="000000"/>
              </a:solidFill>
              <a:effectLst/>
              <a:uFillTx/>
              <a:latin typeface="Arial"/>
            </a:endParaRPr>
          </a:p>
        </p:txBody>
      </p:sp>
      <p:sp>
        <p:nvSpPr>
          <p:cNvPr id="161" name="Text 3"/>
          <p:cNvSpPr/>
          <p:nvPr/>
        </p:nvSpPr>
        <p:spPr>
          <a:xfrm>
            <a:off x="567000" y="1721575"/>
            <a:ext cx="10698120" cy="566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b="0" u="none" strike="noStrike" dirty="0">
                <a:solidFill>
                  <a:srgbClr val="6F6888"/>
                </a:solidFill>
                <a:effectLst/>
                <a:uFillTx/>
                <a:latin typeface="Aptos"/>
                <a:ea typeface="Aptos"/>
              </a:rPr>
              <a:t>Cuando el </a:t>
            </a:r>
            <a:r>
              <a:rPr lang="en-US" b="0" u="none" strike="noStrike" dirty="0" err="1">
                <a:solidFill>
                  <a:srgbClr val="6F6888"/>
                </a:solidFill>
                <a:effectLst/>
                <a:uFillTx/>
                <a:latin typeface="Aptos"/>
                <a:ea typeface="Aptos"/>
              </a:rPr>
              <a:t>trabajo</a:t>
            </a:r>
            <a:r>
              <a:rPr lang="en-US" b="0" u="none" strike="noStrike" dirty="0">
                <a:solidFill>
                  <a:srgbClr val="6F6888"/>
                </a:solidFill>
                <a:effectLst/>
                <a:uFillTx/>
                <a:latin typeface="Aptos"/>
                <a:ea typeface="Aptos"/>
              </a:rPr>
              <a:t> dura días, </a:t>
            </a:r>
            <a:r>
              <a:rPr lang="en-US" b="0" u="none" strike="noStrike" dirty="0" err="1">
                <a:solidFill>
                  <a:srgbClr val="6F6888"/>
                </a:solidFill>
                <a:effectLst/>
                <a:uFillTx/>
                <a:latin typeface="Aptos"/>
                <a:ea typeface="Aptos"/>
              </a:rPr>
              <a:t>semanas</a:t>
            </a:r>
            <a:r>
              <a:rPr lang="en-US" b="0" u="none" strike="noStrike" dirty="0">
                <a:solidFill>
                  <a:srgbClr val="6F6888"/>
                </a:solidFill>
                <a:effectLst/>
                <a:uFillTx/>
                <a:latin typeface="Aptos"/>
                <a:ea typeface="Aptos"/>
              </a:rPr>
              <a:t> o meses, Gu </a:t>
            </a:r>
            <a:r>
              <a:rPr lang="en-US" b="0" u="none" strike="noStrike" dirty="0" err="1">
                <a:solidFill>
                  <a:srgbClr val="6F6888"/>
                </a:solidFill>
                <a:effectLst/>
                <a:uFillTx/>
                <a:latin typeface="Aptos"/>
                <a:ea typeface="Aptos"/>
              </a:rPr>
              <a:t>necesita</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estado</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explícito</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objetivo</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bloqueos</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dependencias</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permisos</a:t>
            </a:r>
            <a:r>
              <a:rPr lang="en-US" b="0" u="none" strike="noStrike" dirty="0">
                <a:solidFill>
                  <a:srgbClr val="6F6888"/>
                </a:solidFill>
                <a:effectLst/>
                <a:uFillTx/>
                <a:latin typeface="Aptos"/>
                <a:ea typeface="Aptos"/>
              </a:rPr>
              <a:t> y </a:t>
            </a:r>
            <a:r>
              <a:rPr lang="en-US" b="0" u="none" strike="noStrike" dirty="0" err="1">
                <a:solidFill>
                  <a:srgbClr val="6F6888"/>
                </a:solidFill>
                <a:effectLst/>
                <a:uFillTx/>
                <a:latin typeface="Aptos"/>
                <a:ea typeface="Aptos"/>
              </a:rPr>
              <a:t>evidencia</a:t>
            </a:r>
            <a:r>
              <a:rPr lang="en-US" b="0" u="none" strike="noStrike" dirty="0">
                <a:solidFill>
                  <a:srgbClr val="6F6888"/>
                </a:solidFill>
                <a:effectLst/>
                <a:uFillTx/>
                <a:latin typeface="Aptos"/>
                <a:ea typeface="Aptos"/>
              </a:rPr>
              <a:t>.</a:t>
            </a:r>
            <a:endParaRPr lang="en-US" b="0" u="none" strike="noStrike" dirty="0">
              <a:solidFill>
                <a:srgbClr val="000000"/>
              </a:solidFill>
              <a:effectLst/>
              <a:uFillTx/>
              <a:latin typeface="Arial"/>
            </a:endParaRPr>
          </a:p>
        </p:txBody>
      </p:sp>
      <p:sp>
        <p:nvSpPr>
          <p:cNvPr id="163" name="Text 5"/>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u="none" strike="noStrike">
                <a:solidFill>
                  <a:srgbClr val="7E7798"/>
                </a:solidFill>
                <a:effectLst/>
                <a:uFillTx/>
                <a:latin typeface="Aptos"/>
                <a:ea typeface="Aptos"/>
              </a:rPr>
              <a:t>CONFIDENTIAL</a:t>
            </a:r>
            <a:endParaRPr lang="en-US" sz="650" b="0" u="none" strike="noStrike">
              <a:solidFill>
                <a:srgbClr val="000000"/>
              </a:solidFill>
              <a:effectLst/>
              <a:uFillTx/>
              <a:latin typeface="Arial"/>
            </a:endParaRPr>
          </a:p>
        </p:txBody>
      </p:sp>
      <p:sp>
        <p:nvSpPr>
          <p:cNvPr id="164" name="Text 6"/>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650" b="0" u="none" strike="noStrike">
                <a:solidFill>
                  <a:srgbClr val="7E7798"/>
                </a:solidFill>
                <a:effectLst/>
                <a:uFillTx/>
                <a:latin typeface="Aptos"/>
                <a:ea typeface="Aptos"/>
              </a:rPr>
              <a:t>ungga.com</a:t>
            </a:r>
            <a:endParaRPr lang="en-US" sz="650" b="0" u="none" strike="noStrike">
              <a:solidFill>
                <a:srgbClr val="000000"/>
              </a:solidFill>
              <a:effectLst/>
              <a:uFillTx/>
              <a:latin typeface="Arial"/>
            </a:endParaRPr>
          </a:p>
        </p:txBody>
      </p:sp>
      <p:sp>
        <p:nvSpPr>
          <p:cNvPr id="165" name="Text 7"/>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dirty="0">
                <a:solidFill>
                  <a:srgbClr val="7E7798"/>
                </a:solidFill>
                <a:latin typeface="Aptos"/>
              </a:rPr>
              <a:t>7</a:t>
            </a:r>
            <a:endParaRPr lang="en-US" sz="800" b="0" u="none" strike="noStrike" dirty="0">
              <a:solidFill>
                <a:srgbClr val="000000"/>
              </a:solidFill>
              <a:effectLst/>
              <a:uFillTx/>
              <a:latin typeface="Arial"/>
            </a:endParaRPr>
          </a:p>
        </p:txBody>
      </p:sp>
      <p:sp>
        <p:nvSpPr>
          <p:cNvPr id="166" name="Shape 8"/>
          <p:cNvSpPr/>
          <p:nvPr/>
        </p:nvSpPr>
        <p:spPr>
          <a:xfrm>
            <a:off x="573053" y="2684449"/>
            <a:ext cx="4845960" cy="2582409"/>
          </a:xfrm>
          <a:prstGeom prst="roundRect">
            <a:avLst>
              <a:gd name="adj" fmla="val 3226"/>
            </a:avLst>
          </a:prstGeom>
          <a:solidFill>
            <a:srgbClr val="FFFFFF"/>
          </a:solidFill>
          <a:ln w="12700">
            <a:solidFill>
              <a:srgbClr val="DED2F6"/>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7" name="Text 9"/>
          <p:cNvSpPr/>
          <p:nvPr/>
        </p:nvSpPr>
        <p:spPr>
          <a:xfrm>
            <a:off x="710213" y="2830609"/>
            <a:ext cx="4571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dirty="0">
                <a:solidFill>
                  <a:srgbClr val="5F2CCB"/>
                </a:solidFill>
                <a:effectLst/>
                <a:uFillTx/>
                <a:latin typeface="Aptos"/>
                <a:ea typeface="Aptos"/>
              </a:rPr>
              <a:t>CONTEXTO ÚTIL</a:t>
            </a:r>
            <a:endParaRPr lang="en-US" sz="1600" b="0" u="none" strike="noStrike" dirty="0">
              <a:solidFill>
                <a:srgbClr val="000000"/>
              </a:solidFill>
              <a:effectLst/>
              <a:uFillTx/>
              <a:latin typeface="Arial"/>
            </a:endParaRPr>
          </a:p>
        </p:txBody>
      </p:sp>
      <p:sp>
        <p:nvSpPr>
          <p:cNvPr id="168" name="Text 10"/>
          <p:cNvSpPr/>
          <p:nvPr/>
        </p:nvSpPr>
        <p:spPr>
          <a:xfrm>
            <a:off x="774293" y="3160009"/>
            <a:ext cx="44434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dirty="0" err="1">
                <a:solidFill>
                  <a:srgbClr val="151327"/>
                </a:solidFill>
                <a:effectLst/>
                <a:uFillTx/>
                <a:latin typeface="Aptos Display"/>
                <a:ea typeface="Aptos Display"/>
              </a:rPr>
              <a:t>Conversación</a:t>
            </a:r>
            <a:endParaRPr lang="en-US" sz="1600" b="0" u="none" strike="noStrike" dirty="0">
              <a:solidFill>
                <a:srgbClr val="000000"/>
              </a:solidFill>
              <a:effectLst/>
              <a:uFillTx/>
              <a:latin typeface="Arial"/>
            </a:endParaRPr>
          </a:p>
        </p:txBody>
      </p:sp>
      <p:sp>
        <p:nvSpPr>
          <p:cNvPr id="169" name="Text 11"/>
          <p:cNvSpPr/>
          <p:nvPr/>
        </p:nvSpPr>
        <p:spPr>
          <a:xfrm>
            <a:off x="829013" y="3671929"/>
            <a:ext cx="4334040" cy="1165449"/>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marL="285750" indent="-285750" defTabSz="914400">
              <a:lnSpc>
                <a:spcPct val="100000"/>
              </a:lnSpc>
              <a:buFont typeface="Arial" panose="020B0604020202020204" pitchFamily="34" charset="0"/>
              <a:buChar char="•"/>
              <a:tabLst>
                <a:tab pos="0" algn="l"/>
              </a:tabLst>
            </a:pPr>
            <a:r>
              <a:rPr lang="en-US" sz="1600" b="0" u="none" strike="noStrike" dirty="0" err="1">
                <a:solidFill>
                  <a:srgbClr val="6F6888"/>
                </a:solidFill>
                <a:effectLst/>
                <a:uFillTx/>
                <a:latin typeface="Aptos"/>
                <a:ea typeface="Aptos"/>
              </a:rPr>
              <a:t>Qué</a:t>
            </a:r>
            <a:r>
              <a:rPr lang="en-US" sz="1600" b="0" u="none" strike="noStrike" dirty="0">
                <a:solidFill>
                  <a:srgbClr val="6F6888"/>
                </a:solidFill>
                <a:effectLst/>
                <a:uFillTx/>
                <a:latin typeface="Aptos"/>
                <a:ea typeface="Aptos"/>
              </a:rPr>
              <a:t> </a:t>
            </a:r>
            <a:r>
              <a:rPr lang="en-US" sz="1600" b="0" u="none" strike="noStrike" dirty="0" err="1">
                <a:solidFill>
                  <a:srgbClr val="6F6888"/>
                </a:solidFill>
                <a:effectLst/>
                <a:uFillTx/>
                <a:latin typeface="Aptos"/>
                <a:ea typeface="Aptos"/>
              </a:rPr>
              <a:t>dijo</a:t>
            </a:r>
            <a:r>
              <a:rPr lang="en-US" sz="1600" b="0" u="none" strike="noStrike" dirty="0">
                <a:solidFill>
                  <a:srgbClr val="6F6888"/>
                </a:solidFill>
                <a:effectLst/>
                <a:uFillTx/>
                <a:latin typeface="Aptos"/>
                <a:ea typeface="Aptos"/>
              </a:rPr>
              <a:t> el </a:t>
            </a:r>
            <a:r>
              <a:rPr lang="en-US" sz="1600" b="0" u="none" strike="noStrike" dirty="0" err="1">
                <a:solidFill>
                  <a:srgbClr val="6F6888"/>
                </a:solidFill>
                <a:effectLst/>
                <a:uFillTx/>
                <a:latin typeface="Aptos"/>
                <a:ea typeface="Aptos"/>
              </a:rPr>
              <a:t>usuario</a:t>
            </a:r>
            <a:endParaRPr lang="en-US" sz="1600" b="0" u="none" strike="noStrike" dirty="0">
              <a:solidFill>
                <a:srgbClr val="000000"/>
              </a:solidFill>
              <a:effectLst/>
              <a:uFillTx/>
              <a:latin typeface="Arial"/>
            </a:endParaRPr>
          </a:p>
          <a:p>
            <a:pPr marL="285750" indent="-285750" defTabSz="914400">
              <a:lnSpc>
                <a:spcPct val="100000"/>
              </a:lnSpc>
              <a:buFont typeface="Arial" panose="020B0604020202020204" pitchFamily="34" charset="0"/>
              <a:buChar char="•"/>
              <a:tabLst>
                <a:tab pos="0" algn="l"/>
              </a:tabLst>
            </a:pPr>
            <a:r>
              <a:rPr lang="en-US" sz="1600" b="0" u="none" strike="noStrike" dirty="0" err="1">
                <a:solidFill>
                  <a:srgbClr val="6F6888"/>
                </a:solidFill>
                <a:effectLst/>
                <a:uFillTx/>
                <a:latin typeface="Aptos"/>
                <a:ea typeface="Aptos"/>
              </a:rPr>
              <a:t>Qué</a:t>
            </a:r>
            <a:r>
              <a:rPr lang="en-US" sz="1600" b="0" u="none" strike="noStrike" dirty="0">
                <a:solidFill>
                  <a:srgbClr val="6F6888"/>
                </a:solidFill>
                <a:effectLst/>
                <a:uFillTx/>
                <a:latin typeface="Aptos"/>
                <a:ea typeface="Aptos"/>
              </a:rPr>
              <a:t> </a:t>
            </a:r>
            <a:r>
              <a:rPr lang="en-US" sz="1600" b="0" u="none" strike="noStrike" dirty="0" err="1">
                <a:solidFill>
                  <a:srgbClr val="6F6888"/>
                </a:solidFill>
                <a:effectLst/>
                <a:uFillTx/>
                <a:latin typeface="Aptos"/>
                <a:ea typeface="Aptos"/>
              </a:rPr>
              <a:t>matiz</a:t>
            </a:r>
            <a:r>
              <a:rPr lang="en-US" sz="1600" b="0" u="none" strike="noStrike" dirty="0">
                <a:solidFill>
                  <a:srgbClr val="6F6888"/>
                </a:solidFill>
                <a:effectLst/>
                <a:uFillTx/>
                <a:latin typeface="Aptos"/>
                <a:ea typeface="Aptos"/>
              </a:rPr>
              <a:t> </a:t>
            </a:r>
            <a:r>
              <a:rPr lang="en-US" sz="1600" b="0" u="none" strike="noStrike" dirty="0" err="1">
                <a:solidFill>
                  <a:srgbClr val="6F6888"/>
                </a:solidFill>
                <a:effectLst/>
                <a:uFillTx/>
                <a:latin typeface="Aptos"/>
                <a:ea typeface="Aptos"/>
              </a:rPr>
              <a:t>apareció</a:t>
            </a:r>
            <a:endParaRPr lang="en-US" sz="1600" b="0" u="none" strike="noStrike" dirty="0">
              <a:solidFill>
                <a:srgbClr val="000000"/>
              </a:solidFill>
              <a:effectLst/>
              <a:uFillTx/>
              <a:latin typeface="Arial"/>
            </a:endParaRPr>
          </a:p>
          <a:p>
            <a:pPr marL="285750" indent="-285750" defTabSz="914400">
              <a:lnSpc>
                <a:spcPct val="100000"/>
              </a:lnSpc>
              <a:buFont typeface="Arial" panose="020B0604020202020204" pitchFamily="34" charset="0"/>
              <a:buChar char="•"/>
              <a:tabLst>
                <a:tab pos="0" algn="l"/>
              </a:tabLst>
            </a:pPr>
            <a:r>
              <a:rPr lang="en-US" sz="1600" b="0" u="none" strike="noStrike" dirty="0" err="1">
                <a:solidFill>
                  <a:srgbClr val="6F6888"/>
                </a:solidFill>
                <a:effectLst/>
                <a:uFillTx/>
                <a:latin typeface="Aptos"/>
                <a:ea typeface="Aptos"/>
              </a:rPr>
              <a:t>Qué</a:t>
            </a:r>
            <a:r>
              <a:rPr lang="en-US" sz="1600" b="0" u="none" strike="noStrike" dirty="0">
                <a:solidFill>
                  <a:srgbClr val="6F6888"/>
                </a:solidFill>
                <a:effectLst/>
                <a:uFillTx/>
                <a:latin typeface="Aptos"/>
                <a:ea typeface="Aptos"/>
              </a:rPr>
              <a:t> </a:t>
            </a:r>
            <a:r>
              <a:rPr lang="en-US" sz="1600" b="0" u="none" strike="noStrike" dirty="0" err="1">
                <a:solidFill>
                  <a:srgbClr val="6F6888"/>
                </a:solidFill>
                <a:effectLst/>
                <a:uFillTx/>
                <a:latin typeface="Aptos"/>
                <a:ea typeface="Aptos"/>
              </a:rPr>
              <a:t>instrucción</a:t>
            </a:r>
            <a:r>
              <a:rPr lang="en-US" sz="1600" b="0" u="none" strike="noStrike" dirty="0">
                <a:solidFill>
                  <a:srgbClr val="6F6888"/>
                </a:solidFill>
                <a:effectLst/>
                <a:uFillTx/>
                <a:latin typeface="Aptos"/>
                <a:ea typeface="Aptos"/>
              </a:rPr>
              <a:t> o </a:t>
            </a:r>
            <a:r>
              <a:rPr lang="en-US" sz="1600" b="0" u="none" strike="noStrike" dirty="0" err="1">
                <a:solidFill>
                  <a:srgbClr val="6F6888"/>
                </a:solidFill>
                <a:effectLst/>
                <a:uFillTx/>
                <a:latin typeface="Aptos"/>
                <a:ea typeface="Aptos"/>
              </a:rPr>
              <a:t>corrección</a:t>
            </a:r>
            <a:r>
              <a:rPr lang="en-US" sz="1600" b="0" u="none" strike="noStrike" dirty="0">
                <a:solidFill>
                  <a:srgbClr val="6F6888"/>
                </a:solidFill>
                <a:effectLst/>
                <a:uFillTx/>
                <a:latin typeface="Aptos"/>
                <a:ea typeface="Aptos"/>
              </a:rPr>
              <a:t> </a:t>
            </a:r>
            <a:r>
              <a:rPr lang="en-US" sz="1600" b="0" u="none" strike="noStrike" dirty="0" err="1">
                <a:solidFill>
                  <a:srgbClr val="6F6888"/>
                </a:solidFill>
                <a:effectLst/>
                <a:uFillTx/>
                <a:latin typeface="Aptos"/>
                <a:ea typeface="Aptos"/>
              </a:rPr>
              <a:t>dio</a:t>
            </a:r>
            <a:endParaRPr lang="en-US" sz="1600" b="0" u="none" strike="noStrike" dirty="0">
              <a:solidFill>
                <a:srgbClr val="000000"/>
              </a:solidFill>
              <a:effectLst/>
              <a:uFillTx/>
              <a:latin typeface="Arial"/>
            </a:endParaRPr>
          </a:p>
          <a:p>
            <a:pPr marL="285750" indent="-285750" defTabSz="914400">
              <a:lnSpc>
                <a:spcPct val="100000"/>
              </a:lnSpc>
              <a:buFont typeface="Arial" panose="020B0604020202020204" pitchFamily="34" charset="0"/>
              <a:buChar char="•"/>
              <a:tabLst>
                <a:tab pos="0" algn="l"/>
              </a:tabLst>
            </a:pPr>
            <a:r>
              <a:rPr lang="en-US" sz="1600" b="0" u="none" strike="noStrike" dirty="0" err="1">
                <a:solidFill>
                  <a:srgbClr val="6F6888"/>
                </a:solidFill>
                <a:effectLst/>
                <a:uFillTx/>
                <a:latin typeface="Aptos"/>
                <a:ea typeface="Aptos"/>
              </a:rPr>
              <a:t>Cómo</a:t>
            </a:r>
            <a:r>
              <a:rPr lang="en-US" sz="1600" b="0" u="none" strike="noStrike" dirty="0">
                <a:solidFill>
                  <a:srgbClr val="6F6888"/>
                </a:solidFill>
                <a:effectLst/>
                <a:uFillTx/>
                <a:latin typeface="Aptos"/>
                <a:ea typeface="Aptos"/>
              </a:rPr>
              <a:t> </a:t>
            </a:r>
            <a:r>
              <a:rPr lang="en-US" sz="1600" b="0" u="none" strike="noStrike" dirty="0" err="1">
                <a:solidFill>
                  <a:srgbClr val="6F6888"/>
                </a:solidFill>
                <a:effectLst/>
                <a:uFillTx/>
                <a:latin typeface="Aptos"/>
                <a:ea typeface="Aptos"/>
              </a:rPr>
              <a:t>debería</a:t>
            </a:r>
            <a:r>
              <a:rPr lang="en-US" sz="1600" b="0" u="none" strike="noStrike" dirty="0">
                <a:solidFill>
                  <a:srgbClr val="6F6888"/>
                </a:solidFill>
                <a:effectLst/>
                <a:uFillTx/>
                <a:latin typeface="Aptos"/>
                <a:ea typeface="Aptos"/>
              </a:rPr>
              <a:t> </a:t>
            </a:r>
            <a:r>
              <a:rPr lang="en-US" sz="1600" b="0" u="none" strike="noStrike" dirty="0" err="1">
                <a:solidFill>
                  <a:srgbClr val="6F6888"/>
                </a:solidFill>
                <a:effectLst/>
                <a:uFillTx/>
                <a:latin typeface="Aptos"/>
                <a:ea typeface="Aptos"/>
              </a:rPr>
              <a:t>comunicarse</a:t>
            </a:r>
            <a:r>
              <a:rPr lang="en-US" sz="1600" b="0" u="none" strike="noStrike" dirty="0">
                <a:solidFill>
                  <a:srgbClr val="6F6888"/>
                </a:solidFill>
                <a:effectLst/>
                <a:uFillTx/>
                <a:latin typeface="Aptos"/>
                <a:ea typeface="Aptos"/>
              </a:rPr>
              <a:t> Gu</a:t>
            </a:r>
            <a:endParaRPr lang="en-US" sz="1600" b="0" u="none" strike="noStrike" dirty="0">
              <a:solidFill>
                <a:srgbClr val="000000"/>
              </a:solidFill>
              <a:effectLst/>
              <a:uFillTx/>
              <a:latin typeface="Arial"/>
            </a:endParaRPr>
          </a:p>
        </p:txBody>
      </p:sp>
      <p:sp>
        <p:nvSpPr>
          <p:cNvPr id="170" name="Shape 12"/>
          <p:cNvSpPr/>
          <p:nvPr/>
        </p:nvSpPr>
        <p:spPr>
          <a:xfrm>
            <a:off x="6333773" y="2684449"/>
            <a:ext cx="4739640" cy="2582049"/>
          </a:xfrm>
          <a:prstGeom prst="roundRect">
            <a:avLst>
              <a:gd name="adj" fmla="val 3226"/>
            </a:avLst>
          </a:prstGeom>
          <a:solidFill>
            <a:srgbClr val="FFFFFF"/>
          </a:solidFill>
          <a:ln w="12700">
            <a:solidFill>
              <a:srgbClr val="DED2F6"/>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1" name="Text 13"/>
          <p:cNvSpPr/>
          <p:nvPr/>
        </p:nvSpPr>
        <p:spPr>
          <a:xfrm>
            <a:off x="6470933" y="2830609"/>
            <a:ext cx="4571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dirty="0">
                <a:solidFill>
                  <a:srgbClr val="078C53"/>
                </a:solidFill>
                <a:effectLst/>
                <a:uFillTx/>
                <a:latin typeface="Aptos"/>
                <a:ea typeface="Aptos"/>
              </a:rPr>
              <a:t>VERDAD DURABLE</a:t>
            </a:r>
            <a:endParaRPr lang="en-US" sz="1600" b="0" u="none" strike="noStrike" dirty="0">
              <a:solidFill>
                <a:srgbClr val="000000"/>
              </a:solidFill>
              <a:effectLst/>
              <a:uFillTx/>
              <a:latin typeface="Arial"/>
            </a:endParaRPr>
          </a:p>
        </p:txBody>
      </p:sp>
      <p:sp>
        <p:nvSpPr>
          <p:cNvPr id="172" name="Text 14"/>
          <p:cNvSpPr/>
          <p:nvPr/>
        </p:nvSpPr>
        <p:spPr>
          <a:xfrm>
            <a:off x="6535013" y="3160009"/>
            <a:ext cx="44434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dirty="0">
                <a:solidFill>
                  <a:srgbClr val="151327"/>
                </a:solidFill>
                <a:effectLst/>
                <a:uFillTx/>
                <a:latin typeface="Aptos Display"/>
                <a:ea typeface="Aptos Display"/>
              </a:rPr>
              <a:t>Estado </a:t>
            </a:r>
            <a:r>
              <a:rPr lang="en-US" sz="1600" b="1" u="none" strike="noStrike" dirty="0" err="1">
                <a:solidFill>
                  <a:srgbClr val="151327"/>
                </a:solidFill>
                <a:effectLst/>
                <a:uFillTx/>
                <a:latin typeface="Aptos Display"/>
                <a:ea typeface="Aptos Display"/>
              </a:rPr>
              <a:t>operacional</a:t>
            </a:r>
            <a:endParaRPr lang="en-US" sz="1600" b="0" u="none" strike="noStrike" dirty="0">
              <a:solidFill>
                <a:srgbClr val="000000"/>
              </a:solidFill>
              <a:effectLst/>
              <a:uFillTx/>
              <a:latin typeface="Arial"/>
            </a:endParaRPr>
          </a:p>
        </p:txBody>
      </p:sp>
      <p:sp>
        <p:nvSpPr>
          <p:cNvPr id="173" name="Text 15"/>
          <p:cNvSpPr/>
          <p:nvPr/>
        </p:nvSpPr>
        <p:spPr>
          <a:xfrm>
            <a:off x="6589733" y="3671929"/>
            <a:ext cx="3512734" cy="1370589"/>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marL="285750" indent="-285750" defTabSz="914400">
              <a:lnSpc>
                <a:spcPct val="100000"/>
              </a:lnSpc>
              <a:buFont typeface="Arial" panose="020B0604020202020204" pitchFamily="34" charset="0"/>
              <a:buChar char="•"/>
              <a:tabLst>
                <a:tab pos="0" algn="l"/>
              </a:tabLst>
            </a:pPr>
            <a:r>
              <a:rPr lang="en-US" sz="1600" b="0" u="none" strike="noStrike" dirty="0" err="1">
                <a:solidFill>
                  <a:srgbClr val="6F6888"/>
                </a:solidFill>
                <a:effectLst/>
                <a:uFillTx/>
                <a:latin typeface="Aptos"/>
                <a:ea typeface="Aptos"/>
              </a:rPr>
              <a:t>Qué</a:t>
            </a:r>
            <a:r>
              <a:rPr lang="en-US" sz="1600" b="0" u="none" strike="noStrike" dirty="0">
                <a:solidFill>
                  <a:srgbClr val="6F6888"/>
                </a:solidFill>
                <a:effectLst/>
                <a:uFillTx/>
                <a:latin typeface="Aptos"/>
                <a:ea typeface="Aptos"/>
              </a:rPr>
              <a:t> </a:t>
            </a:r>
            <a:r>
              <a:rPr lang="en-US" sz="1600" b="0" u="none" strike="noStrike" dirty="0" err="1">
                <a:solidFill>
                  <a:srgbClr val="6F6888"/>
                </a:solidFill>
                <a:effectLst/>
                <a:uFillTx/>
                <a:latin typeface="Aptos"/>
                <a:ea typeface="Aptos"/>
              </a:rPr>
              <a:t>objetivo</a:t>
            </a:r>
            <a:r>
              <a:rPr lang="en-US" sz="1600" b="0" u="none" strike="noStrike" dirty="0">
                <a:solidFill>
                  <a:srgbClr val="6F6888"/>
                </a:solidFill>
                <a:effectLst/>
                <a:uFillTx/>
                <a:latin typeface="Aptos"/>
                <a:ea typeface="Aptos"/>
              </a:rPr>
              <a:t> </a:t>
            </a:r>
            <a:r>
              <a:rPr lang="en-US" sz="1600" b="0" u="none" strike="noStrike" dirty="0" err="1">
                <a:solidFill>
                  <a:srgbClr val="6F6888"/>
                </a:solidFill>
                <a:effectLst/>
                <a:uFillTx/>
                <a:latin typeface="Aptos"/>
                <a:ea typeface="Aptos"/>
              </a:rPr>
              <a:t>perseguimos</a:t>
            </a:r>
            <a:endParaRPr lang="en-US" sz="1600" b="0" u="none" strike="noStrike" dirty="0">
              <a:solidFill>
                <a:srgbClr val="000000"/>
              </a:solidFill>
              <a:effectLst/>
              <a:uFillTx/>
              <a:latin typeface="Arial"/>
            </a:endParaRPr>
          </a:p>
          <a:p>
            <a:pPr marL="285750" indent="-285750" defTabSz="914400">
              <a:lnSpc>
                <a:spcPct val="100000"/>
              </a:lnSpc>
              <a:buFont typeface="Arial" panose="020B0604020202020204" pitchFamily="34" charset="0"/>
              <a:buChar char="•"/>
              <a:tabLst>
                <a:tab pos="0" algn="l"/>
              </a:tabLst>
            </a:pPr>
            <a:r>
              <a:rPr lang="en-US" sz="1600" b="0" u="none" strike="noStrike" dirty="0" err="1">
                <a:solidFill>
                  <a:srgbClr val="6F6888"/>
                </a:solidFill>
                <a:effectLst/>
                <a:uFillTx/>
                <a:latin typeface="Aptos"/>
                <a:ea typeface="Aptos"/>
              </a:rPr>
              <a:t>Qué</a:t>
            </a:r>
            <a:r>
              <a:rPr lang="en-US" sz="1600" b="0" u="none" strike="noStrike" dirty="0">
                <a:solidFill>
                  <a:srgbClr val="6F6888"/>
                </a:solidFill>
                <a:effectLst/>
                <a:uFillTx/>
                <a:latin typeface="Aptos"/>
                <a:ea typeface="Aptos"/>
              </a:rPr>
              <a:t> </a:t>
            </a:r>
            <a:r>
              <a:rPr lang="en-US" sz="1600" b="0" u="none" strike="noStrike" dirty="0" err="1">
                <a:solidFill>
                  <a:srgbClr val="6F6888"/>
                </a:solidFill>
                <a:effectLst/>
                <a:uFillTx/>
                <a:latin typeface="Aptos"/>
                <a:ea typeface="Aptos"/>
              </a:rPr>
              <a:t>ya</a:t>
            </a:r>
            <a:r>
              <a:rPr lang="en-US" sz="1600" b="0" u="none" strike="noStrike" dirty="0">
                <a:solidFill>
                  <a:srgbClr val="6F6888"/>
                </a:solidFill>
                <a:effectLst/>
                <a:uFillTx/>
                <a:latin typeface="Aptos"/>
                <a:ea typeface="Aptos"/>
              </a:rPr>
              <a:t> </a:t>
            </a:r>
            <a:r>
              <a:rPr lang="en-US" sz="1600" b="0" u="none" strike="noStrike" dirty="0" err="1">
                <a:solidFill>
                  <a:srgbClr val="6F6888"/>
                </a:solidFill>
                <a:effectLst/>
                <a:uFillTx/>
                <a:latin typeface="Aptos"/>
                <a:ea typeface="Aptos"/>
              </a:rPr>
              <a:t>pasó</a:t>
            </a:r>
            <a:r>
              <a:rPr lang="en-US" sz="1600" b="0" u="none" strike="noStrike" dirty="0">
                <a:solidFill>
                  <a:srgbClr val="6F6888"/>
                </a:solidFill>
                <a:effectLst/>
                <a:uFillTx/>
                <a:latin typeface="Aptos"/>
                <a:ea typeface="Aptos"/>
              </a:rPr>
              <a:t> y </a:t>
            </a:r>
            <a:r>
              <a:rPr lang="en-US" sz="1600" b="0" u="none" strike="noStrike" dirty="0" err="1">
                <a:solidFill>
                  <a:srgbClr val="6F6888"/>
                </a:solidFill>
                <a:effectLst/>
                <a:uFillTx/>
                <a:latin typeface="Aptos"/>
                <a:ea typeface="Aptos"/>
              </a:rPr>
              <a:t>qué</a:t>
            </a:r>
            <a:r>
              <a:rPr lang="en-US" sz="1600" b="0" u="none" strike="noStrike" dirty="0">
                <a:solidFill>
                  <a:srgbClr val="6F6888"/>
                </a:solidFill>
                <a:effectLst/>
                <a:uFillTx/>
                <a:latin typeface="Aptos"/>
                <a:ea typeface="Aptos"/>
              </a:rPr>
              <a:t> </a:t>
            </a:r>
            <a:r>
              <a:rPr lang="en-US" sz="1600" b="0" u="none" strike="noStrike" dirty="0" err="1">
                <a:solidFill>
                  <a:srgbClr val="6F6888"/>
                </a:solidFill>
                <a:effectLst/>
                <a:uFillTx/>
                <a:latin typeface="Aptos"/>
                <a:ea typeface="Aptos"/>
              </a:rPr>
              <a:t>falta</a:t>
            </a:r>
            <a:endParaRPr lang="en-US" sz="1600" b="0" u="none" strike="noStrike" dirty="0">
              <a:solidFill>
                <a:srgbClr val="000000"/>
              </a:solidFill>
              <a:effectLst/>
              <a:uFillTx/>
              <a:latin typeface="Arial"/>
            </a:endParaRPr>
          </a:p>
          <a:p>
            <a:pPr marL="285750" indent="-285750" defTabSz="914400">
              <a:lnSpc>
                <a:spcPct val="100000"/>
              </a:lnSpc>
              <a:buFont typeface="Arial" panose="020B0604020202020204" pitchFamily="34" charset="0"/>
              <a:buChar char="•"/>
              <a:tabLst>
                <a:tab pos="0" algn="l"/>
              </a:tabLst>
            </a:pPr>
            <a:r>
              <a:rPr lang="en-US" sz="1600" b="0" u="none" strike="noStrike" dirty="0" err="1">
                <a:solidFill>
                  <a:srgbClr val="6F6888"/>
                </a:solidFill>
                <a:effectLst/>
                <a:uFillTx/>
                <a:latin typeface="Aptos"/>
                <a:ea typeface="Aptos"/>
              </a:rPr>
              <a:t>Qué</a:t>
            </a:r>
            <a:r>
              <a:rPr lang="en-US" sz="1600" b="0" u="none" strike="noStrike" dirty="0">
                <a:solidFill>
                  <a:srgbClr val="6F6888"/>
                </a:solidFill>
                <a:effectLst/>
                <a:uFillTx/>
                <a:latin typeface="Aptos"/>
                <a:ea typeface="Aptos"/>
              </a:rPr>
              <a:t> </a:t>
            </a:r>
            <a:r>
              <a:rPr lang="en-US" sz="1600" b="0" u="none" strike="noStrike" dirty="0" err="1">
                <a:solidFill>
                  <a:srgbClr val="6F6888"/>
                </a:solidFill>
                <a:effectLst/>
                <a:uFillTx/>
                <a:latin typeface="Aptos"/>
                <a:ea typeface="Aptos"/>
              </a:rPr>
              <a:t>está</a:t>
            </a:r>
            <a:r>
              <a:rPr lang="en-US" sz="1600" b="0" u="none" strike="noStrike" dirty="0">
                <a:solidFill>
                  <a:srgbClr val="6F6888"/>
                </a:solidFill>
                <a:effectLst/>
                <a:uFillTx/>
                <a:latin typeface="Aptos"/>
                <a:ea typeface="Aptos"/>
              </a:rPr>
              <a:t> </a:t>
            </a:r>
            <a:r>
              <a:rPr lang="en-US" sz="1600" b="0" u="none" strike="noStrike" dirty="0" err="1">
                <a:solidFill>
                  <a:srgbClr val="6F6888"/>
                </a:solidFill>
                <a:effectLst/>
                <a:uFillTx/>
                <a:latin typeface="Aptos"/>
                <a:ea typeface="Aptos"/>
              </a:rPr>
              <a:t>bloqueado</a:t>
            </a:r>
            <a:endParaRPr lang="en-US" sz="1600" b="0" u="none" strike="noStrike" dirty="0">
              <a:solidFill>
                <a:srgbClr val="000000"/>
              </a:solidFill>
              <a:effectLst/>
              <a:uFillTx/>
              <a:latin typeface="Arial"/>
            </a:endParaRPr>
          </a:p>
          <a:p>
            <a:pPr marL="285750" indent="-285750" defTabSz="914400">
              <a:lnSpc>
                <a:spcPct val="100000"/>
              </a:lnSpc>
              <a:buFont typeface="Arial" panose="020B0604020202020204" pitchFamily="34" charset="0"/>
              <a:buChar char="•"/>
              <a:tabLst>
                <a:tab pos="0" algn="l"/>
              </a:tabLst>
            </a:pPr>
            <a:r>
              <a:rPr lang="en-US" sz="1600" b="0" u="none" strike="noStrike" dirty="0" err="1">
                <a:solidFill>
                  <a:srgbClr val="6F6888"/>
                </a:solidFill>
                <a:effectLst/>
                <a:uFillTx/>
                <a:latin typeface="Aptos"/>
                <a:ea typeface="Aptos"/>
              </a:rPr>
              <a:t>Qué</a:t>
            </a:r>
            <a:r>
              <a:rPr lang="en-US" sz="1600" b="0" u="none" strike="noStrike" dirty="0">
                <a:solidFill>
                  <a:srgbClr val="6F6888"/>
                </a:solidFill>
                <a:effectLst/>
                <a:uFillTx/>
                <a:latin typeface="Aptos"/>
                <a:ea typeface="Aptos"/>
              </a:rPr>
              <a:t> </a:t>
            </a:r>
            <a:r>
              <a:rPr lang="en-US" sz="1600" b="0" u="none" strike="noStrike" dirty="0" err="1">
                <a:solidFill>
                  <a:srgbClr val="6F6888"/>
                </a:solidFill>
                <a:effectLst/>
                <a:uFillTx/>
                <a:latin typeface="Aptos"/>
                <a:ea typeface="Aptos"/>
              </a:rPr>
              <a:t>está</a:t>
            </a:r>
            <a:r>
              <a:rPr lang="en-US" sz="1600" b="0" u="none" strike="noStrike" dirty="0">
                <a:solidFill>
                  <a:srgbClr val="6F6888"/>
                </a:solidFill>
                <a:effectLst/>
                <a:uFillTx/>
                <a:latin typeface="Aptos"/>
                <a:ea typeface="Aptos"/>
              </a:rPr>
              <a:t> </a:t>
            </a:r>
            <a:r>
              <a:rPr lang="en-US" sz="1600" b="0" u="none" strike="noStrike" dirty="0" err="1">
                <a:solidFill>
                  <a:srgbClr val="6F6888"/>
                </a:solidFill>
                <a:effectLst/>
                <a:uFillTx/>
                <a:latin typeface="Aptos"/>
                <a:ea typeface="Aptos"/>
              </a:rPr>
              <a:t>autorizado</a:t>
            </a:r>
            <a:endParaRPr lang="en-US" sz="1600" b="0" u="none" strike="noStrike" dirty="0">
              <a:solidFill>
                <a:srgbClr val="000000"/>
              </a:solidFill>
              <a:effectLst/>
              <a:uFillTx/>
              <a:latin typeface="Arial"/>
            </a:endParaRPr>
          </a:p>
          <a:p>
            <a:pPr marL="285750" indent="-285750" defTabSz="914400">
              <a:lnSpc>
                <a:spcPct val="100000"/>
              </a:lnSpc>
              <a:buFont typeface="Arial" panose="020B0604020202020204" pitchFamily="34" charset="0"/>
              <a:buChar char="•"/>
              <a:tabLst>
                <a:tab pos="0" algn="l"/>
              </a:tabLst>
            </a:pPr>
            <a:r>
              <a:rPr lang="en-US" sz="1600" b="0" u="none" strike="noStrike" dirty="0" err="1">
                <a:solidFill>
                  <a:srgbClr val="6F6888"/>
                </a:solidFill>
                <a:effectLst/>
                <a:uFillTx/>
                <a:latin typeface="Aptos"/>
                <a:ea typeface="Aptos"/>
              </a:rPr>
              <a:t>Qué</a:t>
            </a:r>
            <a:r>
              <a:rPr lang="en-US" sz="1600" b="0" u="none" strike="noStrike" dirty="0">
                <a:solidFill>
                  <a:srgbClr val="6F6888"/>
                </a:solidFill>
                <a:effectLst/>
                <a:uFillTx/>
                <a:latin typeface="Aptos"/>
                <a:ea typeface="Aptos"/>
              </a:rPr>
              <a:t> </a:t>
            </a:r>
            <a:r>
              <a:rPr lang="en-US" sz="1600" b="0" u="none" strike="noStrike" dirty="0" err="1">
                <a:solidFill>
                  <a:srgbClr val="6F6888"/>
                </a:solidFill>
                <a:effectLst/>
                <a:uFillTx/>
                <a:latin typeface="Aptos"/>
                <a:ea typeface="Aptos"/>
              </a:rPr>
              <a:t>evidencia</a:t>
            </a:r>
            <a:r>
              <a:rPr lang="en-US" sz="1600" b="0" u="none" strike="noStrike" dirty="0">
                <a:solidFill>
                  <a:srgbClr val="6F6888"/>
                </a:solidFill>
                <a:effectLst/>
                <a:uFillTx/>
                <a:latin typeface="Aptos"/>
                <a:ea typeface="Aptos"/>
              </a:rPr>
              <a:t> </a:t>
            </a:r>
            <a:r>
              <a:rPr lang="en-US" sz="1600" b="0" u="none" strike="noStrike" dirty="0" err="1">
                <a:solidFill>
                  <a:srgbClr val="6F6888"/>
                </a:solidFill>
                <a:effectLst/>
                <a:uFillTx/>
                <a:latin typeface="Aptos"/>
                <a:ea typeface="Aptos"/>
              </a:rPr>
              <a:t>demuestra</a:t>
            </a:r>
            <a:r>
              <a:rPr lang="en-US" sz="1600" b="0" u="none" strike="noStrike" dirty="0">
                <a:solidFill>
                  <a:srgbClr val="6F6888"/>
                </a:solidFill>
                <a:effectLst/>
                <a:uFillTx/>
                <a:latin typeface="Aptos"/>
                <a:ea typeface="Aptos"/>
              </a:rPr>
              <a:t> </a:t>
            </a:r>
            <a:r>
              <a:rPr lang="en-US" sz="1600" b="0" u="none" strike="noStrike" dirty="0" err="1">
                <a:solidFill>
                  <a:srgbClr val="6F6888"/>
                </a:solidFill>
                <a:effectLst/>
                <a:uFillTx/>
                <a:latin typeface="Aptos"/>
                <a:ea typeface="Aptos"/>
              </a:rPr>
              <a:t>qu</a:t>
            </a:r>
            <a:r>
              <a:rPr lang="en-US" sz="1600" dirty="0" err="1">
                <a:solidFill>
                  <a:srgbClr val="6F6888"/>
                </a:solidFill>
                <a:latin typeface="Aptos"/>
                <a:ea typeface="Aptos"/>
              </a:rPr>
              <a:t>e</a:t>
            </a:r>
            <a:r>
              <a:rPr lang="en-US" sz="1600" dirty="0">
                <a:solidFill>
                  <a:srgbClr val="6F6888"/>
                </a:solidFill>
                <a:latin typeface="Aptos"/>
                <a:ea typeface="Aptos"/>
              </a:rPr>
              <a:t> el </a:t>
            </a:r>
            <a:r>
              <a:rPr lang="en-US" sz="1600" dirty="0" err="1">
                <a:solidFill>
                  <a:srgbClr val="6F6888"/>
                </a:solidFill>
                <a:latin typeface="Aptos"/>
                <a:ea typeface="Aptos"/>
              </a:rPr>
              <a:t>trabajo</a:t>
            </a:r>
            <a:r>
              <a:rPr lang="en-US" sz="1600" dirty="0">
                <a:solidFill>
                  <a:srgbClr val="6F6888"/>
                </a:solidFill>
                <a:latin typeface="Aptos"/>
                <a:ea typeface="Aptos"/>
              </a:rPr>
              <a:t> </a:t>
            </a:r>
            <a:r>
              <a:rPr lang="en-US" sz="1600" dirty="0" err="1">
                <a:solidFill>
                  <a:srgbClr val="6F6888"/>
                </a:solidFill>
                <a:latin typeface="Aptos"/>
                <a:ea typeface="Aptos"/>
              </a:rPr>
              <a:t>está</a:t>
            </a:r>
            <a:r>
              <a:rPr lang="en-US" sz="1600" dirty="0">
                <a:solidFill>
                  <a:srgbClr val="6F6888"/>
                </a:solidFill>
                <a:latin typeface="Aptos"/>
                <a:ea typeface="Aptos"/>
              </a:rPr>
              <a:t> </a:t>
            </a:r>
            <a:r>
              <a:rPr lang="en-US" sz="1600" dirty="0" err="1">
                <a:solidFill>
                  <a:srgbClr val="6F6888"/>
                </a:solidFill>
                <a:latin typeface="Aptos"/>
                <a:ea typeface="Aptos"/>
              </a:rPr>
              <a:t>completo</a:t>
            </a:r>
            <a:endParaRPr lang="en-US" sz="1600" b="0" u="none" strike="noStrike" dirty="0">
              <a:solidFill>
                <a:srgbClr val="000000"/>
              </a:solidFill>
              <a:effectLst/>
              <a:uFillTx/>
              <a:latin typeface="Arial"/>
            </a:endParaRPr>
          </a:p>
        </p:txBody>
      </p:sp>
      <p:sp>
        <p:nvSpPr>
          <p:cNvPr id="174" name="Shape 16"/>
          <p:cNvSpPr/>
          <p:nvPr/>
        </p:nvSpPr>
        <p:spPr>
          <a:xfrm>
            <a:off x="5510813" y="4074049"/>
            <a:ext cx="731520" cy="360"/>
          </a:xfrm>
          <a:prstGeom prst="line">
            <a:avLst/>
          </a:prstGeom>
          <a:ln w="19050">
            <a:solidFill>
              <a:srgbClr val="5F2CCB"/>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grpSp>
        <p:nvGrpSpPr>
          <p:cNvPr id="4" name="Grupo 3">
            <a:extLst>
              <a:ext uri="{FF2B5EF4-FFF2-40B4-BE49-F238E27FC236}">
                <a16:creationId xmlns:a16="http://schemas.microsoft.com/office/drawing/2014/main" id="{845FC865-007F-3DB5-FF8F-F42FC47F901B}"/>
              </a:ext>
            </a:extLst>
          </p:cNvPr>
          <p:cNvGrpSpPr/>
          <p:nvPr/>
        </p:nvGrpSpPr>
        <p:grpSpPr>
          <a:xfrm>
            <a:off x="2468880" y="5713479"/>
            <a:ext cx="7223400" cy="438480"/>
            <a:chOff x="2468880" y="5504760"/>
            <a:chExt cx="7223400" cy="438480"/>
          </a:xfrm>
        </p:grpSpPr>
        <p:sp>
          <p:nvSpPr>
            <p:cNvPr id="175" name="Shape 17"/>
            <p:cNvSpPr/>
            <p:nvPr/>
          </p:nvSpPr>
          <p:spPr>
            <a:xfrm>
              <a:off x="2468880" y="5504760"/>
              <a:ext cx="7223400" cy="438480"/>
            </a:xfrm>
            <a:prstGeom prst="roundRect">
              <a:avLst>
                <a:gd name="adj" fmla="val 16667"/>
              </a:avLst>
            </a:prstGeom>
            <a:solidFill>
              <a:srgbClr val="F1EBFF"/>
            </a:solidFill>
            <a:ln w="12700">
              <a:solidFill>
                <a:srgbClr val="F1EB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600" b="0" u="none" strike="noStrike">
                <a:solidFill>
                  <a:srgbClr val="000000"/>
                </a:solidFill>
                <a:effectLst/>
                <a:uFillTx/>
                <a:latin typeface="Arial"/>
              </a:endParaRPr>
            </a:p>
          </p:txBody>
        </p:sp>
        <p:sp>
          <p:nvSpPr>
            <p:cNvPr id="176" name="Text 18"/>
            <p:cNvSpPr/>
            <p:nvPr/>
          </p:nvSpPr>
          <p:spPr>
            <a:xfrm>
              <a:off x="2514600" y="5559480"/>
              <a:ext cx="71319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tabLst>
                  <a:tab pos="0" algn="l"/>
                </a:tabLst>
              </a:pPr>
              <a:r>
                <a:rPr lang="es-ES" sz="1400" b="1" dirty="0" err="1">
                  <a:solidFill>
                    <a:srgbClr val="5F2CCB"/>
                  </a:solidFill>
                  <a:ea typeface="Aptos"/>
                </a:rPr>
                <a:t>Gu</a:t>
              </a:r>
              <a:r>
                <a:rPr lang="es-ES" sz="1400" b="1" dirty="0">
                  <a:solidFill>
                    <a:srgbClr val="5F2CCB"/>
                  </a:solidFill>
                  <a:ea typeface="Aptos"/>
                </a:rPr>
                <a:t> OS tiene la verdad operacional durable del trabajo</a:t>
              </a:r>
              <a:endParaRPr lang="en-US" sz="1400" b="0" u="none" strike="noStrike" dirty="0">
                <a:solidFill>
                  <a:srgbClr val="000000"/>
                </a:solidFill>
                <a:effectLst/>
                <a:uFillTx/>
                <a:latin typeface="Arial"/>
              </a:endParaRPr>
            </a:p>
          </p:txBody>
        </p:sp>
      </p:grpSp>
      <p:pic>
        <p:nvPicPr>
          <p:cNvPr id="3" name="Image 0" descr="/mnt/data/ungga_logo_purple.png">
            <a:extLst>
              <a:ext uri="{FF2B5EF4-FFF2-40B4-BE49-F238E27FC236}">
                <a16:creationId xmlns:a16="http://schemas.microsoft.com/office/drawing/2014/main" id="{DB426938-FE72-0751-16CC-A95E5CC1E1DD}"/>
              </a:ext>
            </a:extLst>
          </p:cNvPr>
          <p:cNvPicPr>
            <a:picLocks noChangeAspect="1"/>
          </p:cNvPicPr>
          <p:nvPr/>
        </p:nvPicPr>
        <p:blipFill>
          <a:blip r:embed="rId3"/>
          <a:stretch>
            <a:fillRect/>
          </a:stretch>
        </p:blipFill>
        <p:spPr>
          <a:xfrm>
            <a:off x="11109960" y="449715"/>
            <a:ext cx="566928" cy="472170"/>
          </a:xfrm>
          <a:prstGeom prst="rect">
            <a:avLst/>
          </a:prstGeom>
        </p:spPr>
      </p:pic>
      <p:sp>
        <p:nvSpPr>
          <p:cNvPr id="5" name="Text 11">
            <a:extLst>
              <a:ext uri="{FF2B5EF4-FFF2-40B4-BE49-F238E27FC236}">
                <a16:creationId xmlns:a16="http://schemas.microsoft.com/office/drawing/2014/main" id="{2148283B-6FF9-8FE6-B79F-13BF57068B95}"/>
              </a:ext>
            </a:extLst>
          </p:cNvPr>
          <p:cNvSpPr/>
          <p:nvPr/>
        </p:nvSpPr>
        <p:spPr>
          <a:xfrm>
            <a:off x="5457288" y="3736654"/>
            <a:ext cx="800566" cy="271461"/>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0" u="none" strike="noStrike" dirty="0" err="1">
                <a:solidFill>
                  <a:srgbClr val="6F6888"/>
                </a:solidFill>
                <a:effectLst/>
                <a:uFillTx/>
                <a:latin typeface="Aptos"/>
                <a:ea typeface="Aptos"/>
              </a:rPr>
              <a:t>informa</a:t>
            </a:r>
            <a:endParaRPr lang="en-US" sz="1400" b="0" u="none" strike="noStrike" dirty="0">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22" name="Rectángulo 21">
            <a:extLst>
              <a:ext uri="{FF2B5EF4-FFF2-40B4-BE49-F238E27FC236}">
                <a16:creationId xmlns:a16="http://schemas.microsoft.com/office/drawing/2014/main" id="{9E73E7FE-D936-88EF-AA6A-54BEE244B378}"/>
              </a:ext>
            </a:extLst>
          </p:cNvPr>
          <p:cNvSpPr/>
          <p:nvPr/>
        </p:nvSpPr>
        <p:spPr>
          <a:xfrm>
            <a:off x="411480" y="3020276"/>
            <a:ext cx="11213196" cy="3493954"/>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7" name="Shape 0"/>
          <p:cNvSpPr/>
          <p:nvPr/>
        </p:nvSpPr>
        <p:spPr>
          <a:xfrm>
            <a:off x="0" y="0"/>
            <a:ext cx="12191400" cy="63720"/>
          </a:xfrm>
          <a:prstGeom prst="rect">
            <a:avLst/>
          </a:prstGeom>
          <a:solidFill>
            <a:srgbClr val="5F2CCB"/>
          </a:solidFill>
          <a:ln w="12700">
            <a:solidFill>
              <a:srgbClr val="5F2CCB">
                <a:alpha val="0"/>
              </a:srgbClr>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FFFFFF"/>
              </a:solidFill>
              <a:effectLst/>
              <a:uFillTx/>
              <a:latin typeface="Arial"/>
            </a:endParaRPr>
          </a:p>
        </p:txBody>
      </p:sp>
      <p:sp>
        <p:nvSpPr>
          <p:cNvPr id="178" name="Text 1"/>
          <p:cNvSpPr/>
          <p:nvPr/>
        </p:nvSpPr>
        <p:spPr>
          <a:xfrm>
            <a:off x="567000" y="386290"/>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dirty="0">
                <a:solidFill>
                  <a:srgbClr val="5F2CCB"/>
                </a:solidFill>
                <a:effectLst/>
                <a:uFillTx/>
                <a:latin typeface="Aptos"/>
                <a:ea typeface="Aptos"/>
              </a:rPr>
              <a:t>QUÉ ES GU OS</a:t>
            </a:r>
            <a:endParaRPr lang="en-US" sz="1200" b="0" u="none" strike="noStrike" dirty="0">
              <a:solidFill>
                <a:srgbClr val="000000"/>
              </a:solidFill>
              <a:effectLst/>
              <a:uFillTx/>
              <a:latin typeface="Arial"/>
            </a:endParaRPr>
          </a:p>
        </p:txBody>
      </p:sp>
      <p:sp>
        <p:nvSpPr>
          <p:cNvPr id="179" name="Text 2"/>
          <p:cNvSpPr/>
          <p:nvPr/>
        </p:nvSpPr>
        <p:spPr>
          <a:xfrm>
            <a:off x="567000" y="752050"/>
            <a:ext cx="10195200" cy="731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n-US" sz="2600" b="1" u="none" strike="noStrike" dirty="0">
                <a:solidFill>
                  <a:srgbClr val="151327"/>
                </a:solidFill>
                <a:effectLst/>
                <a:uFillTx/>
                <a:latin typeface="Aptos Display"/>
                <a:ea typeface="Aptos Display"/>
              </a:rPr>
              <a:t>Por fuera, </a:t>
            </a:r>
            <a:r>
              <a:rPr lang="en-US" sz="2600" b="1" u="none" strike="noStrike" dirty="0" err="1">
                <a:solidFill>
                  <a:srgbClr val="151327"/>
                </a:solidFill>
                <a:effectLst/>
                <a:uFillTx/>
                <a:latin typeface="Aptos Display"/>
                <a:ea typeface="Aptos Display"/>
              </a:rPr>
              <a:t>una</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experiencia</a:t>
            </a:r>
            <a:r>
              <a:rPr lang="en-US" sz="2600" b="1" u="none" strike="noStrike" dirty="0">
                <a:solidFill>
                  <a:srgbClr val="151327"/>
                </a:solidFill>
                <a:effectLst/>
                <a:uFillTx/>
                <a:latin typeface="Aptos Display"/>
                <a:ea typeface="Aptos Display"/>
              </a:rPr>
              <a:t> simple para el </a:t>
            </a:r>
            <a:r>
              <a:rPr lang="en-US" sz="2600" b="1" u="none" strike="noStrike" dirty="0" err="1">
                <a:solidFill>
                  <a:srgbClr val="151327"/>
                </a:solidFill>
                <a:effectLst/>
                <a:uFillTx/>
                <a:latin typeface="Aptos Display"/>
                <a:ea typeface="Aptos Display"/>
              </a:rPr>
              <a:t>usuario</a:t>
            </a:r>
            <a:r>
              <a:rPr lang="en-US" sz="2600" b="1" u="none" strike="noStrike" dirty="0">
                <a:solidFill>
                  <a:srgbClr val="151327"/>
                </a:solidFill>
                <a:effectLst/>
                <a:uFillTx/>
                <a:latin typeface="Aptos Display"/>
                <a:ea typeface="Aptos Display"/>
              </a:rPr>
              <a:t>. Por </a:t>
            </a:r>
            <a:r>
              <a:rPr lang="en-US" sz="2600" b="1" u="none" strike="noStrike" dirty="0" err="1">
                <a:solidFill>
                  <a:srgbClr val="151327"/>
                </a:solidFill>
                <a:effectLst/>
                <a:uFillTx/>
                <a:latin typeface="Aptos Display"/>
                <a:ea typeface="Aptos Display"/>
              </a:rPr>
              <a:t>dentro</a:t>
            </a:r>
            <a:r>
              <a:rPr lang="en-US" sz="2600" b="1" u="none" strike="noStrike" dirty="0">
                <a:solidFill>
                  <a:srgbClr val="151327"/>
                </a:solidFill>
                <a:effectLst/>
                <a:uFillTx/>
                <a:latin typeface="Aptos Display"/>
                <a:ea typeface="Aptos Display"/>
              </a:rPr>
              <a:t>, un </a:t>
            </a:r>
            <a:r>
              <a:rPr lang="en-US" sz="2600" b="1" u="none" strike="noStrike" dirty="0" err="1">
                <a:solidFill>
                  <a:srgbClr val="151327"/>
                </a:solidFill>
                <a:effectLst/>
                <a:uFillTx/>
                <a:latin typeface="Aptos Display"/>
                <a:ea typeface="Aptos Display"/>
              </a:rPr>
              <a:t>sistema</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completo</a:t>
            </a:r>
            <a:r>
              <a:rPr lang="en-US" sz="2600" b="1" u="none" strike="noStrike" dirty="0">
                <a:solidFill>
                  <a:srgbClr val="151327"/>
                </a:solidFill>
                <a:effectLst/>
                <a:uFillTx/>
                <a:latin typeface="Aptos Display"/>
                <a:ea typeface="Aptos Display"/>
              </a:rPr>
              <a:t> de </a:t>
            </a:r>
            <a:r>
              <a:rPr lang="en-US" sz="2600" b="1" u="none" strike="noStrike" dirty="0" err="1">
                <a:solidFill>
                  <a:srgbClr val="151327"/>
                </a:solidFill>
                <a:effectLst/>
                <a:uFillTx/>
                <a:latin typeface="Aptos Display"/>
                <a:ea typeface="Aptos Display"/>
              </a:rPr>
              <a:t>responsabilidades</a:t>
            </a:r>
            <a:r>
              <a:rPr lang="en-US" sz="2600" b="1" u="none" strike="noStrike" dirty="0">
                <a:solidFill>
                  <a:srgbClr val="151327"/>
                </a:solidFill>
                <a:effectLst/>
                <a:uFillTx/>
                <a:latin typeface="Aptos Display"/>
                <a:ea typeface="Aptos Display"/>
              </a:rPr>
              <a:t>.</a:t>
            </a:r>
            <a:endParaRPr lang="en-US" sz="2600" b="0" u="none" strike="noStrike" dirty="0">
              <a:solidFill>
                <a:srgbClr val="000000"/>
              </a:solidFill>
              <a:effectLst/>
              <a:uFillTx/>
              <a:latin typeface="Arial"/>
            </a:endParaRPr>
          </a:p>
        </p:txBody>
      </p:sp>
      <p:sp>
        <p:nvSpPr>
          <p:cNvPr id="180" name="Text 3"/>
          <p:cNvSpPr/>
          <p:nvPr/>
        </p:nvSpPr>
        <p:spPr>
          <a:xfrm>
            <a:off x="567000" y="1552684"/>
            <a:ext cx="11213196" cy="477927"/>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n-US" b="0" u="none" strike="noStrike" dirty="0">
                <a:solidFill>
                  <a:srgbClr val="6F6888"/>
                </a:solidFill>
                <a:effectLst/>
                <a:uFillTx/>
                <a:latin typeface="Aptos"/>
                <a:ea typeface="Aptos"/>
              </a:rPr>
              <a:t>La </a:t>
            </a:r>
            <a:r>
              <a:rPr lang="en-US" b="0" u="none" strike="noStrike" dirty="0" err="1">
                <a:solidFill>
                  <a:srgbClr val="6F6888"/>
                </a:solidFill>
                <a:effectLst/>
                <a:uFillTx/>
                <a:latin typeface="Aptos"/>
                <a:ea typeface="Aptos"/>
              </a:rPr>
              <a:t>arquitectura</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comercial</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sigue</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siendo</a:t>
            </a:r>
            <a:r>
              <a:rPr lang="en-US" b="0" u="none" strike="noStrike" dirty="0">
                <a:solidFill>
                  <a:srgbClr val="6F6888"/>
                </a:solidFill>
                <a:effectLst/>
                <a:uFillTx/>
                <a:latin typeface="Aptos"/>
                <a:ea typeface="Aptos"/>
              </a:rPr>
              <a:t> simple: el </a:t>
            </a:r>
            <a:r>
              <a:rPr lang="en-US" b="0" u="none" strike="noStrike" dirty="0" err="1">
                <a:solidFill>
                  <a:srgbClr val="6F6888"/>
                </a:solidFill>
                <a:effectLst/>
                <a:uFillTx/>
                <a:latin typeface="Aptos"/>
                <a:ea typeface="Aptos"/>
              </a:rPr>
              <a:t>usuario</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trabaja</a:t>
            </a:r>
            <a:r>
              <a:rPr lang="en-US" b="0" u="none" strike="noStrike" dirty="0">
                <a:solidFill>
                  <a:srgbClr val="6F6888"/>
                </a:solidFill>
                <a:effectLst/>
                <a:uFillTx/>
                <a:latin typeface="Aptos"/>
                <a:ea typeface="Aptos"/>
              </a:rPr>
              <a:t> con Gu. Gu OS </a:t>
            </a:r>
            <a:r>
              <a:rPr lang="en-US" b="0" u="none" strike="noStrike" dirty="0" err="1">
                <a:solidFill>
                  <a:srgbClr val="6F6888"/>
                </a:solidFill>
                <a:effectLst/>
                <a:uFillTx/>
                <a:latin typeface="Aptos"/>
                <a:ea typeface="Aptos"/>
              </a:rPr>
              <a:t>hace</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posible</a:t>
            </a:r>
            <a:r>
              <a:rPr lang="en-US" b="0" u="none" strike="noStrike" dirty="0">
                <a:solidFill>
                  <a:srgbClr val="6F6888"/>
                </a:solidFill>
                <a:effectLst/>
                <a:uFillTx/>
                <a:latin typeface="Aptos"/>
                <a:ea typeface="Aptos"/>
              </a:rPr>
              <a:t> el </a:t>
            </a:r>
            <a:r>
              <a:rPr lang="en-US" b="0" u="none" strike="noStrike" dirty="0" err="1">
                <a:solidFill>
                  <a:srgbClr val="6F6888"/>
                </a:solidFill>
                <a:effectLst/>
                <a:uFillTx/>
                <a:latin typeface="Aptos"/>
                <a:ea typeface="Aptos"/>
              </a:rPr>
              <a:t>trabajo</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complejo</a:t>
            </a:r>
            <a:r>
              <a:rPr lang="en-US" b="0" u="none" strike="noStrike" dirty="0">
                <a:solidFill>
                  <a:srgbClr val="6F6888"/>
                </a:solidFill>
                <a:effectLst/>
                <a:uFillTx/>
                <a:latin typeface="Aptos"/>
                <a:ea typeface="Aptos"/>
              </a:rPr>
              <a:t>.</a:t>
            </a:r>
            <a:endParaRPr lang="en-US" b="0" u="none" strike="noStrike" dirty="0">
              <a:solidFill>
                <a:srgbClr val="000000"/>
              </a:solidFill>
              <a:effectLst/>
              <a:uFillTx/>
              <a:latin typeface="Arial"/>
            </a:endParaRPr>
          </a:p>
        </p:txBody>
      </p:sp>
      <p:sp>
        <p:nvSpPr>
          <p:cNvPr id="182" name="Text 5"/>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u="none" strike="noStrike">
                <a:solidFill>
                  <a:srgbClr val="7E7798"/>
                </a:solidFill>
                <a:effectLst/>
                <a:uFillTx/>
                <a:latin typeface="Aptos"/>
                <a:ea typeface="Aptos"/>
              </a:rPr>
              <a:t>CONFIDENTIAL</a:t>
            </a:r>
            <a:endParaRPr lang="en-US" sz="650" b="0" u="none" strike="noStrike">
              <a:solidFill>
                <a:srgbClr val="000000"/>
              </a:solidFill>
              <a:effectLst/>
              <a:uFillTx/>
              <a:latin typeface="Arial"/>
            </a:endParaRPr>
          </a:p>
        </p:txBody>
      </p:sp>
      <p:sp>
        <p:nvSpPr>
          <p:cNvPr id="183" name="Text 6"/>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650" b="0" u="none" strike="noStrike">
                <a:solidFill>
                  <a:srgbClr val="7E7798"/>
                </a:solidFill>
                <a:effectLst/>
                <a:uFillTx/>
                <a:latin typeface="Aptos"/>
                <a:ea typeface="Aptos"/>
              </a:rPr>
              <a:t>ungga.com</a:t>
            </a:r>
            <a:endParaRPr lang="en-US" sz="650" b="0" u="none" strike="noStrike">
              <a:solidFill>
                <a:srgbClr val="000000"/>
              </a:solidFill>
              <a:effectLst/>
              <a:uFillTx/>
              <a:latin typeface="Arial"/>
            </a:endParaRPr>
          </a:p>
        </p:txBody>
      </p:sp>
      <p:sp>
        <p:nvSpPr>
          <p:cNvPr id="184" name="Text 7"/>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b="0" u="none" strike="noStrike" dirty="0">
                <a:solidFill>
                  <a:srgbClr val="7E7798"/>
                </a:solidFill>
                <a:effectLst/>
                <a:uFillTx/>
                <a:latin typeface="Aptos"/>
                <a:ea typeface="Aptos"/>
              </a:rPr>
              <a:t>8</a:t>
            </a:r>
            <a:endParaRPr lang="en-US" sz="800" b="0" u="none" strike="noStrike" dirty="0">
              <a:solidFill>
                <a:srgbClr val="000000"/>
              </a:solidFill>
              <a:effectLst/>
              <a:uFillTx/>
              <a:latin typeface="Arial"/>
            </a:endParaRPr>
          </a:p>
        </p:txBody>
      </p:sp>
      <p:grpSp>
        <p:nvGrpSpPr>
          <p:cNvPr id="26" name="Grupo 25">
            <a:extLst>
              <a:ext uri="{FF2B5EF4-FFF2-40B4-BE49-F238E27FC236}">
                <a16:creationId xmlns:a16="http://schemas.microsoft.com/office/drawing/2014/main" id="{F2B3604D-1C52-12C2-539C-C52A129707EF}"/>
              </a:ext>
            </a:extLst>
          </p:cNvPr>
          <p:cNvGrpSpPr/>
          <p:nvPr/>
        </p:nvGrpSpPr>
        <p:grpSpPr>
          <a:xfrm>
            <a:off x="4867658" y="3479192"/>
            <a:ext cx="1922654" cy="1817468"/>
            <a:chOff x="4867658" y="3500212"/>
            <a:chExt cx="1922654" cy="1817468"/>
          </a:xfrm>
        </p:grpSpPr>
        <p:sp>
          <p:nvSpPr>
            <p:cNvPr id="185" name="Shape 8"/>
            <p:cNvSpPr/>
            <p:nvPr/>
          </p:nvSpPr>
          <p:spPr>
            <a:xfrm>
              <a:off x="4867658" y="3500212"/>
              <a:ext cx="1922654" cy="1817468"/>
            </a:xfrm>
            <a:prstGeom prst="ellipse">
              <a:avLst/>
            </a:prstGeom>
            <a:solidFill>
              <a:srgbClr val="20143D"/>
            </a:solidFill>
            <a:ln w="15240">
              <a:solidFill>
                <a:srgbClr val="5F2CC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endParaRPr lang="en-US" sz="1800" b="0" u="none" strike="noStrike">
                <a:solidFill>
                  <a:srgbClr val="FFFFFF"/>
                </a:solidFill>
                <a:effectLst/>
                <a:uFillTx/>
                <a:latin typeface="Arial"/>
              </a:endParaRPr>
            </a:p>
          </p:txBody>
        </p:sp>
        <p:sp>
          <p:nvSpPr>
            <p:cNvPr id="186" name="Text 9"/>
            <p:cNvSpPr/>
            <p:nvPr/>
          </p:nvSpPr>
          <p:spPr>
            <a:xfrm>
              <a:off x="4947428" y="3954516"/>
              <a:ext cx="17370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dirty="0">
                  <a:solidFill>
                    <a:srgbClr val="FFFFFF"/>
                  </a:solidFill>
                  <a:effectLst/>
                  <a:uFillTx/>
                  <a:latin typeface="Aptos Display"/>
                  <a:ea typeface="Aptos Display"/>
                </a:rPr>
                <a:t>Gu OS</a:t>
              </a:r>
              <a:endParaRPr lang="en-US" sz="2000" b="0" u="none" strike="noStrike" dirty="0">
                <a:solidFill>
                  <a:srgbClr val="000000"/>
                </a:solidFill>
                <a:effectLst/>
                <a:uFillTx/>
                <a:latin typeface="Arial"/>
              </a:endParaRPr>
            </a:p>
          </p:txBody>
        </p:sp>
        <p:sp>
          <p:nvSpPr>
            <p:cNvPr id="187" name="Text 10"/>
            <p:cNvSpPr/>
            <p:nvPr/>
          </p:nvSpPr>
          <p:spPr>
            <a:xfrm>
              <a:off x="4883348" y="4347635"/>
              <a:ext cx="1874160" cy="50899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dirty="0" err="1">
                  <a:solidFill>
                    <a:srgbClr val="D8CCFF"/>
                  </a:solidFill>
                  <a:effectLst/>
                  <a:uFillTx/>
                  <a:latin typeface="Aptos"/>
                  <a:ea typeface="Aptos"/>
                </a:rPr>
                <a:t>Entorno</a:t>
              </a:r>
              <a:r>
                <a:rPr lang="en-US" sz="1400" b="1" u="none" strike="noStrike" dirty="0">
                  <a:solidFill>
                    <a:srgbClr val="D8CCFF"/>
                  </a:solidFill>
                  <a:effectLst/>
                  <a:uFillTx/>
                  <a:latin typeface="Aptos"/>
                  <a:ea typeface="Aptos"/>
                </a:rPr>
                <a:t> </a:t>
              </a:r>
              <a:r>
                <a:rPr lang="en-US" sz="1400" b="1" u="none" strike="noStrike" dirty="0" err="1">
                  <a:solidFill>
                    <a:srgbClr val="D8CCFF"/>
                  </a:solidFill>
                  <a:effectLst/>
                  <a:uFillTx/>
                  <a:latin typeface="Aptos"/>
                  <a:ea typeface="Aptos"/>
                </a:rPr>
                <a:t>operativ</a:t>
              </a:r>
              <a:r>
                <a:rPr lang="en-US" sz="1400" b="1" dirty="0" err="1">
                  <a:solidFill>
                    <a:srgbClr val="D8CCFF"/>
                  </a:solidFill>
                  <a:latin typeface="Aptos"/>
                  <a:ea typeface="Aptos"/>
                </a:rPr>
                <a:t>o</a:t>
              </a:r>
              <a:r>
                <a:rPr lang="en-US" sz="1400" b="1" u="none" strike="noStrike" dirty="0">
                  <a:solidFill>
                    <a:srgbClr val="D8CCFF"/>
                  </a:solidFill>
                  <a:effectLst/>
                  <a:uFillTx/>
                  <a:latin typeface="Aptos"/>
                  <a:ea typeface="Aptos"/>
                </a:rPr>
                <a:t> </a:t>
              </a:r>
              <a:r>
                <a:rPr lang="en-US" sz="1400" b="1" u="none" strike="noStrike" dirty="0" err="1">
                  <a:solidFill>
                    <a:srgbClr val="D8CCFF"/>
                  </a:solidFill>
                  <a:effectLst/>
                  <a:uFillTx/>
                  <a:latin typeface="Aptos"/>
                  <a:ea typeface="Aptos"/>
                </a:rPr>
                <a:t>inteligente</a:t>
              </a:r>
              <a:endParaRPr lang="en-US" sz="1400" b="0" u="none" strike="noStrike" dirty="0">
                <a:solidFill>
                  <a:srgbClr val="000000"/>
                </a:solidFill>
                <a:effectLst/>
                <a:uFillTx/>
                <a:latin typeface="Arial"/>
              </a:endParaRPr>
            </a:p>
          </p:txBody>
        </p:sp>
      </p:grpSp>
      <p:sp>
        <p:nvSpPr>
          <p:cNvPr id="188" name="Shape 11"/>
          <p:cNvSpPr/>
          <p:nvPr/>
        </p:nvSpPr>
        <p:spPr>
          <a:xfrm>
            <a:off x="567000" y="3109687"/>
            <a:ext cx="3222519" cy="712800"/>
          </a:xfrm>
          <a:prstGeom prst="roundRect">
            <a:avLst>
              <a:gd name="adj" fmla="val 12821"/>
            </a:avLst>
          </a:prstGeom>
          <a:solidFill>
            <a:schemeClr val="bg1"/>
          </a:solidFill>
          <a:ln w="12700">
            <a:solidFill>
              <a:srgbClr val="5F2CCB"/>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endParaRPr lang="en-US" sz="1800" b="0" u="none" strike="noStrike">
              <a:solidFill>
                <a:srgbClr val="000000"/>
              </a:solidFill>
              <a:effectLst/>
              <a:uFillTx/>
              <a:latin typeface="Arial"/>
            </a:endParaRPr>
          </a:p>
        </p:txBody>
      </p:sp>
      <p:sp>
        <p:nvSpPr>
          <p:cNvPr id="189" name="Text 12"/>
          <p:cNvSpPr/>
          <p:nvPr/>
        </p:nvSpPr>
        <p:spPr>
          <a:xfrm>
            <a:off x="781841" y="3204714"/>
            <a:ext cx="2797560" cy="305763"/>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dirty="0">
                <a:solidFill>
                  <a:srgbClr val="151327"/>
                </a:solidFill>
                <a:effectLst/>
                <a:uFillTx/>
                <a:latin typeface="Aptos Display"/>
                <a:ea typeface="Aptos Display"/>
              </a:rPr>
              <a:t>Verdad </a:t>
            </a:r>
            <a:r>
              <a:rPr lang="en-US" sz="1500" b="1" u="none" strike="noStrike" dirty="0" err="1">
                <a:solidFill>
                  <a:srgbClr val="151327"/>
                </a:solidFill>
                <a:effectLst/>
                <a:uFillTx/>
                <a:latin typeface="Aptos Display"/>
                <a:ea typeface="Aptos Display"/>
              </a:rPr>
              <a:t>operacional</a:t>
            </a:r>
            <a:endParaRPr lang="en-US" sz="1600" b="0" u="none" strike="noStrike" dirty="0">
              <a:solidFill>
                <a:srgbClr val="000000"/>
              </a:solidFill>
              <a:effectLst/>
              <a:uFillTx/>
              <a:latin typeface="Arial"/>
            </a:endParaRPr>
          </a:p>
        </p:txBody>
      </p:sp>
      <p:sp>
        <p:nvSpPr>
          <p:cNvPr id="190" name="Text 13"/>
          <p:cNvSpPr/>
          <p:nvPr/>
        </p:nvSpPr>
        <p:spPr>
          <a:xfrm>
            <a:off x="790719" y="3489990"/>
            <a:ext cx="274284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0" u="none" strike="noStrike" dirty="0" err="1">
                <a:solidFill>
                  <a:srgbClr val="6F6888"/>
                </a:solidFill>
                <a:effectLst/>
                <a:uFillTx/>
                <a:latin typeface="Aptos"/>
                <a:ea typeface="Aptos"/>
              </a:rPr>
              <a:t>estado</a:t>
            </a:r>
            <a:r>
              <a:rPr lang="en-US" sz="1200" b="0" u="none" strike="noStrike" dirty="0">
                <a:solidFill>
                  <a:srgbClr val="6F6888"/>
                </a:solidFill>
                <a:effectLst/>
                <a:uFillTx/>
                <a:latin typeface="Aptos"/>
                <a:ea typeface="Aptos"/>
              </a:rPr>
              <a:t> durable del </a:t>
            </a:r>
            <a:r>
              <a:rPr lang="en-US" sz="1200" b="0" u="none" strike="noStrike" dirty="0" err="1">
                <a:solidFill>
                  <a:srgbClr val="6F6888"/>
                </a:solidFill>
                <a:effectLst/>
                <a:uFillTx/>
                <a:latin typeface="Aptos"/>
                <a:ea typeface="Aptos"/>
              </a:rPr>
              <a:t>trabajo</a:t>
            </a:r>
            <a:endParaRPr lang="en-US" sz="1400" b="0" u="none" strike="noStrike" dirty="0">
              <a:solidFill>
                <a:srgbClr val="000000"/>
              </a:solidFill>
              <a:effectLst/>
              <a:uFillTx/>
              <a:latin typeface="Arial"/>
            </a:endParaRPr>
          </a:p>
        </p:txBody>
      </p:sp>
      <p:sp>
        <p:nvSpPr>
          <p:cNvPr id="191" name="Shape 14"/>
          <p:cNvSpPr/>
          <p:nvPr/>
        </p:nvSpPr>
        <p:spPr>
          <a:xfrm>
            <a:off x="3835599" y="3466087"/>
            <a:ext cx="795600" cy="219240"/>
          </a:xfrm>
          <a:prstGeom prst="line">
            <a:avLst/>
          </a:prstGeom>
          <a:ln w="12700">
            <a:solidFill>
              <a:srgbClr val="5F2CCB"/>
            </a:solidFill>
            <a:round/>
            <a:headEnd type="none" w="med" len="med"/>
            <a:tailEnd type="non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pPr algn="ctr"/>
            <a:endParaRPr lang="en-US" sz="1800" b="0" u="none" strike="noStrike">
              <a:solidFill>
                <a:srgbClr val="000000"/>
              </a:solidFill>
              <a:effectLst/>
              <a:uFillTx/>
              <a:latin typeface="Arial"/>
            </a:endParaRPr>
          </a:p>
        </p:txBody>
      </p:sp>
      <p:sp>
        <p:nvSpPr>
          <p:cNvPr id="192" name="Shape 15"/>
          <p:cNvSpPr/>
          <p:nvPr/>
        </p:nvSpPr>
        <p:spPr>
          <a:xfrm>
            <a:off x="589479" y="3986143"/>
            <a:ext cx="3200040" cy="712800"/>
          </a:xfrm>
          <a:prstGeom prst="roundRect">
            <a:avLst>
              <a:gd name="adj" fmla="val 12821"/>
            </a:avLst>
          </a:prstGeom>
          <a:solidFill>
            <a:schemeClr val="bg1"/>
          </a:solidFill>
          <a:ln w="12700">
            <a:solidFill>
              <a:srgbClr val="546080"/>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endParaRPr lang="en-US" sz="1800" b="0" u="none" strike="noStrike">
              <a:solidFill>
                <a:srgbClr val="000000"/>
              </a:solidFill>
              <a:effectLst/>
              <a:uFillTx/>
              <a:latin typeface="Arial"/>
            </a:endParaRPr>
          </a:p>
        </p:txBody>
      </p:sp>
      <p:sp>
        <p:nvSpPr>
          <p:cNvPr id="193" name="Text 16"/>
          <p:cNvSpPr/>
          <p:nvPr/>
        </p:nvSpPr>
        <p:spPr>
          <a:xfrm>
            <a:off x="755207" y="4063414"/>
            <a:ext cx="2797560" cy="329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dirty="0" err="1">
                <a:solidFill>
                  <a:srgbClr val="151327"/>
                </a:solidFill>
                <a:effectLst/>
                <a:uFillTx/>
                <a:latin typeface="Aptos Display"/>
                <a:ea typeface="Aptos Display"/>
              </a:rPr>
              <a:t>Ejecución</a:t>
            </a:r>
            <a:endParaRPr lang="en-US" sz="1600" b="0" u="none" strike="noStrike" dirty="0">
              <a:solidFill>
                <a:srgbClr val="000000"/>
              </a:solidFill>
              <a:effectLst/>
              <a:uFillTx/>
              <a:latin typeface="Arial"/>
            </a:endParaRPr>
          </a:p>
        </p:txBody>
      </p:sp>
      <p:sp>
        <p:nvSpPr>
          <p:cNvPr id="194" name="Text 17"/>
          <p:cNvSpPr/>
          <p:nvPr/>
        </p:nvSpPr>
        <p:spPr>
          <a:xfrm>
            <a:off x="746466" y="4375324"/>
            <a:ext cx="2940922"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dirty="0" err="1">
                <a:solidFill>
                  <a:srgbClr val="6F6888"/>
                </a:solidFill>
                <a:latin typeface="Aptos"/>
                <a:ea typeface="Aptos"/>
              </a:rPr>
              <a:t>Í</a:t>
            </a:r>
            <a:r>
              <a:rPr lang="en-US" sz="1200" b="0" u="none" strike="noStrike" dirty="0" err="1">
                <a:solidFill>
                  <a:srgbClr val="6F6888"/>
                </a:solidFill>
                <a:effectLst/>
                <a:uFillTx/>
                <a:latin typeface="Aptos"/>
                <a:ea typeface="Aptos"/>
              </a:rPr>
              <a:t>tems</a:t>
            </a:r>
            <a:r>
              <a:rPr lang="en-US" sz="1200" b="0" u="none" strike="noStrike" dirty="0">
                <a:solidFill>
                  <a:srgbClr val="6F6888"/>
                </a:solidFill>
                <a:effectLst/>
                <a:uFillTx/>
                <a:latin typeface="Aptos"/>
                <a:ea typeface="Aptos"/>
              </a:rPr>
              <a:t> de </a:t>
            </a:r>
            <a:r>
              <a:rPr lang="en-US" sz="1200" b="0" u="none" strike="noStrike" dirty="0" err="1">
                <a:solidFill>
                  <a:srgbClr val="6F6888"/>
                </a:solidFill>
                <a:effectLst/>
                <a:uFillTx/>
                <a:latin typeface="Aptos"/>
                <a:ea typeface="Aptos"/>
              </a:rPr>
              <a:t>trabajo</a:t>
            </a:r>
            <a:r>
              <a:rPr lang="en-US" sz="1200" b="0" u="none" strike="noStrike" dirty="0">
                <a:solidFill>
                  <a:srgbClr val="6F6888"/>
                </a:solidFill>
                <a:effectLst/>
                <a:uFillTx/>
                <a:latin typeface="Aptos"/>
                <a:ea typeface="Aptos"/>
              </a:rPr>
              <a:t> · Skills · </a:t>
            </a:r>
            <a:r>
              <a:rPr lang="en-US" sz="1200" dirty="0" err="1">
                <a:solidFill>
                  <a:srgbClr val="6F6888"/>
                </a:solidFill>
                <a:latin typeface="Aptos"/>
                <a:ea typeface="Aptos"/>
              </a:rPr>
              <a:t>herramientas</a:t>
            </a:r>
            <a:endParaRPr lang="en-US" sz="1400" b="0" u="none" strike="noStrike" dirty="0">
              <a:solidFill>
                <a:srgbClr val="000000"/>
              </a:solidFill>
              <a:effectLst/>
              <a:uFillTx/>
              <a:latin typeface="Arial"/>
            </a:endParaRPr>
          </a:p>
        </p:txBody>
      </p:sp>
      <p:sp>
        <p:nvSpPr>
          <p:cNvPr id="195" name="Shape 18"/>
          <p:cNvSpPr/>
          <p:nvPr/>
        </p:nvSpPr>
        <p:spPr>
          <a:xfrm flipV="1">
            <a:off x="3835599" y="4342543"/>
            <a:ext cx="594719" cy="0"/>
          </a:xfrm>
          <a:prstGeom prst="line">
            <a:avLst/>
          </a:prstGeom>
          <a:ln w="12700">
            <a:solidFill>
              <a:srgbClr val="546080"/>
            </a:solidFill>
            <a:round/>
            <a:headEnd type="none" w="med" len="med"/>
            <a:tailEnd type="non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pPr algn="ctr"/>
            <a:endParaRPr lang="en-US" sz="1600" b="0" u="none" strike="noStrike">
              <a:solidFill>
                <a:srgbClr val="000000"/>
              </a:solidFill>
              <a:effectLst/>
              <a:uFillTx/>
              <a:latin typeface="Arial"/>
            </a:endParaRPr>
          </a:p>
        </p:txBody>
      </p:sp>
      <p:sp>
        <p:nvSpPr>
          <p:cNvPr id="196" name="Shape 19"/>
          <p:cNvSpPr/>
          <p:nvPr/>
        </p:nvSpPr>
        <p:spPr>
          <a:xfrm>
            <a:off x="589479" y="4862599"/>
            <a:ext cx="3200040" cy="712800"/>
          </a:xfrm>
          <a:prstGeom prst="roundRect">
            <a:avLst>
              <a:gd name="adj" fmla="val 12821"/>
            </a:avLst>
          </a:prstGeom>
          <a:solidFill>
            <a:schemeClr val="bg1"/>
          </a:solidFill>
          <a:ln w="12700">
            <a:solidFill>
              <a:srgbClr val="A84A7A"/>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endParaRPr lang="en-US" sz="1800" b="0" u="none" strike="noStrike">
              <a:solidFill>
                <a:srgbClr val="000000"/>
              </a:solidFill>
              <a:effectLst/>
              <a:uFillTx/>
              <a:latin typeface="Arial"/>
            </a:endParaRPr>
          </a:p>
        </p:txBody>
      </p:sp>
      <p:sp>
        <p:nvSpPr>
          <p:cNvPr id="197" name="Text 20"/>
          <p:cNvSpPr/>
          <p:nvPr/>
        </p:nvSpPr>
        <p:spPr>
          <a:xfrm>
            <a:off x="790719" y="4883419"/>
            <a:ext cx="27975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dirty="0" err="1">
                <a:solidFill>
                  <a:srgbClr val="151327"/>
                </a:solidFill>
                <a:effectLst/>
                <a:uFillTx/>
                <a:latin typeface="Aptos Display"/>
                <a:ea typeface="Aptos Display"/>
              </a:rPr>
              <a:t>Gobernanza</a:t>
            </a:r>
            <a:endParaRPr lang="en-US" sz="1600" b="0" u="none" strike="noStrike" dirty="0">
              <a:solidFill>
                <a:srgbClr val="000000"/>
              </a:solidFill>
              <a:effectLst/>
              <a:uFillTx/>
              <a:latin typeface="Arial"/>
            </a:endParaRPr>
          </a:p>
        </p:txBody>
      </p:sp>
      <p:sp>
        <p:nvSpPr>
          <p:cNvPr id="198" name="Text 21"/>
          <p:cNvSpPr/>
          <p:nvPr/>
        </p:nvSpPr>
        <p:spPr>
          <a:xfrm>
            <a:off x="728606" y="5221963"/>
            <a:ext cx="3096078" cy="347972"/>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200" b="0" u="none" strike="noStrike" dirty="0" err="1">
                <a:solidFill>
                  <a:srgbClr val="6F6888"/>
                </a:solidFill>
                <a:effectLst/>
                <a:uFillTx/>
                <a:latin typeface="Aptos"/>
                <a:ea typeface="Aptos"/>
              </a:rPr>
              <a:t>permisos</a:t>
            </a:r>
            <a:r>
              <a:rPr lang="en-US" sz="1200" b="0" u="none" strike="noStrike" dirty="0">
                <a:solidFill>
                  <a:srgbClr val="6F6888"/>
                </a:solidFill>
                <a:effectLst/>
                <a:uFillTx/>
                <a:latin typeface="Aptos"/>
                <a:ea typeface="Aptos"/>
              </a:rPr>
              <a:t> · </a:t>
            </a:r>
            <a:r>
              <a:rPr lang="en-US" sz="1200" b="0" u="none" strike="noStrike" dirty="0" err="1">
                <a:solidFill>
                  <a:srgbClr val="6F6888"/>
                </a:solidFill>
                <a:effectLst/>
                <a:uFillTx/>
                <a:latin typeface="Aptos"/>
                <a:ea typeface="Aptos"/>
              </a:rPr>
              <a:t>políticas</a:t>
            </a:r>
            <a:r>
              <a:rPr lang="en-US" sz="1200" b="0" u="none" strike="noStrike" dirty="0">
                <a:solidFill>
                  <a:srgbClr val="6F6888"/>
                </a:solidFill>
                <a:effectLst/>
                <a:uFillTx/>
                <a:latin typeface="Aptos"/>
                <a:ea typeface="Aptos"/>
              </a:rPr>
              <a:t> · </a:t>
            </a:r>
            <a:r>
              <a:rPr lang="en-US" sz="1200" b="0" u="none" strike="noStrike" dirty="0" err="1">
                <a:solidFill>
                  <a:srgbClr val="6F6888"/>
                </a:solidFill>
                <a:effectLst/>
                <a:uFillTx/>
                <a:latin typeface="Aptos"/>
                <a:ea typeface="Aptos"/>
              </a:rPr>
              <a:t>autoridad</a:t>
            </a:r>
            <a:r>
              <a:rPr lang="en-US" sz="1200" b="0" u="none" strike="noStrike" dirty="0">
                <a:solidFill>
                  <a:srgbClr val="6F6888"/>
                </a:solidFill>
                <a:effectLst/>
                <a:uFillTx/>
                <a:latin typeface="Aptos"/>
                <a:ea typeface="Aptos"/>
              </a:rPr>
              <a:t> humana</a:t>
            </a:r>
            <a:endParaRPr lang="en-US" sz="1350" b="0" u="none" strike="noStrike" dirty="0">
              <a:solidFill>
                <a:srgbClr val="000000"/>
              </a:solidFill>
              <a:effectLst/>
              <a:uFillTx/>
              <a:latin typeface="Arial"/>
            </a:endParaRPr>
          </a:p>
        </p:txBody>
      </p:sp>
      <p:sp>
        <p:nvSpPr>
          <p:cNvPr id="199" name="Shape 22"/>
          <p:cNvSpPr/>
          <p:nvPr/>
        </p:nvSpPr>
        <p:spPr>
          <a:xfrm flipV="1">
            <a:off x="3913675" y="4883419"/>
            <a:ext cx="717524" cy="329400"/>
          </a:xfrm>
          <a:prstGeom prst="line">
            <a:avLst/>
          </a:prstGeom>
          <a:ln w="12700">
            <a:solidFill>
              <a:srgbClr val="A84A7A"/>
            </a:solidFill>
            <a:round/>
            <a:headEnd type="none" w="med" len="med"/>
            <a:tailEnd type="non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pPr algn="ctr"/>
            <a:endParaRPr lang="en-US" sz="1800" b="0" u="none" strike="noStrike">
              <a:solidFill>
                <a:srgbClr val="000000"/>
              </a:solidFill>
              <a:effectLst/>
              <a:uFillTx/>
              <a:latin typeface="Arial"/>
            </a:endParaRPr>
          </a:p>
        </p:txBody>
      </p:sp>
      <p:sp>
        <p:nvSpPr>
          <p:cNvPr id="200" name="Shape 23"/>
          <p:cNvSpPr/>
          <p:nvPr/>
        </p:nvSpPr>
        <p:spPr>
          <a:xfrm>
            <a:off x="7841438" y="3109687"/>
            <a:ext cx="3606561" cy="712800"/>
          </a:xfrm>
          <a:prstGeom prst="roundRect">
            <a:avLst>
              <a:gd name="adj" fmla="val 12821"/>
            </a:avLst>
          </a:prstGeom>
          <a:solidFill>
            <a:schemeClr val="bg1"/>
          </a:solidFill>
          <a:ln w="12700">
            <a:solidFill>
              <a:srgbClr val="078C53"/>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endParaRPr lang="en-US" sz="1800" b="0" u="none" strike="noStrike">
              <a:solidFill>
                <a:srgbClr val="000000"/>
              </a:solidFill>
              <a:effectLst/>
              <a:uFillTx/>
              <a:latin typeface="Arial"/>
            </a:endParaRPr>
          </a:p>
        </p:txBody>
      </p:sp>
      <p:sp>
        <p:nvSpPr>
          <p:cNvPr id="201" name="Text 24"/>
          <p:cNvSpPr/>
          <p:nvPr/>
        </p:nvSpPr>
        <p:spPr>
          <a:xfrm>
            <a:off x="8001115" y="3140446"/>
            <a:ext cx="27975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dirty="0" err="1">
                <a:solidFill>
                  <a:srgbClr val="151327"/>
                </a:solidFill>
                <a:effectLst/>
                <a:uFillTx/>
                <a:latin typeface="Aptos Display"/>
                <a:ea typeface="Aptos Display"/>
              </a:rPr>
              <a:t>Inteligencia</a:t>
            </a:r>
            <a:endParaRPr lang="en-US" sz="1600" b="0" u="none" strike="noStrike" dirty="0">
              <a:solidFill>
                <a:srgbClr val="000000"/>
              </a:solidFill>
              <a:effectLst/>
              <a:uFillTx/>
              <a:latin typeface="Arial"/>
            </a:endParaRPr>
          </a:p>
        </p:txBody>
      </p:sp>
      <p:sp>
        <p:nvSpPr>
          <p:cNvPr id="202" name="Text 25"/>
          <p:cNvSpPr/>
          <p:nvPr/>
        </p:nvSpPr>
        <p:spPr>
          <a:xfrm>
            <a:off x="7986569" y="3519620"/>
            <a:ext cx="3346524" cy="222167"/>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a:tabLst>
                <a:tab pos="0" algn="l"/>
              </a:tabLst>
            </a:pPr>
            <a:r>
              <a:rPr lang="en-US" sz="1200" b="0" u="none" strike="noStrike" dirty="0" err="1">
                <a:solidFill>
                  <a:srgbClr val="6F6888"/>
                </a:solidFill>
                <a:effectLst/>
                <a:uFillTx/>
                <a:latin typeface="Aptos"/>
                <a:ea typeface="Aptos"/>
              </a:rPr>
              <a:t>contexto</a:t>
            </a:r>
            <a:r>
              <a:rPr lang="en-US" sz="1200" b="0" u="none" strike="noStrike" dirty="0">
                <a:solidFill>
                  <a:srgbClr val="6F6888"/>
                </a:solidFill>
                <a:effectLst/>
                <a:uFillTx/>
                <a:latin typeface="Aptos"/>
                <a:ea typeface="Aptos"/>
              </a:rPr>
              <a:t> </a:t>
            </a:r>
            <a:r>
              <a:rPr lang="en-US" sz="1200" dirty="0">
                <a:solidFill>
                  <a:srgbClr val="6F6888"/>
                </a:solidFill>
                <a:ea typeface="Aptos"/>
              </a:rPr>
              <a:t>· </a:t>
            </a:r>
            <a:r>
              <a:rPr lang="en-US" sz="1200" dirty="0" err="1">
                <a:solidFill>
                  <a:srgbClr val="6F6888"/>
                </a:solidFill>
                <a:ea typeface="Aptos"/>
              </a:rPr>
              <a:t>razonamiento</a:t>
            </a:r>
            <a:r>
              <a:rPr lang="en-US" sz="1200" dirty="0">
                <a:solidFill>
                  <a:srgbClr val="6F6888"/>
                </a:solidFill>
                <a:ea typeface="Aptos"/>
              </a:rPr>
              <a:t> </a:t>
            </a:r>
            <a:r>
              <a:rPr lang="en-US" sz="1200" b="0" u="none" strike="noStrike" dirty="0">
                <a:solidFill>
                  <a:srgbClr val="6F6888"/>
                </a:solidFill>
                <a:effectLst/>
                <a:uFillTx/>
                <a:latin typeface="Aptos"/>
                <a:ea typeface="Aptos"/>
              </a:rPr>
              <a:t>· </a:t>
            </a:r>
            <a:r>
              <a:rPr lang="en-US" sz="1200" b="0" u="none" strike="noStrike" dirty="0" err="1">
                <a:solidFill>
                  <a:srgbClr val="6F6888"/>
                </a:solidFill>
                <a:effectLst/>
                <a:uFillTx/>
                <a:latin typeface="Aptos"/>
                <a:ea typeface="Aptos"/>
              </a:rPr>
              <a:t>planeación</a:t>
            </a:r>
            <a:endParaRPr lang="en-US" sz="1300" b="0" u="none" strike="noStrike" dirty="0">
              <a:solidFill>
                <a:srgbClr val="000000"/>
              </a:solidFill>
              <a:effectLst/>
              <a:uFillTx/>
              <a:latin typeface="Arial"/>
            </a:endParaRPr>
          </a:p>
        </p:txBody>
      </p:sp>
      <p:sp>
        <p:nvSpPr>
          <p:cNvPr id="203" name="Shape 26"/>
          <p:cNvSpPr/>
          <p:nvPr/>
        </p:nvSpPr>
        <p:spPr>
          <a:xfrm flipV="1">
            <a:off x="6989920" y="3466087"/>
            <a:ext cx="747431" cy="281698"/>
          </a:xfrm>
          <a:prstGeom prst="line">
            <a:avLst/>
          </a:prstGeom>
          <a:ln w="12700">
            <a:solidFill>
              <a:srgbClr val="078C53"/>
            </a:solidFill>
            <a:round/>
            <a:headEnd type="none" w="med" len="med"/>
            <a:tailEnd type="non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pPr algn="ctr"/>
            <a:endParaRPr lang="en-US" sz="1800" b="0" u="none" strike="noStrike">
              <a:solidFill>
                <a:srgbClr val="000000"/>
              </a:solidFill>
              <a:effectLst/>
              <a:uFillTx/>
              <a:latin typeface="Arial"/>
            </a:endParaRPr>
          </a:p>
        </p:txBody>
      </p:sp>
      <p:sp>
        <p:nvSpPr>
          <p:cNvPr id="204" name="Shape 27"/>
          <p:cNvSpPr/>
          <p:nvPr/>
        </p:nvSpPr>
        <p:spPr>
          <a:xfrm>
            <a:off x="7841437" y="3986143"/>
            <a:ext cx="3595355" cy="712800"/>
          </a:xfrm>
          <a:prstGeom prst="roundRect">
            <a:avLst>
              <a:gd name="adj" fmla="val 12821"/>
            </a:avLst>
          </a:prstGeom>
          <a:solidFill>
            <a:schemeClr val="bg1"/>
          </a:solidFill>
          <a:ln w="12700">
            <a:solidFill>
              <a:srgbClr val="F39A2B"/>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endParaRPr lang="en-US" sz="1800" b="0" u="none" strike="noStrike">
              <a:solidFill>
                <a:srgbClr val="000000"/>
              </a:solidFill>
              <a:effectLst/>
              <a:uFillTx/>
              <a:latin typeface="Arial"/>
            </a:endParaRPr>
          </a:p>
        </p:txBody>
      </p:sp>
      <p:sp>
        <p:nvSpPr>
          <p:cNvPr id="205" name="Text 28"/>
          <p:cNvSpPr/>
          <p:nvPr/>
        </p:nvSpPr>
        <p:spPr>
          <a:xfrm>
            <a:off x="8042679" y="4036780"/>
            <a:ext cx="27975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dirty="0" err="1">
                <a:solidFill>
                  <a:srgbClr val="151327"/>
                </a:solidFill>
                <a:effectLst/>
                <a:uFillTx/>
                <a:latin typeface="Aptos Display"/>
                <a:ea typeface="Aptos Display"/>
              </a:rPr>
              <a:t>Continuidad</a:t>
            </a:r>
            <a:endParaRPr lang="en-US" sz="1600" b="0" u="none" strike="noStrike" dirty="0">
              <a:solidFill>
                <a:srgbClr val="000000"/>
              </a:solidFill>
              <a:effectLst/>
              <a:uFillTx/>
              <a:latin typeface="Arial"/>
            </a:endParaRPr>
          </a:p>
        </p:txBody>
      </p:sp>
      <p:sp>
        <p:nvSpPr>
          <p:cNvPr id="206" name="Text 29"/>
          <p:cNvSpPr/>
          <p:nvPr/>
        </p:nvSpPr>
        <p:spPr>
          <a:xfrm>
            <a:off x="8070764" y="4375324"/>
            <a:ext cx="3055409"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200" b="0" u="none" strike="noStrike" dirty="0" err="1">
                <a:solidFill>
                  <a:srgbClr val="6F6888"/>
                </a:solidFill>
                <a:effectLst/>
                <a:uFillTx/>
                <a:latin typeface="Aptos"/>
                <a:ea typeface="Aptos"/>
              </a:rPr>
              <a:t>sobrevive</a:t>
            </a:r>
            <a:r>
              <a:rPr lang="en-US" sz="1200" b="0" u="none" strike="noStrike" dirty="0">
                <a:solidFill>
                  <a:srgbClr val="6F6888"/>
                </a:solidFill>
                <a:effectLst/>
                <a:uFillTx/>
                <a:latin typeface="Aptos"/>
                <a:ea typeface="Aptos"/>
              </a:rPr>
              <a:t> </a:t>
            </a:r>
            <a:r>
              <a:rPr lang="en-US" sz="1200" b="0" u="none" strike="noStrike" dirty="0" err="1">
                <a:solidFill>
                  <a:srgbClr val="6F6888"/>
                </a:solidFill>
                <a:effectLst/>
                <a:uFillTx/>
                <a:latin typeface="Aptos"/>
                <a:ea typeface="Aptos"/>
              </a:rPr>
              <a:t>sesiones</a:t>
            </a:r>
            <a:r>
              <a:rPr lang="en-US" sz="1200" b="0" u="none" strike="noStrike" dirty="0">
                <a:solidFill>
                  <a:srgbClr val="6F6888"/>
                </a:solidFill>
                <a:effectLst/>
                <a:uFillTx/>
                <a:latin typeface="Aptos"/>
                <a:ea typeface="Aptos"/>
              </a:rPr>
              <a:t> · </a:t>
            </a:r>
            <a:r>
              <a:rPr lang="en-US" sz="1200" b="0" u="none" strike="noStrike" dirty="0" err="1">
                <a:solidFill>
                  <a:srgbClr val="6F6888"/>
                </a:solidFill>
                <a:effectLst/>
                <a:uFillTx/>
                <a:latin typeface="Aptos"/>
                <a:ea typeface="Aptos"/>
              </a:rPr>
              <a:t>esperas</a:t>
            </a:r>
            <a:r>
              <a:rPr lang="en-US" sz="1200" b="0" u="none" strike="noStrike" dirty="0">
                <a:solidFill>
                  <a:srgbClr val="6F6888"/>
                </a:solidFill>
                <a:effectLst/>
                <a:uFillTx/>
                <a:latin typeface="Aptos"/>
                <a:ea typeface="Aptos"/>
              </a:rPr>
              <a:t> · </a:t>
            </a:r>
            <a:r>
              <a:rPr lang="en-US" sz="1200" b="0" u="none" strike="noStrike" dirty="0" err="1">
                <a:solidFill>
                  <a:srgbClr val="6F6888"/>
                </a:solidFill>
                <a:effectLst/>
                <a:uFillTx/>
                <a:latin typeface="Aptos"/>
                <a:ea typeface="Aptos"/>
              </a:rPr>
              <a:t>cambios</a:t>
            </a:r>
            <a:endParaRPr lang="en-US" sz="1400" b="0" u="none" strike="noStrike" dirty="0">
              <a:solidFill>
                <a:srgbClr val="000000"/>
              </a:solidFill>
              <a:effectLst/>
              <a:uFillTx/>
              <a:latin typeface="Arial"/>
            </a:endParaRPr>
          </a:p>
        </p:txBody>
      </p:sp>
      <p:sp>
        <p:nvSpPr>
          <p:cNvPr id="207" name="Shape 30"/>
          <p:cNvSpPr/>
          <p:nvPr/>
        </p:nvSpPr>
        <p:spPr>
          <a:xfrm flipV="1">
            <a:off x="7121356" y="4319916"/>
            <a:ext cx="610487" cy="0"/>
          </a:xfrm>
          <a:prstGeom prst="line">
            <a:avLst/>
          </a:prstGeom>
          <a:ln w="12700">
            <a:solidFill>
              <a:srgbClr val="F39A2B"/>
            </a:solidFill>
            <a:round/>
            <a:headEnd type="none" w="med" len="med"/>
            <a:tailEnd type="non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pPr algn="ctr"/>
            <a:endParaRPr lang="en-US" sz="1600" b="0" u="none" strike="noStrike">
              <a:solidFill>
                <a:srgbClr val="000000"/>
              </a:solidFill>
              <a:effectLst/>
              <a:uFillTx/>
              <a:latin typeface="Arial"/>
            </a:endParaRPr>
          </a:p>
        </p:txBody>
      </p:sp>
      <p:sp>
        <p:nvSpPr>
          <p:cNvPr id="208" name="Shape 31"/>
          <p:cNvSpPr/>
          <p:nvPr/>
        </p:nvSpPr>
        <p:spPr>
          <a:xfrm>
            <a:off x="7841438" y="4862599"/>
            <a:ext cx="3606561" cy="712800"/>
          </a:xfrm>
          <a:prstGeom prst="roundRect">
            <a:avLst>
              <a:gd name="adj" fmla="val 12821"/>
            </a:avLst>
          </a:prstGeom>
          <a:solidFill>
            <a:schemeClr val="bg1"/>
          </a:solidFill>
          <a:ln w="12700">
            <a:solidFill>
              <a:srgbClr val="5F2CCB"/>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endParaRPr lang="en-US" sz="1800" b="0" u="none" strike="noStrike">
              <a:solidFill>
                <a:srgbClr val="000000"/>
              </a:solidFill>
              <a:effectLst/>
              <a:uFillTx/>
              <a:latin typeface="Arial"/>
            </a:endParaRPr>
          </a:p>
        </p:txBody>
      </p:sp>
      <p:sp>
        <p:nvSpPr>
          <p:cNvPr id="209" name="Text 32"/>
          <p:cNvSpPr/>
          <p:nvPr/>
        </p:nvSpPr>
        <p:spPr>
          <a:xfrm>
            <a:off x="8001114" y="4883419"/>
            <a:ext cx="3245375"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dirty="0" err="1">
                <a:solidFill>
                  <a:srgbClr val="151327"/>
                </a:solidFill>
                <a:effectLst/>
                <a:uFillTx/>
                <a:latin typeface="Aptos Display"/>
                <a:ea typeface="Aptos Display"/>
              </a:rPr>
              <a:t>Verificación</a:t>
            </a:r>
            <a:r>
              <a:rPr lang="en-US" sz="1500" b="1" u="none" strike="noStrike" dirty="0">
                <a:solidFill>
                  <a:srgbClr val="151327"/>
                </a:solidFill>
                <a:effectLst/>
                <a:uFillTx/>
                <a:latin typeface="Aptos Display"/>
                <a:ea typeface="Aptos Display"/>
              </a:rPr>
              <a:t> </a:t>
            </a:r>
            <a:r>
              <a:rPr lang="en-US" sz="1500" b="1" dirty="0">
                <a:solidFill>
                  <a:srgbClr val="151327"/>
                </a:solidFill>
                <a:latin typeface="Aptos Display"/>
                <a:ea typeface="Aptos Display"/>
              </a:rPr>
              <a:t>y</a:t>
            </a:r>
            <a:r>
              <a:rPr lang="en-US" sz="1500" b="1" u="none" strike="noStrike" dirty="0">
                <a:solidFill>
                  <a:srgbClr val="151327"/>
                </a:solidFill>
                <a:effectLst/>
                <a:uFillTx/>
                <a:latin typeface="Aptos Display"/>
                <a:ea typeface="Aptos Display"/>
              </a:rPr>
              <a:t> </a:t>
            </a:r>
            <a:r>
              <a:rPr lang="en-US" sz="1500" b="1" u="none" strike="noStrike" dirty="0" err="1">
                <a:solidFill>
                  <a:srgbClr val="151327"/>
                </a:solidFill>
                <a:effectLst/>
                <a:uFillTx/>
                <a:latin typeface="Aptos Display"/>
                <a:ea typeface="Aptos Display"/>
              </a:rPr>
              <a:t>resultados</a:t>
            </a:r>
            <a:r>
              <a:rPr lang="en-US" sz="1500" b="1" u="none" strike="noStrike" dirty="0">
                <a:solidFill>
                  <a:srgbClr val="151327"/>
                </a:solidFill>
                <a:effectLst/>
                <a:uFillTx/>
                <a:latin typeface="Aptos Display"/>
                <a:ea typeface="Aptos Display"/>
              </a:rPr>
              <a:t> de </a:t>
            </a:r>
            <a:r>
              <a:rPr lang="en-US" sz="1500" b="1" u="none" strike="noStrike" dirty="0" err="1">
                <a:solidFill>
                  <a:srgbClr val="151327"/>
                </a:solidFill>
                <a:effectLst/>
                <a:uFillTx/>
                <a:latin typeface="Aptos Display"/>
                <a:ea typeface="Aptos Display"/>
              </a:rPr>
              <a:t>negocio</a:t>
            </a:r>
            <a:endParaRPr lang="en-US" sz="1500" b="0" u="none" strike="noStrike" dirty="0">
              <a:solidFill>
                <a:srgbClr val="000000"/>
              </a:solidFill>
              <a:effectLst/>
              <a:uFillTx/>
              <a:latin typeface="Arial"/>
            </a:endParaRPr>
          </a:p>
        </p:txBody>
      </p:sp>
      <p:sp>
        <p:nvSpPr>
          <p:cNvPr id="210" name="Text 33"/>
          <p:cNvSpPr/>
          <p:nvPr/>
        </p:nvSpPr>
        <p:spPr>
          <a:xfrm>
            <a:off x="8025566" y="5221963"/>
            <a:ext cx="3307526"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200" b="0" u="none" strike="noStrike" dirty="0" err="1">
                <a:solidFill>
                  <a:srgbClr val="6F6888"/>
                </a:solidFill>
                <a:effectLst/>
                <a:uFillTx/>
                <a:latin typeface="Aptos"/>
                <a:ea typeface="Aptos"/>
              </a:rPr>
              <a:t>evidencia</a:t>
            </a:r>
            <a:r>
              <a:rPr lang="en-US" sz="1200" b="0" u="none" strike="noStrike" dirty="0">
                <a:solidFill>
                  <a:srgbClr val="6F6888"/>
                </a:solidFill>
                <a:effectLst/>
                <a:uFillTx/>
                <a:latin typeface="Aptos"/>
                <a:ea typeface="Aptos"/>
              </a:rPr>
              <a:t> · </a:t>
            </a:r>
            <a:r>
              <a:rPr lang="en-US" sz="1200" b="0" u="none" strike="noStrike" dirty="0" err="1">
                <a:solidFill>
                  <a:srgbClr val="6F6888"/>
                </a:solidFill>
                <a:effectLst/>
                <a:uFillTx/>
                <a:latin typeface="Aptos"/>
                <a:ea typeface="Aptos"/>
              </a:rPr>
              <a:t>criterios</a:t>
            </a:r>
            <a:r>
              <a:rPr lang="en-US" sz="1200" b="0" u="none" strike="noStrike" dirty="0">
                <a:solidFill>
                  <a:srgbClr val="6F6888"/>
                </a:solidFill>
                <a:effectLst/>
                <a:uFillTx/>
                <a:latin typeface="Aptos"/>
                <a:ea typeface="Aptos"/>
              </a:rPr>
              <a:t>/</a:t>
            </a:r>
            <a:r>
              <a:rPr lang="en-US" sz="1200" b="0" u="none" strike="noStrike" dirty="0" err="1">
                <a:solidFill>
                  <a:srgbClr val="6F6888"/>
                </a:solidFill>
                <a:effectLst/>
                <a:uFillTx/>
                <a:latin typeface="Aptos"/>
                <a:ea typeface="Aptos"/>
              </a:rPr>
              <a:t>terminación</a:t>
            </a:r>
            <a:r>
              <a:rPr lang="en-US" sz="1200" b="0" u="none" strike="noStrike" dirty="0">
                <a:solidFill>
                  <a:srgbClr val="6F6888"/>
                </a:solidFill>
                <a:effectLst/>
                <a:uFillTx/>
                <a:latin typeface="Aptos"/>
                <a:ea typeface="Aptos"/>
              </a:rPr>
              <a:t> · </a:t>
            </a:r>
            <a:r>
              <a:rPr lang="en-US" sz="1200" b="0" u="none" strike="noStrike" dirty="0" err="1">
                <a:solidFill>
                  <a:srgbClr val="6F6888"/>
                </a:solidFill>
                <a:effectLst/>
                <a:uFillTx/>
                <a:latin typeface="Aptos"/>
                <a:ea typeface="Aptos"/>
              </a:rPr>
              <a:t>resultados</a:t>
            </a:r>
            <a:endParaRPr lang="en-US" sz="1350" b="0" u="none" strike="noStrike" dirty="0">
              <a:solidFill>
                <a:srgbClr val="000000"/>
              </a:solidFill>
              <a:effectLst/>
              <a:uFillTx/>
              <a:latin typeface="Arial"/>
            </a:endParaRPr>
          </a:p>
        </p:txBody>
      </p:sp>
      <p:sp>
        <p:nvSpPr>
          <p:cNvPr id="211" name="Shape 34"/>
          <p:cNvSpPr/>
          <p:nvPr/>
        </p:nvSpPr>
        <p:spPr>
          <a:xfrm>
            <a:off x="7024763" y="4936275"/>
            <a:ext cx="658440" cy="276544"/>
          </a:xfrm>
          <a:prstGeom prst="line">
            <a:avLst/>
          </a:prstGeom>
          <a:ln w="12700">
            <a:solidFill>
              <a:srgbClr val="5F2CCB"/>
            </a:solidFill>
            <a:round/>
            <a:headEnd type="none" w="med" len="med"/>
            <a:tailEnd type="non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pPr algn="ctr"/>
            <a:endParaRPr lang="en-US" sz="1800" b="0" u="none" strike="noStrike">
              <a:solidFill>
                <a:srgbClr val="000000"/>
              </a:solidFill>
              <a:effectLst/>
              <a:uFillTx/>
              <a:latin typeface="Arial"/>
            </a:endParaRPr>
          </a:p>
        </p:txBody>
      </p:sp>
      <p:pic>
        <p:nvPicPr>
          <p:cNvPr id="3" name="Image 0" descr="/mnt/data/ungga_logo_purple.png">
            <a:extLst>
              <a:ext uri="{FF2B5EF4-FFF2-40B4-BE49-F238E27FC236}">
                <a16:creationId xmlns:a16="http://schemas.microsoft.com/office/drawing/2014/main" id="{B19626B2-B9A8-1E6F-ECC6-499FD4B38536}"/>
              </a:ext>
            </a:extLst>
          </p:cNvPr>
          <p:cNvPicPr>
            <a:picLocks noChangeAspect="1"/>
          </p:cNvPicPr>
          <p:nvPr/>
        </p:nvPicPr>
        <p:blipFill>
          <a:blip r:embed="rId3"/>
          <a:stretch>
            <a:fillRect/>
          </a:stretch>
        </p:blipFill>
        <p:spPr>
          <a:xfrm>
            <a:off x="11109960" y="449715"/>
            <a:ext cx="566928" cy="472170"/>
          </a:xfrm>
          <a:prstGeom prst="rect">
            <a:avLst/>
          </a:prstGeom>
        </p:spPr>
      </p:pic>
      <p:grpSp>
        <p:nvGrpSpPr>
          <p:cNvPr id="24" name="Grupo 23">
            <a:extLst>
              <a:ext uri="{FF2B5EF4-FFF2-40B4-BE49-F238E27FC236}">
                <a16:creationId xmlns:a16="http://schemas.microsoft.com/office/drawing/2014/main" id="{5F8F5660-4C7A-EFF2-5E91-E1E32B9DF322}"/>
              </a:ext>
            </a:extLst>
          </p:cNvPr>
          <p:cNvGrpSpPr/>
          <p:nvPr/>
        </p:nvGrpSpPr>
        <p:grpSpPr>
          <a:xfrm>
            <a:off x="4061770" y="5717350"/>
            <a:ext cx="3621433" cy="712800"/>
            <a:chOff x="4061770" y="5801430"/>
            <a:chExt cx="3543609" cy="712800"/>
          </a:xfrm>
        </p:grpSpPr>
        <p:sp>
          <p:nvSpPr>
            <p:cNvPr id="4" name="Shape 31">
              <a:extLst>
                <a:ext uri="{FF2B5EF4-FFF2-40B4-BE49-F238E27FC236}">
                  <a16:creationId xmlns:a16="http://schemas.microsoft.com/office/drawing/2014/main" id="{F241AF22-FE37-9B9C-37B7-92C8F98FDB9D}"/>
                </a:ext>
              </a:extLst>
            </p:cNvPr>
            <p:cNvSpPr/>
            <p:nvPr/>
          </p:nvSpPr>
          <p:spPr>
            <a:xfrm>
              <a:off x="4061770" y="5801430"/>
              <a:ext cx="3543609" cy="712800"/>
            </a:xfrm>
            <a:prstGeom prst="roundRect">
              <a:avLst>
                <a:gd name="adj" fmla="val 12821"/>
              </a:avLst>
            </a:prstGeom>
            <a:solidFill>
              <a:schemeClr val="bg1"/>
            </a:solidFill>
            <a:ln w="12700">
              <a:solidFill>
                <a:srgbClr val="5F2CCB"/>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endParaRPr lang="en-US" sz="1800" b="0" u="none" strike="noStrike">
                <a:solidFill>
                  <a:srgbClr val="000000"/>
                </a:solidFill>
                <a:effectLst/>
                <a:uFillTx/>
                <a:latin typeface="Arial"/>
              </a:endParaRPr>
            </a:p>
          </p:txBody>
        </p:sp>
        <p:sp>
          <p:nvSpPr>
            <p:cNvPr id="6" name="Text 32">
              <a:extLst>
                <a:ext uri="{FF2B5EF4-FFF2-40B4-BE49-F238E27FC236}">
                  <a16:creationId xmlns:a16="http://schemas.microsoft.com/office/drawing/2014/main" id="{325E4E77-1528-0D2D-EE1B-4E82E0E9F3A6}"/>
                </a:ext>
              </a:extLst>
            </p:cNvPr>
            <p:cNvSpPr/>
            <p:nvPr/>
          </p:nvSpPr>
          <p:spPr>
            <a:xfrm>
              <a:off x="4263011" y="5822250"/>
              <a:ext cx="27975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dirty="0">
                  <a:solidFill>
                    <a:srgbClr val="151327"/>
                  </a:solidFill>
                  <a:effectLst/>
                  <a:uFillTx/>
                  <a:latin typeface="Aptos Display"/>
                  <a:ea typeface="Aptos Display"/>
                </a:rPr>
                <a:t>Red &amp; </a:t>
              </a:r>
              <a:r>
                <a:rPr lang="en-US" sz="1500" b="1" u="none" strike="noStrike" dirty="0" err="1">
                  <a:solidFill>
                    <a:srgbClr val="151327"/>
                  </a:solidFill>
                  <a:effectLst/>
                  <a:uFillTx/>
                  <a:latin typeface="Aptos Display"/>
                  <a:ea typeface="Aptos Display"/>
                </a:rPr>
                <a:t>ecosistema</a:t>
              </a:r>
              <a:endParaRPr lang="en-US" sz="1500" b="0" u="none" strike="noStrike" dirty="0">
                <a:solidFill>
                  <a:srgbClr val="000000"/>
                </a:solidFill>
                <a:effectLst/>
                <a:uFillTx/>
                <a:latin typeface="Arial"/>
              </a:endParaRPr>
            </a:p>
          </p:txBody>
        </p:sp>
        <p:sp>
          <p:nvSpPr>
            <p:cNvPr id="8" name="Text 33">
              <a:extLst>
                <a:ext uri="{FF2B5EF4-FFF2-40B4-BE49-F238E27FC236}">
                  <a16:creationId xmlns:a16="http://schemas.microsoft.com/office/drawing/2014/main" id="{521EFA25-6F75-3270-F5BA-404512FC45DF}"/>
                </a:ext>
              </a:extLst>
            </p:cNvPr>
            <p:cNvSpPr/>
            <p:nvPr/>
          </p:nvSpPr>
          <p:spPr>
            <a:xfrm>
              <a:off x="4234043" y="6201094"/>
              <a:ext cx="3342368" cy="273115"/>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350" dirty="0" err="1">
                  <a:solidFill>
                    <a:srgbClr val="6F6888"/>
                  </a:solidFill>
                  <a:latin typeface="Aptos"/>
                  <a:ea typeface="Aptos"/>
                </a:rPr>
                <a:t>i</a:t>
              </a:r>
              <a:r>
                <a:rPr lang="en-US" sz="1350" b="0" u="none" strike="noStrike" dirty="0" err="1">
                  <a:solidFill>
                    <a:srgbClr val="6F6888"/>
                  </a:solidFill>
                  <a:effectLst/>
                  <a:uFillTx/>
                  <a:latin typeface="Aptos"/>
                  <a:ea typeface="Aptos"/>
                </a:rPr>
                <a:t>nventario</a:t>
              </a:r>
              <a:r>
                <a:rPr lang="en-US" sz="1350" b="0" u="none" strike="noStrike" dirty="0">
                  <a:solidFill>
                    <a:srgbClr val="6F6888"/>
                  </a:solidFill>
                  <a:effectLst/>
                  <a:uFillTx/>
                  <a:latin typeface="Aptos"/>
                  <a:ea typeface="Aptos"/>
                </a:rPr>
                <a:t> </a:t>
              </a:r>
              <a:r>
                <a:rPr lang="en-US" sz="1350" b="0" u="none" strike="noStrike" dirty="0" err="1">
                  <a:solidFill>
                    <a:srgbClr val="6F6888"/>
                  </a:solidFill>
                  <a:effectLst/>
                  <a:uFillTx/>
                  <a:latin typeface="Aptos"/>
                  <a:ea typeface="Aptos"/>
                </a:rPr>
                <a:t>compartido</a:t>
              </a:r>
              <a:r>
                <a:rPr lang="en-US" sz="1350" b="0" u="none" strike="noStrike" dirty="0">
                  <a:solidFill>
                    <a:srgbClr val="6F6888"/>
                  </a:solidFill>
                  <a:effectLst/>
                  <a:uFillTx/>
                  <a:latin typeface="Aptos"/>
                  <a:ea typeface="Aptos"/>
                </a:rPr>
                <a:t> · </a:t>
              </a:r>
              <a:r>
                <a:rPr lang="en-US" sz="1350" b="0" u="none" strike="noStrike" dirty="0" err="1">
                  <a:solidFill>
                    <a:srgbClr val="6F6888"/>
                  </a:solidFill>
                  <a:effectLst/>
                  <a:uFillTx/>
                  <a:latin typeface="Aptos"/>
                  <a:ea typeface="Aptos"/>
                </a:rPr>
                <a:t>servicios</a:t>
              </a:r>
              <a:r>
                <a:rPr lang="en-US" sz="1350" b="0" u="none" strike="noStrike" dirty="0">
                  <a:solidFill>
                    <a:srgbClr val="6F6888"/>
                  </a:solidFill>
                  <a:effectLst/>
                  <a:uFillTx/>
                  <a:latin typeface="Aptos"/>
                  <a:ea typeface="Aptos"/>
                </a:rPr>
                <a:t> </a:t>
              </a:r>
              <a:r>
                <a:rPr lang="en-US" sz="1350" b="0" u="none" strike="noStrike" dirty="0" err="1">
                  <a:solidFill>
                    <a:srgbClr val="6F6888"/>
                  </a:solidFill>
                  <a:effectLst/>
                  <a:uFillTx/>
                  <a:latin typeface="Aptos"/>
                  <a:ea typeface="Aptos"/>
                </a:rPr>
                <a:t>integrados</a:t>
              </a:r>
              <a:endParaRPr lang="en-US" sz="1350" b="0" u="none" strike="noStrike" dirty="0">
                <a:solidFill>
                  <a:srgbClr val="000000"/>
                </a:solidFill>
                <a:effectLst/>
                <a:uFillTx/>
                <a:latin typeface="Arial"/>
              </a:endParaRPr>
            </a:p>
          </p:txBody>
        </p:sp>
      </p:grpSp>
      <p:sp>
        <p:nvSpPr>
          <p:cNvPr id="10" name="Shape 34">
            <a:extLst>
              <a:ext uri="{FF2B5EF4-FFF2-40B4-BE49-F238E27FC236}">
                <a16:creationId xmlns:a16="http://schemas.microsoft.com/office/drawing/2014/main" id="{8C6EF861-724B-3851-DF57-110B8E709C71}"/>
              </a:ext>
            </a:extLst>
          </p:cNvPr>
          <p:cNvSpPr/>
          <p:nvPr/>
        </p:nvSpPr>
        <p:spPr>
          <a:xfrm>
            <a:off x="5834249" y="5400587"/>
            <a:ext cx="0" cy="232679"/>
          </a:xfrm>
          <a:prstGeom prst="line">
            <a:avLst/>
          </a:prstGeom>
          <a:ln w="12700">
            <a:solidFill>
              <a:srgbClr val="5F2CCB"/>
            </a:solidFill>
            <a:round/>
            <a:headEnd type="none" w="med" len="med"/>
            <a:tailEnd type="non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pPr algn="ctr"/>
            <a:endParaRPr lang="en-US" sz="1800" b="0" u="none" strike="noStrike">
              <a:solidFill>
                <a:srgbClr val="000000"/>
              </a:solidFill>
              <a:effectLst/>
              <a:uFillTx/>
              <a:latin typeface="Arial"/>
            </a:endParaRPr>
          </a:p>
        </p:txBody>
      </p:sp>
      <p:grpSp>
        <p:nvGrpSpPr>
          <p:cNvPr id="25" name="Grupo 24">
            <a:extLst>
              <a:ext uri="{FF2B5EF4-FFF2-40B4-BE49-F238E27FC236}">
                <a16:creationId xmlns:a16="http://schemas.microsoft.com/office/drawing/2014/main" id="{9D36CC1F-15A3-1D2A-7A0A-F8785D64E406}"/>
              </a:ext>
            </a:extLst>
          </p:cNvPr>
          <p:cNvGrpSpPr/>
          <p:nvPr/>
        </p:nvGrpSpPr>
        <p:grpSpPr>
          <a:xfrm>
            <a:off x="4001629" y="2210756"/>
            <a:ext cx="3603750" cy="712800"/>
            <a:chOff x="3991119" y="2273816"/>
            <a:chExt cx="3543609" cy="712800"/>
          </a:xfrm>
        </p:grpSpPr>
        <p:sp>
          <p:nvSpPr>
            <p:cNvPr id="15" name="Shape 31">
              <a:extLst>
                <a:ext uri="{FF2B5EF4-FFF2-40B4-BE49-F238E27FC236}">
                  <a16:creationId xmlns:a16="http://schemas.microsoft.com/office/drawing/2014/main" id="{D9B908C8-89B4-755C-7933-E522290CCF2D}"/>
                </a:ext>
              </a:extLst>
            </p:cNvPr>
            <p:cNvSpPr/>
            <p:nvPr/>
          </p:nvSpPr>
          <p:spPr>
            <a:xfrm>
              <a:off x="3991119" y="2273816"/>
              <a:ext cx="3543609" cy="712800"/>
            </a:xfrm>
            <a:prstGeom prst="roundRect">
              <a:avLst>
                <a:gd name="adj" fmla="val 12821"/>
              </a:avLst>
            </a:prstGeom>
            <a:solidFill>
              <a:srgbClr val="FFFFFF"/>
            </a:solidFill>
            <a:ln w="12700">
              <a:solidFill>
                <a:srgbClr val="5F2CCB"/>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 name="Text 32">
              <a:extLst>
                <a:ext uri="{FF2B5EF4-FFF2-40B4-BE49-F238E27FC236}">
                  <a16:creationId xmlns:a16="http://schemas.microsoft.com/office/drawing/2014/main" id="{63E3C7B3-EE11-A0DE-2FC9-214E15243387}"/>
                </a:ext>
              </a:extLst>
            </p:cNvPr>
            <p:cNvSpPr/>
            <p:nvPr/>
          </p:nvSpPr>
          <p:spPr>
            <a:xfrm>
              <a:off x="4141272" y="2294636"/>
              <a:ext cx="27975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600" b="1" i="1" u="none" strike="noStrike" dirty="0">
                  <a:solidFill>
                    <a:srgbClr val="151327"/>
                  </a:solidFill>
                  <a:effectLst/>
                  <a:uFillTx/>
                  <a:latin typeface="Aptos Display"/>
                  <a:ea typeface="Aptos Display"/>
                </a:rPr>
                <a:t>Gu </a:t>
              </a:r>
              <a:r>
                <a:rPr lang="en-US" sz="1600" b="1" u="none" strike="noStrike" dirty="0">
                  <a:solidFill>
                    <a:srgbClr val="151327"/>
                  </a:solidFill>
                  <a:effectLst/>
                  <a:uFillTx/>
                  <a:latin typeface="Aptos Display"/>
                  <a:ea typeface="Aptos Display"/>
                </a:rPr>
                <a:t>– </a:t>
              </a:r>
              <a:r>
                <a:rPr lang="en-US" sz="1600" b="1" i="1" u="none" strike="noStrike" dirty="0">
                  <a:solidFill>
                    <a:srgbClr val="151327"/>
                  </a:solidFill>
                  <a:effectLst/>
                  <a:uFillTx/>
                  <a:latin typeface="Aptos Display"/>
                  <a:ea typeface="Aptos Display"/>
                </a:rPr>
                <a:t>AI coworker</a:t>
              </a:r>
              <a:endParaRPr lang="en-US" sz="1600" b="0" u="none" strike="noStrike" dirty="0">
                <a:solidFill>
                  <a:srgbClr val="000000"/>
                </a:solidFill>
                <a:effectLst/>
                <a:uFillTx/>
                <a:latin typeface="Arial"/>
              </a:endParaRPr>
            </a:p>
          </p:txBody>
        </p:sp>
        <p:sp>
          <p:nvSpPr>
            <p:cNvPr id="19" name="Text 33">
              <a:extLst>
                <a:ext uri="{FF2B5EF4-FFF2-40B4-BE49-F238E27FC236}">
                  <a16:creationId xmlns:a16="http://schemas.microsoft.com/office/drawing/2014/main" id="{4F500CA6-8384-27E4-4E97-2A6E3DB8D923}"/>
                </a:ext>
              </a:extLst>
            </p:cNvPr>
            <p:cNvSpPr/>
            <p:nvPr/>
          </p:nvSpPr>
          <p:spPr>
            <a:xfrm>
              <a:off x="4109231" y="2578805"/>
              <a:ext cx="3402509" cy="347089"/>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n-US" sz="1400" dirty="0" err="1">
                  <a:solidFill>
                    <a:srgbClr val="6F6888"/>
                  </a:solidFill>
                  <a:latin typeface="Aptos"/>
                  <a:ea typeface="Aptos"/>
                </a:rPr>
                <a:t>interfaz</a:t>
              </a:r>
              <a:r>
                <a:rPr lang="en-US" sz="1400" dirty="0">
                  <a:solidFill>
                    <a:srgbClr val="6F6888"/>
                  </a:solidFill>
                  <a:latin typeface="Aptos"/>
                  <a:ea typeface="Aptos"/>
                </a:rPr>
                <a:t> </a:t>
              </a:r>
              <a:r>
                <a:rPr lang="en-US" sz="1400" dirty="0" err="1">
                  <a:solidFill>
                    <a:srgbClr val="6F6888"/>
                  </a:solidFill>
                  <a:latin typeface="Aptos"/>
                  <a:ea typeface="Aptos"/>
                </a:rPr>
                <a:t>conversacional</a:t>
              </a:r>
              <a:r>
                <a:rPr lang="en-US" sz="1400" b="0" u="none" strike="noStrike" dirty="0">
                  <a:solidFill>
                    <a:srgbClr val="6F6888"/>
                  </a:solidFill>
                  <a:effectLst/>
                  <a:uFillTx/>
                  <a:latin typeface="Aptos"/>
                  <a:ea typeface="Aptos"/>
                </a:rPr>
                <a:t> · </a:t>
              </a:r>
              <a:r>
                <a:rPr lang="en-US" sz="1400" dirty="0">
                  <a:solidFill>
                    <a:srgbClr val="6F6888"/>
                  </a:solidFill>
                  <a:latin typeface="Aptos"/>
                  <a:ea typeface="Aptos"/>
                </a:rPr>
                <a:t>v</a:t>
              </a:r>
              <a:r>
                <a:rPr lang="en-US" sz="1400" b="0" u="none" strike="noStrike" dirty="0">
                  <a:solidFill>
                    <a:srgbClr val="6F6888"/>
                  </a:solidFill>
                  <a:effectLst/>
                  <a:uFillTx/>
                  <a:latin typeface="Aptos"/>
                  <a:ea typeface="Aptos"/>
                </a:rPr>
                <a:t>istas </a:t>
              </a:r>
              <a:r>
                <a:rPr lang="en-US" sz="1400" dirty="0" err="1">
                  <a:solidFill>
                    <a:srgbClr val="6F6888"/>
                  </a:solidFill>
                  <a:latin typeface="Aptos"/>
                  <a:ea typeface="Aptos"/>
                </a:rPr>
                <a:t>c</a:t>
              </a:r>
              <a:r>
                <a:rPr lang="en-US" sz="1400" b="0" u="none" strike="noStrike" dirty="0" err="1">
                  <a:solidFill>
                    <a:srgbClr val="6F6888"/>
                  </a:solidFill>
                  <a:effectLst/>
                  <a:uFillTx/>
                  <a:latin typeface="Aptos"/>
                  <a:ea typeface="Aptos"/>
                </a:rPr>
                <a:t>ontextuales</a:t>
              </a:r>
              <a:endParaRPr lang="en-US" sz="1400" b="0" u="none" strike="noStrike" dirty="0">
                <a:solidFill>
                  <a:srgbClr val="000000"/>
                </a:solidFill>
                <a:effectLst/>
                <a:uFillTx/>
                <a:latin typeface="Arial"/>
              </a:endParaRPr>
            </a:p>
          </p:txBody>
        </p:sp>
      </p:grpSp>
      <p:sp>
        <p:nvSpPr>
          <p:cNvPr id="21" name="Shape 34">
            <a:extLst>
              <a:ext uri="{FF2B5EF4-FFF2-40B4-BE49-F238E27FC236}">
                <a16:creationId xmlns:a16="http://schemas.microsoft.com/office/drawing/2014/main" id="{5C0E2835-67EC-7215-4536-7C7B7CBD4D8C}"/>
              </a:ext>
            </a:extLst>
          </p:cNvPr>
          <p:cNvSpPr/>
          <p:nvPr/>
        </p:nvSpPr>
        <p:spPr>
          <a:xfrm>
            <a:off x="5786953" y="3135612"/>
            <a:ext cx="0" cy="232679"/>
          </a:xfrm>
          <a:prstGeom prst="line">
            <a:avLst/>
          </a:prstGeom>
          <a:ln w="12700">
            <a:solidFill>
              <a:srgbClr val="5F2CCB"/>
            </a:solidFill>
            <a:round/>
            <a:headEnd type="none" w="med" len="med"/>
            <a:tailEnd type="non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pPr algn="ctr"/>
            <a:endParaRPr lang="en-US" sz="180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ungga_logo_purple.png"/>
          <p:cNvPicPr>
            <a:picLocks noChangeAspect="1"/>
          </p:cNvPicPr>
          <p:nvPr/>
        </p:nvPicPr>
        <p:blipFill>
          <a:blip r:embed="rId3"/>
          <a:stretch>
            <a:fillRect/>
          </a:stretch>
        </p:blipFill>
        <p:spPr>
          <a:xfrm>
            <a:off x="11109960" y="449715"/>
            <a:ext cx="566928" cy="472170"/>
          </a:xfrm>
          <a:prstGeom prst="rect">
            <a:avLst/>
          </a:prstGeom>
        </p:spPr>
      </p:pic>
      <p:sp>
        <p:nvSpPr>
          <p:cNvPr id="3" name="Text 0"/>
          <p:cNvSpPr txBox="1"/>
          <p:nvPr/>
        </p:nvSpPr>
        <p:spPr>
          <a:xfrm>
            <a:off x="566928" y="367350"/>
            <a:ext cx="3108960" cy="228600"/>
          </a:xfrm>
          <a:prstGeom prst="rect">
            <a:avLst/>
          </a:prstGeom>
          <a:noFill/>
          <a:ln/>
        </p:spPr>
        <p:txBody>
          <a:bodyPr wrap="square" lIns="0" tIns="0" rIns="0" bIns="0" rtlCol="0" anchor="ctr">
            <a:normAutofit/>
          </a:bodyPr>
          <a:lstStyle/>
          <a:p>
            <a:pPr>
              <a:tabLst>
                <a:tab pos="0" algn="l"/>
              </a:tabLst>
            </a:pPr>
            <a:r>
              <a:rPr lang="en-US" sz="1200" b="1" dirty="0">
                <a:solidFill>
                  <a:srgbClr val="5F2CCB"/>
                </a:solidFill>
                <a:ea typeface="Aptos"/>
              </a:rPr>
              <a:t>CICLO OPERATIVO DE INGRESOS</a:t>
            </a:r>
            <a:endParaRPr lang="en-US" sz="1200" dirty="0">
              <a:solidFill>
                <a:srgbClr val="000000"/>
              </a:solidFill>
              <a:latin typeface="Arial"/>
            </a:endParaRPr>
          </a:p>
        </p:txBody>
      </p:sp>
      <p:sp>
        <p:nvSpPr>
          <p:cNvPr id="5" name="Shape 2"/>
          <p:cNvSpPr/>
          <p:nvPr/>
        </p:nvSpPr>
        <p:spPr>
          <a:xfrm>
            <a:off x="1434491" y="3557379"/>
            <a:ext cx="1938528" cy="1245866"/>
          </a:xfrm>
          <a:prstGeom prst="roundRect">
            <a:avLst>
              <a:gd name="adj" fmla="val 11650"/>
            </a:avLst>
          </a:prstGeom>
          <a:solidFill>
            <a:srgbClr val="FFFFFF"/>
          </a:solidFill>
          <a:ln w="12700">
            <a:solidFill>
              <a:schemeClr val="bg1">
                <a:lumMod val="75000"/>
              </a:schemeClr>
            </a:solidFill>
            <a:prstDash val="solid"/>
          </a:ln>
          <a:effectLst>
            <a:outerShdw blurRad="19050" dist="50800" dir="2700000" algn="bl" rotWithShape="0">
              <a:srgbClr val="C6BCD8">
                <a:alpha val="16000"/>
              </a:srgbClr>
            </a:outerShdw>
          </a:effectLst>
        </p:spPr>
        <p:txBody>
          <a:bodyPr/>
          <a:lstStyle/>
          <a:p>
            <a:endParaRPr lang="es-MX" dirty="0"/>
          </a:p>
        </p:txBody>
      </p:sp>
      <p:sp>
        <p:nvSpPr>
          <p:cNvPr id="6" name="Text 3"/>
          <p:cNvSpPr txBox="1"/>
          <p:nvPr/>
        </p:nvSpPr>
        <p:spPr>
          <a:xfrm>
            <a:off x="1580795" y="3718393"/>
            <a:ext cx="1719072" cy="384048"/>
          </a:xfrm>
          <a:prstGeom prst="rect">
            <a:avLst/>
          </a:prstGeom>
          <a:noFill/>
          <a:ln/>
        </p:spPr>
        <p:txBody>
          <a:bodyPr wrap="square" lIns="0" tIns="0" rIns="0" bIns="0" rtlCol="0" anchor="ctr">
            <a:normAutofit lnSpcReduction="10000"/>
          </a:bodyPr>
          <a:lstStyle/>
          <a:p>
            <a:pPr marL="0" indent="0" algn="ctr">
              <a:lnSpc>
                <a:spcPct val="100000"/>
              </a:lnSpc>
              <a:buNone/>
            </a:pPr>
            <a:r>
              <a:rPr lang="en-US" sz="1300" b="1" dirty="0">
                <a:solidFill>
                  <a:srgbClr val="18152B"/>
                </a:solidFill>
                <a:latin typeface="Inter Display" pitchFamily="34" charset="0"/>
                <a:ea typeface="Inter Display" pitchFamily="34" charset="-122"/>
              </a:rPr>
              <a:t>INCORPORACIÓN </a:t>
            </a:r>
          </a:p>
          <a:p>
            <a:pPr marL="0" indent="0" algn="ctr">
              <a:lnSpc>
                <a:spcPct val="100000"/>
              </a:lnSpc>
              <a:buNone/>
            </a:pPr>
            <a:r>
              <a:rPr lang="en-US" sz="1300" b="1" dirty="0">
                <a:solidFill>
                  <a:srgbClr val="18152B"/>
                </a:solidFill>
                <a:latin typeface="Inter Display" pitchFamily="34" charset="0"/>
                <a:ea typeface="Inter Display" pitchFamily="34" charset="-122"/>
              </a:rPr>
              <a:t>DE PROPIEDADES</a:t>
            </a:r>
            <a:endParaRPr lang="en-US" sz="1300" dirty="0"/>
          </a:p>
        </p:txBody>
      </p:sp>
      <p:sp>
        <p:nvSpPr>
          <p:cNvPr id="8" name="Shape 5"/>
          <p:cNvSpPr/>
          <p:nvPr/>
        </p:nvSpPr>
        <p:spPr>
          <a:xfrm>
            <a:off x="1892089" y="4489433"/>
            <a:ext cx="1060704" cy="310896"/>
          </a:xfrm>
          <a:prstGeom prst="roundRect">
            <a:avLst>
              <a:gd name="adj" fmla="val 23529"/>
            </a:avLst>
          </a:prstGeom>
          <a:solidFill>
            <a:srgbClr val="F1EBFF"/>
          </a:solidFill>
          <a:ln w="12700">
            <a:solidFill>
              <a:srgbClr val="F1EBFF">
                <a:alpha val="0"/>
              </a:srgbClr>
            </a:solidFill>
            <a:prstDash val="solid"/>
          </a:ln>
        </p:spPr>
        <p:txBody>
          <a:bodyPr/>
          <a:lstStyle/>
          <a:p>
            <a:endParaRPr lang="es-MX"/>
          </a:p>
        </p:txBody>
      </p:sp>
      <p:sp>
        <p:nvSpPr>
          <p:cNvPr id="9" name="Text 6"/>
          <p:cNvSpPr txBox="1"/>
          <p:nvPr/>
        </p:nvSpPr>
        <p:spPr>
          <a:xfrm>
            <a:off x="1910775" y="4492348"/>
            <a:ext cx="1060704" cy="310896"/>
          </a:xfrm>
          <a:prstGeom prst="rect">
            <a:avLst/>
          </a:prstGeom>
          <a:noFill/>
          <a:ln/>
        </p:spPr>
        <p:txBody>
          <a:bodyPr wrap="square" lIns="0" tIns="0" rIns="0" bIns="0" rtlCol="0" anchor="ctr">
            <a:normAutofit/>
          </a:bodyPr>
          <a:lstStyle/>
          <a:p>
            <a:pPr marL="0" indent="0" algn="ctr">
              <a:lnSpc>
                <a:spcPct val="100000"/>
              </a:lnSpc>
              <a:buNone/>
            </a:pPr>
            <a:r>
              <a:rPr lang="en-US" sz="740" b="1" dirty="0">
                <a:solidFill>
                  <a:srgbClr val="5B2DB6"/>
                </a:solidFill>
                <a:latin typeface="Inter" pitchFamily="34" charset="0"/>
                <a:ea typeface="Inter" pitchFamily="34" charset="-122"/>
                <a:cs typeface="Inter" pitchFamily="34" charset="-120"/>
              </a:rPr>
              <a:t>BETA</a:t>
            </a:r>
            <a:endParaRPr lang="en-US" sz="740" dirty="0"/>
          </a:p>
        </p:txBody>
      </p:sp>
      <p:sp>
        <p:nvSpPr>
          <p:cNvPr id="10" name="Shape 7"/>
          <p:cNvSpPr/>
          <p:nvPr/>
        </p:nvSpPr>
        <p:spPr>
          <a:xfrm>
            <a:off x="3680668" y="2177039"/>
            <a:ext cx="1938528" cy="1165860"/>
          </a:xfrm>
          <a:prstGeom prst="roundRect">
            <a:avLst>
              <a:gd name="adj" fmla="val 11650"/>
            </a:avLst>
          </a:prstGeom>
          <a:solidFill>
            <a:srgbClr val="FFFFFF"/>
          </a:solidFill>
          <a:ln w="12700">
            <a:solidFill>
              <a:schemeClr val="bg1">
                <a:lumMod val="75000"/>
              </a:schemeClr>
            </a:solidFill>
            <a:prstDash val="solid"/>
          </a:ln>
          <a:effectLst>
            <a:outerShdw blurRad="19050" dist="50800" dir="2700000" algn="bl" rotWithShape="0">
              <a:srgbClr val="C6BCD8">
                <a:alpha val="16000"/>
              </a:srgbClr>
            </a:outerShdw>
          </a:effectLst>
        </p:spPr>
        <p:txBody>
          <a:bodyPr/>
          <a:lstStyle/>
          <a:p>
            <a:endParaRPr lang="es-MX"/>
          </a:p>
        </p:txBody>
      </p:sp>
      <p:sp>
        <p:nvSpPr>
          <p:cNvPr id="11" name="Text 8"/>
          <p:cNvSpPr txBox="1"/>
          <p:nvPr/>
        </p:nvSpPr>
        <p:spPr>
          <a:xfrm>
            <a:off x="3790396" y="2314856"/>
            <a:ext cx="1719072" cy="384048"/>
          </a:xfrm>
          <a:prstGeom prst="rect">
            <a:avLst/>
          </a:prstGeom>
          <a:noFill/>
          <a:ln/>
        </p:spPr>
        <p:txBody>
          <a:bodyPr wrap="square" lIns="0" tIns="0" rIns="0" bIns="0" rtlCol="0" anchor="ctr">
            <a:normAutofit lnSpcReduction="10000"/>
          </a:bodyPr>
          <a:lstStyle/>
          <a:p>
            <a:pPr marL="0" indent="0" algn="ctr">
              <a:lnSpc>
                <a:spcPct val="100000"/>
              </a:lnSpc>
              <a:buNone/>
            </a:pPr>
            <a:r>
              <a:rPr lang="en-US" sz="1300" b="1" dirty="0">
                <a:solidFill>
                  <a:srgbClr val="18152B"/>
                </a:solidFill>
                <a:latin typeface="Inter Display" pitchFamily="34" charset="0"/>
                <a:ea typeface="Inter Display" pitchFamily="34" charset="-122"/>
              </a:rPr>
              <a:t>GENERACIÓN DE DEMANDA</a:t>
            </a:r>
            <a:endParaRPr lang="en-US" sz="1300" dirty="0"/>
          </a:p>
        </p:txBody>
      </p:sp>
      <p:grpSp>
        <p:nvGrpSpPr>
          <p:cNvPr id="61" name="Grupo 60">
            <a:extLst>
              <a:ext uri="{FF2B5EF4-FFF2-40B4-BE49-F238E27FC236}">
                <a16:creationId xmlns:a16="http://schemas.microsoft.com/office/drawing/2014/main" id="{681F8495-B3B3-3F6C-24FB-AAE2245BFCDA}"/>
              </a:ext>
            </a:extLst>
          </p:cNvPr>
          <p:cNvGrpSpPr/>
          <p:nvPr/>
        </p:nvGrpSpPr>
        <p:grpSpPr>
          <a:xfrm>
            <a:off x="4083894" y="3029717"/>
            <a:ext cx="1068958" cy="319663"/>
            <a:chOff x="4083894" y="3029717"/>
            <a:chExt cx="1068958" cy="319663"/>
          </a:xfrm>
        </p:grpSpPr>
        <p:sp>
          <p:nvSpPr>
            <p:cNvPr id="13" name="Shape 10"/>
            <p:cNvSpPr/>
            <p:nvPr/>
          </p:nvSpPr>
          <p:spPr>
            <a:xfrm>
              <a:off x="4092148" y="3029717"/>
              <a:ext cx="1060704" cy="310896"/>
            </a:xfrm>
            <a:prstGeom prst="roundRect">
              <a:avLst>
                <a:gd name="adj" fmla="val 23529"/>
              </a:avLst>
            </a:prstGeom>
            <a:solidFill>
              <a:srgbClr val="FFF2E2"/>
            </a:solidFill>
            <a:ln w="12700">
              <a:solidFill>
                <a:srgbClr val="FFF2E2">
                  <a:alpha val="0"/>
                </a:srgbClr>
              </a:solidFill>
              <a:prstDash val="solid"/>
            </a:ln>
          </p:spPr>
          <p:txBody>
            <a:bodyPr/>
            <a:lstStyle/>
            <a:p>
              <a:endParaRPr lang="es-MX" dirty="0"/>
            </a:p>
          </p:txBody>
        </p:sp>
        <p:sp>
          <p:nvSpPr>
            <p:cNvPr id="14" name="Text 11"/>
            <p:cNvSpPr txBox="1"/>
            <p:nvPr/>
          </p:nvSpPr>
          <p:spPr>
            <a:xfrm>
              <a:off x="4083894" y="3038484"/>
              <a:ext cx="1060704" cy="310896"/>
            </a:xfrm>
            <a:prstGeom prst="rect">
              <a:avLst/>
            </a:prstGeom>
            <a:noFill/>
            <a:ln/>
          </p:spPr>
          <p:txBody>
            <a:bodyPr wrap="square" lIns="0" tIns="0" rIns="0" bIns="0" rtlCol="0" anchor="ctr">
              <a:normAutofit/>
            </a:bodyPr>
            <a:lstStyle/>
            <a:p>
              <a:pPr marL="0" indent="0" algn="ctr">
                <a:lnSpc>
                  <a:spcPct val="100000"/>
                </a:lnSpc>
                <a:buNone/>
              </a:pPr>
              <a:r>
                <a:rPr lang="en-US" sz="740" b="1" dirty="0">
                  <a:solidFill>
                    <a:srgbClr val="F0A44A"/>
                  </a:solidFill>
                  <a:latin typeface="Inter" pitchFamily="34" charset="0"/>
                  <a:ea typeface="Inter" pitchFamily="34" charset="-122"/>
                  <a:cs typeface="Inter" pitchFamily="34" charset="-120"/>
                </a:rPr>
                <a:t>EXPANSIÓN</a:t>
              </a:r>
              <a:endParaRPr lang="en-US" sz="740" dirty="0"/>
            </a:p>
          </p:txBody>
        </p:sp>
      </p:grpSp>
      <p:sp>
        <p:nvSpPr>
          <p:cNvPr id="20" name="Shape 17"/>
          <p:cNvSpPr/>
          <p:nvPr/>
        </p:nvSpPr>
        <p:spPr>
          <a:xfrm>
            <a:off x="7618399" y="5029069"/>
            <a:ext cx="1938528" cy="1112107"/>
          </a:xfrm>
          <a:prstGeom prst="roundRect">
            <a:avLst>
              <a:gd name="adj" fmla="val 11650"/>
            </a:avLst>
          </a:prstGeom>
          <a:solidFill>
            <a:srgbClr val="FFFFFF"/>
          </a:solidFill>
          <a:ln w="12700">
            <a:solidFill>
              <a:schemeClr val="bg1">
                <a:lumMod val="75000"/>
              </a:schemeClr>
            </a:solidFill>
            <a:prstDash val="solid"/>
          </a:ln>
          <a:effectLst>
            <a:outerShdw blurRad="19050" dist="50800" dir="2700000" algn="bl" rotWithShape="0">
              <a:srgbClr val="C6BCD8">
                <a:alpha val="16000"/>
              </a:srgbClr>
            </a:outerShdw>
          </a:effectLst>
        </p:spPr>
        <p:txBody>
          <a:bodyPr/>
          <a:lstStyle/>
          <a:p>
            <a:endParaRPr lang="es-MX"/>
          </a:p>
        </p:txBody>
      </p:sp>
      <p:sp>
        <p:nvSpPr>
          <p:cNvPr id="21" name="Text 18"/>
          <p:cNvSpPr txBox="1"/>
          <p:nvPr/>
        </p:nvSpPr>
        <p:spPr>
          <a:xfrm>
            <a:off x="7728127" y="5068330"/>
            <a:ext cx="1731145" cy="384048"/>
          </a:xfrm>
          <a:prstGeom prst="rect">
            <a:avLst/>
          </a:prstGeom>
          <a:noFill/>
          <a:ln/>
        </p:spPr>
        <p:txBody>
          <a:bodyPr wrap="square" lIns="0" tIns="0" rIns="0" bIns="0" rtlCol="0" anchor="ctr">
            <a:normAutofit/>
          </a:bodyPr>
          <a:lstStyle/>
          <a:p>
            <a:pPr marL="0" indent="0" algn="ctr">
              <a:lnSpc>
                <a:spcPct val="100000"/>
              </a:lnSpc>
              <a:buNone/>
            </a:pPr>
            <a:r>
              <a:rPr lang="en-US" sz="1300" b="1" dirty="0">
                <a:solidFill>
                  <a:srgbClr val="18152B"/>
                </a:solidFill>
                <a:latin typeface="Inter Display" pitchFamily="34" charset="0"/>
                <a:ea typeface="Inter Display" pitchFamily="34" charset="-122"/>
              </a:rPr>
              <a:t>TRANSACCIÓN</a:t>
            </a:r>
            <a:endParaRPr lang="en-US" sz="1300" dirty="0"/>
          </a:p>
        </p:txBody>
      </p:sp>
      <p:sp>
        <p:nvSpPr>
          <p:cNvPr id="23" name="Shape 20"/>
          <p:cNvSpPr/>
          <p:nvPr/>
        </p:nvSpPr>
        <p:spPr>
          <a:xfrm>
            <a:off x="7842945" y="5830280"/>
            <a:ext cx="1428265" cy="310896"/>
          </a:xfrm>
          <a:prstGeom prst="roundRect">
            <a:avLst>
              <a:gd name="adj" fmla="val 23529"/>
            </a:avLst>
          </a:prstGeom>
          <a:solidFill>
            <a:srgbClr val="F8EAF1"/>
          </a:solidFill>
          <a:ln w="12700">
            <a:solidFill>
              <a:srgbClr val="F8EAF1">
                <a:alpha val="0"/>
              </a:srgbClr>
            </a:solidFill>
            <a:prstDash val="solid"/>
          </a:ln>
        </p:spPr>
        <p:txBody>
          <a:bodyPr/>
          <a:lstStyle/>
          <a:p>
            <a:endParaRPr lang="es-MX"/>
          </a:p>
        </p:txBody>
      </p:sp>
      <p:sp>
        <p:nvSpPr>
          <p:cNvPr id="31" name="Shape 28"/>
          <p:cNvSpPr/>
          <p:nvPr/>
        </p:nvSpPr>
        <p:spPr>
          <a:xfrm flipV="1">
            <a:off x="5808510" y="2735480"/>
            <a:ext cx="1611869" cy="0"/>
          </a:xfrm>
          <a:prstGeom prst="line">
            <a:avLst/>
          </a:prstGeom>
          <a:noFill/>
          <a:ln w="38100">
            <a:solidFill>
              <a:srgbClr val="AA9ACA"/>
            </a:solidFill>
            <a:prstDash val="solid"/>
            <a:headEnd type="none"/>
            <a:tailEnd type="triangle"/>
          </a:ln>
        </p:spPr>
        <p:txBody>
          <a:bodyPr/>
          <a:lstStyle/>
          <a:p>
            <a:endParaRPr lang="es-MX"/>
          </a:p>
        </p:txBody>
      </p:sp>
      <p:grpSp>
        <p:nvGrpSpPr>
          <p:cNvPr id="54" name="Grupo 53">
            <a:extLst>
              <a:ext uri="{FF2B5EF4-FFF2-40B4-BE49-F238E27FC236}">
                <a16:creationId xmlns:a16="http://schemas.microsoft.com/office/drawing/2014/main" id="{CB464D21-4876-8EDF-C98A-34EC291A682E}"/>
              </a:ext>
            </a:extLst>
          </p:cNvPr>
          <p:cNvGrpSpPr/>
          <p:nvPr/>
        </p:nvGrpSpPr>
        <p:grpSpPr>
          <a:xfrm>
            <a:off x="5722421" y="3496390"/>
            <a:ext cx="1569720" cy="1520371"/>
            <a:chOff x="4526280" y="2887036"/>
            <a:chExt cx="1569720" cy="1520371"/>
          </a:xfrm>
        </p:grpSpPr>
        <p:sp>
          <p:nvSpPr>
            <p:cNvPr id="35" name="Shape 32"/>
            <p:cNvSpPr/>
            <p:nvPr/>
          </p:nvSpPr>
          <p:spPr>
            <a:xfrm>
              <a:off x="4526280" y="2887036"/>
              <a:ext cx="1569720" cy="1520371"/>
            </a:xfrm>
            <a:prstGeom prst="ellipse">
              <a:avLst/>
            </a:prstGeom>
            <a:solidFill>
              <a:srgbClr val="20173A"/>
            </a:solidFill>
            <a:ln w="12700">
              <a:solidFill>
                <a:srgbClr val="20173A"/>
              </a:solidFill>
              <a:prstDash val="solid"/>
            </a:ln>
          </p:spPr>
          <p:txBody>
            <a:bodyPr/>
            <a:lstStyle/>
            <a:p>
              <a:endParaRPr lang="es-MX" dirty="0"/>
            </a:p>
          </p:txBody>
        </p:sp>
        <p:sp>
          <p:nvSpPr>
            <p:cNvPr id="36" name="Text 33"/>
            <p:cNvSpPr txBox="1"/>
            <p:nvPr/>
          </p:nvSpPr>
          <p:spPr>
            <a:xfrm>
              <a:off x="4873024" y="3235637"/>
              <a:ext cx="840347" cy="340093"/>
            </a:xfrm>
            <a:prstGeom prst="rect">
              <a:avLst/>
            </a:prstGeom>
            <a:noFill/>
            <a:ln/>
          </p:spPr>
          <p:txBody>
            <a:bodyPr wrap="square" lIns="0" tIns="0" rIns="0" bIns="0" rtlCol="0" anchor="ctr">
              <a:normAutofit/>
            </a:bodyPr>
            <a:lstStyle/>
            <a:p>
              <a:pPr marL="0" indent="0" algn="ctr">
                <a:lnSpc>
                  <a:spcPct val="100000"/>
                </a:lnSpc>
                <a:buNone/>
              </a:pPr>
              <a:r>
                <a:rPr lang="en-US" sz="2000" b="1" dirty="0">
                  <a:solidFill>
                    <a:srgbClr val="FFFFFF"/>
                  </a:solidFill>
                  <a:latin typeface="Inter" pitchFamily="34" charset="0"/>
                  <a:ea typeface="Inter" pitchFamily="34" charset="-122"/>
                  <a:cs typeface="Inter" pitchFamily="34" charset="-120"/>
                </a:rPr>
                <a:t>Gu OS</a:t>
              </a:r>
              <a:endParaRPr lang="en-US" sz="2000" dirty="0"/>
            </a:p>
          </p:txBody>
        </p:sp>
        <p:sp>
          <p:nvSpPr>
            <p:cNvPr id="37" name="Text 34"/>
            <p:cNvSpPr txBox="1"/>
            <p:nvPr/>
          </p:nvSpPr>
          <p:spPr>
            <a:xfrm>
              <a:off x="4759141" y="3698224"/>
              <a:ext cx="1164306" cy="269526"/>
            </a:xfrm>
            <a:prstGeom prst="rect">
              <a:avLst/>
            </a:prstGeom>
            <a:noFill/>
            <a:ln/>
          </p:spPr>
          <p:txBody>
            <a:bodyPr wrap="square" lIns="0" tIns="0" rIns="0" bIns="0" rtlCol="0" anchor="ctr">
              <a:noAutofit/>
            </a:bodyPr>
            <a:lstStyle/>
            <a:p>
              <a:pPr marL="0" indent="0" algn="ctr">
                <a:lnSpc>
                  <a:spcPct val="100000"/>
                </a:lnSpc>
                <a:buNone/>
              </a:pPr>
              <a:r>
                <a:rPr lang="en-US" sz="1400" b="1" dirty="0" err="1">
                  <a:solidFill>
                    <a:srgbClr val="CFC3E6"/>
                  </a:solidFill>
                  <a:latin typeface="Inter" pitchFamily="34" charset="0"/>
                  <a:ea typeface="Inter" pitchFamily="34" charset="-122"/>
                  <a:cs typeface="Inter" pitchFamily="34" charset="-120"/>
                </a:rPr>
                <a:t>Conecta</a:t>
              </a:r>
              <a:r>
                <a:rPr lang="en-US" sz="1400" b="1" dirty="0">
                  <a:solidFill>
                    <a:srgbClr val="CFC3E6"/>
                  </a:solidFill>
                  <a:latin typeface="Inter" pitchFamily="34" charset="0"/>
                  <a:ea typeface="Inter" pitchFamily="34" charset="-122"/>
                  <a:cs typeface="Inter" pitchFamily="34" charset="-120"/>
                </a:rPr>
                <a:t> el </a:t>
              </a:r>
              <a:r>
                <a:rPr lang="en-US" sz="1400" b="1" dirty="0" err="1">
                  <a:solidFill>
                    <a:srgbClr val="CFC3E6"/>
                  </a:solidFill>
                  <a:latin typeface="Inter" pitchFamily="34" charset="0"/>
                  <a:ea typeface="Inter" pitchFamily="34" charset="-122"/>
                  <a:cs typeface="Inter" pitchFamily="34" charset="-120"/>
                </a:rPr>
                <a:t>ciclo</a:t>
              </a:r>
              <a:endParaRPr lang="en-US" sz="1400" dirty="0"/>
            </a:p>
          </p:txBody>
        </p:sp>
      </p:grpSp>
      <p:sp>
        <p:nvSpPr>
          <p:cNvPr id="41" name="Slide Number Placeholder 0"/>
          <p:cNvSpPr>
            <a:spLocks noGrp="1"/>
          </p:cNvSpPr>
          <p:nvPr>
            <p:ph type="sldNum" sz="quarter" idx="4294967295"/>
          </p:nvPr>
        </p:nvSpPr>
        <p:spPr>
          <a:xfrm>
            <a:off x="11631168" y="6510528"/>
            <a:ext cx="219456" cy="18288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800" kern="1200">
                <a:solidFill>
                  <a:srgbClr val="8D86A0"/>
                </a:solidFill>
                <a:latin typeface="Inter"/>
                <a:ea typeface="Inter"/>
                <a:cs typeface="Inter"/>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9</a:t>
            </a:fld>
            <a:endParaRPr lang="en-US" dirty="0"/>
          </a:p>
        </p:txBody>
      </p:sp>
      <p:sp>
        <p:nvSpPr>
          <p:cNvPr id="56" name="Shape 28">
            <a:extLst>
              <a:ext uri="{FF2B5EF4-FFF2-40B4-BE49-F238E27FC236}">
                <a16:creationId xmlns:a16="http://schemas.microsoft.com/office/drawing/2014/main" id="{EE3321E3-009C-258A-AB23-9FFBD629F375}"/>
              </a:ext>
            </a:extLst>
          </p:cNvPr>
          <p:cNvSpPr/>
          <p:nvPr/>
        </p:nvSpPr>
        <p:spPr>
          <a:xfrm>
            <a:off x="8504939" y="3394405"/>
            <a:ext cx="0" cy="1577867"/>
          </a:xfrm>
          <a:prstGeom prst="line">
            <a:avLst/>
          </a:prstGeom>
          <a:noFill/>
          <a:ln w="38100">
            <a:solidFill>
              <a:srgbClr val="AA9ACA"/>
            </a:solidFill>
            <a:prstDash val="solid"/>
            <a:headEnd type="none"/>
            <a:tailEnd type="triangle"/>
          </a:ln>
        </p:spPr>
        <p:txBody>
          <a:bodyPr/>
          <a:lstStyle/>
          <a:p>
            <a:endParaRPr lang="es-MX"/>
          </a:p>
        </p:txBody>
      </p:sp>
      <p:sp>
        <p:nvSpPr>
          <p:cNvPr id="58" name="Shape 28">
            <a:extLst>
              <a:ext uri="{FF2B5EF4-FFF2-40B4-BE49-F238E27FC236}">
                <a16:creationId xmlns:a16="http://schemas.microsoft.com/office/drawing/2014/main" id="{009BD626-08AE-8180-2623-E2BED211F495}"/>
              </a:ext>
            </a:extLst>
          </p:cNvPr>
          <p:cNvSpPr/>
          <p:nvPr/>
        </p:nvSpPr>
        <p:spPr>
          <a:xfrm flipH="1">
            <a:off x="5766811" y="5545990"/>
            <a:ext cx="1697958" cy="2572"/>
          </a:xfrm>
          <a:prstGeom prst="line">
            <a:avLst/>
          </a:prstGeom>
          <a:noFill/>
          <a:ln w="38100">
            <a:solidFill>
              <a:srgbClr val="AA9ACA"/>
            </a:solidFill>
            <a:prstDash val="solid"/>
            <a:headEnd type="none"/>
            <a:tailEnd type="triangle"/>
          </a:ln>
        </p:spPr>
        <p:txBody>
          <a:bodyPr/>
          <a:lstStyle/>
          <a:p>
            <a:endParaRPr lang="es-MX"/>
          </a:p>
        </p:txBody>
      </p:sp>
      <p:sp>
        <p:nvSpPr>
          <p:cNvPr id="60" name="Shape 28">
            <a:extLst>
              <a:ext uri="{FF2B5EF4-FFF2-40B4-BE49-F238E27FC236}">
                <a16:creationId xmlns:a16="http://schemas.microsoft.com/office/drawing/2014/main" id="{3A6F5702-2FC4-C4D1-BEDF-AC029F5EFC48}"/>
              </a:ext>
            </a:extLst>
          </p:cNvPr>
          <p:cNvSpPr/>
          <p:nvPr/>
        </p:nvSpPr>
        <p:spPr>
          <a:xfrm flipH="1" flipV="1">
            <a:off x="4640089" y="3388353"/>
            <a:ext cx="0" cy="1583919"/>
          </a:xfrm>
          <a:prstGeom prst="line">
            <a:avLst/>
          </a:prstGeom>
          <a:noFill/>
          <a:ln w="38100">
            <a:solidFill>
              <a:srgbClr val="AA9ACA"/>
            </a:solidFill>
            <a:prstDash val="solid"/>
            <a:headEnd type="none"/>
            <a:tailEnd type="triangle"/>
          </a:ln>
        </p:spPr>
        <p:txBody>
          <a:bodyPr/>
          <a:lstStyle/>
          <a:p>
            <a:endParaRPr lang="es-MX"/>
          </a:p>
        </p:txBody>
      </p:sp>
      <p:sp>
        <p:nvSpPr>
          <p:cNvPr id="62" name="Shape 28">
            <a:extLst>
              <a:ext uri="{FF2B5EF4-FFF2-40B4-BE49-F238E27FC236}">
                <a16:creationId xmlns:a16="http://schemas.microsoft.com/office/drawing/2014/main" id="{8FCB2E45-89E0-E111-9CDA-A5CE51078BF8}"/>
              </a:ext>
            </a:extLst>
          </p:cNvPr>
          <p:cNvSpPr/>
          <p:nvPr/>
        </p:nvSpPr>
        <p:spPr>
          <a:xfrm flipH="1" flipV="1">
            <a:off x="2903382" y="5016761"/>
            <a:ext cx="610090" cy="483302"/>
          </a:xfrm>
          <a:prstGeom prst="line">
            <a:avLst/>
          </a:prstGeom>
          <a:noFill/>
          <a:ln w="38100">
            <a:solidFill>
              <a:srgbClr val="AA9ACA"/>
            </a:solidFill>
            <a:prstDash val="sysDot"/>
            <a:headEnd type="none"/>
            <a:tailEnd type="triangle"/>
          </a:ln>
        </p:spPr>
        <p:txBody>
          <a:bodyPr/>
          <a:lstStyle/>
          <a:p>
            <a:endParaRPr lang="es-MX" dirty="0"/>
          </a:p>
        </p:txBody>
      </p:sp>
      <p:sp>
        <p:nvSpPr>
          <p:cNvPr id="70" name="Shape 28">
            <a:extLst>
              <a:ext uri="{FF2B5EF4-FFF2-40B4-BE49-F238E27FC236}">
                <a16:creationId xmlns:a16="http://schemas.microsoft.com/office/drawing/2014/main" id="{2D1E150D-68E0-7E4F-D719-F3276DB29183}"/>
              </a:ext>
            </a:extLst>
          </p:cNvPr>
          <p:cNvSpPr/>
          <p:nvPr/>
        </p:nvSpPr>
        <p:spPr>
          <a:xfrm flipV="1">
            <a:off x="2881264" y="2856573"/>
            <a:ext cx="610090" cy="492806"/>
          </a:xfrm>
          <a:prstGeom prst="line">
            <a:avLst/>
          </a:prstGeom>
          <a:noFill/>
          <a:ln w="38100">
            <a:solidFill>
              <a:srgbClr val="AA9ACA"/>
            </a:solidFill>
            <a:prstDash val="solid"/>
            <a:headEnd type="none"/>
            <a:tailEnd type="triangle"/>
          </a:ln>
        </p:spPr>
        <p:txBody>
          <a:bodyPr/>
          <a:lstStyle/>
          <a:p>
            <a:endParaRPr lang="es-MX" dirty="0"/>
          </a:p>
        </p:txBody>
      </p:sp>
      <p:sp>
        <p:nvSpPr>
          <p:cNvPr id="30" name="Text 2">
            <a:extLst>
              <a:ext uri="{FF2B5EF4-FFF2-40B4-BE49-F238E27FC236}">
                <a16:creationId xmlns:a16="http://schemas.microsoft.com/office/drawing/2014/main" id="{0EBF842F-4613-BAEF-11F3-17271B9E16DD}"/>
              </a:ext>
            </a:extLst>
          </p:cNvPr>
          <p:cNvSpPr/>
          <p:nvPr/>
        </p:nvSpPr>
        <p:spPr>
          <a:xfrm>
            <a:off x="567000" y="655515"/>
            <a:ext cx="10195200" cy="621863"/>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2550" b="1" u="none" strike="noStrike" dirty="0">
                <a:solidFill>
                  <a:srgbClr val="151327"/>
                </a:solidFill>
                <a:effectLst/>
                <a:uFillTx/>
                <a:latin typeface="Aptos Display"/>
                <a:ea typeface="Aptos Display"/>
              </a:rPr>
              <a:t>La </a:t>
            </a:r>
            <a:r>
              <a:rPr lang="en-US" sz="2550" b="1" u="none" strike="noStrike" dirty="0" err="1">
                <a:solidFill>
                  <a:srgbClr val="151327"/>
                </a:solidFill>
                <a:effectLst/>
                <a:uFillTx/>
                <a:latin typeface="Aptos Display"/>
                <a:ea typeface="Aptos Display"/>
              </a:rPr>
              <a:t>expansión</a:t>
            </a:r>
            <a:r>
              <a:rPr lang="en-US" sz="2550" b="1" u="none" strike="noStrike" dirty="0">
                <a:solidFill>
                  <a:srgbClr val="151327"/>
                </a:solidFill>
                <a:effectLst/>
                <a:uFillTx/>
                <a:latin typeface="Aptos Display"/>
                <a:ea typeface="Aptos Display"/>
              </a:rPr>
              <a:t> </a:t>
            </a:r>
            <a:r>
              <a:rPr lang="en-US" sz="2550" b="1" u="none" strike="noStrike" dirty="0" err="1">
                <a:solidFill>
                  <a:srgbClr val="151327"/>
                </a:solidFill>
                <a:effectLst/>
                <a:uFillTx/>
                <a:latin typeface="Aptos Display"/>
                <a:ea typeface="Aptos Display"/>
              </a:rPr>
              <a:t>debe</a:t>
            </a:r>
            <a:r>
              <a:rPr lang="en-US" sz="2550" b="1" u="none" strike="noStrike" dirty="0">
                <a:solidFill>
                  <a:srgbClr val="151327"/>
                </a:solidFill>
                <a:effectLst/>
                <a:uFillTx/>
                <a:latin typeface="Aptos Display"/>
                <a:ea typeface="Aptos Display"/>
              </a:rPr>
              <a:t> </a:t>
            </a:r>
            <a:r>
              <a:rPr lang="en-US" sz="2550" b="1" u="none" strike="noStrike" dirty="0" err="1">
                <a:solidFill>
                  <a:srgbClr val="151327"/>
                </a:solidFill>
                <a:effectLst/>
                <a:uFillTx/>
                <a:latin typeface="Aptos Display"/>
                <a:ea typeface="Aptos Display"/>
              </a:rPr>
              <a:t>conectar</a:t>
            </a:r>
            <a:r>
              <a:rPr lang="en-US" sz="2550" b="1" u="none" strike="noStrike" dirty="0">
                <a:solidFill>
                  <a:srgbClr val="151327"/>
                </a:solidFill>
                <a:effectLst/>
                <a:uFillTx/>
                <a:latin typeface="Aptos Display"/>
                <a:ea typeface="Aptos Display"/>
              </a:rPr>
              <a:t> el </a:t>
            </a:r>
            <a:r>
              <a:rPr lang="en-US" sz="2550" b="1" u="none" strike="noStrike" dirty="0" err="1">
                <a:solidFill>
                  <a:srgbClr val="151327"/>
                </a:solidFill>
                <a:effectLst/>
                <a:uFillTx/>
                <a:latin typeface="Aptos Display"/>
                <a:ea typeface="Aptos Display"/>
              </a:rPr>
              <a:t>ciclo</a:t>
            </a:r>
            <a:r>
              <a:rPr lang="en-US" sz="2550" b="1" u="none" strike="noStrike" dirty="0">
                <a:solidFill>
                  <a:srgbClr val="151327"/>
                </a:solidFill>
                <a:effectLst/>
                <a:uFillTx/>
                <a:latin typeface="Aptos Display"/>
                <a:ea typeface="Aptos Display"/>
              </a:rPr>
              <a:t> </a:t>
            </a:r>
            <a:r>
              <a:rPr lang="en-US" sz="2550" b="1" u="none" strike="noStrike" dirty="0" err="1">
                <a:solidFill>
                  <a:srgbClr val="151327"/>
                </a:solidFill>
                <a:effectLst/>
                <a:uFillTx/>
                <a:latin typeface="Aptos Display"/>
                <a:ea typeface="Aptos Display"/>
              </a:rPr>
              <a:t>que</a:t>
            </a:r>
            <a:r>
              <a:rPr lang="en-US" sz="2550" b="1" u="none" strike="noStrike" dirty="0">
                <a:solidFill>
                  <a:srgbClr val="151327"/>
                </a:solidFill>
                <a:effectLst/>
                <a:uFillTx/>
                <a:latin typeface="Aptos Display"/>
                <a:ea typeface="Aptos Display"/>
              </a:rPr>
              <a:t> genera </a:t>
            </a:r>
            <a:r>
              <a:rPr lang="en-US" sz="2550" b="1" u="none" strike="noStrike" dirty="0" err="1">
                <a:solidFill>
                  <a:srgbClr val="151327"/>
                </a:solidFill>
                <a:effectLst/>
                <a:uFillTx/>
                <a:latin typeface="Aptos Display"/>
                <a:ea typeface="Aptos Display"/>
              </a:rPr>
              <a:t>ingresos</a:t>
            </a:r>
            <a:r>
              <a:rPr lang="en-US" sz="2550" b="1" u="none" strike="noStrike" dirty="0">
                <a:solidFill>
                  <a:srgbClr val="151327"/>
                </a:solidFill>
                <a:effectLst/>
                <a:uFillTx/>
                <a:latin typeface="Aptos Display"/>
                <a:ea typeface="Aptos Display"/>
              </a:rPr>
              <a:t>.</a:t>
            </a:r>
            <a:endParaRPr lang="en-US" sz="2550" b="0" u="none" strike="noStrike" dirty="0">
              <a:solidFill>
                <a:srgbClr val="000000"/>
              </a:solidFill>
              <a:effectLst/>
              <a:uFillTx/>
              <a:latin typeface="Arial"/>
            </a:endParaRPr>
          </a:p>
        </p:txBody>
      </p:sp>
      <p:sp>
        <p:nvSpPr>
          <p:cNvPr id="33" name="Text 3">
            <a:extLst>
              <a:ext uri="{FF2B5EF4-FFF2-40B4-BE49-F238E27FC236}">
                <a16:creationId xmlns:a16="http://schemas.microsoft.com/office/drawing/2014/main" id="{F8FB3A5F-B85F-7166-2FCE-EFCEB6CE1730}"/>
              </a:ext>
            </a:extLst>
          </p:cNvPr>
          <p:cNvSpPr/>
          <p:nvPr/>
        </p:nvSpPr>
        <p:spPr>
          <a:xfrm>
            <a:off x="567000" y="1339981"/>
            <a:ext cx="10375983" cy="621863"/>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s-ES" b="0" u="none" strike="noStrike" dirty="0">
                <a:solidFill>
                  <a:srgbClr val="6F6888"/>
                </a:solidFill>
                <a:effectLst/>
                <a:uFillTx/>
                <a:latin typeface="Aptos"/>
                <a:ea typeface="Aptos"/>
              </a:rPr>
              <a:t>El objetivo no es sumar funcionalidades aisladas, sino conectar el trabajo que genera ingresos para nuestros clientes</a:t>
            </a:r>
            <a:r>
              <a:rPr lang="en-US" b="0" u="none" strike="noStrike" dirty="0">
                <a:solidFill>
                  <a:srgbClr val="6F6888"/>
                </a:solidFill>
                <a:effectLst/>
                <a:uFillTx/>
                <a:latin typeface="Aptos"/>
                <a:ea typeface="Aptos"/>
              </a:rPr>
              <a:t>.</a:t>
            </a:r>
            <a:endParaRPr lang="en-US" b="0" u="none" strike="noStrike" dirty="0">
              <a:solidFill>
                <a:srgbClr val="000000"/>
              </a:solidFill>
              <a:effectLst/>
              <a:uFillTx/>
              <a:latin typeface="Arial"/>
            </a:endParaRPr>
          </a:p>
        </p:txBody>
      </p:sp>
      <p:sp>
        <p:nvSpPr>
          <p:cNvPr id="40" name="Shape 12">
            <a:extLst>
              <a:ext uri="{FF2B5EF4-FFF2-40B4-BE49-F238E27FC236}">
                <a16:creationId xmlns:a16="http://schemas.microsoft.com/office/drawing/2014/main" id="{364C49E3-8EAF-9E21-0761-89D83F6C3397}"/>
              </a:ext>
            </a:extLst>
          </p:cNvPr>
          <p:cNvSpPr/>
          <p:nvPr/>
        </p:nvSpPr>
        <p:spPr>
          <a:xfrm>
            <a:off x="7593727" y="2154549"/>
            <a:ext cx="1938528" cy="1165860"/>
          </a:xfrm>
          <a:prstGeom prst="roundRect">
            <a:avLst>
              <a:gd name="adj" fmla="val 11650"/>
            </a:avLst>
          </a:prstGeom>
          <a:solidFill>
            <a:srgbClr val="FFFFFF"/>
          </a:solidFill>
          <a:ln w="12700">
            <a:solidFill>
              <a:schemeClr val="bg1">
                <a:lumMod val="75000"/>
              </a:schemeClr>
            </a:solidFill>
            <a:prstDash val="solid"/>
          </a:ln>
          <a:effectLst>
            <a:outerShdw blurRad="19050" dist="50800" dir="2700000" algn="bl" rotWithShape="0">
              <a:srgbClr val="C6BCD8">
                <a:alpha val="16000"/>
              </a:srgbClr>
            </a:outerShdw>
          </a:effectLst>
        </p:spPr>
        <p:txBody>
          <a:bodyPr/>
          <a:lstStyle/>
          <a:p>
            <a:endParaRPr lang="es-MX"/>
          </a:p>
        </p:txBody>
      </p:sp>
      <p:sp>
        <p:nvSpPr>
          <p:cNvPr id="42" name="Text 13">
            <a:extLst>
              <a:ext uri="{FF2B5EF4-FFF2-40B4-BE49-F238E27FC236}">
                <a16:creationId xmlns:a16="http://schemas.microsoft.com/office/drawing/2014/main" id="{9119A528-7EEC-4096-F322-A887F9B99978}"/>
              </a:ext>
            </a:extLst>
          </p:cNvPr>
          <p:cNvSpPr txBox="1"/>
          <p:nvPr/>
        </p:nvSpPr>
        <p:spPr>
          <a:xfrm>
            <a:off x="7703455" y="2227049"/>
            <a:ext cx="1719072" cy="384048"/>
          </a:xfrm>
          <a:prstGeom prst="rect">
            <a:avLst/>
          </a:prstGeom>
          <a:noFill/>
          <a:ln/>
        </p:spPr>
        <p:txBody>
          <a:bodyPr wrap="square" lIns="0" tIns="0" rIns="0" bIns="0" rtlCol="0" anchor="ctr">
            <a:normAutofit/>
          </a:bodyPr>
          <a:lstStyle/>
          <a:p>
            <a:pPr marL="0" indent="0" algn="ctr">
              <a:lnSpc>
                <a:spcPct val="100000"/>
              </a:lnSpc>
              <a:buNone/>
            </a:pPr>
            <a:r>
              <a:rPr lang="en-US" sz="1300" b="1" dirty="0">
                <a:solidFill>
                  <a:srgbClr val="18152B"/>
                </a:solidFill>
                <a:latin typeface="Inter Display" pitchFamily="34" charset="0"/>
                <a:ea typeface="Inter Display" pitchFamily="34" charset="-122"/>
                <a:cs typeface="Inter Display" pitchFamily="34" charset="-120"/>
              </a:rPr>
              <a:t>CONVERSIÓN</a:t>
            </a:r>
            <a:endParaRPr lang="en-US" sz="1300" dirty="0"/>
          </a:p>
        </p:txBody>
      </p:sp>
      <p:sp>
        <p:nvSpPr>
          <p:cNvPr id="44" name="Shape 15">
            <a:extLst>
              <a:ext uri="{FF2B5EF4-FFF2-40B4-BE49-F238E27FC236}">
                <a16:creationId xmlns:a16="http://schemas.microsoft.com/office/drawing/2014/main" id="{413AF5FD-EF8D-DDD4-B58E-F426E1B006A5}"/>
              </a:ext>
            </a:extLst>
          </p:cNvPr>
          <p:cNvSpPr/>
          <p:nvPr/>
        </p:nvSpPr>
        <p:spPr>
          <a:xfrm>
            <a:off x="8005207" y="2997025"/>
            <a:ext cx="1060704" cy="310896"/>
          </a:xfrm>
          <a:prstGeom prst="roundRect">
            <a:avLst>
              <a:gd name="adj" fmla="val 23529"/>
            </a:avLst>
          </a:prstGeom>
          <a:solidFill>
            <a:srgbClr val="E8F6EF"/>
          </a:solidFill>
          <a:ln w="12700">
            <a:solidFill>
              <a:srgbClr val="E8F6EF">
                <a:alpha val="0"/>
              </a:srgbClr>
            </a:solidFill>
            <a:prstDash val="solid"/>
          </a:ln>
        </p:spPr>
        <p:txBody>
          <a:bodyPr/>
          <a:lstStyle/>
          <a:p>
            <a:endParaRPr lang="es-MX" dirty="0"/>
          </a:p>
        </p:txBody>
      </p:sp>
      <p:sp>
        <p:nvSpPr>
          <p:cNvPr id="45" name="Text 16">
            <a:extLst>
              <a:ext uri="{FF2B5EF4-FFF2-40B4-BE49-F238E27FC236}">
                <a16:creationId xmlns:a16="http://schemas.microsoft.com/office/drawing/2014/main" id="{7ED398E4-E362-C83F-299C-F367C4F4BD13}"/>
              </a:ext>
            </a:extLst>
          </p:cNvPr>
          <p:cNvSpPr txBox="1"/>
          <p:nvPr/>
        </p:nvSpPr>
        <p:spPr>
          <a:xfrm>
            <a:off x="8166128" y="3012684"/>
            <a:ext cx="774695" cy="310896"/>
          </a:xfrm>
          <a:prstGeom prst="rect">
            <a:avLst/>
          </a:prstGeom>
          <a:noFill/>
          <a:ln/>
        </p:spPr>
        <p:txBody>
          <a:bodyPr wrap="square" lIns="0" tIns="0" rIns="0" bIns="0" rtlCol="0" anchor="ctr">
            <a:normAutofit/>
          </a:bodyPr>
          <a:lstStyle/>
          <a:p>
            <a:pPr marL="0" indent="0" algn="ctr">
              <a:lnSpc>
                <a:spcPct val="100000"/>
              </a:lnSpc>
              <a:buNone/>
            </a:pPr>
            <a:r>
              <a:rPr lang="en-US" sz="740" b="1" dirty="0">
                <a:solidFill>
                  <a:srgbClr val="18845A"/>
                </a:solidFill>
                <a:latin typeface="Inter" pitchFamily="34" charset="0"/>
                <a:ea typeface="Inter" pitchFamily="34" charset="-122"/>
                <a:cs typeface="Inter" pitchFamily="34" charset="-120"/>
              </a:rPr>
              <a:t>ACTUAL</a:t>
            </a:r>
            <a:endParaRPr lang="en-US" sz="740" dirty="0"/>
          </a:p>
        </p:txBody>
      </p:sp>
      <p:sp>
        <p:nvSpPr>
          <p:cNvPr id="18" name="CuadroTexto 17">
            <a:extLst>
              <a:ext uri="{FF2B5EF4-FFF2-40B4-BE49-F238E27FC236}">
                <a16:creationId xmlns:a16="http://schemas.microsoft.com/office/drawing/2014/main" id="{F8F4EEF7-0125-F5C9-B007-D7B9DA24E4BE}"/>
              </a:ext>
            </a:extLst>
          </p:cNvPr>
          <p:cNvSpPr txBox="1"/>
          <p:nvPr/>
        </p:nvSpPr>
        <p:spPr>
          <a:xfrm>
            <a:off x="1447616" y="4084182"/>
            <a:ext cx="1938528" cy="400110"/>
          </a:xfrm>
          <a:prstGeom prst="rect">
            <a:avLst/>
          </a:prstGeom>
          <a:noFill/>
        </p:spPr>
        <p:txBody>
          <a:bodyPr wrap="square" rtlCol="0">
            <a:spAutoFit/>
          </a:bodyPr>
          <a:lstStyle/>
          <a:p>
            <a:pPr algn="ctr"/>
            <a:r>
              <a:rPr lang="es-ES" sz="1000" dirty="0">
                <a:solidFill>
                  <a:schemeClr val="tx1">
                    <a:lumMod val="50000"/>
                    <a:lumOff val="50000"/>
                  </a:schemeClr>
                </a:solidFill>
                <a:latin typeface="Inter"/>
              </a:rPr>
              <a:t>Obtener </a:t>
            </a:r>
            <a:r>
              <a:rPr lang="en-US" sz="1000" dirty="0">
                <a:solidFill>
                  <a:schemeClr val="tx1">
                    <a:lumMod val="50000"/>
                    <a:lumOff val="50000"/>
                  </a:schemeClr>
                </a:solidFill>
                <a:latin typeface="Inter" pitchFamily="34" charset="0"/>
                <a:ea typeface="Inter" pitchFamily="34" charset="-122"/>
                <a:cs typeface="Inter" pitchFamily="34" charset="-120"/>
              </a:rPr>
              <a:t>·</a:t>
            </a:r>
            <a:r>
              <a:rPr lang="es-ES" sz="1000" dirty="0">
                <a:solidFill>
                  <a:schemeClr val="tx1">
                    <a:lumMod val="50000"/>
                    <a:lumOff val="50000"/>
                  </a:schemeClr>
                </a:solidFill>
                <a:latin typeface="Inter"/>
              </a:rPr>
              <a:t> capturar </a:t>
            </a:r>
            <a:r>
              <a:rPr lang="en-US" sz="1000" dirty="0">
                <a:solidFill>
                  <a:schemeClr val="tx1">
                    <a:lumMod val="50000"/>
                    <a:lumOff val="50000"/>
                  </a:schemeClr>
                </a:solidFill>
                <a:latin typeface="Inter" pitchFamily="34" charset="0"/>
                <a:ea typeface="Inter" pitchFamily="34" charset="-122"/>
                <a:cs typeface="Inter" pitchFamily="34" charset="-120"/>
              </a:rPr>
              <a:t>·</a:t>
            </a:r>
            <a:r>
              <a:rPr lang="es-ES" sz="1000" dirty="0">
                <a:solidFill>
                  <a:schemeClr val="tx1">
                    <a:lumMod val="50000"/>
                    <a:lumOff val="50000"/>
                  </a:schemeClr>
                </a:solidFill>
                <a:latin typeface="Inter"/>
              </a:rPr>
              <a:t> validar </a:t>
            </a:r>
            <a:r>
              <a:rPr lang="en-US" sz="1000" dirty="0">
                <a:solidFill>
                  <a:schemeClr val="tx1">
                    <a:lumMod val="50000"/>
                    <a:lumOff val="50000"/>
                  </a:schemeClr>
                </a:solidFill>
                <a:latin typeface="Inter" pitchFamily="34" charset="0"/>
                <a:ea typeface="Inter" pitchFamily="34" charset="-122"/>
                <a:cs typeface="Inter" pitchFamily="34" charset="-120"/>
              </a:rPr>
              <a:t>·</a:t>
            </a:r>
            <a:r>
              <a:rPr lang="es-ES" sz="1000" dirty="0">
                <a:solidFill>
                  <a:schemeClr val="tx1">
                    <a:lumMod val="50000"/>
                    <a:lumOff val="50000"/>
                  </a:schemeClr>
                </a:solidFill>
                <a:latin typeface="Inter"/>
              </a:rPr>
              <a:t> </a:t>
            </a:r>
          </a:p>
          <a:p>
            <a:pPr algn="ctr"/>
            <a:r>
              <a:rPr lang="es-ES" sz="1000" dirty="0">
                <a:solidFill>
                  <a:schemeClr val="tx1">
                    <a:lumMod val="50000"/>
                    <a:lumOff val="50000"/>
                  </a:schemeClr>
                </a:solidFill>
                <a:latin typeface="Inter"/>
              </a:rPr>
              <a:t>fijar precio </a:t>
            </a:r>
            <a:r>
              <a:rPr lang="en-US" sz="1000" dirty="0">
                <a:solidFill>
                  <a:schemeClr val="tx1">
                    <a:lumMod val="50000"/>
                    <a:lumOff val="50000"/>
                  </a:schemeClr>
                </a:solidFill>
                <a:latin typeface="Inter" pitchFamily="34" charset="0"/>
                <a:ea typeface="Inter" pitchFamily="34" charset="-122"/>
                <a:cs typeface="Inter" pitchFamily="34" charset="-120"/>
              </a:rPr>
              <a:t>·</a:t>
            </a:r>
            <a:r>
              <a:rPr lang="es-ES" sz="1000" dirty="0">
                <a:solidFill>
                  <a:schemeClr val="tx1">
                    <a:lumMod val="50000"/>
                    <a:lumOff val="50000"/>
                  </a:schemeClr>
                </a:solidFill>
                <a:latin typeface="Inter"/>
              </a:rPr>
              <a:t> preparar </a:t>
            </a:r>
            <a:r>
              <a:rPr lang="en-US" sz="1000" dirty="0">
                <a:solidFill>
                  <a:schemeClr val="tx1">
                    <a:lumMod val="50000"/>
                    <a:lumOff val="50000"/>
                  </a:schemeClr>
                </a:solidFill>
                <a:latin typeface="Inter" pitchFamily="34" charset="0"/>
                <a:ea typeface="Inter" pitchFamily="34" charset="-122"/>
                <a:cs typeface="Inter" pitchFamily="34" charset="-120"/>
              </a:rPr>
              <a:t>·</a:t>
            </a:r>
            <a:r>
              <a:rPr lang="es-ES" sz="1000" dirty="0">
                <a:solidFill>
                  <a:schemeClr val="tx1">
                    <a:lumMod val="50000"/>
                    <a:lumOff val="50000"/>
                  </a:schemeClr>
                </a:solidFill>
                <a:latin typeface="Inter"/>
              </a:rPr>
              <a:t> publicar</a:t>
            </a:r>
            <a:endParaRPr lang="es-MX" sz="1000" dirty="0">
              <a:solidFill>
                <a:schemeClr val="tx1">
                  <a:lumMod val="50000"/>
                  <a:lumOff val="50000"/>
                </a:schemeClr>
              </a:solidFill>
              <a:latin typeface="Inter"/>
            </a:endParaRPr>
          </a:p>
        </p:txBody>
      </p:sp>
      <p:sp>
        <p:nvSpPr>
          <p:cNvPr id="28" name="CuadroTexto 27">
            <a:extLst>
              <a:ext uri="{FF2B5EF4-FFF2-40B4-BE49-F238E27FC236}">
                <a16:creationId xmlns:a16="http://schemas.microsoft.com/office/drawing/2014/main" id="{F7277C7B-8CB7-412B-A295-C4BF21A64438}"/>
              </a:ext>
            </a:extLst>
          </p:cNvPr>
          <p:cNvSpPr txBox="1"/>
          <p:nvPr/>
        </p:nvSpPr>
        <p:spPr>
          <a:xfrm>
            <a:off x="7775372" y="5396667"/>
            <a:ext cx="1641078" cy="400110"/>
          </a:xfrm>
          <a:prstGeom prst="rect">
            <a:avLst/>
          </a:prstGeom>
          <a:noFill/>
        </p:spPr>
        <p:txBody>
          <a:bodyPr wrap="square" rtlCol="0">
            <a:spAutoFit/>
          </a:bodyPr>
          <a:lstStyle/>
          <a:p>
            <a:pPr algn="ctr"/>
            <a:r>
              <a:rPr lang="es-ES" sz="1000" dirty="0">
                <a:solidFill>
                  <a:schemeClr val="tx1">
                    <a:lumMod val="50000"/>
                    <a:lumOff val="50000"/>
                  </a:schemeClr>
                </a:solidFill>
                <a:latin typeface="Inter"/>
              </a:rPr>
              <a:t>Visitar · establecer relación · negociar · cerrar</a:t>
            </a:r>
          </a:p>
        </p:txBody>
      </p:sp>
      <p:sp>
        <p:nvSpPr>
          <p:cNvPr id="32" name="CuadroTexto 31">
            <a:extLst>
              <a:ext uri="{FF2B5EF4-FFF2-40B4-BE49-F238E27FC236}">
                <a16:creationId xmlns:a16="http://schemas.microsoft.com/office/drawing/2014/main" id="{A312172D-31B2-812E-D199-FD17D5729EE7}"/>
              </a:ext>
            </a:extLst>
          </p:cNvPr>
          <p:cNvSpPr txBox="1"/>
          <p:nvPr/>
        </p:nvSpPr>
        <p:spPr>
          <a:xfrm>
            <a:off x="3664702" y="2757192"/>
            <a:ext cx="1970252" cy="246221"/>
          </a:xfrm>
          <a:prstGeom prst="rect">
            <a:avLst/>
          </a:prstGeom>
          <a:noFill/>
        </p:spPr>
        <p:txBody>
          <a:bodyPr wrap="square" rtlCol="0">
            <a:spAutoFit/>
          </a:bodyPr>
          <a:lstStyle/>
          <a:p>
            <a:pPr algn="ctr"/>
            <a:r>
              <a:rPr lang="es-ES" sz="1000" dirty="0">
                <a:solidFill>
                  <a:schemeClr val="tx1">
                    <a:lumMod val="50000"/>
                    <a:lumOff val="50000"/>
                  </a:schemeClr>
                </a:solidFill>
                <a:latin typeface="Inter"/>
              </a:rPr>
              <a:t>Generar oportunidades calificadas</a:t>
            </a:r>
          </a:p>
        </p:txBody>
      </p:sp>
      <p:grpSp>
        <p:nvGrpSpPr>
          <p:cNvPr id="50" name="Grupo 49">
            <a:extLst>
              <a:ext uri="{FF2B5EF4-FFF2-40B4-BE49-F238E27FC236}">
                <a16:creationId xmlns:a16="http://schemas.microsoft.com/office/drawing/2014/main" id="{342E3853-F004-F399-C748-E1BE78F585D1}"/>
              </a:ext>
            </a:extLst>
          </p:cNvPr>
          <p:cNvGrpSpPr/>
          <p:nvPr/>
        </p:nvGrpSpPr>
        <p:grpSpPr>
          <a:xfrm>
            <a:off x="3725058" y="5024880"/>
            <a:ext cx="1918950" cy="1116296"/>
            <a:chOff x="3079012" y="5104392"/>
            <a:chExt cx="1918950" cy="1116296"/>
          </a:xfrm>
        </p:grpSpPr>
        <p:sp>
          <p:nvSpPr>
            <p:cNvPr id="25" name="Shape 22"/>
            <p:cNvSpPr/>
            <p:nvPr/>
          </p:nvSpPr>
          <p:spPr>
            <a:xfrm>
              <a:off x="3079012" y="5104392"/>
              <a:ext cx="1918950" cy="1107636"/>
            </a:xfrm>
            <a:prstGeom prst="roundRect">
              <a:avLst>
                <a:gd name="adj" fmla="val 11650"/>
              </a:avLst>
            </a:prstGeom>
            <a:solidFill>
              <a:srgbClr val="FFFFFF"/>
            </a:solidFill>
            <a:ln w="12700">
              <a:solidFill>
                <a:schemeClr val="bg1">
                  <a:lumMod val="75000"/>
                </a:schemeClr>
              </a:solidFill>
              <a:prstDash val="solid"/>
            </a:ln>
            <a:effectLst>
              <a:outerShdw blurRad="19050" dist="50800" dir="2700000" algn="bl" rotWithShape="0">
                <a:srgbClr val="C6BCD8">
                  <a:alpha val="16000"/>
                </a:srgbClr>
              </a:outerShdw>
            </a:effectLst>
          </p:spPr>
          <p:txBody>
            <a:bodyPr/>
            <a:lstStyle/>
            <a:p>
              <a:endParaRPr lang="es-MX"/>
            </a:p>
          </p:txBody>
        </p:sp>
        <p:sp>
          <p:nvSpPr>
            <p:cNvPr id="27" name="Text 24"/>
            <p:cNvSpPr txBox="1"/>
            <p:nvPr/>
          </p:nvSpPr>
          <p:spPr>
            <a:xfrm>
              <a:off x="3253884" y="5606691"/>
              <a:ext cx="1617689" cy="278085"/>
            </a:xfrm>
            <a:prstGeom prst="rect">
              <a:avLst/>
            </a:prstGeom>
            <a:noFill/>
            <a:ln/>
          </p:spPr>
          <p:txBody>
            <a:bodyPr wrap="square" lIns="0" tIns="0" rIns="0" bIns="0" rtlCol="0" anchor="ctr">
              <a:normAutofit/>
            </a:bodyPr>
            <a:lstStyle/>
            <a:p>
              <a:pPr marL="0" indent="0" algn="ctr">
                <a:lnSpc>
                  <a:spcPct val="100000"/>
                </a:lnSpc>
                <a:buNone/>
              </a:pPr>
              <a:r>
                <a:rPr lang="en-US" sz="1000" dirty="0">
                  <a:solidFill>
                    <a:srgbClr val="6F6882"/>
                  </a:solidFill>
                  <a:latin typeface="Inter" pitchFamily="34" charset="0"/>
                  <a:ea typeface="Inter" pitchFamily="34" charset="-122"/>
                  <a:cs typeface="Inter" pitchFamily="34" charset="-120"/>
                </a:rPr>
                <a:t>¿</a:t>
              </a:r>
              <a:r>
                <a:rPr lang="en-US" sz="1000" dirty="0" err="1">
                  <a:solidFill>
                    <a:srgbClr val="6F6882"/>
                  </a:solidFill>
                  <a:latin typeface="Inter" pitchFamily="34" charset="0"/>
                  <a:ea typeface="Inter" pitchFamily="34" charset="-122"/>
                  <a:cs typeface="Inter" pitchFamily="34" charset="-120"/>
                </a:rPr>
                <a:t>Qué</a:t>
              </a:r>
              <a:r>
                <a:rPr lang="en-US" sz="1000" dirty="0">
                  <a:solidFill>
                    <a:srgbClr val="6F6882"/>
                  </a:solidFill>
                  <a:latin typeface="Inter" pitchFamily="34" charset="0"/>
                  <a:ea typeface="Inter" pitchFamily="34" charset="-122"/>
                  <a:cs typeface="Inter" pitchFamily="34" charset="-120"/>
                </a:rPr>
                <a:t> </a:t>
              </a:r>
              <a:r>
                <a:rPr lang="en-US" sz="1000" dirty="0" err="1">
                  <a:solidFill>
                    <a:srgbClr val="6F6882"/>
                  </a:solidFill>
                  <a:latin typeface="Inter" pitchFamily="34" charset="0"/>
                  <a:ea typeface="Inter" pitchFamily="34" charset="-122"/>
                  <a:cs typeface="Inter" pitchFamily="34" charset="-120"/>
                </a:rPr>
                <a:t>pasó</a:t>
              </a:r>
              <a:r>
                <a:rPr lang="en-US" sz="1000" dirty="0">
                  <a:solidFill>
                    <a:srgbClr val="6F6882"/>
                  </a:solidFill>
                  <a:latin typeface="Inter" pitchFamily="34" charset="0"/>
                  <a:ea typeface="Inter" pitchFamily="34" charset="-122"/>
                  <a:cs typeface="Inter" pitchFamily="34" charset="-120"/>
                </a:rPr>
                <a:t> </a:t>
              </a:r>
              <a:r>
                <a:rPr lang="en-US" sz="1000" dirty="0" err="1">
                  <a:solidFill>
                    <a:srgbClr val="6F6882"/>
                  </a:solidFill>
                  <a:latin typeface="Inter" pitchFamily="34" charset="0"/>
                  <a:ea typeface="Inter" pitchFamily="34" charset="-122"/>
                  <a:cs typeface="Inter" pitchFamily="34" charset="-120"/>
                </a:rPr>
                <a:t>realmente</a:t>
              </a:r>
              <a:r>
                <a:rPr lang="en-US" sz="1000" dirty="0">
                  <a:solidFill>
                    <a:srgbClr val="6F6882"/>
                  </a:solidFill>
                  <a:latin typeface="Inter" pitchFamily="34" charset="0"/>
                  <a:ea typeface="Inter" pitchFamily="34" charset="-122"/>
                  <a:cs typeface="Inter" pitchFamily="34" charset="-120"/>
                </a:rPr>
                <a:t>?</a:t>
              </a:r>
              <a:endParaRPr lang="en-US" sz="1000" dirty="0"/>
            </a:p>
          </p:txBody>
        </p:sp>
        <p:sp>
          <p:nvSpPr>
            <p:cNvPr id="66" name="Shape 10">
              <a:extLst>
                <a:ext uri="{FF2B5EF4-FFF2-40B4-BE49-F238E27FC236}">
                  <a16:creationId xmlns:a16="http://schemas.microsoft.com/office/drawing/2014/main" id="{A448588A-60CC-2EE2-1B34-CE0D49E41CF8}"/>
                </a:ext>
              </a:extLst>
            </p:cNvPr>
            <p:cNvSpPr/>
            <p:nvPr/>
          </p:nvSpPr>
          <p:spPr>
            <a:xfrm>
              <a:off x="3529205" y="5901402"/>
              <a:ext cx="1060704" cy="310896"/>
            </a:xfrm>
            <a:prstGeom prst="roundRect">
              <a:avLst>
                <a:gd name="adj" fmla="val 23529"/>
              </a:avLst>
            </a:prstGeom>
            <a:solidFill>
              <a:srgbClr val="FFF2E2"/>
            </a:solidFill>
            <a:ln w="12700">
              <a:solidFill>
                <a:srgbClr val="FFF2E2">
                  <a:alpha val="0"/>
                </a:srgbClr>
              </a:solidFill>
              <a:prstDash val="solid"/>
            </a:ln>
          </p:spPr>
          <p:txBody>
            <a:bodyPr/>
            <a:lstStyle/>
            <a:p>
              <a:endParaRPr lang="es-MX" dirty="0"/>
            </a:p>
          </p:txBody>
        </p:sp>
        <p:sp>
          <p:nvSpPr>
            <p:cNvPr id="64" name="Text 11">
              <a:extLst>
                <a:ext uri="{FF2B5EF4-FFF2-40B4-BE49-F238E27FC236}">
                  <a16:creationId xmlns:a16="http://schemas.microsoft.com/office/drawing/2014/main" id="{5751764B-0695-0E19-1A01-D36F97FAC282}"/>
                </a:ext>
              </a:extLst>
            </p:cNvPr>
            <p:cNvSpPr txBox="1"/>
            <p:nvPr/>
          </p:nvSpPr>
          <p:spPr>
            <a:xfrm>
              <a:off x="3652313" y="5909792"/>
              <a:ext cx="826032" cy="310896"/>
            </a:xfrm>
            <a:prstGeom prst="rect">
              <a:avLst/>
            </a:prstGeom>
            <a:noFill/>
            <a:ln/>
          </p:spPr>
          <p:txBody>
            <a:bodyPr wrap="square" lIns="0" tIns="0" rIns="0" bIns="0" rtlCol="0" anchor="ctr">
              <a:normAutofit/>
            </a:bodyPr>
            <a:lstStyle/>
            <a:p>
              <a:pPr marL="0" indent="0" algn="ctr">
                <a:lnSpc>
                  <a:spcPct val="100000"/>
                </a:lnSpc>
                <a:buNone/>
              </a:pPr>
              <a:r>
                <a:rPr lang="en-US" sz="740" b="1" dirty="0">
                  <a:solidFill>
                    <a:srgbClr val="F0A44A"/>
                  </a:solidFill>
                  <a:latin typeface="Inter" pitchFamily="34" charset="0"/>
                  <a:ea typeface="Inter" pitchFamily="34" charset="-122"/>
                  <a:cs typeface="Inter" pitchFamily="34" charset="-120"/>
                </a:rPr>
                <a:t>EXPANSIÓN</a:t>
              </a:r>
              <a:endParaRPr lang="en-US" sz="740" dirty="0"/>
            </a:p>
          </p:txBody>
        </p:sp>
        <p:sp>
          <p:nvSpPr>
            <p:cNvPr id="49" name="Text 3">
              <a:extLst>
                <a:ext uri="{FF2B5EF4-FFF2-40B4-BE49-F238E27FC236}">
                  <a16:creationId xmlns:a16="http://schemas.microsoft.com/office/drawing/2014/main" id="{02AE9563-D270-29D1-1161-BC6580406356}"/>
                </a:ext>
              </a:extLst>
            </p:cNvPr>
            <p:cNvSpPr txBox="1"/>
            <p:nvPr/>
          </p:nvSpPr>
          <p:spPr>
            <a:xfrm>
              <a:off x="3079012" y="5241454"/>
              <a:ext cx="1888123" cy="384048"/>
            </a:xfrm>
            <a:prstGeom prst="rect">
              <a:avLst/>
            </a:prstGeom>
            <a:noFill/>
            <a:ln/>
          </p:spPr>
          <p:txBody>
            <a:bodyPr wrap="square" lIns="0" tIns="0" rIns="0" bIns="0" rtlCol="0" anchor="ctr">
              <a:normAutofit lnSpcReduction="10000"/>
            </a:bodyPr>
            <a:lstStyle/>
            <a:p>
              <a:pPr marL="0" indent="0" algn="ctr">
                <a:lnSpc>
                  <a:spcPct val="100000"/>
                </a:lnSpc>
                <a:buNone/>
              </a:pPr>
              <a:r>
                <a:rPr lang="en-US" sz="1300" b="1" dirty="0">
                  <a:solidFill>
                    <a:srgbClr val="18152B"/>
                  </a:solidFill>
                  <a:latin typeface="Inter Display" pitchFamily="34" charset="0"/>
                  <a:ea typeface="Inter Display" pitchFamily="34" charset="-122"/>
                </a:rPr>
                <a:t>RETROALIMENTACIÓN </a:t>
              </a:r>
            </a:p>
            <a:p>
              <a:pPr marL="0" indent="0" algn="ctr">
                <a:lnSpc>
                  <a:spcPct val="100000"/>
                </a:lnSpc>
                <a:buNone/>
              </a:pPr>
              <a:r>
                <a:rPr lang="en-US" sz="1300" b="1" dirty="0">
                  <a:solidFill>
                    <a:srgbClr val="18152B"/>
                  </a:solidFill>
                  <a:latin typeface="Inter Display" pitchFamily="34" charset="0"/>
                  <a:ea typeface="Inter Display" pitchFamily="34" charset="-122"/>
                </a:rPr>
                <a:t>DE RESULTADOS</a:t>
              </a:r>
              <a:endParaRPr lang="en-US" sz="1300" dirty="0"/>
            </a:p>
          </p:txBody>
        </p:sp>
      </p:grpSp>
      <p:sp>
        <p:nvSpPr>
          <p:cNvPr id="55" name="CuadroTexto 54">
            <a:extLst>
              <a:ext uri="{FF2B5EF4-FFF2-40B4-BE49-F238E27FC236}">
                <a16:creationId xmlns:a16="http://schemas.microsoft.com/office/drawing/2014/main" id="{ABBE7175-7A93-7272-79AD-ECFABDA379C7}"/>
              </a:ext>
            </a:extLst>
          </p:cNvPr>
          <p:cNvSpPr txBox="1"/>
          <p:nvPr/>
        </p:nvSpPr>
        <p:spPr>
          <a:xfrm>
            <a:off x="7638277" y="2555704"/>
            <a:ext cx="1840873" cy="400110"/>
          </a:xfrm>
          <a:prstGeom prst="rect">
            <a:avLst/>
          </a:prstGeom>
          <a:noFill/>
        </p:spPr>
        <p:txBody>
          <a:bodyPr wrap="square" rtlCol="0">
            <a:spAutoFit/>
          </a:bodyPr>
          <a:lstStyle/>
          <a:p>
            <a:pPr algn="ctr"/>
            <a:r>
              <a:rPr lang="es-ES" sz="1000" dirty="0">
                <a:solidFill>
                  <a:schemeClr val="tx1">
                    <a:lumMod val="50000"/>
                    <a:lumOff val="50000"/>
                  </a:schemeClr>
                </a:solidFill>
                <a:latin typeface="Inter"/>
              </a:rPr>
              <a:t>Comprender · hacer </a:t>
            </a:r>
            <a:r>
              <a:rPr lang="es-ES" sz="1000" i="1" dirty="0" err="1">
                <a:solidFill>
                  <a:schemeClr val="tx1">
                    <a:lumMod val="50000"/>
                    <a:lumOff val="50000"/>
                  </a:schemeClr>
                </a:solidFill>
                <a:latin typeface="Inter"/>
              </a:rPr>
              <a:t>matching</a:t>
            </a:r>
            <a:r>
              <a:rPr lang="es-ES" sz="1000" dirty="0">
                <a:solidFill>
                  <a:schemeClr val="tx1">
                    <a:lumMod val="50000"/>
                    <a:lumOff val="50000"/>
                  </a:schemeClr>
                </a:solidFill>
                <a:latin typeface="Inter"/>
              </a:rPr>
              <a:t> · </a:t>
            </a:r>
          </a:p>
          <a:p>
            <a:pPr algn="ctr"/>
            <a:r>
              <a:rPr lang="es-ES" sz="1000" dirty="0">
                <a:solidFill>
                  <a:schemeClr val="tx1">
                    <a:lumMod val="50000"/>
                    <a:lumOff val="50000"/>
                  </a:schemeClr>
                </a:solidFill>
                <a:latin typeface="Inter"/>
              </a:rPr>
              <a:t>avanzar (basado en reglas)</a:t>
            </a:r>
          </a:p>
        </p:txBody>
      </p:sp>
      <p:sp>
        <p:nvSpPr>
          <p:cNvPr id="59" name="Text 16">
            <a:extLst>
              <a:ext uri="{FF2B5EF4-FFF2-40B4-BE49-F238E27FC236}">
                <a16:creationId xmlns:a16="http://schemas.microsoft.com/office/drawing/2014/main" id="{44974494-63E2-5A8A-EA0C-7ECE851002AA}"/>
              </a:ext>
            </a:extLst>
          </p:cNvPr>
          <p:cNvSpPr txBox="1"/>
          <p:nvPr/>
        </p:nvSpPr>
        <p:spPr>
          <a:xfrm>
            <a:off x="7921487" y="5821890"/>
            <a:ext cx="1349723" cy="336038"/>
          </a:xfrm>
          <a:prstGeom prst="rect">
            <a:avLst/>
          </a:prstGeom>
          <a:noFill/>
          <a:ln/>
        </p:spPr>
        <p:txBody>
          <a:bodyPr wrap="square" lIns="0" tIns="0" rIns="0" bIns="0" rtlCol="0" anchor="ctr">
            <a:normAutofit/>
          </a:bodyPr>
          <a:lstStyle/>
          <a:p>
            <a:pPr marL="0" indent="0" algn="ctr">
              <a:lnSpc>
                <a:spcPct val="100000"/>
              </a:lnSpc>
              <a:buNone/>
            </a:pPr>
            <a:r>
              <a:rPr lang="en-US" sz="740" b="1" dirty="0">
                <a:solidFill>
                  <a:srgbClr val="9A4D78"/>
                </a:solidFill>
                <a:latin typeface="Inter" pitchFamily="34" charset="0"/>
                <a:ea typeface="Inter" pitchFamily="34" charset="-122"/>
                <a:cs typeface="Inter" pitchFamily="34" charset="-120"/>
              </a:rPr>
              <a:t>LIDERADA POR HUMANO / </a:t>
            </a:r>
          </a:p>
          <a:p>
            <a:pPr marL="0" indent="0" algn="ctr">
              <a:lnSpc>
                <a:spcPct val="100000"/>
              </a:lnSpc>
              <a:buNone/>
            </a:pPr>
            <a:r>
              <a:rPr lang="en-US" sz="740" b="1" dirty="0">
                <a:solidFill>
                  <a:srgbClr val="9A4D78"/>
                </a:solidFill>
                <a:latin typeface="Inter" pitchFamily="34" charset="0"/>
                <a:ea typeface="Inter" pitchFamily="34" charset="-122"/>
                <a:cs typeface="Inter" pitchFamily="34" charset="-120"/>
              </a:rPr>
              <a:t>ASISTIDA POR GU</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6034D3"/>
          </a:solidFill>
          <a:ln w="12700">
            <a:solidFill>
              <a:srgbClr val="6034D3"/>
            </a:solidFill>
            <a:prstDash val="solid"/>
          </a:ln>
        </p:spPr>
        <p:txBody>
          <a:bodyPr/>
          <a:lstStyle/>
          <a:p>
            <a:endParaRPr lang="es-MX"/>
          </a:p>
        </p:txBody>
      </p:sp>
      <p:sp>
        <p:nvSpPr>
          <p:cNvPr id="4" name="Text 1"/>
          <p:cNvSpPr/>
          <p:nvPr/>
        </p:nvSpPr>
        <p:spPr>
          <a:xfrm>
            <a:off x="91440" y="6565392"/>
            <a:ext cx="914400" cy="118872"/>
          </a:xfrm>
          <a:prstGeom prst="rect">
            <a:avLst/>
          </a:prstGeom>
          <a:noFill/>
          <a:ln/>
        </p:spPr>
        <p:txBody>
          <a:bodyPr wrap="square" lIns="0" tIns="0" rIns="0" bIns="0" rtlCol="0" anchor="ctr">
            <a:normAutofit/>
          </a:bodyPr>
          <a:lstStyle/>
          <a:p>
            <a:pPr marL="0" indent="0" algn="l">
              <a:buNone/>
            </a:pPr>
            <a:r>
              <a:rPr lang="en-US" sz="720" dirty="0">
                <a:solidFill>
                  <a:srgbClr val="746F93"/>
                </a:solidFill>
                <a:latin typeface="Aptos" pitchFamily="34" charset="0"/>
                <a:ea typeface="Aptos" pitchFamily="34" charset="-122"/>
                <a:cs typeface="Aptos" pitchFamily="34" charset="-120"/>
              </a:rPr>
              <a:t>CONFIDENTIAL</a:t>
            </a:r>
            <a:endParaRPr lang="en-US" sz="720" dirty="0"/>
          </a:p>
        </p:txBody>
      </p:sp>
      <p:sp>
        <p:nvSpPr>
          <p:cNvPr id="5" name="Text 2"/>
          <p:cNvSpPr/>
          <p:nvPr/>
        </p:nvSpPr>
        <p:spPr>
          <a:xfrm>
            <a:off x="10817352" y="6565392"/>
            <a:ext cx="777240" cy="118872"/>
          </a:xfrm>
          <a:prstGeom prst="rect">
            <a:avLst/>
          </a:prstGeom>
          <a:noFill/>
          <a:ln/>
        </p:spPr>
        <p:txBody>
          <a:bodyPr wrap="square" lIns="0" tIns="0" rIns="0" bIns="0" rtlCol="0" anchor="ctr">
            <a:normAutofit/>
          </a:bodyPr>
          <a:lstStyle/>
          <a:p>
            <a:pPr marL="0" indent="0" algn="r">
              <a:buNone/>
            </a:pPr>
            <a:r>
              <a:rPr lang="en-US" sz="720" dirty="0">
                <a:solidFill>
                  <a:srgbClr val="746F93"/>
                </a:solidFill>
                <a:latin typeface="Aptos" pitchFamily="34" charset="0"/>
                <a:ea typeface="Aptos" pitchFamily="34" charset="-122"/>
                <a:cs typeface="Aptos" pitchFamily="34" charset="-120"/>
              </a:rPr>
              <a:t>ungga.com</a:t>
            </a:r>
            <a:endParaRPr lang="en-US" sz="720" dirty="0"/>
          </a:p>
        </p:txBody>
      </p:sp>
      <p:sp>
        <p:nvSpPr>
          <p:cNvPr id="6" name="Text 3"/>
          <p:cNvSpPr/>
          <p:nvPr/>
        </p:nvSpPr>
        <p:spPr>
          <a:xfrm>
            <a:off x="11777472" y="6565392"/>
            <a:ext cx="164592" cy="118872"/>
          </a:xfrm>
          <a:prstGeom prst="rect">
            <a:avLst/>
          </a:prstGeom>
          <a:noFill/>
          <a:ln/>
        </p:spPr>
        <p:txBody>
          <a:bodyPr wrap="square" lIns="0" tIns="0" rIns="0" bIns="0" rtlCol="0" anchor="ctr">
            <a:normAutofit/>
          </a:bodyPr>
          <a:lstStyle/>
          <a:p>
            <a:pPr marL="0" indent="0" algn="r">
              <a:buNone/>
            </a:pPr>
            <a:r>
              <a:rPr lang="en-US" sz="720" dirty="0">
                <a:solidFill>
                  <a:srgbClr val="746F93"/>
                </a:solidFill>
                <a:latin typeface="Aptos" pitchFamily="34" charset="0"/>
                <a:ea typeface="Aptos" pitchFamily="34" charset="-122"/>
                <a:cs typeface="Aptos" pitchFamily="34" charset="-120"/>
              </a:rPr>
              <a:t>10</a:t>
            </a:r>
            <a:endParaRPr lang="en-US" sz="720" dirty="0"/>
          </a:p>
        </p:txBody>
      </p:sp>
      <p:sp>
        <p:nvSpPr>
          <p:cNvPr id="7" name="Text 4"/>
          <p:cNvSpPr/>
          <p:nvPr/>
        </p:nvSpPr>
        <p:spPr>
          <a:xfrm>
            <a:off x="566928" y="292608"/>
            <a:ext cx="3840480" cy="219456"/>
          </a:xfrm>
          <a:prstGeom prst="rect">
            <a:avLst/>
          </a:prstGeom>
          <a:noFill/>
          <a:ln/>
        </p:spPr>
        <p:txBody>
          <a:bodyPr wrap="square" lIns="0" tIns="0" rIns="0" bIns="0" rtlCol="0" anchor="ctr">
            <a:normAutofit/>
          </a:bodyPr>
          <a:lstStyle/>
          <a:p>
            <a:r>
              <a:rPr lang="en-US" sz="1200" b="1" dirty="0">
                <a:solidFill>
                  <a:srgbClr val="6034D3"/>
                </a:solidFill>
                <a:latin typeface="Aptos" pitchFamily="34" charset="0"/>
                <a:ea typeface="Aptos" pitchFamily="34" charset="-122"/>
                <a:cs typeface="Aptos" pitchFamily="34" charset="-120"/>
              </a:rPr>
              <a:t>MAPEO: DOMINIOS → CICLO OPERATIVO </a:t>
            </a:r>
            <a:endParaRPr lang="en-US" sz="1200" dirty="0"/>
          </a:p>
        </p:txBody>
      </p:sp>
      <p:sp>
        <p:nvSpPr>
          <p:cNvPr id="8" name="Text 5"/>
          <p:cNvSpPr/>
          <p:nvPr/>
        </p:nvSpPr>
        <p:spPr>
          <a:xfrm>
            <a:off x="566928" y="786384"/>
            <a:ext cx="9966960" cy="384048"/>
          </a:xfrm>
          <a:prstGeom prst="rect">
            <a:avLst/>
          </a:prstGeom>
          <a:noFill/>
          <a:ln/>
        </p:spPr>
        <p:txBody>
          <a:bodyPr wrap="square" lIns="0" tIns="0" rIns="0" bIns="0" rtlCol="0" anchor="ctr">
            <a:normAutofit lnSpcReduction="10000"/>
          </a:bodyPr>
          <a:lstStyle/>
          <a:p>
            <a:pPr marL="0" indent="0" algn="l">
              <a:buNone/>
            </a:pPr>
            <a:r>
              <a:rPr lang="en-US" sz="2550" b="1" dirty="0">
                <a:solidFill>
                  <a:srgbClr val="15132B"/>
                </a:solidFill>
                <a:latin typeface="Aptos Display" pitchFamily="34" charset="0"/>
                <a:ea typeface="Aptos Display" pitchFamily="34" charset="-122"/>
                <a:cs typeface="Aptos Display" pitchFamily="34" charset="-120"/>
              </a:rPr>
              <a:t>Las etapas del negocio no son lo mismo que los dominios operativos.</a:t>
            </a:r>
            <a:endParaRPr lang="en-US" sz="2550" dirty="0"/>
          </a:p>
        </p:txBody>
      </p:sp>
      <p:sp>
        <p:nvSpPr>
          <p:cNvPr id="9" name="Text 6"/>
          <p:cNvSpPr/>
          <p:nvPr/>
        </p:nvSpPr>
        <p:spPr>
          <a:xfrm>
            <a:off x="566928" y="1325879"/>
            <a:ext cx="10338495" cy="590993"/>
          </a:xfrm>
          <a:prstGeom prst="rect">
            <a:avLst/>
          </a:prstGeom>
          <a:noFill/>
          <a:ln/>
        </p:spPr>
        <p:txBody>
          <a:bodyPr wrap="square" lIns="0" tIns="0" rIns="0" bIns="0" rtlCol="0" anchor="ctr">
            <a:noAutofit/>
          </a:bodyPr>
          <a:lstStyle/>
          <a:p>
            <a:pPr marL="0" indent="0" algn="l">
              <a:buNone/>
            </a:pPr>
            <a:r>
              <a:rPr lang="en-US" dirty="0">
                <a:solidFill>
                  <a:srgbClr val="746F93"/>
                </a:solidFill>
                <a:latin typeface="Aptos" pitchFamily="34" charset="0"/>
                <a:ea typeface="Aptos" pitchFamily="34" charset="-122"/>
                <a:cs typeface="Aptos" pitchFamily="34" charset="-120"/>
              </a:rPr>
              <a:t>Las etapas describen dónde ocurre el valor. Los dominios describen de qué trabajo puede hacerse responsable Gu OS. </a:t>
            </a:r>
            <a:endParaRPr lang="en-US" dirty="0"/>
          </a:p>
        </p:txBody>
      </p:sp>
      <p:sp>
        <p:nvSpPr>
          <p:cNvPr id="10" name="Shape 7"/>
          <p:cNvSpPr/>
          <p:nvPr/>
        </p:nvSpPr>
        <p:spPr>
          <a:xfrm>
            <a:off x="911088" y="2162965"/>
            <a:ext cx="9982199" cy="804672"/>
          </a:xfrm>
          <a:prstGeom prst="roundRect">
            <a:avLst>
              <a:gd name="adj" fmla="val 9091"/>
            </a:avLst>
          </a:prstGeom>
          <a:solidFill>
            <a:srgbClr val="21174D"/>
          </a:solidFill>
          <a:ln w="12700">
            <a:solidFill>
              <a:srgbClr val="21174D"/>
            </a:solidFill>
            <a:prstDash val="solid"/>
          </a:ln>
        </p:spPr>
        <p:txBody>
          <a:bodyPr/>
          <a:lstStyle/>
          <a:p>
            <a:endParaRPr lang="es-MX"/>
          </a:p>
        </p:txBody>
      </p:sp>
      <p:sp>
        <p:nvSpPr>
          <p:cNvPr id="11" name="Text 8"/>
          <p:cNvSpPr/>
          <p:nvPr/>
        </p:nvSpPr>
        <p:spPr>
          <a:xfrm>
            <a:off x="789168" y="2300125"/>
            <a:ext cx="10469880" cy="256032"/>
          </a:xfrm>
          <a:prstGeom prst="rect">
            <a:avLst/>
          </a:prstGeom>
          <a:noFill/>
          <a:ln/>
        </p:spPr>
        <p:txBody>
          <a:bodyPr wrap="square" lIns="0" tIns="0" rIns="0" bIns="0" rtlCol="0" anchor="ctr">
            <a:normAutofit lnSpcReduction="10000"/>
          </a:bodyPr>
          <a:lstStyle/>
          <a:p>
            <a:pPr marL="0" indent="0" algn="ctr">
              <a:buNone/>
            </a:pPr>
            <a:r>
              <a:rPr lang="en-US" sz="1800" b="1" dirty="0">
                <a:solidFill>
                  <a:srgbClr val="FFFFFF"/>
                </a:solidFill>
                <a:latin typeface="Aptos Display" pitchFamily="34" charset="0"/>
                <a:ea typeface="Aptos Display" pitchFamily="34" charset="-122"/>
                <a:cs typeface="Aptos Display" pitchFamily="34" charset="-120"/>
              </a:rPr>
              <a:t>Núcleo operativo común de Gu OS</a:t>
            </a:r>
            <a:endParaRPr lang="en-US" sz="1800" dirty="0"/>
          </a:p>
        </p:txBody>
      </p:sp>
      <p:sp>
        <p:nvSpPr>
          <p:cNvPr id="12" name="Text 9"/>
          <p:cNvSpPr/>
          <p:nvPr/>
        </p:nvSpPr>
        <p:spPr>
          <a:xfrm>
            <a:off x="926328" y="2620165"/>
            <a:ext cx="10195560" cy="182880"/>
          </a:xfrm>
          <a:prstGeom prst="rect">
            <a:avLst/>
          </a:prstGeom>
          <a:noFill/>
          <a:ln/>
        </p:spPr>
        <p:txBody>
          <a:bodyPr wrap="square" lIns="0" tIns="0" rIns="0" bIns="0" rtlCol="0" anchor="ctr">
            <a:normAutofit/>
          </a:bodyPr>
          <a:lstStyle/>
          <a:p>
            <a:pPr marL="0" indent="0" algn="ctr">
              <a:buNone/>
            </a:pPr>
            <a:r>
              <a:rPr lang="en-US" sz="1120" dirty="0">
                <a:solidFill>
                  <a:srgbClr val="E8E3F6"/>
                </a:solidFill>
                <a:latin typeface="Aptos" pitchFamily="34" charset="0"/>
                <a:ea typeface="Aptos" pitchFamily="34" charset="-122"/>
                <a:cs typeface="Aptos" pitchFamily="34" charset="-120"/>
              </a:rPr>
              <a:t>Casos · eventos · trabajo · </a:t>
            </a:r>
            <a:r>
              <a:rPr lang="en-US" sz="1120" i="1" dirty="0">
                <a:solidFill>
                  <a:srgbClr val="E8E3F6"/>
                </a:solidFill>
                <a:latin typeface="Aptos" pitchFamily="34" charset="0"/>
                <a:ea typeface="Aptos" pitchFamily="34" charset="-122"/>
                <a:cs typeface="Aptos" pitchFamily="34" charset="-120"/>
              </a:rPr>
              <a:t>scheduler</a:t>
            </a:r>
            <a:r>
              <a:rPr lang="en-US" sz="1120" dirty="0">
                <a:solidFill>
                  <a:srgbClr val="E8E3F6"/>
                </a:solidFill>
                <a:latin typeface="Aptos" pitchFamily="34" charset="0"/>
                <a:ea typeface="Aptos" pitchFamily="34" charset="-122"/>
                <a:cs typeface="Aptos" pitchFamily="34" charset="-120"/>
              </a:rPr>
              <a:t> · gobernanza · evidencia · </a:t>
            </a:r>
            <a:r>
              <a:rPr lang="en-US" sz="1120" i="1" dirty="0">
                <a:solidFill>
                  <a:srgbClr val="E8E3F6"/>
                </a:solidFill>
                <a:latin typeface="Aptos" pitchFamily="34" charset="0"/>
                <a:ea typeface="Aptos" pitchFamily="34" charset="-122"/>
                <a:cs typeface="Aptos" pitchFamily="34" charset="-120"/>
              </a:rPr>
              <a:t>HITL</a:t>
            </a:r>
            <a:r>
              <a:rPr lang="en-US" sz="1120" dirty="0">
                <a:solidFill>
                  <a:srgbClr val="E8E3F6"/>
                </a:solidFill>
                <a:latin typeface="Aptos" pitchFamily="34" charset="0"/>
                <a:ea typeface="Aptos" pitchFamily="34" charset="-122"/>
                <a:cs typeface="Aptos" pitchFamily="34" charset="-120"/>
              </a:rPr>
              <a:t> · </a:t>
            </a:r>
            <a:r>
              <a:rPr lang="en-US" sz="1120" i="1" dirty="0">
                <a:solidFill>
                  <a:srgbClr val="E8E3F6"/>
                </a:solidFill>
                <a:latin typeface="Aptos" pitchFamily="34" charset="0"/>
                <a:ea typeface="Aptos" pitchFamily="34" charset="-122"/>
                <a:cs typeface="Aptos" pitchFamily="34" charset="-120"/>
              </a:rPr>
              <a:t>Skills</a:t>
            </a:r>
            <a:r>
              <a:rPr lang="en-US" sz="1120" dirty="0">
                <a:solidFill>
                  <a:srgbClr val="E8E3F6"/>
                </a:solidFill>
                <a:latin typeface="Aptos" pitchFamily="34" charset="0"/>
                <a:ea typeface="Aptos" pitchFamily="34" charset="-122"/>
                <a:cs typeface="Aptos" pitchFamily="34" charset="-120"/>
              </a:rPr>
              <a:t>/</a:t>
            </a:r>
            <a:r>
              <a:rPr lang="en-US" sz="1120" i="1" dirty="0">
                <a:solidFill>
                  <a:srgbClr val="E8E3F6"/>
                </a:solidFill>
                <a:latin typeface="Aptos" pitchFamily="34" charset="0"/>
                <a:ea typeface="Aptos" pitchFamily="34" charset="-122"/>
                <a:cs typeface="Aptos" pitchFamily="34" charset="-120"/>
              </a:rPr>
              <a:t>tools</a:t>
            </a:r>
            <a:endParaRPr lang="en-US" sz="1120" i="1" dirty="0"/>
          </a:p>
        </p:txBody>
      </p:sp>
      <p:sp>
        <p:nvSpPr>
          <p:cNvPr id="13" name="Shape 10"/>
          <p:cNvSpPr/>
          <p:nvPr/>
        </p:nvSpPr>
        <p:spPr>
          <a:xfrm>
            <a:off x="2455877" y="2977262"/>
            <a:ext cx="0" cy="283464"/>
          </a:xfrm>
          <a:prstGeom prst="line">
            <a:avLst/>
          </a:prstGeom>
          <a:noFill/>
          <a:ln w="15240">
            <a:solidFill>
              <a:schemeClr val="tx1">
                <a:lumMod val="50000"/>
                <a:lumOff val="50000"/>
              </a:schemeClr>
            </a:solidFill>
            <a:prstDash val="solid"/>
            <a:headEnd type="none"/>
            <a:tailEnd type="triangle"/>
          </a:ln>
        </p:spPr>
        <p:txBody>
          <a:bodyPr/>
          <a:lstStyle/>
          <a:p>
            <a:endParaRPr lang="es-MX"/>
          </a:p>
        </p:txBody>
      </p:sp>
      <p:sp>
        <p:nvSpPr>
          <p:cNvPr id="14" name="Shape 11"/>
          <p:cNvSpPr/>
          <p:nvPr/>
        </p:nvSpPr>
        <p:spPr>
          <a:xfrm>
            <a:off x="1381457" y="3324253"/>
            <a:ext cx="2148840" cy="914400"/>
          </a:xfrm>
          <a:prstGeom prst="roundRect">
            <a:avLst>
              <a:gd name="adj" fmla="val 8000"/>
            </a:avLst>
          </a:prstGeom>
          <a:solidFill>
            <a:srgbClr val="FFFFFF"/>
          </a:solidFill>
          <a:ln w="16510">
            <a:solidFill>
              <a:srgbClr val="56607F"/>
            </a:solidFill>
            <a:prstDash val="solid"/>
          </a:ln>
          <a:effectLst>
            <a:outerShdw blurRad="12700" dist="50800" dir="2700000" algn="bl" rotWithShape="0">
              <a:srgbClr val="000000">
                <a:alpha val="10000"/>
              </a:srgbClr>
            </a:outerShdw>
          </a:effectLst>
        </p:spPr>
        <p:txBody>
          <a:bodyPr/>
          <a:lstStyle/>
          <a:p>
            <a:endParaRPr lang="es-MX"/>
          </a:p>
        </p:txBody>
      </p:sp>
      <p:sp>
        <p:nvSpPr>
          <p:cNvPr id="15" name="Text 12"/>
          <p:cNvSpPr/>
          <p:nvPr/>
        </p:nvSpPr>
        <p:spPr>
          <a:xfrm>
            <a:off x="1491185" y="3443125"/>
            <a:ext cx="1929384" cy="256032"/>
          </a:xfrm>
          <a:prstGeom prst="rect">
            <a:avLst/>
          </a:prstGeom>
          <a:noFill/>
          <a:ln/>
        </p:spPr>
        <p:txBody>
          <a:bodyPr wrap="square" lIns="0" tIns="0" rIns="0" bIns="0" rtlCol="0" anchor="ctr">
            <a:noAutofit/>
          </a:bodyPr>
          <a:lstStyle/>
          <a:p>
            <a:pPr marL="0" indent="0" algn="ctr">
              <a:buNone/>
            </a:pPr>
            <a:r>
              <a:rPr lang="en-US" sz="1400" b="1" dirty="0">
                <a:solidFill>
                  <a:srgbClr val="15132B"/>
                </a:solidFill>
                <a:latin typeface="Aptos" pitchFamily="34" charset="0"/>
                <a:ea typeface="Aptos" pitchFamily="34" charset="-122"/>
                <a:cs typeface="Aptos" pitchFamily="34" charset="-120"/>
              </a:rPr>
              <a:t>Operaciones de</a:t>
            </a:r>
            <a:endParaRPr lang="en-US" sz="1400" dirty="0"/>
          </a:p>
          <a:p>
            <a:pPr marL="0" indent="0" algn="ctr">
              <a:buNone/>
            </a:pPr>
            <a:r>
              <a:rPr lang="en-US" sz="1400" b="1" dirty="0">
                <a:solidFill>
                  <a:srgbClr val="15132B"/>
                </a:solidFill>
                <a:latin typeface="Aptos" pitchFamily="34" charset="0"/>
                <a:ea typeface="Aptos" pitchFamily="34" charset="-122"/>
                <a:cs typeface="Aptos" pitchFamily="34" charset="-120"/>
              </a:rPr>
              <a:t>Propiedades</a:t>
            </a:r>
            <a:endParaRPr lang="en-US" sz="1400" dirty="0"/>
          </a:p>
        </p:txBody>
      </p:sp>
      <p:sp>
        <p:nvSpPr>
          <p:cNvPr id="16" name="Text 13"/>
          <p:cNvSpPr/>
          <p:nvPr/>
        </p:nvSpPr>
        <p:spPr>
          <a:xfrm>
            <a:off x="1491185" y="3798790"/>
            <a:ext cx="1929384" cy="420624"/>
          </a:xfrm>
          <a:prstGeom prst="rect">
            <a:avLst/>
          </a:prstGeom>
          <a:noFill/>
          <a:ln/>
        </p:spPr>
        <p:txBody>
          <a:bodyPr wrap="square" lIns="0" tIns="0" rIns="0" bIns="0" rtlCol="0" anchor="ctr">
            <a:normAutofit/>
          </a:bodyPr>
          <a:lstStyle/>
          <a:p>
            <a:pPr marL="0" indent="0" algn="ctr">
              <a:buNone/>
            </a:pPr>
            <a:r>
              <a:rPr lang="en-US" sz="1000" i="1" dirty="0">
                <a:solidFill>
                  <a:srgbClr val="746F93"/>
                </a:solidFill>
                <a:latin typeface="Aptos" pitchFamily="34" charset="0"/>
                <a:ea typeface="Aptos" pitchFamily="34" charset="-122"/>
                <a:cs typeface="Aptos" pitchFamily="34" charset="-120"/>
              </a:rPr>
              <a:t>onboarding</a:t>
            </a:r>
            <a:r>
              <a:rPr lang="en-US" sz="1000" dirty="0">
                <a:solidFill>
                  <a:srgbClr val="746F93"/>
                </a:solidFill>
                <a:latin typeface="Aptos" pitchFamily="34" charset="0"/>
                <a:ea typeface="Aptos" pitchFamily="34" charset="-122"/>
                <a:cs typeface="Aptos" pitchFamily="34" charset="-120"/>
              </a:rPr>
              <a:t> · publicación · </a:t>
            </a:r>
            <a:r>
              <a:rPr lang="en-US" sz="1000" dirty="0" err="1">
                <a:solidFill>
                  <a:srgbClr val="746F93"/>
                </a:solidFill>
                <a:latin typeface="Aptos" pitchFamily="34" charset="0"/>
                <a:ea typeface="Aptos" pitchFamily="34" charset="-122"/>
                <a:cs typeface="Aptos" pitchFamily="34" charset="-120"/>
              </a:rPr>
              <a:t>corrección</a:t>
            </a:r>
            <a:endParaRPr lang="en-US" sz="1000" dirty="0"/>
          </a:p>
        </p:txBody>
      </p:sp>
      <p:sp>
        <p:nvSpPr>
          <p:cNvPr id="17" name="Shape 14"/>
          <p:cNvSpPr/>
          <p:nvPr/>
        </p:nvSpPr>
        <p:spPr>
          <a:xfrm>
            <a:off x="2455877" y="4238653"/>
            <a:ext cx="0" cy="155448"/>
          </a:xfrm>
          <a:prstGeom prst="line">
            <a:avLst/>
          </a:prstGeom>
          <a:noFill/>
          <a:ln w="15240">
            <a:solidFill>
              <a:srgbClr val="56607F"/>
            </a:solidFill>
            <a:prstDash val="solid"/>
            <a:headEnd type="none"/>
            <a:tailEnd type="triangle"/>
          </a:ln>
        </p:spPr>
        <p:txBody>
          <a:bodyPr/>
          <a:lstStyle/>
          <a:p>
            <a:endParaRPr lang="es-MX" sz="1000"/>
          </a:p>
        </p:txBody>
      </p:sp>
      <p:sp>
        <p:nvSpPr>
          <p:cNvPr id="18" name="Shape 15"/>
          <p:cNvSpPr/>
          <p:nvPr/>
        </p:nvSpPr>
        <p:spPr>
          <a:xfrm>
            <a:off x="1454609" y="4448965"/>
            <a:ext cx="2002536" cy="502920"/>
          </a:xfrm>
          <a:prstGeom prst="roundRect">
            <a:avLst>
              <a:gd name="adj" fmla="val 14545"/>
            </a:avLst>
          </a:prstGeom>
          <a:solidFill>
            <a:srgbClr val="EEF1F6"/>
          </a:solidFill>
          <a:ln w="16510">
            <a:solidFill>
              <a:srgbClr val="56607F"/>
            </a:solidFill>
            <a:prstDash val="solid"/>
          </a:ln>
        </p:spPr>
        <p:txBody>
          <a:bodyPr/>
          <a:lstStyle/>
          <a:p>
            <a:endParaRPr lang="es-MX"/>
          </a:p>
        </p:txBody>
      </p:sp>
      <p:sp>
        <p:nvSpPr>
          <p:cNvPr id="19" name="Text 16"/>
          <p:cNvSpPr/>
          <p:nvPr/>
        </p:nvSpPr>
        <p:spPr>
          <a:xfrm>
            <a:off x="1564337" y="4567837"/>
            <a:ext cx="1783080" cy="256032"/>
          </a:xfrm>
          <a:prstGeom prst="rect">
            <a:avLst/>
          </a:prstGeom>
          <a:noFill/>
          <a:ln/>
        </p:spPr>
        <p:txBody>
          <a:bodyPr wrap="square" lIns="0" tIns="0" rIns="0" bIns="0" rtlCol="0" anchor="ctr">
            <a:normAutofit fontScale="92500" lnSpcReduction="20000"/>
          </a:bodyPr>
          <a:lstStyle/>
          <a:p>
            <a:pPr marL="0" indent="0" algn="ctr">
              <a:buNone/>
            </a:pPr>
            <a:r>
              <a:rPr lang="en-US" sz="1030" b="1" dirty="0">
                <a:solidFill>
                  <a:srgbClr val="56607F"/>
                </a:solidFill>
                <a:latin typeface="Aptos" pitchFamily="34" charset="0"/>
                <a:ea typeface="Aptos" pitchFamily="34" charset="-122"/>
                <a:cs typeface="Aptos" pitchFamily="34" charset="-120"/>
              </a:rPr>
              <a:t>INCORPORACIÓN</a:t>
            </a:r>
            <a:endParaRPr lang="en-US" sz="1030" dirty="0"/>
          </a:p>
          <a:p>
            <a:pPr marL="0" indent="0" algn="ctr">
              <a:buNone/>
            </a:pPr>
            <a:r>
              <a:rPr lang="en-US" sz="1030" b="1" dirty="0">
                <a:solidFill>
                  <a:srgbClr val="56607F"/>
                </a:solidFill>
                <a:latin typeface="Aptos" pitchFamily="34" charset="0"/>
                <a:ea typeface="Aptos" pitchFamily="34" charset="-122"/>
                <a:cs typeface="Aptos" pitchFamily="34" charset="-120"/>
              </a:rPr>
              <a:t>DE PROPIEDADES</a:t>
            </a:r>
            <a:endParaRPr lang="en-US" sz="1030" dirty="0"/>
          </a:p>
        </p:txBody>
      </p:sp>
      <p:sp>
        <p:nvSpPr>
          <p:cNvPr id="20" name="Shape 17"/>
          <p:cNvSpPr/>
          <p:nvPr/>
        </p:nvSpPr>
        <p:spPr>
          <a:xfrm>
            <a:off x="4760165" y="2977262"/>
            <a:ext cx="0" cy="283464"/>
          </a:xfrm>
          <a:prstGeom prst="line">
            <a:avLst/>
          </a:prstGeom>
          <a:noFill/>
          <a:ln w="15240">
            <a:solidFill>
              <a:schemeClr val="tx1">
                <a:lumMod val="50000"/>
                <a:lumOff val="50000"/>
              </a:schemeClr>
            </a:solidFill>
            <a:prstDash val="solid"/>
            <a:headEnd type="none"/>
            <a:tailEnd type="triangle"/>
          </a:ln>
        </p:spPr>
        <p:txBody>
          <a:bodyPr/>
          <a:lstStyle/>
          <a:p>
            <a:endParaRPr lang="es-MX"/>
          </a:p>
        </p:txBody>
      </p:sp>
      <p:sp>
        <p:nvSpPr>
          <p:cNvPr id="21" name="Shape 18"/>
          <p:cNvSpPr/>
          <p:nvPr/>
        </p:nvSpPr>
        <p:spPr>
          <a:xfrm>
            <a:off x="3685745" y="3324253"/>
            <a:ext cx="2148840" cy="914400"/>
          </a:xfrm>
          <a:prstGeom prst="roundRect">
            <a:avLst>
              <a:gd name="adj" fmla="val 8000"/>
            </a:avLst>
          </a:prstGeom>
          <a:solidFill>
            <a:srgbClr val="FFFFFF"/>
          </a:solidFill>
          <a:ln w="16510">
            <a:solidFill>
              <a:srgbClr val="F39A2C"/>
            </a:solidFill>
            <a:prstDash val="solid"/>
          </a:ln>
          <a:effectLst>
            <a:outerShdw blurRad="12700" dist="50800" dir="2700000" algn="bl" rotWithShape="0">
              <a:srgbClr val="000000">
                <a:alpha val="10000"/>
              </a:srgbClr>
            </a:outerShdw>
          </a:effectLst>
        </p:spPr>
        <p:txBody>
          <a:bodyPr/>
          <a:lstStyle/>
          <a:p>
            <a:endParaRPr lang="es-MX"/>
          </a:p>
        </p:txBody>
      </p:sp>
      <p:sp>
        <p:nvSpPr>
          <p:cNvPr id="22" name="Text 19"/>
          <p:cNvSpPr/>
          <p:nvPr/>
        </p:nvSpPr>
        <p:spPr>
          <a:xfrm>
            <a:off x="3795473" y="3443125"/>
            <a:ext cx="1929384" cy="256032"/>
          </a:xfrm>
          <a:prstGeom prst="rect">
            <a:avLst/>
          </a:prstGeom>
          <a:noFill/>
          <a:ln/>
        </p:spPr>
        <p:txBody>
          <a:bodyPr wrap="square" lIns="0" tIns="0" rIns="0" bIns="0" rtlCol="0" anchor="ctr">
            <a:noAutofit/>
          </a:bodyPr>
          <a:lstStyle/>
          <a:p>
            <a:pPr marL="0" indent="0" algn="ctr">
              <a:buNone/>
            </a:pPr>
            <a:r>
              <a:rPr lang="en-US" sz="1400" b="1" dirty="0">
                <a:solidFill>
                  <a:srgbClr val="15132B"/>
                </a:solidFill>
                <a:latin typeface="Aptos" pitchFamily="34" charset="0"/>
                <a:ea typeface="Aptos" pitchFamily="34" charset="-122"/>
                <a:cs typeface="Aptos" pitchFamily="34" charset="-120"/>
              </a:rPr>
              <a:t>Operaciones de</a:t>
            </a:r>
            <a:endParaRPr lang="en-US" sz="1400" dirty="0"/>
          </a:p>
          <a:p>
            <a:pPr marL="0" indent="0" algn="ctr">
              <a:buNone/>
            </a:pPr>
            <a:r>
              <a:rPr lang="en-US" sz="1400" b="1" dirty="0">
                <a:solidFill>
                  <a:srgbClr val="15132B"/>
                </a:solidFill>
                <a:latin typeface="Aptos" pitchFamily="34" charset="0"/>
                <a:ea typeface="Aptos" pitchFamily="34" charset="-122"/>
                <a:cs typeface="Aptos" pitchFamily="34" charset="-120"/>
              </a:rPr>
              <a:t>Demanda</a:t>
            </a:r>
            <a:endParaRPr lang="en-US" sz="1400" dirty="0"/>
          </a:p>
        </p:txBody>
      </p:sp>
      <p:sp>
        <p:nvSpPr>
          <p:cNvPr id="23" name="Text 20"/>
          <p:cNvSpPr/>
          <p:nvPr/>
        </p:nvSpPr>
        <p:spPr>
          <a:xfrm>
            <a:off x="3795473" y="3798790"/>
            <a:ext cx="1929384" cy="420624"/>
          </a:xfrm>
          <a:prstGeom prst="rect">
            <a:avLst/>
          </a:prstGeom>
          <a:noFill/>
          <a:ln/>
        </p:spPr>
        <p:txBody>
          <a:bodyPr wrap="square" lIns="0" tIns="0" rIns="0" bIns="0" rtlCol="0" anchor="ctr">
            <a:normAutofit/>
          </a:bodyPr>
          <a:lstStyle/>
          <a:p>
            <a:pPr marL="0" indent="0" algn="ctr">
              <a:buNone/>
            </a:pPr>
            <a:r>
              <a:rPr lang="en-US" sz="1000" dirty="0">
                <a:solidFill>
                  <a:srgbClr val="746F93"/>
                </a:solidFill>
                <a:latin typeface="Aptos" pitchFamily="34" charset="0"/>
                <a:ea typeface="Aptos" pitchFamily="34" charset="-122"/>
                <a:cs typeface="Aptos" pitchFamily="34" charset="-120"/>
              </a:rPr>
              <a:t>campañas · atribución · optimización</a:t>
            </a:r>
            <a:endParaRPr lang="en-US" sz="1000" dirty="0"/>
          </a:p>
        </p:txBody>
      </p:sp>
      <p:sp>
        <p:nvSpPr>
          <p:cNvPr id="24" name="Shape 21"/>
          <p:cNvSpPr/>
          <p:nvPr/>
        </p:nvSpPr>
        <p:spPr>
          <a:xfrm>
            <a:off x="4760165" y="4238653"/>
            <a:ext cx="0" cy="155448"/>
          </a:xfrm>
          <a:prstGeom prst="line">
            <a:avLst/>
          </a:prstGeom>
          <a:noFill/>
          <a:ln w="15240">
            <a:solidFill>
              <a:srgbClr val="F39A2C"/>
            </a:solidFill>
            <a:prstDash val="solid"/>
            <a:headEnd type="none"/>
            <a:tailEnd type="triangle"/>
          </a:ln>
        </p:spPr>
        <p:txBody>
          <a:bodyPr/>
          <a:lstStyle/>
          <a:p>
            <a:endParaRPr lang="es-MX" sz="1000"/>
          </a:p>
        </p:txBody>
      </p:sp>
      <p:sp>
        <p:nvSpPr>
          <p:cNvPr id="25" name="Shape 22"/>
          <p:cNvSpPr/>
          <p:nvPr/>
        </p:nvSpPr>
        <p:spPr>
          <a:xfrm>
            <a:off x="3758897" y="4448965"/>
            <a:ext cx="2002536" cy="502920"/>
          </a:xfrm>
          <a:prstGeom prst="roundRect">
            <a:avLst>
              <a:gd name="adj" fmla="val 14545"/>
            </a:avLst>
          </a:prstGeom>
          <a:solidFill>
            <a:srgbClr val="FFF2DF"/>
          </a:solidFill>
          <a:ln w="16510">
            <a:solidFill>
              <a:srgbClr val="F39A2C"/>
            </a:solidFill>
            <a:prstDash val="solid"/>
          </a:ln>
        </p:spPr>
        <p:txBody>
          <a:bodyPr/>
          <a:lstStyle/>
          <a:p>
            <a:endParaRPr lang="es-MX"/>
          </a:p>
        </p:txBody>
      </p:sp>
      <p:sp>
        <p:nvSpPr>
          <p:cNvPr id="26" name="Text 23"/>
          <p:cNvSpPr/>
          <p:nvPr/>
        </p:nvSpPr>
        <p:spPr>
          <a:xfrm>
            <a:off x="3868625" y="4567837"/>
            <a:ext cx="1783080" cy="256032"/>
          </a:xfrm>
          <a:prstGeom prst="rect">
            <a:avLst/>
          </a:prstGeom>
          <a:noFill/>
          <a:ln/>
        </p:spPr>
        <p:txBody>
          <a:bodyPr wrap="square" lIns="0" tIns="0" rIns="0" bIns="0" rtlCol="0" anchor="ctr">
            <a:normAutofit fontScale="92500" lnSpcReduction="20000"/>
          </a:bodyPr>
          <a:lstStyle/>
          <a:p>
            <a:pPr marL="0" indent="0" algn="ctr">
              <a:buNone/>
            </a:pPr>
            <a:r>
              <a:rPr lang="en-US" sz="1030" b="1" dirty="0">
                <a:solidFill>
                  <a:srgbClr val="F39A2C"/>
                </a:solidFill>
                <a:latin typeface="Aptos" pitchFamily="34" charset="0"/>
                <a:ea typeface="Aptos" pitchFamily="34" charset="-122"/>
                <a:cs typeface="Aptos" pitchFamily="34" charset="-120"/>
              </a:rPr>
              <a:t>GENERACIÓN</a:t>
            </a:r>
            <a:endParaRPr lang="en-US" sz="1030" dirty="0"/>
          </a:p>
          <a:p>
            <a:pPr marL="0" indent="0" algn="ctr">
              <a:buNone/>
            </a:pPr>
            <a:r>
              <a:rPr lang="en-US" sz="1030" b="1" dirty="0">
                <a:solidFill>
                  <a:srgbClr val="F39A2C"/>
                </a:solidFill>
                <a:latin typeface="Aptos" pitchFamily="34" charset="0"/>
                <a:ea typeface="Aptos" pitchFamily="34" charset="-122"/>
                <a:cs typeface="Aptos" pitchFamily="34" charset="-120"/>
              </a:rPr>
              <a:t>DE DEMANDA</a:t>
            </a:r>
            <a:endParaRPr lang="en-US" sz="1030" dirty="0"/>
          </a:p>
        </p:txBody>
      </p:sp>
      <p:sp>
        <p:nvSpPr>
          <p:cNvPr id="27" name="Shape 24"/>
          <p:cNvSpPr/>
          <p:nvPr/>
        </p:nvSpPr>
        <p:spPr>
          <a:xfrm>
            <a:off x="7064453" y="2977262"/>
            <a:ext cx="0" cy="283464"/>
          </a:xfrm>
          <a:prstGeom prst="line">
            <a:avLst/>
          </a:prstGeom>
          <a:noFill/>
          <a:ln w="15240">
            <a:solidFill>
              <a:schemeClr val="tx1">
                <a:lumMod val="50000"/>
                <a:lumOff val="50000"/>
              </a:schemeClr>
            </a:solidFill>
            <a:prstDash val="solid"/>
            <a:headEnd type="none"/>
            <a:tailEnd type="triangle"/>
          </a:ln>
        </p:spPr>
        <p:txBody>
          <a:bodyPr/>
          <a:lstStyle/>
          <a:p>
            <a:endParaRPr lang="es-MX"/>
          </a:p>
        </p:txBody>
      </p:sp>
      <p:sp>
        <p:nvSpPr>
          <p:cNvPr id="28" name="Shape 25"/>
          <p:cNvSpPr/>
          <p:nvPr/>
        </p:nvSpPr>
        <p:spPr>
          <a:xfrm>
            <a:off x="5990033" y="3324253"/>
            <a:ext cx="2148840" cy="914400"/>
          </a:xfrm>
          <a:prstGeom prst="roundRect">
            <a:avLst>
              <a:gd name="adj" fmla="val 8000"/>
            </a:avLst>
          </a:prstGeom>
          <a:solidFill>
            <a:srgbClr val="FFFFFF"/>
          </a:solidFill>
          <a:ln w="16510">
            <a:solidFill>
              <a:srgbClr val="6034D3"/>
            </a:solidFill>
            <a:prstDash val="solid"/>
          </a:ln>
          <a:effectLst>
            <a:outerShdw blurRad="12700" dist="50800" dir="2700000" algn="bl" rotWithShape="0">
              <a:srgbClr val="000000">
                <a:alpha val="10000"/>
              </a:srgbClr>
            </a:outerShdw>
          </a:effectLst>
        </p:spPr>
        <p:txBody>
          <a:bodyPr/>
          <a:lstStyle/>
          <a:p>
            <a:endParaRPr lang="es-MX"/>
          </a:p>
        </p:txBody>
      </p:sp>
      <p:sp>
        <p:nvSpPr>
          <p:cNvPr id="29" name="Text 26"/>
          <p:cNvSpPr/>
          <p:nvPr/>
        </p:nvSpPr>
        <p:spPr>
          <a:xfrm>
            <a:off x="6099761" y="3443125"/>
            <a:ext cx="1929384" cy="256032"/>
          </a:xfrm>
          <a:prstGeom prst="rect">
            <a:avLst/>
          </a:prstGeom>
          <a:noFill/>
          <a:ln/>
        </p:spPr>
        <p:txBody>
          <a:bodyPr wrap="square" lIns="0" tIns="0" rIns="0" bIns="0" rtlCol="0" anchor="ctr">
            <a:noAutofit/>
          </a:bodyPr>
          <a:lstStyle/>
          <a:p>
            <a:pPr marL="0" indent="0" algn="ctr">
              <a:buNone/>
            </a:pPr>
            <a:r>
              <a:rPr lang="en-US" sz="1400" b="1" dirty="0">
                <a:solidFill>
                  <a:srgbClr val="15132B"/>
                </a:solidFill>
                <a:latin typeface="Aptos" pitchFamily="34" charset="0"/>
                <a:ea typeface="Aptos" pitchFamily="34" charset="-122"/>
                <a:cs typeface="Aptos" pitchFamily="34" charset="-120"/>
              </a:rPr>
              <a:t>Operaciones de</a:t>
            </a:r>
            <a:endParaRPr lang="en-US" sz="1400" dirty="0"/>
          </a:p>
          <a:p>
            <a:pPr marL="0" indent="0" algn="ctr">
              <a:buNone/>
            </a:pPr>
            <a:r>
              <a:rPr lang="en-US" sz="1400" b="1" dirty="0">
                <a:solidFill>
                  <a:srgbClr val="15132B"/>
                </a:solidFill>
                <a:latin typeface="Aptos" pitchFamily="34" charset="0"/>
                <a:ea typeface="Aptos" pitchFamily="34" charset="-122"/>
                <a:cs typeface="Aptos" pitchFamily="34" charset="-120"/>
              </a:rPr>
              <a:t>Relaciones</a:t>
            </a:r>
            <a:endParaRPr lang="en-US" sz="1400" dirty="0"/>
          </a:p>
        </p:txBody>
      </p:sp>
      <p:sp>
        <p:nvSpPr>
          <p:cNvPr id="30" name="Text 27"/>
          <p:cNvSpPr/>
          <p:nvPr/>
        </p:nvSpPr>
        <p:spPr>
          <a:xfrm>
            <a:off x="6099761" y="3798790"/>
            <a:ext cx="1929384" cy="420624"/>
          </a:xfrm>
          <a:prstGeom prst="rect">
            <a:avLst/>
          </a:prstGeom>
          <a:noFill/>
          <a:ln/>
        </p:spPr>
        <p:txBody>
          <a:bodyPr wrap="square" lIns="0" tIns="0" rIns="0" bIns="0" rtlCol="0" anchor="ctr">
            <a:normAutofit/>
          </a:bodyPr>
          <a:lstStyle/>
          <a:p>
            <a:pPr marL="0" indent="0" algn="ctr">
              <a:buNone/>
            </a:pPr>
            <a:r>
              <a:rPr lang="en-US" sz="1000" dirty="0">
                <a:solidFill>
                  <a:srgbClr val="746F93"/>
                </a:solidFill>
                <a:latin typeface="Aptos" pitchFamily="34" charset="0"/>
                <a:ea typeface="Aptos" pitchFamily="34" charset="-122"/>
                <a:cs typeface="Aptos" pitchFamily="34" charset="-120"/>
              </a:rPr>
              <a:t>leads · oportunidades · visitas · </a:t>
            </a:r>
            <a:r>
              <a:rPr lang="en-US" sz="1000" dirty="0" err="1">
                <a:solidFill>
                  <a:srgbClr val="746F93"/>
                </a:solidFill>
                <a:latin typeface="Aptos" pitchFamily="34" charset="0"/>
                <a:ea typeface="Aptos" pitchFamily="34" charset="-122"/>
                <a:cs typeface="Aptos" pitchFamily="34" charset="-120"/>
              </a:rPr>
              <a:t>seguimiento</a:t>
            </a:r>
            <a:endParaRPr lang="en-US" sz="1000" dirty="0"/>
          </a:p>
        </p:txBody>
      </p:sp>
      <p:sp>
        <p:nvSpPr>
          <p:cNvPr id="31" name="Shape 28"/>
          <p:cNvSpPr/>
          <p:nvPr/>
        </p:nvSpPr>
        <p:spPr>
          <a:xfrm>
            <a:off x="7064453" y="4238653"/>
            <a:ext cx="0" cy="155448"/>
          </a:xfrm>
          <a:prstGeom prst="line">
            <a:avLst/>
          </a:prstGeom>
          <a:noFill/>
          <a:ln w="15240">
            <a:solidFill>
              <a:srgbClr val="6034D3"/>
            </a:solidFill>
            <a:prstDash val="solid"/>
            <a:headEnd type="none"/>
            <a:tailEnd type="triangle"/>
          </a:ln>
        </p:spPr>
        <p:txBody>
          <a:bodyPr/>
          <a:lstStyle/>
          <a:p>
            <a:endParaRPr lang="es-MX" sz="1000"/>
          </a:p>
        </p:txBody>
      </p:sp>
      <p:sp>
        <p:nvSpPr>
          <p:cNvPr id="32" name="Shape 29"/>
          <p:cNvSpPr/>
          <p:nvPr/>
        </p:nvSpPr>
        <p:spPr>
          <a:xfrm>
            <a:off x="6063185" y="4448965"/>
            <a:ext cx="2002536" cy="502920"/>
          </a:xfrm>
          <a:prstGeom prst="roundRect">
            <a:avLst>
              <a:gd name="adj" fmla="val 14545"/>
            </a:avLst>
          </a:prstGeom>
          <a:solidFill>
            <a:srgbClr val="F0E9FF"/>
          </a:solidFill>
          <a:ln w="16510">
            <a:solidFill>
              <a:srgbClr val="6034D3"/>
            </a:solidFill>
            <a:prstDash val="solid"/>
          </a:ln>
        </p:spPr>
        <p:txBody>
          <a:bodyPr/>
          <a:lstStyle/>
          <a:p>
            <a:endParaRPr lang="es-MX"/>
          </a:p>
        </p:txBody>
      </p:sp>
      <p:sp>
        <p:nvSpPr>
          <p:cNvPr id="33" name="Text 30"/>
          <p:cNvSpPr/>
          <p:nvPr/>
        </p:nvSpPr>
        <p:spPr>
          <a:xfrm>
            <a:off x="6172913" y="4567837"/>
            <a:ext cx="1783080" cy="256032"/>
          </a:xfrm>
          <a:prstGeom prst="rect">
            <a:avLst/>
          </a:prstGeom>
          <a:noFill/>
          <a:ln/>
        </p:spPr>
        <p:txBody>
          <a:bodyPr wrap="square" lIns="0" tIns="0" rIns="0" bIns="0" rtlCol="0" anchor="ctr">
            <a:normAutofit/>
          </a:bodyPr>
          <a:lstStyle/>
          <a:p>
            <a:pPr marL="0" indent="0" algn="ctr">
              <a:buNone/>
            </a:pPr>
            <a:r>
              <a:rPr lang="en-US" sz="1030" b="1" dirty="0">
                <a:solidFill>
                  <a:srgbClr val="6034D3"/>
                </a:solidFill>
                <a:latin typeface="Aptos" pitchFamily="34" charset="0"/>
                <a:ea typeface="Aptos" pitchFamily="34" charset="-122"/>
                <a:cs typeface="Aptos" pitchFamily="34" charset="-120"/>
              </a:rPr>
              <a:t>CONVERSIÓN</a:t>
            </a:r>
            <a:endParaRPr lang="en-US" sz="1030" dirty="0"/>
          </a:p>
        </p:txBody>
      </p:sp>
      <p:sp>
        <p:nvSpPr>
          <p:cNvPr id="34" name="Shape 31"/>
          <p:cNvSpPr/>
          <p:nvPr/>
        </p:nvSpPr>
        <p:spPr>
          <a:xfrm>
            <a:off x="9368741" y="2977262"/>
            <a:ext cx="0" cy="283464"/>
          </a:xfrm>
          <a:prstGeom prst="line">
            <a:avLst/>
          </a:prstGeom>
          <a:noFill/>
          <a:ln w="15240">
            <a:solidFill>
              <a:schemeClr val="tx1">
                <a:lumMod val="50000"/>
                <a:lumOff val="50000"/>
              </a:schemeClr>
            </a:solidFill>
            <a:prstDash val="solid"/>
            <a:headEnd type="none"/>
            <a:tailEnd type="triangle"/>
          </a:ln>
        </p:spPr>
        <p:txBody>
          <a:bodyPr/>
          <a:lstStyle/>
          <a:p>
            <a:endParaRPr lang="es-MX"/>
          </a:p>
        </p:txBody>
      </p:sp>
      <p:sp>
        <p:nvSpPr>
          <p:cNvPr id="35" name="Shape 32"/>
          <p:cNvSpPr/>
          <p:nvPr/>
        </p:nvSpPr>
        <p:spPr>
          <a:xfrm>
            <a:off x="8294321" y="3324253"/>
            <a:ext cx="2148840" cy="914400"/>
          </a:xfrm>
          <a:prstGeom prst="roundRect">
            <a:avLst>
              <a:gd name="adj" fmla="val 8000"/>
            </a:avLst>
          </a:prstGeom>
          <a:solidFill>
            <a:srgbClr val="FFFFFF"/>
          </a:solidFill>
          <a:ln w="16510">
            <a:solidFill>
              <a:srgbClr val="B04D80"/>
            </a:solidFill>
            <a:prstDash val="solid"/>
          </a:ln>
          <a:effectLst>
            <a:outerShdw blurRad="12700" dist="50800" dir="2700000" algn="bl" rotWithShape="0">
              <a:srgbClr val="000000">
                <a:alpha val="10000"/>
              </a:srgbClr>
            </a:outerShdw>
          </a:effectLst>
        </p:spPr>
        <p:txBody>
          <a:bodyPr/>
          <a:lstStyle/>
          <a:p>
            <a:endParaRPr lang="es-MX"/>
          </a:p>
        </p:txBody>
      </p:sp>
      <p:sp>
        <p:nvSpPr>
          <p:cNvPr id="36" name="Text 33"/>
          <p:cNvSpPr/>
          <p:nvPr/>
        </p:nvSpPr>
        <p:spPr>
          <a:xfrm>
            <a:off x="8404049" y="3443125"/>
            <a:ext cx="1929384" cy="256032"/>
          </a:xfrm>
          <a:prstGeom prst="rect">
            <a:avLst/>
          </a:prstGeom>
          <a:noFill/>
          <a:ln/>
        </p:spPr>
        <p:txBody>
          <a:bodyPr wrap="square" lIns="0" tIns="0" rIns="0" bIns="0" rtlCol="0" anchor="ctr">
            <a:noAutofit/>
          </a:bodyPr>
          <a:lstStyle/>
          <a:p>
            <a:pPr marL="0" indent="0" algn="ctr">
              <a:buNone/>
            </a:pPr>
            <a:r>
              <a:rPr lang="en-US" sz="1400" b="1" dirty="0">
                <a:solidFill>
                  <a:srgbClr val="15132B"/>
                </a:solidFill>
                <a:latin typeface="Aptos" pitchFamily="34" charset="0"/>
                <a:ea typeface="Aptos" pitchFamily="34" charset="-122"/>
                <a:cs typeface="Aptos" pitchFamily="34" charset="-120"/>
              </a:rPr>
              <a:t>Operaciones de</a:t>
            </a:r>
            <a:endParaRPr lang="en-US" sz="1400" dirty="0"/>
          </a:p>
          <a:p>
            <a:pPr marL="0" indent="0" algn="ctr">
              <a:buNone/>
            </a:pPr>
            <a:r>
              <a:rPr lang="en-US" sz="1400" b="1" dirty="0">
                <a:solidFill>
                  <a:srgbClr val="15132B"/>
                </a:solidFill>
                <a:latin typeface="Aptos" pitchFamily="34" charset="0"/>
                <a:ea typeface="Aptos" pitchFamily="34" charset="-122"/>
                <a:cs typeface="Aptos" pitchFamily="34" charset="-120"/>
              </a:rPr>
              <a:t>Transacciones</a:t>
            </a:r>
            <a:endParaRPr lang="en-US" sz="1400" dirty="0"/>
          </a:p>
        </p:txBody>
      </p:sp>
      <p:sp>
        <p:nvSpPr>
          <p:cNvPr id="37" name="Text 34"/>
          <p:cNvSpPr/>
          <p:nvPr/>
        </p:nvSpPr>
        <p:spPr>
          <a:xfrm>
            <a:off x="8404049" y="3798790"/>
            <a:ext cx="1929384" cy="420624"/>
          </a:xfrm>
          <a:prstGeom prst="rect">
            <a:avLst/>
          </a:prstGeom>
          <a:noFill/>
          <a:ln/>
        </p:spPr>
        <p:txBody>
          <a:bodyPr wrap="square" lIns="0" tIns="0" rIns="0" bIns="0" rtlCol="0" anchor="ctr">
            <a:normAutofit/>
          </a:bodyPr>
          <a:lstStyle/>
          <a:p>
            <a:pPr marL="0" indent="0" algn="ctr">
              <a:buNone/>
            </a:pPr>
            <a:r>
              <a:rPr lang="en-US" sz="1000" dirty="0">
                <a:solidFill>
                  <a:srgbClr val="746F93"/>
                </a:solidFill>
                <a:latin typeface="Aptos" pitchFamily="34" charset="0"/>
                <a:ea typeface="Aptos" pitchFamily="34" charset="-122"/>
                <a:cs typeface="Aptos" pitchFamily="34" charset="-120"/>
              </a:rPr>
              <a:t>ofertas · documentos · financiamiento · cierre</a:t>
            </a:r>
            <a:endParaRPr lang="en-US" sz="1000" dirty="0"/>
          </a:p>
        </p:txBody>
      </p:sp>
      <p:sp>
        <p:nvSpPr>
          <p:cNvPr id="38" name="Shape 35"/>
          <p:cNvSpPr/>
          <p:nvPr/>
        </p:nvSpPr>
        <p:spPr>
          <a:xfrm>
            <a:off x="9368741" y="4238653"/>
            <a:ext cx="0" cy="155448"/>
          </a:xfrm>
          <a:prstGeom prst="line">
            <a:avLst/>
          </a:prstGeom>
          <a:noFill/>
          <a:ln w="15240">
            <a:solidFill>
              <a:srgbClr val="B04D80"/>
            </a:solidFill>
            <a:prstDash val="solid"/>
            <a:headEnd type="none"/>
            <a:tailEnd type="triangle"/>
          </a:ln>
        </p:spPr>
        <p:txBody>
          <a:bodyPr/>
          <a:lstStyle/>
          <a:p>
            <a:endParaRPr lang="es-MX" sz="1000"/>
          </a:p>
        </p:txBody>
      </p:sp>
      <p:sp>
        <p:nvSpPr>
          <p:cNvPr id="39" name="Shape 36"/>
          <p:cNvSpPr/>
          <p:nvPr/>
        </p:nvSpPr>
        <p:spPr>
          <a:xfrm>
            <a:off x="8367473" y="4448965"/>
            <a:ext cx="2002536" cy="502920"/>
          </a:xfrm>
          <a:prstGeom prst="roundRect">
            <a:avLst>
              <a:gd name="adj" fmla="val 14545"/>
            </a:avLst>
          </a:prstGeom>
          <a:solidFill>
            <a:srgbClr val="F8E8F0"/>
          </a:solidFill>
          <a:ln w="16510">
            <a:solidFill>
              <a:srgbClr val="B04D80"/>
            </a:solidFill>
            <a:prstDash val="solid"/>
          </a:ln>
        </p:spPr>
        <p:txBody>
          <a:bodyPr/>
          <a:lstStyle/>
          <a:p>
            <a:endParaRPr lang="es-MX"/>
          </a:p>
        </p:txBody>
      </p:sp>
      <p:sp>
        <p:nvSpPr>
          <p:cNvPr id="40" name="Text 37"/>
          <p:cNvSpPr/>
          <p:nvPr/>
        </p:nvSpPr>
        <p:spPr>
          <a:xfrm>
            <a:off x="8477201" y="4567837"/>
            <a:ext cx="1783080" cy="256032"/>
          </a:xfrm>
          <a:prstGeom prst="rect">
            <a:avLst/>
          </a:prstGeom>
          <a:noFill/>
          <a:ln/>
        </p:spPr>
        <p:txBody>
          <a:bodyPr wrap="square" lIns="0" tIns="0" rIns="0" bIns="0" rtlCol="0" anchor="ctr">
            <a:normAutofit/>
          </a:bodyPr>
          <a:lstStyle/>
          <a:p>
            <a:pPr marL="0" indent="0" algn="ctr">
              <a:buNone/>
            </a:pPr>
            <a:r>
              <a:rPr lang="en-US" sz="1030" b="1" dirty="0">
                <a:solidFill>
                  <a:srgbClr val="B04D80"/>
                </a:solidFill>
                <a:latin typeface="Aptos" pitchFamily="34" charset="0"/>
                <a:ea typeface="Aptos" pitchFamily="34" charset="-122"/>
                <a:cs typeface="Aptos" pitchFamily="34" charset="-120"/>
              </a:rPr>
              <a:t>TRANSACCIÓN</a:t>
            </a:r>
            <a:endParaRPr lang="en-US" sz="1030" dirty="0"/>
          </a:p>
        </p:txBody>
      </p:sp>
      <p:sp>
        <p:nvSpPr>
          <p:cNvPr id="41" name="Shape 38"/>
          <p:cNvSpPr/>
          <p:nvPr/>
        </p:nvSpPr>
        <p:spPr>
          <a:xfrm>
            <a:off x="1381457" y="5138344"/>
            <a:ext cx="9072920" cy="576656"/>
          </a:xfrm>
          <a:prstGeom prst="roundRect">
            <a:avLst>
              <a:gd name="adj" fmla="val 8621"/>
            </a:avLst>
          </a:prstGeom>
          <a:solidFill>
            <a:srgbClr val="E7F6EF"/>
          </a:solidFill>
          <a:ln w="15240">
            <a:solidFill>
              <a:srgbClr val="008C58"/>
            </a:solidFill>
            <a:prstDash val="solid"/>
          </a:ln>
        </p:spPr>
        <p:txBody>
          <a:bodyPr/>
          <a:lstStyle/>
          <a:p>
            <a:endParaRPr lang="es-MX"/>
          </a:p>
        </p:txBody>
      </p:sp>
      <p:sp>
        <p:nvSpPr>
          <p:cNvPr id="42" name="Text 39"/>
          <p:cNvSpPr/>
          <p:nvPr/>
        </p:nvSpPr>
        <p:spPr>
          <a:xfrm>
            <a:off x="1818862" y="5229784"/>
            <a:ext cx="2181752" cy="341696"/>
          </a:xfrm>
          <a:prstGeom prst="rect">
            <a:avLst/>
          </a:prstGeom>
          <a:noFill/>
          <a:ln/>
        </p:spPr>
        <p:txBody>
          <a:bodyPr wrap="square" lIns="0" tIns="0" rIns="0" bIns="0" rtlCol="0" anchor="ctr">
            <a:noAutofit/>
          </a:bodyPr>
          <a:lstStyle/>
          <a:p>
            <a:pPr marL="0" indent="0" algn="l">
              <a:buNone/>
            </a:pPr>
            <a:r>
              <a:rPr lang="en-US" sz="1400" b="1" dirty="0">
                <a:solidFill>
                  <a:srgbClr val="008C58"/>
                </a:solidFill>
                <a:latin typeface="Aptos" pitchFamily="34" charset="0"/>
                <a:ea typeface="Aptos" pitchFamily="34" charset="-122"/>
                <a:cs typeface="Aptos" pitchFamily="34" charset="-120"/>
              </a:rPr>
              <a:t>Operaciones de Red</a:t>
            </a:r>
            <a:endParaRPr lang="en-US" sz="1400" dirty="0"/>
          </a:p>
        </p:txBody>
      </p:sp>
      <p:sp>
        <p:nvSpPr>
          <p:cNvPr id="43" name="Text 40"/>
          <p:cNvSpPr/>
          <p:nvPr/>
        </p:nvSpPr>
        <p:spPr>
          <a:xfrm>
            <a:off x="4084983" y="5229784"/>
            <a:ext cx="6285025" cy="341696"/>
          </a:xfrm>
          <a:prstGeom prst="rect">
            <a:avLst/>
          </a:prstGeom>
          <a:noFill/>
          <a:ln/>
        </p:spPr>
        <p:txBody>
          <a:bodyPr wrap="square" lIns="0" tIns="0" rIns="0" bIns="0" rtlCol="0" anchor="ctr">
            <a:normAutofit lnSpcReduction="10000"/>
          </a:bodyPr>
          <a:lstStyle/>
          <a:p>
            <a:pPr marL="0" indent="0" algn="l">
              <a:buNone/>
            </a:pPr>
            <a:r>
              <a:rPr lang="en-US" sz="1200" dirty="0" err="1">
                <a:solidFill>
                  <a:srgbClr val="746F93"/>
                </a:solidFill>
                <a:latin typeface="Aptos" pitchFamily="34" charset="0"/>
                <a:ea typeface="Aptos" pitchFamily="34" charset="-122"/>
                <a:cs typeface="Aptos" pitchFamily="34" charset="-120"/>
              </a:rPr>
              <a:t>Apoya</a:t>
            </a:r>
            <a:r>
              <a:rPr lang="en-US" sz="1200" dirty="0">
                <a:solidFill>
                  <a:srgbClr val="746F93"/>
                </a:solidFill>
                <a:latin typeface="Aptos" pitchFamily="34" charset="0"/>
                <a:ea typeface="Aptos" pitchFamily="34" charset="-122"/>
                <a:cs typeface="Aptos" pitchFamily="34" charset="-120"/>
              </a:rPr>
              <a:t> </a:t>
            </a:r>
            <a:r>
              <a:rPr lang="en-US" sz="1200" dirty="0" err="1">
                <a:solidFill>
                  <a:srgbClr val="746F93"/>
                </a:solidFill>
                <a:latin typeface="Aptos" pitchFamily="34" charset="0"/>
                <a:ea typeface="Aptos" pitchFamily="34" charset="-122"/>
                <a:cs typeface="Aptos" pitchFamily="34" charset="-120"/>
              </a:rPr>
              <a:t>múltiples</a:t>
            </a:r>
            <a:r>
              <a:rPr lang="en-US" sz="1200" dirty="0">
                <a:solidFill>
                  <a:srgbClr val="746F93"/>
                </a:solidFill>
                <a:latin typeface="Aptos" pitchFamily="34" charset="0"/>
                <a:ea typeface="Aptos" pitchFamily="34" charset="-122"/>
                <a:cs typeface="Aptos" pitchFamily="34" charset="-120"/>
              </a:rPr>
              <a:t> </a:t>
            </a:r>
            <a:r>
              <a:rPr lang="en-US" sz="1200" dirty="0" err="1">
                <a:solidFill>
                  <a:srgbClr val="746F93"/>
                </a:solidFill>
                <a:latin typeface="Aptos" pitchFamily="34" charset="0"/>
                <a:ea typeface="Aptos" pitchFamily="34" charset="-122"/>
                <a:cs typeface="Aptos" pitchFamily="34" charset="-120"/>
              </a:rPr>
              <a:t>dominios</a:t>
            </a:r>
            <a:r>
              <a:rPr lang="en-US" sz="1200" dirty="0">
                <a:solidFill>
                  <a:srgbClr val="746F93"/>
                </a:solidFill>
                <a:latin typeface="Aptos" pitchFamily="34" charset="0"/>
                <a:ea typeface="Aptos" pitchFamily="34" charset="-122"/>
                <a:cs typeface="Aptos" pitchFamily="34" charset="-120"/>
              </a:rPr>
              <a:t> </a:t>
            </a:r>
            <a:r>
              <a:rPr lang="en-US" sz="1200" dirty="0" err="1">
                <a:solidFill>
                  <a:srgbClr val="746F93"/>
                </a:solidFill>
                <a:latin typeface="Aptos" pitchFamily="34" charset="0"/>
                <a:ea typeface="Aptos" pitchFamily="34" charset="-122"/>
                <a:cs typeface="Aptos" pitchFamily="34" charset="-120"/>
              </a:rPr>
              <a:t>mediante</a:t>
            </a:r>
            <a:r>
              <a:rPr lang="en-US" sz="1200" dirty="0">
                <a:solidFill>
                  <a:srgbClr val="746F93"/>
                </a:solidFill>
                <a:latin typeface="Aptos" pitchFamily="34" charset="0"/>
                <a:ea typeface="Aptos" pitchFamily="34" charset="-122"/>
                <a:cs typeface="Aptos" pitchFamily="34" charset="-120"/>
              </a:rPr>
              <a:t> </a:t>
            </a:r>
            <a:r>
              <a:rPr lang="en-US" sz="1200" dirty="0" err="1">
                <a:solidFill>
                  <a:srgbClr val="746F93"/>
                </a:solidFill>
                <a:latin typeface="Aptos" pitchFamily="34" charset="0"/>
                <a:ea typeface="Aptos" pitchFamily="34" charset="-122"/>
                <a:cs typeface="Aptos" pitchFamily="34" charset="-120"/>
              </a:rPr>
              <a:t>inventario</a:t>
            </a:r>
            <a:r>
              <a:rPr lang="en-US" sz="1200" dirty="0">
                <a:solidFill>
                  <a:srgbClr val="746F93"/>
                </a:solidFill>
                <a:latin typeface="Aptos" pitchFamily="34" charset="0"/>
                <a:ea typeface="Aptos" pitchFamily="34" charset="-122"/>
                <a:cs typeface="Aptos" pitchFamily="34" charset="-120"/>
              </a:rPr>
              <a:t> </a:t>
            </a:r>
            <a:r>
              <a:rPr lang="en-US" sz="1200" dirty="0" err="1">
                <a:solidFill>
                  <a:srgbClr val="746F93"/>
                </a:solidFill>
                <a:latin typeface="Aptos" pitchFamily="34" charset="0"/>
                <a:ea typeface="Aptos" pitchFamily="34" charset="-122"/>
                <a:cs typeface="Aptos" pitchFamily="34" charset="-120"/>
              </a:rPr>
              <a:t>compartido</a:t>
            </a:r>
            <a:r>
              <a:rPr lang="en-US" sz="1200" dirty="0">
                <a:solidFill>
                  <a:srgbClr val="746F93"/>
                </a:solidFill>
                <a:latin typeface="Aptos" pitchFamily="34" charset="0"/>
                <a:ea typeface="Aptos" pitchFamily="34" charset="-122"/>
                <a:cs typeface="Aptos" pitchFamily="34" charset="-120"/>
              </a:rPr>
              <a:t> · </a:t>
            </a:r>
            <a:r>
              <a:rPr lang="en-US" sz="1200" dirty="0" err="1">
                <a:solidFill>
                  <a:srgbClr val="746F93"/>
                </a:solidFill>
                <a:latin typeface="Aptos" pitchFamily="34" charset="0"/>
                <a:ea typeface="Aptos" pitchFamily="34" charset="-122"/>
                <a:cs typeface="Aptos" pitchFamily="34" charset="-120"/>
              </a:rPr>
              <a:t>enrutamiento</a:t>
            </a:r>
            <a:r>
              <a:rPr lang="en-US" sz="1200" dirty="0">
                <a:solidFill>
                  <a:srgbClr val="746F93"/>
                </a:solidFill>
                <a:latin typeface="Aptos" pitchFamily="34" charset="0"/>
                <a:ea typeface="Aptos" pitchFamily="34" charset="-122"/>
                <a:cs typeface="Aptos" pitchFamily="34" charset="-120"/>
              </a:rPr>
              <a:t> · </a:t>
            </a:r>
            <a:r>
              <a:rPr lang="en-US" sz="1200" dirty="0" err="1">
                <a:solidFill>
                  <a:srgbClr val="746F93"/>
                </a:solidFill>
                <a:latin typeface="Aptos" pitchFamily="34" charset="0"/>
                <a:ea typeface="Aptos" pitchFamily="34" charset="-122"/>
                <a:cs typeface="Aptos" pitchFamily="34" charset="-120"/>
              </a:rPr>
              <a:t>servicios</a:t>
            </a:r>
            <a:r>
              <a:rPr lang="en-US" sz="1200" dirty="0">
                <a:solidFill>
                  <a:srgbClr val="746F93"/>
                </a:solidFill>
                <a:latin typeface="Aptos" pitchFamily="34" charset="0"/>
                <a:ea typeface="Aptos" pitchFamily="34" charset="-122"/>
                <a:cs typeface="Aptos" pitchFamily="34" charset="-120"/>
              </a:rPr>
              <a:t> </a:t>
            </a:r>
            <a:r>
              <a:rPr lang="en-US" sz="1200" dirty="0" err="1">
                <a:solidFill>
                  <a:srgbClr val="746F93"/>
                </a:solidFill>
                <a:latin typeface="Aptos" pitchFamily="34" charset="0"/>
                <a:ea typeface="Aptos" pitchFamily="34" charset="-122"/>
                <a:cs typeface="Aptos" pitchFamily="34" charset="-120"/>
              </a:rPr>
              <a:t>especializados</a:t>
            </a:r>
            <a:r>
              <a:rPr lang="en-US" sz="1200" dirty="0">
                <a:solidFill>
                  <a:srgbClr val="746F93"/>
                </a:solidFill>
                <a:latin typeface="Aptos" pitchFamily="34" charset="0"/>
                <a:ea typeface="Aptos" pitchFamily="34" charset="-122"/>
                <a:cs typeface="Aptos" pitchFamily="34" charset="-120"/>
              </a:rPr>
              <a:t> · </a:t>
            </a:r>
            <a:r>
              <a:rPr lang="en-US" sz="1200" dirty="0" err="1">
                <a:solidFill>
                  <a:srgbClr val="746F93"/>
                </a:solidFill>
                <a:latin typeface="Aptos" pitchFamily="34" charset="0"/>
                <a:ea typeface="Aptos" pitchFamily="34" charset="-122"/>
                <a:cs typeface="Aptos" pitchFamily="34" charset="-120"/>
              </a:rPr>
              <a:t>oportunidades</a:t>
            </a:r>
            <a:r>
              <a:rPr lang="en-US" sz="1200" dirty="0">
                <a:solidFill>
                  <a:srgbClr val="746F93"/>
                </a:solidFill>
                <a:latin typeface="Aptos" pitchFamily="34" charset="0"/>
                <a:ea typeface="Aptos" pitchFamily="34" charset="-122"/>
                <a:cs typeface="Aptos" pitchFamily="34" charset="-120"/>
              </a:rPr>
              <a:t> </a:t>
            </a:r>
            <a:r>
              <a:rPr lang="en-US" sz="1200" dirty="0" err="1">
                <a:solidFill>
                  <a:srgbClr val="746F93"/>
                </a:solidFill>
                <a:latin typeface="Aptos" pitchFamily="34" charset="0"/>
                <a:ea typeface="Aptos" pitchFamily="34" charset="-122"/>
                <a:cs typeface="Aptos" pitchFamily="34" charset="-120"/>
              </a:rPr>
              <a:t>compartidas</a:t>
            </a:r>
            <a:endParaRPr lang="en-US" sz="1200" dirty="0"/>
          </a:p>
        </p:txBody>
      </p:sp>
      <p:sp>
        <p:nvSpPr>
          <p:cNvPr id="44" name="Shape 41"/>
          <p:cNvSpPr/>
          <p:nvPr/>
        </p:nvSpPr>
        <p:spPr>
          <a:xfrm>
            <a:off x="911088" y="5906041"/>
            <a:ext cx="9982199" cy="614028"/>
          </a:xfrm>
          <a:prstGeom prst="roundRect">
            <a:avLst>
              <a:gd name="adj" fmla="val 8621"/>
            </a:avLst>
          </a:prstGeom>
          <a:solidFill>
            <a:srgbClr val="F0E9FF"/>
          </a:solidFill>
          <a:ln w="15240">
            <a:noFill/>
            <a:prstDash val="solid"/>
          </a:ln>
        </p:spPr>
        <p:txBody>
          <a:bodyPr/>
          <a:lstStyle/>
          <a:p>
            <a:endParaRPr lang="es-MX"/>
          </a:p>
        </p:txBody>
      </p:sp>
      <p:sp>
        <p:nvSpPr>
          <p:cNvPr id="45" name="Text 42"/>
          <p:cNvSpPr/>
          <p:nvPr/>
        </p:nvSpPr>
        <p:spPr>
          <a:xfrm>
            <a:off x="1125107" y="6034057"/>
            <a:ext cx="2832569" cy="289682"/>
          </a:xfrm>
          <a:prstGeom prst="rect">
            <a:avLst/>
          </a:prstGeom>
          <a:noFill/>
          <a:ln/>
        </p:spPr>
        <p:txBody>
          <a:bodyPr wrap="square" lIns="0" tIns="0" rIns="0" bIns="0" rtlCol="0" anchor="ctr">
            <a:noAutofit/>
          </a:bodyPr>
          <a:lstStyle/>
          <a:p>
            <a:pPr marL="0" indent="0" algn="l">
              <a:buNone/>
            </a:pPr>
            <a:r>
              <a:rPr lang="en-US" sz="1400" b="1" dirty="0" err="1">
                <a:solidFill>
                  <a:srgbClr val="6034D3"/>
                </a:solidFill>
                <a:latin typeface="Aptos" pitchFamily="34" charset="0"/>
                <a:ea typeface="Aptos" pitchFamily="34" charset="-122"/>
                <a:cs typeface="Aptos" pitchFamily="34" charset="-120"/>
              </a:rPr>
              <a:t>Retroalimentación</a:t>
            </a:r>
            <a:r>
              <a:rPr lang="en-US" sz="1400" b="1" dirty="0">
                <a:solidFill>
                  <a:srgbClr val="6034D3"/>
                </a:solidFill>
                <a:latin typeface="Aptos" pitchFamily="34" charset="0"/>
                <a:ea typeface="Aptos" pitchFamily="34" charset="-122"/>
                <a:cs typeface="Aptos" pitchFamily="34" charset="-120"/>
              </a:rPr>
              <a:t> de </a:t>
            </a:r>
            <a:r>
              <a:rPr lang="en-US" sz="1400" b="1" dirty="0" err="1">
                <a:solidFill>
                  <a:srgbClr val="6034D3"/>
                </a:solidFill>
                <a:latin typeface="Aptos" pitchFamily="34" charset="0"/>
                <a:ea typeface="Aptos" pitchFamily="34" charset="-122"/>
                <a:cs typeface="Aptos" pitchFamily="34" charset="-120"/>
              </a:rPr>
              <a:t>Resultados</a:t>
            </a:r>
            <a:endParaRPr lang="en-US" sz="1400" dirty="0"/>
          </a:p>
        </p:txBody>
      </p:sp>
      <p:sp>
        <p:nvSpPr>
          <p:cNvPr id="46" name="Text 43"/>
          <p:cNvSpPr/>
          <p:nvPr/>
        </p:nvSpPr>
        <p:spPr>
          <a:xfrm>
            <a:off x="4097223" y="6061489"/>
            <a:ext cx="6585752" cy="282128"/>
          </a:xfrm>
          <a:prstGeom prst="rect">
            <a:avLst/>
          </a:prstGeom>
          <a:noFill/>
          <a:ln/>
        </p:spPr>
        <p:txBody>
          <a:bodyPr wrap="square" lIns="0" tIns="0" rIns="0" bIns="0" rtlCol="0" anchor="ctr">
            <a:noAutofit/>
          </a:bodyPr>
          <a:lstStyle/>
          <a:p>
            <a:pPr marL="0" indent="0" algn="l">
              <a:buNone/>
            </a:pPr>
            <a:r>
              <a:rPr lang="es-ES" sz="1200" dirty="0">
                <a:solidFill>
                  <a:srgbClr val="746F93"/>
                </a:solidFill>
                <a:latin typeface="Aptos" pitchFamily="34" charset="0"/>
                <a:ea typeface="Aptos" pitchFamily="34" charset="-122"/>
                <a:cs typeface="Aptos" pitchFamily="34" charset="-120"/>
              </a:rPr>
              <a:t>Los resultados reales del negocio retroalimentan múltiples dominios y ayudan a decidir qué hacer después en propiedades, demanda, relaciones y transacciones.</a:t>
            </a:r>
            <a:endParaRPr lang="en-US" sz="1200" dirty="0"/>
          </a:p>
        </p:txBody>
      </p:sp>
      <p:pic>
        <p:nvPicPr>
          <p:cNvPr id="48" name="Image 0" descr="/mnt/data/ungga_logo_purple.png">
            <a:extLst>
              <a:ext uri="{FF2B5EF4-FFF2-40B4-BE49-F238E27FC236}">
                <a16:creationId xmlns:a16="http://schemas.microsoft.com/office/drawing/2014/main" id="{0634E2CE-8F23-68A7-90DF-45B7DC3A6A57}"/>
              </a:ext>
            </a:extLst>
          </p:cNvPr>
          <p:cNvPicPr>
            <a:picLocks noChangeAspect="1"/>
          </p:cNvPicPr>
          <p:nvPr/>
        </p:nvPicPr>
        <p:blipFill>
          <a:blip r:embed="rId3"/>
          <a:stretch>
            <a:fillRect/>
          </a:stretch>
        </p:blipFill>
        <p:spPr>
          <a:xfrm>
            <a:off x="11109960" y="449715"/>
            <a:ext cx="566928" cy="47217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7F0D9-EA26-B860-87E0-B21B199FF3B8}"/>
            </a:ext>
          </a:extLst>
        </p:cNvPr>
        <p:cNvGrpSpPr/>
        <p:nvPr/>
      </p:nvGrpSpPr>
      <p:grpSpPr>
        <a:xfrm>
          <a:off x="0" y="0"/>
          <a:ext cx="0" cy="0"/>
          <a:chOff x="0" y="0"/>
          <a:chExt cx="0" cy="0"/>
        </a:xfrm>
      </p:grpSpPr>
      <p:sp>
        <p:nvSpPr>
          <p:cNvPr id="245" name="Shape 0">
            <a:extLst>
              <a:ext uri="{FF2B5EF4-FFF2-40B4-BE49-F238E27FC236}">
                <a16:creationId xmlns:a16="http://schemas.microsoft.com/office/drawing/2014/main" id="{A882DA7A-3DA1-1A55-4EBA-9C75BDA6F61F}"/>
              </a:ext>
            </a:extLst>
          </p:cNvPr>
          <p:cNvSpPr/>
          <p:nvPr/>
        </p:nvSpPr>
        <p:spPr>
          <a:xfrm>
            <a:off x="0" y="0"/>
            <a:ext cx="12191400" cy="63720"/>
          </a:xfrm>
          <a:prstGeom prst="rect">
            <a:avLst/>
          </a:prstGeom>
          <a:solidFill>
            <a:srgbClr val="5F2CCB"/>
          </a:solidFill>
          <a:ln w="12700">
            <a:solidFill>
              <a:srgbClr val="5F2CCB">
                <a:alpha val="0"/>
              </a:srgbClr>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FFFFFF"/>
              </a:solidFill>
              <a:effectLst/>
              <a:uFillTx/>
              <a:latin typeface="Arial"/>
            </a:endParaRPr>
          </a:p>
        </p:txBody>
      </p:sp>
      <p:sp>
        <p:nvSpPr>
          <p:cNvPr id="246" name="Text 1">
            <a:extLst>
              <a:ext uri="{FF2B5EF4-FFF2-40B4-BE49-F238E27FC236}">
                <a16:creationId xmlns:a16="http://schemas.microsoft.com/office/drawing/2014/main" id="{DD354175-608D-1A71-E390-4A51460BF4E4}"/>
              </a:ext>
            </a:extLst>
          </p:cNvPr>
          <p:cNvSpPr/>
          <p:nvPr/>
        </p:nvSpPr>
        <p:spPr>
          <a:xfrm>
            <a:off x="567000" y="438840"/>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dirty="0">
                <a:solidFill>
                  <a:srgbClr val="5F2CCB"/>
                </a:solidFill>
                <a:effectLst/>
                <a:uFillTx/>
                <a:latin typeface="Aptos"/>
                <a:ea typeface="Aptos"/>
              </a:rPr>
              <a:t>EL SALTO DE PRODUCTO</a:t>
            </a:r>
            <a:endParaRPr lang="en-US" sz="1200" b="0" u="none" strike="noStrike" dirty="0">
              <a:solidFill>
                <a:srgbClr val="000000"/>
              </a:solidFill>
              <a:effectLst/>
              <a:uFillTx/>
              <a:latin typeface="Arial"/>
            </a:endParaRPr>
          </a:p>
        </p:txBody>
      </p:sp>
      <p:sp>
        <p:nvSpPr>
          <p:cNvPr id="247" name="Text 2">
            <a:extLst>
              <a:ext uri="{FF2B5EF4-FFF2-40B4-BE49-F238E27FC236}">
                <a16:creationId xmlns:a16="http://schemas.microsoft.com/office/drawing/2014/main" id="{1F0F9BBB-715B-CCD0-D86A-82CE0AFC0591}"/>
              </a:ext>
            </a:extLst>
          </p:cNvPr>
          <p:cNvSpPr/>
          <p:nvPr/>
        </p:nvSpPr>
        <p:spPr>
          <a:xfrm>
            <a:off x="567000" y="715820"/>
            <a:ext cx="10195200" cy="685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2600" b="1" u="none" strike="noStrike" dirty="0">
                <a:solidFill>
                  <a:srgbClr val="151327"/>
                </a:solidFill>
                <a:effectLst/>
                <a:uFillTx/>
                <a:latin typeface="Aptos Display"/>
                <a:ea typeface="Aptos Display"/>
              </a:rPr>
              <a:t>De </a:t>
            </a:r>
            <a:r>
              <a:rPr lang="en-US" sz="2600" b="1" u="none" strike="noStrike" dirty="0" err="1">
                <a:solidFill>
                  <a:srgbClr val="151327"/>
                </a:solidFill>
                <a:effectLst/>
                <a:uFillTx/>
                <a:latin typeface="Aptos Display"/>
                <a:ea typeface="Aptos Display"/>
              </a:rPr>
              <a:t>tareas</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útiles</a:t>
            </a:r>
            <a:r>
              <a:rPr lang="en-US" sz="2600" b="1" u="none" strike="noStrike" dirty="0">
                <a:solidFill>
                  <a:srgbClr val="151327"/>
                </a:solidFill>
                <a:effectLst/>
                <a:uFillTx/>
                <a:latin typeface="Aptos Display"/>
                <a:ea typeface="Aptos Display"/>
              </a:rPr>
              <a:t> a </a:t>
            </a:r>
            <a:r>
              <a:rPr lang="en-US" sz="2600" b="1" u="none" strike="noStrike" dirty="0" err="1">
                <a:solidFill>
                  <a:srgbClr val="151327"/>
                </a:solidFill>
                <a:effectLst/>
                <a:uFillTx/>
                <a:latin typeface="Aptos Display"/>
                <a:ea typeface="Aptos Display"/>
              </a:rPr>
              <a:t>responsabilidades</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operativas</a:t>
            </a:r>
            <a:r>
              <a:rPr lang="en-US" sz="2600" b="1" u="none" strike="noStrike" dirty="0">
                <a:solidFill>
                  <a:srgbClr val="151327"/>
                </a:solidFill>
                <a:effectLst/>
                <a:uFillTx/>
                <a:latin typeface="Aptos Display"/>
                <a:ea typeface="Aptos Display"/>
              </a:rPr>
              <a:t> durables.</a:t>
            </a:r>
            <a:endParaRPr lang="en-US" sz="2600" b="0" u="none" strike="noStrike" dirty="0">
              <a:solidFill>
                <a:srgbClr val="000000"/>
              </a:solidFill>
              <a:effectLst/>
              <a:uFillTx/>
              <a:latin typeface="Arial"/>
            </a:endParaRPr>
          </a:p>
        </p:txBody>
      </p:sp>
      <p:sp>
        <p:nvSpPr>
          <p:cNvPr id="248" name="Text 3">
            <a:extLst>
              <a:ext uri="{FF2B5EF4-FFF2-40B4-BE49-F238E27FC236}">
                <a16:creationId xmlns:a16="http://schemas.microsoft.com/office/drawing/2014/main" id="{582BD880-1DE5-1431-DDC0-428E681E3EE3}"/>
              </a:ext>
            </a:extLst>
          </p:cNvPr>
          <p:cNvSpPr/>
          <p:nvPr/>
        </p:nvSpPr>
        <p:spPr>
          <a:xfrm>
            <a:off x="567000" y="1416923"/>
            <a:ext cx="10698120" cy="555979"/>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n-US" b="0" u="none" strike="noStrike" dirty="0">
                <a:solidFill>
                  <a:srgbClr val="6F6888"/>
                </a:solidFill>
                <a:effectLst/>
                <a:uFillTx/>
                <a:latin typeface="Aptos"/>
                <a:ea typeface="Aptos"/>
              </a:rPr>
              <a:t>Gu OS </a:t>
            </a:r>
            <a:r>
              <a:rPr lang="en-US" b="0" u="none" strike="noStrike" dirty="0" err="1">
                <a:solidFill>
                  <a:srgbClr val="6F6888"/>
                </a:solidFill>
                <a:effectLst/>
                <a:uFillTx/>
                <a:latin typeface="Aptos"/>
                <a:ea typeface="Aptos"/>
              </a:rPr>
              <a:t>debe</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asumir</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objetivos</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que</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sobreviven</a:t>
            </a:r>
            <a:r>
              <a:rPr lang="en-US" b="0" u="none" strike="noStrike" dirty="0">
                <a:solidFill>
                  <a:srgbClr val="6F6888"/>
                </a:solidFill>
                <a:effectLst/>
                <a:uFillTx/>
                <a:latin typeface="Aptos"/>
                <a:ea typeface="Aptos"/>
              </a:rPr>
              <a:t> la </a:t>
            </a:r>
            <a:r>
              <a:rPr lang="en-US" b="0" u="none" strike="noStrike" dirty="0" err="1">
                <a:solidFill>
                  <a:srgbClr val="6F6888"/>
                </a:solidFill>
                <a:effectLst/>
                <a:uFillTx/>
                <a:latin typeface="Aptos"/>
                <a:ea typeface="Aptos"/>
              </a:rPr>
              <a:t>conversación</a:t>
            </a:r>
            <a:r>
              <a:rPr lang="en-US" b="0" u="none" strike="noStrike" dirty="0">
                <a:solidFill>
                  <a:srgbClr val="6F6888"/>
                </a:solidFill>
                <a:effectLst/>
                <a:uFillTx/>
                <a:latin typeface="Aptos"/>
                <a:ea typeface="Aptos"/>
              </a:rPr>
              <a:t> y </a:t>
            </a:r>
            <a:r>
              <a:rPr lang="en-US" b="0" u="none" strike="noStrike" dirty="0" err="1">
                <a:solidFill>
                  <a:srgbClr val="6F6888"/>
                </a:solidFill>
                <a:effectLst/>
                <a:uFillTx/>
                <a:latin typeface="Aptos"/>
                <a:ea typeface="Aptos"/>
              </a:rPr>
              <a:t>avanzan</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mediante</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acciones</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esperas</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evidencia</a:t>
            </a:r>
            <a:r>
              <a:rPr lang="en-US" b="0" u="none" strike="noStrike" dirty="0">
                <a:solidFill>
                  <a:srgbClr val="6F6888"/>
                </a:solidFill>
                <a:effectLst/>
                <a:uFillTx/>
                <a:latin typeface="Aptos"/>
                <a:ea typeface="Aptos"/>
              </a:rPr>
              <a:t> y </a:t>
            </a:r>
            <a:r>
              <a:rPr lang="en-US" b="0" u="none" strike="noStrike" dirty="0" err="1">
                <a:solidFill>
                  <a:srgbClr val="6F6888"/>
                </a:solidFill>
                <a:effectLst/>
                <a:uFillTx/>
                <a:latin typeface="Aptos"/>
                <a:ea typeface="Aptos"/>
              </a:rPr>
              <a:t>decisiones</a:t>
            </a:r>
            <a:r>
              <a:rPr lang="en-US" b="0" u="none" strike="noStrike" dirty="0">
                <a:solidFill>
                  <a:srgbClr val="6F6888"/>
                </a:solidFill>
                <a:effectLst/>
                <a:uFillTx/>
                <a:latin typeface="Aptos"/>
                <a:ea typeface="Aptos"/>
              </a:rPr>
              <a:t>.</a:t>
            </a:r>
            <a:endParaRPr lang="en-US" b="0" u="none" strike="noStrike" dirty="0">
              <a:solidFill>
                <a:srgbClr val="000000"/>
              </a:solidFill>
              <a:effectLst/>
              <a:uFillTx/>
              <a:latin typeface="Arial"/>
            </a:endParaRPr>
          </a:p>
        </p:txBody>
      </p:sp>
      <p:sp>
        <p:nvSpPr>
          <p:cNvPr id="250" name="Text 5">
            <a:extLst>
              <a:ext uri="{FF2B5EF4-FFF2-40B4-BE49-F238E27FC236}">
                <a16:creationId xmlns:a16="http://schemas.microsoft.com/office/drawing/2014/main" id="{D2D2F6A2-EC10-697E-7210-5676009B1357}"/>
              </a:ext>
            </a:extLst>
          </p:cNvPr>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u="none" strike="noStrike">
                <a:solidFill>
                  <a:srgbClr val="7E7798"/>
                </a:solidFill>
                <a:effectLst/>
                <a:uFillTx/>
                <a:latin typeface="Aptos"/>
                <a:ea typeface="Aptos"/>
              </a:rPr>
              <a:t>CONFIDENTIAL</a:t>
            </a:r>
            <a:endParaRPr lang="en-US" sz="650" b="0" u="none" strike="noStrike">
              <a:solidFill>
                <a:srgbClr val="000000"/>
              </a:solidFill>
              <a:effectLst/>
              <a:uFillTx/>
              <a:latin typeface="Arial"/>
            </a:endParaRPr>
          </a:p>
        </p:txBody>
      </p:sp>
      <p:sp>
        <p:nvSpPr>
          <p:cNvPr id="251" name="Text 6">
            <a:extLst>
              <a:ext uri="{FF2B5EF4-FFF2-40B4-BE49-F238E27FC236}">
                <a16:creationId xmlns:a16="http://schemas.microsoft.com/office/drawing/2014/main" id="{C8E8C1CA-69BD-676C-6D51-0F12A7F90997}"/>
              </a:ext>
            </a:extLst>
          </p:cNvPr>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650" b="0" u="none" strike="noStrike">
                <a:solidFill>
                  <a:srgbClr val="7E7798"/>
                </a:solidFill>
                <a:effectLst/>
                <a:uFillTx/>
                <a:latin typeface="Aptos"/>
                <a:ea typeface="Aptos"/>
              </a:rPr>
              <a:t>ungga.com</a:t>
            </a:r>
            <a:endParaRPr lang="en-US" sz="650" b="0" u="none" strike="noStrike">
              <a:solidFill>
                <a:srgbClr val="000000"/>
              </a:solidFill>
              <a:effectLst/>
              <a:uFillTx/>
              <a:latin typeface="Arial"/>
            </a:endParaRPr>
          </a:p>
        </p:txBody>
      </p:sp>
      <p:sp>
        <p:nvSpPr>
          <p:cNvPr id="252" name="Text 7">
            <a:extLst>
              <a:ext uri="{FF2B5EF4-FFF2-40B4-BE49-F238E27FC236}">
                <a16:creationId xmlns:a16="http://schemas.microsoft.com/office/drawing/2014/main" id="{782E3E29-A04F-D32C-CB78-16E7FAB75028}"/>
              </a:ext>
            </a:extLst>
          </p:cNvPr>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b="0" u="none" strike="noStrike" dirty="0">
                <a:solidFill>
                  <a:srgbClr val="7E7798"/>
                </a:solidFill>
                <a:effectLst/>
                <a:uFillTx/>
                <a:latin typeface="Aptos"/>
                <a:ea typeface="Aptos"/>
              </a:rPr>
              <a:t>11</a:t>
            </a:r>
            <a:endParaRPr lang="en-US" sz="800" b="0" u="none" strike="noStrike" dirty="0">
              <a:solidFill>
                <a:srgbClr val="000000"/>
              </a:solidFill>
              <a:effectLst/>
              <a:uFillTx/>
              <a:latin typeface="Arial"/>
            </a:endParaRPr>
          </a:p>
        </p:txBody>
      </p:sp>
      <p:grpSp>
        <p:nvGrpSpPr>
          <p:cNvPr id="5" name="Grupo 4">
            <a:extLst>
              <a:ext uri="{FF2B5EF4-FFF2-40B4-BE49-F238E27FC236}">
                <a16:creationId xmlns:a16="http://schemas.microsoft.com/office/drawing/2014/main" id="{DB68E0D3-7CE4-C777-97E4-A702AD370B56}"/>
              </a:ext>
            </a:extLst>
          </p:cNvPr>
          <p:cNvGrpSpPr/>
          <p:nvPr/>
        </p:nvGrpSpPr>
        <p:grpSpPr>
          <a:xfrm>
            <a:off x="9362660" y="3067601"/>
            <a:ext cx="2246243" cy="2150444"/>
            <a:chOff x="547748" y="2355689"/>
            <a:chExt cx="2331360" cy="1657017"/>
          </a:xfrm>
          <a:solidFill>
            <a:schemeClr val="bg2"/>
          </a:solidFill>
        </p:grpSpPr>
        <p:sp>
          <p:nvSpPr>
            <p:cNvPr id="253" name="Shape 8">
              <a:extLst>
                <a:ext uri="{FF2B5EF4-FFF2-40B4-BE49-F238E27FC236}">
                  <a16:creationId xmlns:a16="http://schemas.microsoft.com/office/drawing/2014/main" id="{9FDD9B24-9FEF-8229-883C-80F5E3ED9CB3}"/>
                </a:ext>
              </a:extLst>
            </p:cNvPr>
            <p:cNvSpPr/>
            <p:nvPr/>
          </p:nvSpPr>
          <p:spPr>
            <a:xfrm>
              <a:off x="547748" y="2355689"/>
              <a:ext cx="2331360" cy="1657017"/>
            </a:xfrm>
            <a:prstGeom prst="roundRect">
              <a:avLst>
                <a:gd name="adj" fmla="val 7143"/>
              </a:avLst>
            </a:prstGeom>
            <a:solidFill>
              <a:srgbClr val="CC99FF">
                <a:alpha val="50000"/>
              </a:srgbClr>
            </a:solidFill>
            <a:ln w="12700">
              <a:solidFill>
                <a:srgbClr val="5F2CCB"/>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000000"/>
                </a:solidFill>
                <a:effectLst/>
                <a:uFillTx/>
                <a:latin typeface="Arial"/>
              </a:endParaRPr>
            </a:p>
          </p:txBody>
        </p:sp>
        <p:sp>
          <p:nvSpPr>
            <p:cNvPr id="254" name="Text 9">
              <a:extLst>
                <a:ext uri="{FF2B5EF4-FFF2-40B4-BE49-F238E27FC236}">
                  <a16:creationId xmlns:a16="http://schemas.microsoft.com/office/drawing/2014/main" id="{95D2BA50-8761-62A4-6805-2AC02C8CC3CE}"/>
                </a:ext>
              </a:extLst>
            </p:cNvPr>
            <p:cNvSpPr/>
            <p:nvPr/>
          </p:nvSpPr>
          <p:spPr>
            <a:xfrm>
              <a:off x="748987" y="2491789"/>
              <a:ext cx="1964048" cy="44549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b="1" u="none" strike="noStrike" dirty="0">
                  <a:solidFill>
                    <a:srgbClr val="151327"/>
                  </a:solidFill>
                  <a:effectLst/>
                  <a:uFillTx/>
                  <a:latin typeface="Aptos Display"/>
                  <a:ea typeface="Aptos Display"/>
                </a:rPr>
                <a:t>Acciones</a:t>
              </a:r>
              <a:endParaRPr lang="en-US" b="0" u="none" strike="noStrike" dirty="0">
                <a:solidFill>
                  <a:srgbClr val="000000"/>
                </a:solidFill>
                <a:effectLst/>
                <a:uFillTx/>
                <a:latin typeface="Arial"/>
              </a:endParaRPr>
            </a:p>
          </p:txBody>
        </p:sp>
        <p:sp>
          <p:nvSpPr>
            <p:cNvPr id="255" name="Text 10">
              <a:extLst>
                <a:ext uri="{FF2B5EF4-FFF2-40B4-BE49-F238E27FC236}">
                  <a16:creationId xmlns:a16="http://schemas.microsoft.com/office/drawing/2014/main" id="{62EF2D04-2D08-2831-76B6-C735FB76BBFC}"/>
                </a:ext>
              </a:extLst>
            </p:cNvPr>
            <p:cNvSpPr/>
            <p:nvPr/>
          </p:nvSpPr>
          <p:spPr>
            <a:xfrm>
              <a:off x="621866" y="3007739"/>
              <a:ext cx="2187162" cy="882946"/>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a:tabLst>
                  <a:tab pos="0" algn="l"/>
                </a:tabLst>
              </a:pPr>
              <a:r>
                <a:rPr lang="es-ES" sz="1200" b="0" u="none" strike="noStrike" dirty="0">
                  <a:solidFill>
                    <a:srgbClr val="6F6888"/>
                  </a:solidFill>
                  <a:effectLst/>
                  <a:uFillTx/>
                  <a:latin typeface="Aptos"/>
                  <a:ea typeface="Aptos"/>
                </a:rPr>
                <a:t>Unidad acotada de ejecución con un resultado inmediato. Puede incluir razonamiento, respuesta y una o varias </a:t>
              </a:r>
              <a:r>
                <a:rPr lang="es-ES" sz="1200" b="0" u="none" strike="noStrike" dirty="0" err="1">
                  <a:solidFill>
                    <a:srgbClr val="6F6888"/>
                  </a:solidFill>
                  <a:effectLst/>
                  <a:uFillTx/>
                  <a:latin typeface="Aptos"/>
                  <a:ea typeface="Aptos"/>
                </a:rPr>
                <a:t>Skills</a:t>
              </a:r>
              <a:r>
                <a:rPr lang="es-ES" sz="1200" b="0" u="none" strike="noStrike" dirty="0">
                  <a:solidFill>
                    <a:srgbClr val="6F6888"/>
                  </a:solidFill>
                  <a:effectLst/>
                  <a:uFillTx/>
                  <a:latin typeface="Aptos"/>
                  <a:ea typeface="Aptos"/>
                </a:rPr>
                <a:t>/</a:t>
              </a:r>
              <a:r>
                <a:rPr lang="es-ES" sz="1200" b="0" u="none" strike="noStrike" dirty="0" err="1">
                  <a:solidFill>
                    <a:srgbClr val="6F6888"/>
                  </a:solidFill>
                  <a:effectLst/>
                  <a:uFillTx/>
                  <a:latin typeface="Aptos"/>
                  <a:ea typeface="Aptos"/>
                </a:rPr>
                <a:t>tools</a:t>
              </a:r>
              <a:r>
                <a:rPr lang="es-ES" sz="1200" b="0" u="none" strike="noStrike" dirty="0">
                  <a:solidFill>
                    <a:srgbClr val="6F6888"/>
                  </a:solidFill>
                  <a:effectLst/>
                  <a:uFillTx/>
                  <a:latin typeface="Aptos"/>
                  <a:ea typeface="Aptos"/>
                </a:rPr>
                <a:t>, sin requerir continuidad durable propia.</a:t>
              </a:r>
              <a:endParaRPr lang="en-US" sz="1200" b="0" u="none" strike="noStrike" dirty="0">
                <a:solidFill>
                  <a:srgbClr val="000000"/>
                </a:solidFill>
                <a:effectLst/>
                <a:uFillTx/>
                <a:latin typeface="Arial"/>
              </a:endParaRPr>
            </a:p>
          </p:txBody>
        </p:sp>
      </p:grpSp>
      <p:grpSp>
        <p:nvGrpSpPr>
          <p:cNvPr id="6" name="Grupo 5">
            <a:extLst>
              <a:ext uri="{FF2B5EF4-FFF2-40B4-BE49-F238E27FC236}">
                <a16:creationId xmlns:a16="http://schemas.microsoft.com/office/drawing/2014/main" id="{68F45024-A5F6-72A8-8C9B-ABA1243D26C9}"/>
              </a:ext>
            </a:extLst>
          </p:cNvPr>
          <p:cNvGrpSpPr/>
          <p:nvPr/>
        </p:nvGrpSpPr>
        <p:grpSpPr>
          <a:xfrm>
            <a:off x="6399652" y="2752257"/>
            <a:ext cx="2078085" cy="2257065"/>
            <a:chOff x="3290948" y="2355690"/>
            <a:chExt cx="2331360" cy="1657016"/>
          </a:xfrm>
        </p:grpSpPr>
        <p:sp>
          <p:nvSpPr>
            <p:cNvPr id="257" name="Shape 12">
              <a:extLst>
                <a:ext uri="{FF2B5EF4-FFF2-40B4-BE49-F238E27FC236}">
                  <a16:creationId xmlns:a16="http://schemas.microsoft.com/office/drawing/2014/main" id="{11D88C58-7E48-2E2C-33DF-5C4665E241AF}"/>
                </a:ext>
              </a:extLst>
            </p:cNvPr>
            <p:cNvSpPr/>
            <p:nvPr/>
          </p:nvSpPr>
          <p:spPr>
            <a:xfrm>
              <a:off x="3290948" y="2355690"/>
              <a:ext cx="2331360" cy="1657016"/>
            </a:xfrm>
            <a:prstGeom prst="roundRect">
              <a:avLst>
                <a:gd name="adj" fmla="val 7143"/>
              </a:avLst>
            </a:prstGeom>
            <a:solidFill>
              <a:srgbClr val="99FFCC">
                <a:alpha val="50000"/>
              </a:srgbClr>
            </a:solidFill>
            <a:ln w="12700">
              <a:solidFill>
                <a:srgbClr val="546080"/>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000000"/>
                </a:solidFill>
                <a:effectLst/>
                <a:uFillTx/>
                <a:latin typeface="Arial"/>
              </a:endParaRPr>
            </a:p>
          </p:txBody>
        </p:sp>
        <p:sp>
          <p:nvSpPr>
            <p:cNvPr id="258" name="Text 13">
              <a:extLst>
                <a:ext uri="{FF2B5EF4-FFF2-40B4-BE49-F238E27FC236}">
                  <a16:creationId xmlns:a16="http://schemas.microsoft.com/office/drawing/2014/main" id="{3B491646-BE3F-253A-DC8F-525F168F7CF2}"/>
                </a:ext>
              </a:extLst>
            </p:cNvPr>
            <p:cNvSpPr/>
            <p:nvPr/>
          </p:nvSpPr>
          <p:spPr>
            <a:xfrm>
              <a:off x="3492188" y="2459929"/>
              <a:ext cx="19288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b="1" dirty="0" err="1">
                  <a:solidFill>
                    <a:srgbClr val="151327"/>
                  </a:solidFill>
                  <a:latin typeface="Aptos Display"/>
                  <a:ea typeface="Aptos Display"/>
                </a:rPr>
                <a:t>Ítems</a:t>
              </a:r>
              <a:r>
                <a:rPr lang="en-US" b="1" dirty="0">
                  <a:solidFill>
                    <a:srgbClr val="151327"/>
                  </a:solidFill>
                  <a:latin typeface="Aptos Display"/>
                  <a:ea typeface="Aptos Display"/>
                </a:rPr>
                <a:t> de </a:t>
              </a:r>
              <a:r>
                <a:rPr lang="en-US" b="1" dirty="0" err="1">
                  <a:solidFill>
                    <a:srgbClr val="151327"/>
                  </a:solidFill>
                  <a:latin typeface="Aptos Display"/>
                  <a:ea typeface="Aptos Display"/>
                </a:rPr>
                <a:t>trabajo</a:t>
              </a:r>
              <a:endParaRPr lang="en-US" b="0" u="none" strike="noStrike" dirty="0">
                <a:solidFill>
                  <a:srgbClr val="000000"/>
                </a:solidFill>
                <a:effectLst/>
                <a:uFillTx/>
                <a:latin typeface="Arial"/>
              </a:endParaRPr>
            </a:p>
          </p:txBody>
        </p:sp>
        <p:sp>
          <p:nvSpPr>
            <p:cNvPr id="259" name="Text 14">
              <a:extLst>
                <a:ext uri="{FF2B5EF4-FFF2-40B4-BE49-F238E27FC236}">
                  <a16:creationId xmlns:a16="http://schemas.microsoft.com/office/drawing/2014/main" id="{2F3F53C4-89BC-D87A-20F4-EDBD2E790419}"/>
                </a:ext>
              </a:extLst>
            </p:cNvPr>
            <p:cNvSpPr/>
            <p:nvPr/>
          </p:nvSpPr>
          <p:spPr>
            <a:xfrm>
              <a:off x="3437468" y="3051014"/>
              <a:ext cx="2097413" cy="733175"/>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s-ES" sz="1200" b="0" u="none" strike="noStrike" dirty="0">
                  <a:solidFill>
                    <a:srgbClr val="6F6888"/>
                  </a:solidFill>
                  <a:effectLst/>
                  <a:uFillTx/>
                  <a:latin typeface="Aptos"/>
                  <a:ea typeface="Aptos"/>
                </a:rPr>
                <a:t>Unidad durable de trabajo con estado propio, puede esperar, reintentarse, depender de otros trabajos o requerir evidencia</a:t>
              </a:r>
              <a:r>
                <a:rPr lang="en-US" sz="1200" b="0" u="none" strike="noStrike" dirty="0">
                  <a:solidFill>
                    <a:srgbClr val="6F6888"/>
                  </a:solidFill>
                  <a:effectLst/>
                  <a:uFillTx/>
                  <a:latin typeface="Aptos"/>
                  <a:ea typeface="Aptos"/>
                </a:rPr>
                <a:t>.</a:t>
              </a:r>
              <a:endParaRPr lang="en-US" sz="1200" b="0" u="none" strike="noStrike" dirty="0">
                <a:solidFill>
                  <a:srgbClr val="000000"/>
                </a:solidFill>
                <a:effectLst/>
                <a:uFillTx/>
                <a:latin typeface="Arial"/>
              </a:endParaRPr>
            </a:p>
          </p:txBody>
        </p:sp>
      </p:grpSp>
      <p:grpSp>
        <p:nvGrpSpPr>
          <p:cNvPr id="7" name="Grupo 6">
            <a:extLst>
              <a:ext uri="{FF2B5EF4-FFF2-40B4-BE49-F238E27FC236}">
                <a16:creationId xmlns:a16="http://schemas.microsoft.com/office/drawing/2014/main" id="{0629CD0D-E16B-5A9D-71EA-B31C26076675}"/>
              </a:ext>
            </a:extLst>
          </p:cNvPr>
          <p:cNvGrpSpPr/>
          <p:nvPr/>
        </p:nvGrpSpPr>
        <p:grpSpPr>
          <a:xfrm>
            <a:off x="3366780" y="2484561"/>
            <a:ext cx="2078085" cy="2216647"/>
            <a:chOff x="6034148" y="2355690"/>
            <a:chExt cx="2331360" cy="1656656"/>
          </a:xfrm>
        </p:grpSpPr>
        <p:sp>
          <p:nvSpPr>
            <p:cNvPr id="261" name="Shape 16">
              <a:extLst>
                <a:ext uri="{FF2B5EF4-FFF2-40B4-BE49-F238E27FC236}">
                  <a16:creationId xmlns:a16="http://schemas.microsoft.com/office/drawing/2014/main" id="{A855A8B1-4B3B-1033-08E7-E229B114997E}"/>
                </a:ext>
              </a:extLst>
            </p:cNvPr>
            <p:cNvSpPr/>
            <p:nvPr/>
          </p:nvSpPr>
          <p:spPr>
            <a:xfrm>
              <a:off x="6034148" y="2355690"/>
              <a:ext cx="2331360" cy="1656656"/>
            </a:xfrm>
            <a:prstGeom prst="roundRect">
              <a:avLst>
                <a:gd name="adj" fmla="val 7143"/>
              </a:avLst>
            </a:prstGeom>
            <a:solidFill>
              <a:schemeClr val="accent6">
                <a:lumMod val="20000"/>
                <a:lumOff val="80000"/>
              </a:schemeClr>
            </a:solidFill>
            <a:ln w="12700">
              <a:solidFill>
                <a:srgbClr val="078C53"/>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2" name="Text 17">
              <a:extLst>
                <a:ext uri="{FF2B5EF4-FFF2-40B4-BE49-F238E27FC236}">
                  <a16:creationId xmlns:a16="http://schemas.microsoft.com/office/drawing/2014/main" id="{1E4DFB1D-5C00-DAF8-1D3B-742BCF11A11B}"/>
                </a:ext>
              </a:extLst>
            </p:cNvPr>
            <p:cNvSpPr/>
            <p:nvPr/>
          </p:nvSpPr>
          <p:spPr>
            <a:xfrm>
              <a:off x="6235388" y="2515185"/>
              <a:ext cx="19288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b="1" u="none" strike="noStrike" dirty="0">
                  <a:solidFill>
                    <a:srgbClr val="151327"/>
                  </a:solidFill>
                  <a:effectLst/>
                  <a:uFillTx/>
                  <a:latin typeface="Aptos Display"/>
                  <a:ea typeface="Aptos Display"/>
                </a:rPr>
                <a:t>Casos </a:t>
              </a:r>
              <a:r>
                <a:rPr lang="en-US" b="1" u="none" strike="noStrike" dirty="0" err="1">
                  <a:solidFill>
                    <a:srgbClr val="151327"/>
                  </a:solidFill>
                  <a:effectLst/>
                  <a:uFillTx/>
                  <a:latin typeface="Aptos Display"/>
                  <a:ea typeface="Aptos Display"/>
                </a:rPr>
                <a:t>operacionales</a:t>
              </a:r>
              <a:endParaRPr lang="en-US" b="0" u="none" strike="noStrike" dirty="0">
                <a:solidFill>
                  <a:srgbClr val="000000"/>
                </a:solidFill>
                <a:effectLst/>
                <a:uFillTx/>
                <a:latin typeface="Arial"/>
              </a:endParaRPr>
            </a:p>
          </p:txBody>
        </p:sp>
        <p:sp>
          <p:nvSpPr>
            <p:cNvPr id="263" name="Text 18">
              <a:extLst>
                <a:ext uri="{FF2B5EF4-FFF2-40B4-BE49-F238E27FC236}">
                  <a16:creationId xmlns:a16="http://schemas.microsoft.com/office/drawing/2014/main" id="{479BCBCE-C877-5D81-254B-824FAEA9E464}"/>
                </a:ext>
              </a:extLst>
            </p:cNvPr>
            <p:cNvSpPr/>
            <p:nvPr/>
          </p:nvSpPr>
          <p:spPr>
            <a:xfrm>
              <a:off x="6180668" y="3051016"/>
              <a:ext cx="2075330" cy="871035"/>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s-ES" sz="1200" b="0" u="none" strike="noStrike" dirty="0">
                  <a:solidFill>
                    <a:srgbClr val="6F6888"/>
                  </a:solidFill>
                  <a:effectLst/>
                  <a:uFillTx/>
                  <a:latin typeface="Aptos"/>
                  <a:ea typeface="Aptos"/>
                </a:rPr>
                <a:t>Instancia durable de un tipo de Caso, con un objetivo o compromiso de negocio, identidad, estado, participantes, reglas y criterios de finalización</a:t>
              </a:r>
              <a:r>
                <a:rPr lang="en-US" sz="1200" b="0" u="none" strike="noStrike" dirty="0">
                  <a:solidFill>
                    <a:srgbClr val="6F6888"/>
                  </a:solidFill>
                  <a:effectLst/>
                  <a:uFillTx/>
                  <a:latin typeface="Aptos"/>
                  <a:ea typeface="Aptos"/>
                </a:rPr>
                <a:t>.</a:t>
              </a:r>
              <a:endParaRPr lang="en-US" sz="1200" b="0" u="none" strike="noStrike" dirty="0">
                <a:solidFill>
                  <a:srgbClr val="000000"/>
                </a:solidFill>
                <a:effectLst/>
                <a:uFillTx/>
                <a:latin typeface="Arial"/>
              </a:endParaRPr>
            </a:p>
          </p:txBody>
        </p:sp>
      </p:grpSp>
      <p:grpSp>
        <p:nvGrpSpPr>
          <p:cNvPr id="8" name="Grupo 7">
            <a:extLst>
              <a:ext uri="{FF2B5EF4-FFF2-40B4-BE49-F238E27FC236}">
                <a16:creationId xmlns:a16="http://schemas.microsoft.com/office/drawing/2014/main" id="{626E1284-F074-E800-79C2-2E11E1896402}"/>
              </a:ext>
            </a:extLst>
          </p:cNvPr>
          <p:cNvGrpSpPr/>
          <p:nvPr/>
        </p:nvGrpSpPr>
        <p:grpSpPr>
          <a:xfrm>
            <a:off x="566906" y="2246082"/>
            <a:ext cx="1907915" cy="2125076"/>
            <a:chOff x="8777348" y="2355690"/>
            <a:chExt cx="2331360" cy="1656296"/>
          </a:xfrm>
        </p:grpSpPr>
        <p:sp>
          <p:nvSpPr>
            <p:cNvPr id="265" name="Shape 20">
              <a:extLst>
                <a:ext uri="{FF2B5EF4-FFF2-40B4-BE49-F238E27FC236}">
                  <a16:creationId xmlns:a16="http://schemas.microsoft.com/office/drawing/2014/main" id="{767E9E23-87D6-D399-C628-63AB925920D2}"/>
                </a:ext>
              </a:extLst>
            </p:cNvPr>
            <p:cNvSpPr/>
            <p:nvPr/>
          </p:nvSpPr>
          <p:spPr>
            <a:xfrm>
              <a:off x="8777348" y="2355690"/>
              <a:ext cx="2331360" cy="1656296"/>
            </a:xfrm>
            <a:prstGeom prst="roundRect">
              <a:avLst>
                <a:gd name="adj" fmla="val 7143"/>
              </a:avLst>
            </a:prstGeom>
            <a:solidFill>
              <a:schemeClr val="accent4">
                <a:lumMod val="20000"/>
                <a:lumOff val="80000"/>
              </a:schemeClr>
            </a:solidFill>
            <a:ln w="12700">
              <a:solidFill>
                <a:srgbClr val="F39A2B"/>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6" name="Text 21">
              <a:extLst>
                <a:ext uri="{FF2B5EF4-FFF2-40B4-BE49-F238E27FC236}">
                  <a16:creationId xmlns:a16="http://schemas.microsoft.com/office/drawing/2014/main" id="{2843F256-14CC-937F-7108-B04F725DAD56}"/>
                </a:ext>
              </a:extLst>
            </p:cNvPr>
            <p:cNvSpPr/>
            <p:nvPr/>
          </p:nvSpPr>
          <p:spPr>
            <a:xfrm>
              <a:off x="8978588" y="2388852"/>
              <a:ext cx="19288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b="1" dirty="0">
                  <a:solidFill>
                    <a:srgbClr val="151327"/>
                  </a:solidFill>
                  <a:latin typeface="Aptos Display"/>
                </a:rPr>
                <a:t>Dominio</a:t>
              </a:r>
              <a:endParaRPr lang="en-US" b="0" u="none" strike="noStrike" dirty="0">
                <a:solidFill>
                  <a:srgbClr val="000000"/>
                </a:solidFill>
                <a:effectLst/>
                <a:uFillTx/>
                <a:latin typeface="Arial"/>
              </a:endParaRPr>
            </a:p>
          </p:txBody>
        </p:sp>
        <p:sp>
          <p:nvSpPr>
            <p:cNvPr id="267" name="Text 22">
              <a:extLst>
                <a:ext uri="{FF2B5EF4-FFF2-40B4-BE49-F238E27FC236}">
                  <a16:creationId xmlns:a16="http://schemas.microsoft.com/office/drawing/2014/main" id="{63669163-2472-2609-3BF1-16ED831BAC0A}"/>
                </a:ext>
              </a:extLst>
            </p:cNvPr>
            <p:cNvSpPr/>
            <p:nvPr/>
          </p:nvSpPr>
          <p:spPr>
            <a:xfrm>
              <a:off x="8834559" y="2912718"/>
              <a:ext cx="2218396" cy="9480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s-ES" sz="1200" b="0" u="none" strike="noStrike" dirty="0">
                  <a:solidFill>
                    <a:srgbClr val="6F6888"/>
                  </a:solidFill>
                  <a:effectLst/>
                  <a:uFillTx/>
                  <a:latin typeface="Aptos"/>
                  <a:ea typeface="Aptos"/>
                </a:rPr>
                <a:t>Agrupa tipos de caso, capacidades, reglas y semántica alrededor de una responsabilidad operativa</a:t>
              </a:r>
              <a:r>
                <a:rPr lang="en-US" sz="1200" b="0" u="none" strike="noStrike" dirty="0">
                  <a:solidFill>
                    <a:srgbClr val="6F6888"/>
                  </a:solidFill>
                  <a:effectLst/>
                  <a:uFillTx/>
                  <a:latin typeface="Aptos"/>
                  <a:ea typeface="Aptos"/>
                </a:rPr>
                <a:t>.</a:t>
              </a:r>
              <a:endParaRPr lang="en-US" sz="1200" b="0" u="none" strike="noStrike" dirty="0">
                <a:solidFill>
                  <a:srgbClr val="000000"/>
                </a:solidFill>
                <a:effectLst/>
                <a:uFillTx/>
                <a:latin typeface="Arial"/>
              </a:endParaRPr>
            </a:p>
          </p:txBody>
        </p:sp>
      </p:grpSp>
      <p:pic>
        <p:nvPicPr>
          <p:cNvPr id="3" name="Image 0" descr="/mnt/data/ungga_logo_purple.png">
            <a:extLst>
              <a:ext uri="{FF2B5EF4-FFF2-40B4-BE49-F238E27FC236}">
                <a16:creationId xmlns:a16="http://schemas.microsoft.com/office/drawing/2014/main" id="{96FAB3E1-0953-7FCE-B155-5FFB2766EEA5}"/>
              </a:ext>
            </a:extLst>
          </p:cNvPr>
          <p:cNvPicPr>
            <a:picLocks noChangeAspect="1"/>
          </p:cNvPicPr>
          <p:nvPr/>
        </p:nvPicPr>
        <p:blipFill>
          <a:blip r:embed="rId3"/>
          <a:stretch>
            <a:fillRect/>
          </a:stretch>
        </p:blipFill>
        <p:spPr>
          <a:xfrm>
            <a:off x="11109960" y="449715"/>
            <a:ext cx="566928" cy="472170"/>
          </a:xfrm>
          <a:prstGeom prst="rect">
            <a:avLst/>
          </a:prstGeom>
        </p:spPr>
      </p:pic>
      <p:cxnSp>
        <p:nvCxnSpPr>
          <p:cNvPr id="10" name="Conector: angular 9">
            <a:extLst>
              <a:ext uri="{FF2B5EF4-FFF2-40B4-BE49-F238E27FC236}">
                <a16:creationId xmlns:a16="http://schemas.microsoft.com/office/drawing/2014/main" id="{46D987CD-7C47-6366-64A4-8B6E30CB0A06}"/>
              </a:ext>
            </a:extLst>
          </p:cNvPr>
          <p:cNvCxnSpPr>
            <a:cxnSpLocks/>
            <a:stCxn id="265" idx="3"/>
            <a:endCxn id="261" idx="1"/>
          </p:cNvCxnSpPr>
          <p:nvPr/>
        </p:nvCxnSpPr>
        <p:spPr>
          <a:xfrm>
            <a:off x="2474821" y="3308620"/>
            <a:ext cx="891959" cy="284265"/>
          </a:xfrm>
          <a:prstGeom prst="bentConnector3">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ector: angular 14">
            <a:extLst>
              <a:ext uri="{FF2B5EF4-FFF2-40B4-BE49-F238E27FC236}">
                <a16:creationId xmlns:a16="http://schemas.microsoft.com/office/drawing/2014/main" id="{897A2601-3EA9-7FCA-4631-9BF82C8D5E10}"/>
              </a:ext>
            </a:extLst>
          </p:cNvPr>
          <p:cNvCxnSpPr>
            <a:cxnSpLocks/>
            <a:stCxn id="261" idx="3"/>
            <a:endCxn id="257" idx="1"/>
          </p:cNvCxnSpPr>
          <p:nvPr/>
        </p:nvCxnSpPr>
        <p:spPr>
          <a:xfrm>
            <a:off x="5444865" y="3592885"/>
            <a:ext cx="954787" cy="287905"/>
          </a:xfrm>
          <a:prstGeom prst="bentConnector3">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angular 18">
            <a:extLst>
              <a:ext uri="{FF2B5EF4-FFF2-40B4-BE49-F238E27FC236}">
                <a16:creationId xmlns:a16="http://schemas.microsoft.com/office/drawing/2014/main" id="{55507821-5B7B-1A71-DFEE-DFC539DE612B}"/>
              </a:ext>
            </a:extLst>
          </p:cNvPr>
          <p:cNvCxnSpPr>
            <a:cxnSpLocks/>
            <a:stCxn id="257" idx="3"/>
            <a:endCxn id="253" idx="1"/>
          </p:cNvCxnSpPr>
          <p:nvPr/>
        </p:nvCxnSpPr>
        <p:spPr>
          <a:xfrm>
            <a:off x="8477737" y="3880790"/>
            <a:ext cx="884923" cy="262033"/>
          </a:xfrm>
          <a:prstGeom prst="bentConnector3">
            <a:avLst>
              <a:gd name="adj1" fmla="val 50000"/>
            </a:avLst>
          </a:prstGeom>
          <a:ln>
            <a:solidFill>
              <a:srgbClr val="746F93"/>
            </a:solidFill>
            <a:tailEnd type="triangle"/>
          </a:ln>
        </p:spPr>
        <p:style>
          <a:lnRef idx="1">
            <a:schemeClr val="accent1"/>
          </a:lnRef>
          <a:fillRef idx="0">
            <a:schemeClr val="accent1"/>
          </a:fillRef>
          <a:effectRef idx="0">
            <a:schemeClr val="accent1"/>
          </a:effectRef>
          <a:fontRef idx="minor">
            <a:schemeClr val="tx1"/>
          </a:fontRef>
        </p:style>
      </p:cxnSp>
      <p:sp>
        <p:nvSpPr>
          <p:cNvPr id="26" name="Text 22">
            <a:extLst>
              <a:ext uri="{FF2B5EF4-FFF2-40B4-BE49-F238E27FC236}">
                <a16:creationId xmlns:a16="http://schemas.microsoft.com/office/drawing/2014/main" id="{206A407A-8804-81B3-C1A6-9FC84EF2D345}"/>
              </a:ext>
            </a:extLst>
          </p:cNvPr>
          <p:cNvSpPr/>
          <p:nvPr/>
        </p:nvSpPr>
        <p:spPr>
          <a:xfrm>
            <a:off x="2481118" y="2866403"/>
            <a:ext cx="865783" cy="441835"/>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200" b="1" i="1" dirty="0" err="1">
                <a:solidFill>
                  <a:schemeClr val="tx1">
                    <a:lumMod val="65000"/>
                    <a:lumOff val="35000"/>
                  </a:schemeClr>
                </a:solidFill>
                <a:latin typeface="Aptos"/>
              </a:rPr>
              <a:t>organiza</a:t>
            </a:r>
            <a:endParaRPr lang="en-US" sz="1200" b="1" i="1" u="none" strike="noStrike" dirty="0">
              <a:solidFill>
                <a:schemeClr val="tx1">
                  <a:lumMod val="65000"/>
                  <a:lumOff val="35000"/>
                </a:schemeClr>
              </a:solidFill>
              <a:effectLst/>
              <a:uFillTx/>
              <a:latin typeface="Arial"/>
            </a:endParaRPr>
          </a:p>
        </p:txBody>
      </p:sp>
      <p:sp>
        <p:nvSpPr>
          <p:cNvPr id="30" name="Text 22">
            <a:extLst>
              <a:ext uri="{FF2B5EF4-FFF2-40B4-BE49-F238E27FC236}">
                <a16:creationId xmlns:a16="http://schemas.microsoft.com/office/drawing/2014/main" id="{8B156619-183E-3AC1-6407-70F99B2544E4}"/>
              </a:ext>
            </a:extLst>
          </p:cNvPr>
          <p:cNvSpPr/>
          <p:nvPr/>
        </p:nvSpPr>
        <p:spPr>
          <a:xfrm>
            <a:off x="5468385" y="3082162"/>
            <a:ext cx="899687" cy="441835"/>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200" b="1" i="1" dirty="0" err="1">
                <a:solidFill>
                  <a:schemeClr val="tx1">
                    <a:lumMod val="65000"/>
                    <a:lumOff val="35000"/>
                  </a:schemeClr>
                </a:solidFill>
                <a:latin typeface="Aptos"/>
              </a:rPr>
              <a:t>coordina</a:t>
            </a:r>
            <a:r>
              <a:rPr lang="en-US" sz="1200" b="1" i="1" dirty="0">
                <a:solidFill>
                  <a:schemeClr val="tx1">
                    <a:lumMod val="65000"/>
                    <a:lumOff val="35000"/>
                  </a:schemeClr>
                </a:solidFill>
                <a:latin typeface="Aptos"/>
              </a:rPr>
              <a:t> / genera</a:t>
            </a:r>
            <a:endParaRPr lang="en-US" sz="1200" b="1" i="1" u="none" strike="noStrike" dirty="0">
              <a:solidFill>
                <a:schemeClr val="tx1">
                  <a:lumMod val="65000"/>
                  <a:lumOff val="35000"/>
                </a:schemeClr>
              </a:solidFill>
              <a:effectLst/>
              <a:uFillTx/>
              <a:latin typeface="Arial"/>
            </a:endParaRPr>
          </a:p>
        </p:txBody>
      </p:sp>
      <p:sp>
        <p:nvSpPr>
          <p:cNvPr id="32" name="Text 22">
            <a:extLst>
              <a:ext uri="{FF2B5EF4-FFF2-40B4-BE49-F238E27FC236}">
                <a16:creationId xmlns:a16="http://schemas.microsoft.com/office/drawing/2014/main" id="{07A10CED-1BA2-055D-3949-FC59D07DFA14}"/>
              </a:ext>
            </a:extLst>
          </p:cNvPr>
          <p:cNvSpPr/>
          <p:nvPr/>
        </p:nvSpPr>
        <p:spPr>
          <a:xfrm>
            <a:off x="8521133" y="3387276"/>
            <a:ext cx="783476" cy="441835"/>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200" b="1" i="1" dirty="0">
                <a:solidFill>
                  <a:schemeClr val="tx1">
                    <a:lumMod val="65000"/>
                    <a:lumOff val="35000"/>
                  </a:schemeClr>
                </a:solidFill>
                <a:latin typeface="Aptos"/>
              </a:rPr>
              <a:t>s</a:t>
            </a:r>
            <a:r>
              <a:rPr lang="en-US" sz="1200" b="1" i="1" u="none" strike="noStrike" dirty="0">
                <a:solidFill>
                  <a:schemeClr val="tx1">
                    <a:lumMod val="65000"/>
                    <a:lumOff val="35000"/>
                  </a:schemeClr>
                </a:solidFill>
                <a:effectLst/>
                <a:uFillTx/>
                <a:latin typeface="Aptos"/>
              </a:rPr>
              <a:t>e </a:t>
            </a:r>
            <a:r>
              <a:rPr lang="en-US" sz="1200" b="1" i="1" u="none" strike="noStrike" dirty="0" err="1">
                <a:solidFill>
                  <a:schemeClr val="tx1">
                    <a:lumMod val="65000"/>
                    <a:lumOff val="35000"/>
                  </a:schemeClr>
                </a:solidFill>
                <a:effectLst/>
                <a:uFillTx/>
                <a:latin typeface="Aptos"/>
              </a:rPr>
              <a:t>realizan</a:t>
            </a:r>
            <a:r>
              <a:rPr lang="en-US" sz="1200" b="1" i="1" u="none" strike="noStrike" dirty="0">
                <a:solidFill>
                  <a:schemeClr val="tx1">
                    <a:lumMod val="65000"/>
                    <a:lumOff val="35000"/>
                  </a:schemeClr>
                </a:solidFill>
                <a:effectLst/>
                <a:uFillTx/>
                <a:latin typeface="Aptos"/>
              </a:rPr>
              <a:t> </a:t>
            </a:r>
            <a:r>
              <a:rPr lang="en-US" sz="1200" b="1" i="1" u="none" strike="noStrike" dirty="0" err="1">
                <a:solidFill>
                  <a:schemeClr val="tx1">
                    <a:lumMod val="65000"/>
                    <a:lumOff val="35000"/>
                  </a:schemeClr>
                </a:solidFill>
                <a:effectLst/>
                <a:uFillTx/>
                <a:latin typeface="Aptos"/>
              </a:rPr>
              <a:t>mediante</a:t>
            </a:r>
            <a:endParaRPr lang="en-US" sz="1200" b="1" i="1" u="none" strike="noStrike" dirty="0">
              <a:solidFill>
                <a:schemeClr val="tx1">
                  <a:lumMod val="65000"/>
                  <a:lumOff val="35000"/>
                </a:schemeClr>
              </a:solidFill>
              <a:effectLst/>
              <a:uFillTx/>
              <a:latin typeface="Arial"/>
            </a:endParaRPr>
          </a:p>
        </p:txBody>
      </p:sp>
      <p:sp>
        <p:nvSpPr>
          <p:cNvPr id="34" name="Text 18">
            <a:extLst>
              <a:ext uri="{FF2B5EF4-FFF2-40B4-BE49-F238E27FC236}">
                <a16:creationId xmlns:a16="http://schemas.microsoft.com/office/drawing/2014/main" id="{07243253-56A4-A7BE-B07C-C4B42B326592}"/>
              </a:ext>
            </a:extLst>
          </p:cNvPr>
          <p:cNvSpPr/>
          <p:nvPr/>
        </p:nvSpPr>
        <p:spPr>
          <a:xfrm>
            <a:off x="6184693" y="5054541"/>
            <a:ext cx="2651194" cy="124753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s-MX" sz="1200" b="1" u="none" strike="noStrike" dirty="0">
                <a:solidFill>
                  <a:srgbClr val="6F6888"/>
                </a:solidFill>
                <a:effectLst/>
                <a:uFillTx/>
                <a:latin typeface="Aptos"/>
                <a:ea typeface="Aptos"/>
              </a:rPr>
              <a:t>Ejemplo: </a:t>
            </a:r>
          </a:p>
          <a:p>
            <a:pPr marL="180000" indent="-180000" defTabSz="914400">
              <a:lnSpc>
                <a:spcPct val="100000"/>
              </a:lnSpc>
              <a:buClr>
                <a:srgbClr val="746F93"/>
              </a:buClr>
              <a:buFont typeface="Arial" panose="020B0604020202020204" pitchFamily="34" charset="0"/>
              <a:buChar char="•"/>
              <a:tabLst>
                <a:tab pos="0" algn="l"/>
              </a:tabLst>
            </a:pPr>
            <a:r>
              <a:rPr lang="es-ES" sz="1200" dirty="0">
                <a:solidFill>
                  <a:srgbClr val="6F6888"/>
                </a:solidFill>
                <a:latin typeface="Aptos"/>
                <a:ea typeface="Aptos"/>
              </a:rPr>
              <a:t>Definir y aprobar el precio</a:t>
            </a:r>
          </a:p>
          <a:p>
            <a:pPr marL="180000" indent="-180000" defTabSz="914400">
              <a:lnSpc>
                <a:spcPct val="100000"/>
              </a:lnSpc>
              <a:buClr>
                <a:srgbClr val="746F93"/>
              </a:buClr>
              <a:buFont typeface="Arial" panose="020B0604020202020204" pitchFamily="34" charset="0"/>
              <a:buChar char="•"/>
              <a:tabLst>
                <a:tab pos="0" algn="l"/>
              </a:tabLst>
            </a:pPr>
            <a:r>
              <a:rPr lang="es-ES" sz="1200" dirty="0">
                <a:solidFill>
                  <a:srgbClr val="6F6888"/>
                </a:solidFill>
                <a:latin typeface="Aptos"/>
                <a:ea typeface="Aptos"/>
              </a:rPr>
              <a:t>Completar expediente documental</a:t>
            </a:r>
          </a:p>
          <a:p>
            <a:pPr marL="180000" indent="-180000" defTabSz="914400">
              <a:lnSpc>
                <a:spcPct val="100000"/>
              </a:lnSpc>
              <a:buClr>
                <a:srgbClr val="746F93"/>
              </a:buClr>
              <a:buFont typeface="Arial" panose="020B0604020202020204" pitchFamily="34" charset="0"/>
              <a:buChar char="•"/>
              <a:tabLst>
                <a:tab pos="0" algn="l"/>
              </a:tabLst>
            </a:pPr>
            <a:r>
              <a:rPr lang="es-ES" sz="1200" b="0" u="none" strike="noStrike" dirty="0">
                <a:solidFill>
                  <a:srgbClr val="6F6888"/>
                </a:solidFill>
                <a:effectLst/>
                <a:uFillTx/>
                <a:latin typeface="Aptos"/>
              </a:rPr>
              <a:t>Realizar publicación en </a:t>
            </a:r>
            <a:r>
              <a:rPr lang="es-ES" sz="1200" b="0" u="none" strike="noStrike" dirty="0" err="1">
                <a:solidFill>
                  <a:srgbClr val="6F6888"/>
                </a:solidFill>
                <a:effectLst/>
                <a:uFillTx/>
                <a:latin typeface="Aptos"/>
              </a:rPr>
              <a:t>EasyBroker</a:t>
            </a:r>
            <a:r>
              <a:rPr lang="es-ES" sz="1200" b="0" u="none" strike="noStrike" dirty="0">
                <a:solidFill>
                  <a:srgbClr val="6F6888"/>
                </a:solidFill>
                <a:effectLst/>
                <a:uFillTx/>
                <a:latin typeface="Aptos"/>
              </a:rPr>
              <a:t> (desde crear borrador hasta verificar publicación)</a:t>
            </a:r>
            <a:endParaRPr lang="en-US" sz="1200" b="0" u="none" strike="noStrike" dirty="0">
              <a:solidFill>
                <a:srgbClr val="000000"/>
              </a:solidFill>
              <a:effectLst/>
              <a:uFillTx/>
              <a:latin typeface="Arial"/>
            </a:endParaRPr>
          </a:p>
        </p:txBody>
      </p:sp>
      <p:sp>
        <p:nvSpPr>
          <p:cNvPr id="38" name="Text 18">
            <a:extLst>
              <a:ext uri="{FF2B5EF4-FFF2-40B4-BE49-F238E27FC236}">
                <a16:creationId xmlns:a16="http://schemas.microsoft.com/office/drawing/2014/main" id="{F57873A9-E077-9E17-5EF8-0464E041EEE4}"/>
              </a:ext>
            </a:extLst>
          </p:cNvPr>
          <p:cNvSpPr/>
          <p:nvPr/>
        </p:nvSpPr>
        <p:spPr>
          <a:xfrm>
            <a:off x="3226456" y="4709097"/>
            <a:ext cx="2401654" cy="795156"/>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s-MX" sz="1200" b="1" u="none" strike="noStrike" dirty="0">
                <a:solidFill>
                  <a:srgbClr val="6F6888"/>
                </a:solidFill>
                <a:effectLst/>
                <a:uFillTx/>
                <a:latin typeface="Aptos"/>
                <a:ea typeface="Aptos"/>
              </a:rPr>
              <a:t>Ejemplo: </a:t>
            </a:r>
          </a:p>
          <a:p>
            <a:pPr defTabSz="914400">
              <a:lnSpc>
                <a:spcPct val="100000"/>
              </a:lnSpc>
              <a:tabLst>
                <a:tab pos="0" algn="l"/>
              </a:tabLst>
            </a:pPr>
            <a:r>
              <a:rPr lang="es-ES" sz="1200" b="0" u="none" strike="noStrike" dirty="0">
                <a:solidFill>
                  <a:srgbClr val="6F6888"/>
                </a:solidFill>
                <a:effectLst/>
                <a:uFillTx/>
                <a:latin typeface="Aptos"/>
              </a:rPr>
              <a:t>Incorporar la propiedad X hasta dejarla publicada</a:t>
            </a:r>
            <a:endParaRPr lang="en-US" sz="1200" b="0" u="none" strike="noStrike" dirty="0">
              <a:solidFill>
                <a:srgbClr val="000000"/>
              </a:solidFill>
              <a:effectLst/>
              <a:uFillTx/>
              <a:latin typeface="Arial"/>
            </a:endParaRPr>
          </a:p>
        </p:txBody>
      </p:sp>
      <p:sp>
        <p:nvSpPr>
          <p:cNvPr id="40" name="Text 18">
            <a:extLst>
              <a:ext uri="{FF2B5EF4-FFF2-40B4-BE49-F238E27FC236}">
                <a16:creationId xmlns:a16="http://schemas.microsoft.com/office/drawing/2014/main" id="{90B284CB-E804-3A65-2AC1-66D52252ECC3}"/>
              </a:ext>
            </a:extLst>
          </p:cNvPr>
          <p:cNvSpPr/>
          <p:nvPr/>
        </p:nvSpPr>
        <p:spPr>
          <a:xfrm>
            <a:off x="547028" y="4395828"/>
            <a:ext cx="2303978" cy="921608"/>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s-MX" sz="1200" b="1" u="none" strike="noStrike" dirty="0">
                <a:solidFill>
                  <a:srgbClr val="6F6888"/>
                </a:solidFill>
                <a:effectLst/>
                <a:uFillTx/>
                <a:latin typeface="Aptos"/>
                <a:ea typeface="Aptos"/>
              </a:rPr>
              <a:t>                      Ejemplo: </a:t>
            </a:r>
          </a:p>
          <a:p>
            <a:pPr defTabSz="914400">
              <a:lnSpc>
                <a:spcPct val="100000"/>
              </a:lnSpc>
              <a:tabLst>
                <a:tab pos="0" algn="l"/>
              </a:tabLst>
            </a:pPr>
            <a:r>
              <a:rPr lang="es-ES" sz="1200" dirty="0">
                <a:solidFill>
                  <a:srgbClr val="6F6888"/>
                </a:solidFill>
                <a:latin typeface="Aptos"/>
                <a:ea typeface="Aptos"/>
              </a:rPr>
              <a:t>Operaciones de Propiedades puede incluir tipos de casos como:</a:t>
            </a:r>
          </a:p>
          <a:p>
            <a:pPr marL="171450" indent="-171450" defTabSz="914400">
              <a:lnSpc>
                <a:spcPct val="100000"/>
              </a:lnSpc>
              <a:buFont typeface="Arial" panose="020B0604020202020204" pitchFamily="34" charset="0"/>
              <a:buChar char="•"/>
              <a:tabLst>
                <a:tab pos="0" algn="l"/>
              </a:tabLst>
            </a:pPr>
            <a:r>
              <a:rPr lang="es-ES" sz="1200" dirty="0" err="1">
                <a:solidFill>
                  <a:srgbClr val="6F6888"/>
                </a:solidFill>
                <a:latin typeface="Aptos"/>
                <a:ea typeface="Aptos"/>
              </a:rPr>
              <a:t>Opcionamiento</a:t>
            </a:r>
            <a:r>
              <a:rPr lang="es-ES" sz="1200" dirty="0">
                <a:solidFill>
                  <a:srgbClr val="6F6888"/>
                </a:solidFill>
                <a:latin typeface="Aptos"/>
                <a:ea typeface="Aptos"/>
              </a:rPr>
              <a:t> de propiedad</a:t>
            </a:r>
          </a:p>
        </p:txBody>
      </p:sp>
      <p:sp>
        <p:nvSpPr>
          <p:cNvPr id="42" name="Text 18">
            <a:extLst>
              <a:ext uri="{FF2B5EF4-FFF2-40B4-BE49-F238E27FC236}">
                <a16:creationId xmlns:a16="http://schemas.microsoft.com/office/drawing/2014/main" id="{6CE8AE74-6110-CE00-E83B-64D0ABA3678A}"/>
              </a:ext>
            </a:extLst>
          </p:cNvPr>
          <p:cNvSpPr/>
          <p:nvPr/>
        </p:nvSpPr>
        <p:spPr>
          <a:xfrm>
            <a:off x="9084619" y="5309480"/>
            <a:ext cx="2951667" cy="124753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s-MX" sz="1200" b="1" u="none" strike="noStrike" dirty="0">
                <a:solidFill>
                  <a:srgbClr val="6F6888"/>
                </a:solidFill>
                <a:effectLst/>
                <a:uFillTx/>
                <a:latin typeface="Aptos"/>
                <a:ea typeface="Aptos"/>
              </a:rPr>
              <a:t>Ejemplo: </a:t>
            </a:r>
          </a:p>
          <a:p>
            <a:pPr marL="180000" indent="-180000" defTabSz="914400">
              <a:lnSpc>
                <a:spcPct val="100000"/>
              </a:lnSpc>
              <a:buClr>
                <a:srgbClr val="746F93"/>
              </a:buClr>
              <a:buFont typeface="Arial" panose="020B0604020202020204" pitchFamily="34" charset="0"/>
              <a:buChar char="•"/>
              <a:tabLst>
                <a:tab pos="0" algn="l"/>
              </a:tabLst>
            </a:pPr>
            <a:r>
              <a:rPr lang="es-ES" sz="1200" dirty="0">
                <a:solidFill>
                  <a:srgbClr val="6F6888"/>
                </a:solidFill>
                <a:latin typeface="Aptos"/>
                <a:ea typeface="Aptos"/>
              </a:rPr>
              <a:t>Ejecutar búsqueda de comparables</a:t>
            </a:r>
          </a:p>
          <a:p>
            <a:pPr marL="180000" indent="-180000" defTabSz="914400">
              <a:lnSpc>
                <a:spcPct val="100000"/>
              </a:lnSpc>
              <a:buClr>
                <a:srgbClr val="746F93"/>
              </a:buClr>
              <a:buFont typeface="Arial" panose="020B0604020202020204" pitchFamily="34" charset="0"/>
              <a:buChar char="•"/>
              <a:tabLst>
                <a:tab pos="0" algn="l"/>
              </a:tabLst>
            </a:pPr>
            <a:r>
              <a:rPr lang="es-ES" sz="1200" dirty="0">
                <a:solidFill>
                  <a:srgbClr val="6F6888"/>
                </a:solidFill>
                <a:latin typeface="Aptos"/>
                <a:ea typeface="Aptos"/>
              </a:rPr>
              <a:t>Invocar </a:t>
            </a:r>
            <a:r>
              <a:rPr lang="es-ES" sz="1200" dirty="0" err="1">
                <a:solidFill>
                  <a:srgbClr val="6F6888"/>
                </a:solidFill>
                <a:latin typeface="Aptos"/>
                <a:ea typeface="Aptos"/>
              </a:rPr>
              <a:t>tool</a:t>
            </a:r>
            <a:r>
              <a:rPr lang="es-ES" sz="1200" dirty="0">
                <a:solidFill>
                  <a:srgbClr val="6F6888"/>
                </a:solidFill>
                <a:latin typeface="Aptos"/>
                <a:ea typeface="Aptos"/>
              </a:rPr>
              <a:t> de valuación con </a:t>
            </a:r>
            <a:r>
              <a:rPr lang="es-ES" sz="1200" dirty="0" err="1">
                <a:solidFill>
                  <a:srgbClr val="6F6888"/>
                </a:solidFill>
                <a:latin typeface="Aptos"/>
                <a:ea typeface="Aptos"/>
              </a:rPr>
              <a:t>Avaclick</a:t>
            </a:r>
            <a:endParaRPr lang="es-ES" sz="1200" dirty="0">
              <a:solidFill>
                <a:srgbClr val="6F6888"/>
              </a:solidFill>
              <a:latin typeface="Aptos"/>
              <a:ea typeface="Aptos"/>
            </a:endParaRPr>
          </a:p>
          <a:p>
            <a:pPr marL="180000" indent="-180000" defTabSz="914400">
              <a:lnSpc>
                <a:spcPct val="100000"/>
              </a:lnSpc>
              <a:buClr>
                <a:srgbClr val="746F93"/>
              </a:buClr>
              <a:buFont typeface="Arial" panose="020B0604020202020204" pitchFamily="34" charset="0"/>
              <a:buChar char="•"/>
              <a:tabLst>
                <a:tab pos="0" algn="l"/>
              </a:tabLst>
            </a:pPr>
            <a:r>
              <a:rPr lang="es-ES" sz="1200" dirty="0">
                <a:solidFill>
                  <a:srgbClr val="6F6888"/>
                </a:solidFill>
                <a:latin typeface="Aptos"/>
                <a:ea typeface="Aptos"/>
              </a:rPr>
              <a:t>Enviar solicitud de aprobación de precio</a:t>
            </a:r>
          </a:p>
          <a:p>
            <a:pPr marL="180000" indent="-180000" defTabSz="914400">
              <a:lnSpc>
                <a:spcPct val="100000"/>
              </a:lnSpc>
              <a:buClr>
                <a:srgbClr val="746F93"/>
              </a:buClr>
              <a:buFont typeface="Arial" panose="020B0604020202020204" pitchFamily="34" charset="0"/>
              <a:buChar char="•"/>
              <a:tabLst>
                <a:tab pos="0" algn="l"/>
              </a:tabLst>
            </a:pPr>
            <a:r>
              <a:rPr lang="es-ES" sz="1200" dirty="0">
                <a:solidFill>
                  <a:srgbClr val="6F6888"/>
                </a:solidFill>
                <a:latin typeface="Aptos"/>
                <a:ea typeface="Aptos"/>
              </a:rPr>
              <a:t>Crear borrador de publicación en </a:t>
            </a:r>
            <a:r>
              <a:rPr lang="es-ES" sz="1200" dirty="0" err="1">
                <a:solidFill>
                  <a:srgbClr val="6F6888"/>
                </a:solidFill>
                <a:latin typeface="Aptos"/>
                <a:ea typeface="Aptos"/>
              </a:rPr>
              <a:t>EasyBroker</a:t>
            </a:r>
            <a:r>
              <a:rPr lang="es-ES" sz="1200" dirty="0">
                <a:solidFill>
                  <a:srgbClr val="6F6888"/>
                </a:solidFill>
                <a:latin typeface="Aptos"/>
                <a:ea typeface="Aptos"/>
              </a:rPr>
              <a:t> </a:t>
            </a:r>
          </a:p>
          <a:p>
            <a:pPr marL="180000" indent="-180000" defTabSz="914400">
              <a:lnSpc>
                <a:spcPct val="100000"/>
              </a:lnSpc>
              <a:buClr>
                <a:srgbClr val="746F93"/>
              </a:buClr>
              <a:buFont typeface="Arial" panose="020B0604020202020204" pitchFamily="34" charset="0"/>
              <a:buChar char="•"/>
              <a:tabLst>
                <a:tab pos="0" algn="l"/>
              </a:tabLst>
            </a:pPr>
            <a:r>
              <a:rPr lang="es-ES" sz="1200" dirty="0">
                <a:solidFill>
                  <a:srgbClr val="6F6888"/>
                </a:solidFill>
                <a:latin typeface="Aptos"/>
                <a:ea typeface="Aptos"/>
              </a:rPr>
              <a:t>...</a:t>
            </a:r>
          </a:p>
        </p:txBody>
      </p:sp>
      <p:grpSp>
        <p:nvGrpSpPr>
          <p:cNvPr id="48" name="Grupo 47">
            <a:extLst>
              <a:ext uri="{FF2B5EF4-FFF2-40B4-BE49-F238E27FC236}">
                <a16:creationId xmlns:a16="http://schemas.microsoft.com/office/drawing/2014/main" id="{8840CEE2-C4F8-B353-AB98-776D6213EFFE}"/>
              </a:ext>
            </a:extLst>
          </p:cNvPr>
          <p:cNvGrpSpPr/>
          <p:nvPr/>
        </p:nvGrpSpPr>
        <p:grpSpPr>
          <a:xfrm>
            <a:off x="545821" y="5823380"/>
            <a:ext cx="5340703" cy="614028"/>
            <a:chOff x="466309" y="5906041"/>
            <a:chExt cx="5629692" cy="614028"/>
          </a:xfrm>
        </p:grpSpPr>
        <p:sp>
          <p:nvSpPr>
            <p:cNvPr id="44" name="Shape 41">
              <a:extLst>
                <a:ext uri="{FF2B5EF4-FFF2-40B4-BE49-F238E27FC236}">
                  <a16:creationId xmlns:a16="http://schemas.microsoft.com/office/drawing/2014/main" id="{F6BA2A2C-7CD9-4DCB-56F0-137CA2F3165C}"/>
                </a:ext>
              </a:extLst>
            </p:cNvPr>
            <p:cNvSpPr/>
            <p:nvPr/>
          </p:nvSpPr>
          <p:spPr>
            <a:xfrm>
              <a:off x="466309" y="5906041"/>
              <a:ext cx="5629692" cy="614028"/>
            </a:xfrm>
            <a:prstGeom prst="roundRect">
              <a:avLst>
                <a:gd name="adj" fmla="val 8621"/>
              </a:avLst>
            </a:prstGeom>
            <a:solidFill>
              <a:srgbClr val="F0E9FF"/>
            </a:solidFill>
            <a:ln w="15240">
              <a:noFill/>
              <a:prstDash val="solid"/>
            </a:ln>
          </p:spPr>
          <p:txBody>
            <a:bodyPr/>
            <a:lstStyle/>
            <a:p>
              <a:endParaRPr lang="es-MX"/>
            </a:p>
          </p:txBody>
        </p:sp>
        <p:sp>
          <p:nvSpPr>
            <p:cNvPr id="46" name="Text 42">
              <a:extLst>
                <a:ext uri="{FF2B5EF4-FFF2-40B4-BE49-F238E27FC236}">
                  <a16:creationId xmlns:a16="http://schemas.microsoft.com/office/drawing/2014/main" id="{C37FAC06-5F26-8642-35A3-B350DC24DDCB}"/>
                </a:ext>
              </a:extLst>
            </p:cNvPr>
            <p:cNvSpPr/>
            <p:nvPr/>
          </p:nvSpPr>
          <p:spPr>
            <a:xfrm>
              <a:off x="645687" y="6034057"/>
              <a:ext cx="5327730" cy="357306"/>
            </a:xfrm>
            <a:prstGeom prst="rect">
              <a:avLst/>
            </a:prstGeom>
            <a:noFill/>
            <a:ln/>
          </p:spPr>
          <p:txBody>
            <a:bodyPr wrap="square" lIns="0" tIns="0" rIns="0" bIns="0" rtlCol="0" anchor="ctr">
              <a:noAutofit/>
            </a:bodyPr>
            <a:lstStyle/>
            <a:p>
              <a:pPr marL="0" indent="0" algn="l">
                <a:buNone/>
              </a:pPr>
              <a:r>
                <a:rPr lang="es-ES" sz="1400" b="1" dirty="0">
                  <a:solidFill>
                    <a:srgbClr val="6034D3"/>
                  </a:solidFill>
                  <a:latin typeface="Aptos" pitchFamily="34" charset="0"/>
                  <a:ea typeface="Aptos" pitchFamily="34" charset="-122"/>
                  <a:cs typeface="Aptos" pitchFamily="34" charset="-120"/>
                </a:rPr>
                <a:t>No todo tiene que convertirse en Caso. Se usa la abstracción más pequeña que sea suficiente para el trabajo.</a:t>
              </a:r>
              <a:endParaRPr lang="en-US" sz="1400" dirty="0"/>
            </a:p>
          </p:txBody>
        </p:sp>
      </p:grpSp>
    </p:spTree>
    <p:extLst>
      <p:ext uri="{BB962C8B-B14F-4D97-AF65-F5344CB8AC3E}">
        <p14:creationId xmlns:p14="http://schemas.microsoft.com/office/powerpoint/2010/main" val="25335818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85E9F-A6AD-40A4-5DF7-2674F1B5F3D4}"/>
            </a:ext>
          </a:extLst>
        </p:cNvPr>
        <p:cNvGrpSpPr/>
        <p:nvPr/>
      </p:nvGrpSpPr>
      <p:grpSpPr>
        <a:xfrm>
          <a:off x="0" y="0"/>
          <a:ext cx="0" cy="0"/>
          <a:chOff x="0" y="0"/>
          <a:chExt cx="0" cy="0"/>
        </a:xfrm>
      </p:grpSpPr>
      <p:sp>
        <p:nvSpPr>
          <p:cNvPr id="270" name="Shape 0">
            <a:extLst>
              <a:ext uri="{FF2B5EF4-FFF2-40B4-BE49-F238E27FC236}">
                <a16:creationId xmlns:a16="http://schemas.microsoft.com/office/drawing/2014/main" id="{A47AE981-3183-2382-FA5A-1B496DD0DDD9}"/>
              </a:ext>
            </a:extLst>
          </p:cNvPr>
          <p:cNvSpPr/>
          <p:nvPr/>
        </p:nvSpPr>
        <p:spPr>
          <a:xfrm>
            <a:off x="0" y="0"/>
            <a:ext cx="12191400" cy="63720"/>
          </a:xfrm>
          <a:prstGeom prst="rect">
            <a:avLst/>
          </a:prstGeom>
          <a:solidFill>
            <a:srgbClr val="5F2CCB"/>
          </a:solidFill>
          <a:ln w="12700">
            <a:solidFill>
              <a:srgbClr val="5F2CCB">
                <a:alpha val="0"/>
              </a:srgbClr>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FFFFFF"/>
              </a:solidFill>
              <a:effectLst/>
              <a:uFillTx/>
              <a:latin typeface="Arial"/>
            </a:endParaRPr>
          </a:p>
        </p:txBody>
      </p:sp>
      <p:sp>
        <p:nvSpPr>
          <p:cNvPr id="271" name="Text 1">
            <a:extLst>
              <a:ext uri="{FF2B5EF4-FFF2-40B4-BE49-F238E27FC236}">
                <a16:creationId xmlns:a16="http://schemas.microsoft.com/office/drawing/2014/main" id="{9FC03272-9C9A-3482-2AD9-9270490398CD}"/>
              </a:ext>
            </a:extLst>
          </p:cNvPr>
          <p:cNvSpPr/>
          <p:nvPr/>
        </p:nvSpPr>
        <p:spPr>
          <a:xfrm>
            <a:off x="567000" y="438840"/>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dirty="0">
                <a:solidFill>
                  <a:srgbClr val="5F2CCB"/>
                </a:solidFill>
                <a:effectLst/>
                <a:uFillTx/>
                <a:latin typeface="Aptos"/>
                <a:ea typeface="Aptos"/>
              </a:rPr>
              <a:t>CASOS + </a:t>
            </a:r>
            <a:r>
              <a:rPr lang="en-US" sz="1200" b="1" dirty="0">
                <a:solidFill>
                  <a:srgbClr val="5F2CCB"/>
                </a:solidFill>
                <a:latin typeface="Aptos"/>
                <a:ea typeface="Aptos"/>
              </a:rPr>
              <a:t>FLUJOS DINÁMICOS</a:t>
            </a:r>
            <a:endParaRPr lang="en-US" sz="1200" b="0" u="none" strike="noStrike" dirty="0">
              <a:solidFill>
                <a:srgbClr val="000000"/>
              </a:solidFill>
              <a:effectLst/>
              <a:uFillTx/>
              <a:latin typeface="Arial"/>
            </a:endParaRPr>
          </a:p>
        </p:txBody>
      </p:sp>
      <p:sp>
        <p:nvSpPr>
          <p:cNvPr id="272" name="Text 2">
            <a:extLst>
              <a:ext uri="{FF2B5EF4-FFF2-40B4-BE49-F238E27FC236}">
                <a16:creationId xmlns:a16="http://schemas.microsoft.com/office/drawing/2014/main" id="{042ED85C-876D-0A0A-81DC-40C9E8836825}"/>
              </a:ext>
            </a:extLst>
          </p:cNvPr>
          <p:cNvSpPr/>
          <p:nvPr/>
        </p:nvSpPr>
        <p:spPr>
          <a:xfrm>
            <a:off x="567000" y="744966"/>
            <a:ext cx="10195200" cy="512121"/>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2600" b="1" u="none" strike="noStrike" dirty="0">
                <a:solidFill>
                  <a:srgbClr val="151327"/>
                </a:solidFill>
                <a:effectLst/>
                <a:uFillTx/>
                <a:latin typeface="Aptos Display"/>
                <a:ea typeface="Aptos Display"/>
              </a:rPr>
              <a:t>Un Caso es durable, el camino para </a:t>
            </a:r>
            <a:r>
              <a:rPr lang="en-US" sz="2600" b="1" u="none" strike="noStrike" dirty="0" err="1">
                <a:solidFill>
                  <a:srgbClr val="151327"/>
                </a:solidFill>
                <a:effectLst/>
                <a:uFillTx/>
                <a:latin typeface="Aptos Display"/>
                <a:ea typeface="Aptos Display"/>
              </a:rPr>
              <a:t>avanzar</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puede</a:t>
            </a:r>
            <a:r>
              <a:rPr lang="en-US" sz="2600" b="1" u="none" strike="noStrike" dirty="0">
                <a:solidFill>
                  <a:srgbClr val="151327"/>
                </a:solidFill>
                <a:effectLst/>
                <a:uFillTx/>
                <a:latin typeface="Aptos Display"/>
                <a:ea typeface="Aptos Display"/>
              </a:rPr>
              <a:t> ser </a:t>
            </a:r>
            <a:r>
              <a:rPr lang="en-US" sz="2600" b="1" u="none" strike="noStrike" dirty="0" err="1">
                <a:solidFill>
                  <a:srgbClr val="151327"/>
                </a:solidFill>
                <a:effectLst/>
                <a:uFillTx/>
                <a:latin typeface="Aptos Display"/>
                <a:ea typeface="Aptos Display"/>
              </a:rPr>
              <a:t>dinámico</a:t>
            </a:r>
            <a:r>
              <a:rPr lang="en-US" sz="2600" b="1" u="none" strike="noStrike" dirty="0">
                <a:solidFill>
                  <a:srgbClr val="151327"/>
                </a:solidFill>
                <a:effectLst/>
                <a:uFillTx/>
                <a:latin typeface="Aptos Display"/>
                <a:ea typeface="Aptos Display"/>
              </a:rPr>
              <a:t>.</a:t>
            </a:r>
            <a:endParaRPr lang="en-US" sz="2600" b="0" u="none" strike="noStrike" dirty="0">
              <a:solidFill>
                <a:srgbClr val="000000"/>
              </a:solidFill>
              <a:effectLst/>
              <a:uFillTx/>
              <a:latin typeface="Arial"/>
            </a:endParaRPr>
          </a:p>
        </p:txBody>
      </p:sp>
      <p:sp>
        <p:nvSpPr>
          <p:cNvPr id="273" name="Text 3">
            <a:extLst>
              <a:ext uri="{FF2B5EF4-FFF2-40B4-BE49-F238E27FC236}">
                <a16:creationId xmlns:a16="http://schemas.microsoft.com/office/drawing/2014/main" id="{83BBB250-37F4-CCE5-2415-BCD3F14EBACA}"/>
              </a:ext>
            </a:extLst>
          </p:cNvPr>
          <p:cNvSpPr/>
          <p:nvPr/>
        </p:nvSpPr>
        <p:spPr>
          <a:xfrm>
            <a:off x="567000" y="1285885"/>
            <a:ext cx="10698120" cy="365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b="0" u="none" strike="noStrike" dirty="0">
                <a:solidFill>
                  <a:srgbClr val="6F6888"/>
                </a:solidFill>
                <a:effectLst/>
                <a:uFillTx/>
                <a:latin typeface="Aptos"/>
                <a:ea typeface="Aptos"/>
              </a:rPr>
              <a:t>Lo </a:t>
            </a:r>
            <a:r>
              <a:rPr lang="en-US" b="1" u="none" strike="noStrike" dirty="0" err="1">
                <a:solidFill>
                  <a:srgbClr val="6F6888"/>
                </a:solidFill>
                <a:effectLst/>
                <a:uFillTx/>
                <a:latin typeface="Aptos"/>
                <a:ea typeface="Aptos"/>
              </a:rPr>
              <a:t>estable</a:t>
            </a:r>
            <a:r>
              <a:rPr lang="en-US" b="1" u="none" strike="noStrike" dirty="0">
                <a:solidFill>
                  <a:srgbClr val="6F6888"/>
                </a:solidFill>
                <a:effectLst/>
                <a:uFillTx/>
                <a:latin typeface="Aptos"/>
                <a:ea typeface="Aptos"/>
              </a:rPr>
              <a:t> es el </a:t>
            </a:r>
            <a:r>
              <a:rPr lang="en-US" b="1" u="none" strike="noStrike" dirty="0" err="1">
                <a:solidFill>
                  <a:srgbClr val="6F6888"/>
                </a:solidFill>
                <a:effectLst/>
                <a:uFillTx/>
                <a:latin typeface="Aptos"/>
                <a:ea typeface="Aptos"/>
              </a:rPr>
              <a:t>contrato</a:t>
            </a:r>
            <a:r>
              <a:rPr lang="en-US" b="1" u="none" strike="noStrike" dirty="0">
                <a:solidFill>
                  <a:srgbClr val="6F6888"/>
                </a:solidFill>
                <a:effectLst/>
                <a:uFillTx/>
                <a:latin typeface="Aptos"/>
                <a:ea typeface="Aptos"/>
              </a:rPr>
              <a:t> </a:t>
            </a:r>
            <a:r>
              <a:rPr lang="en-US" b="1" u="none" strike="noStrike" dirty="0" err="1">
                <a:solidFill>
                  <a:srgbClr val="6F6888"/>
                </a:solidFill>
                <a:effectLst/>
                <a:uFillTx/>
                <a:latin typeface="Aptos"/>
                <a:ea typeface="Aptos"/>
              </a:rPr>
              <a:t>operacional</a:t>
            </a:r>
            <a:r>
              <a:rPr lang="en-US" dirty="0">
                <a:solidFill>
                  <a:srgbClr val="6F6888"/>
                </a:solidFill>
                <a:latin typeface="Aptos"/>
                <a:ea typeface="Aptos"/>
              </a:rPr>
              <a:t>,</a:t>
            </a:r>
            <a:r>
              <a:rPr lang="en-US" b="0" u="none" strike="noStrike" dirty="0">
                <a:solidFill>
                  <a:srgbClr val="6F6888"/>
                </a:solidFill>
                <a:effectLst/>
                <a:uFillTx/>
                <a:latin typeface="Aptos"/>
                <a:ea typeface="Aptos"/>
              </a:rPr>
              <a:t> el </a:t>
            </a:r>
            <a:r>
              <a:rPr lang="en-US" b="1" u="none" strike="noStrike" dirty="0">
                <a:solidFill>
                  <a:srgbClr val="6F6888"/>
                </a:solidFill>
                <a:effectLst/>
                <a:uFillTx/>
                <a:latin typeface="Aptos"/>
                <a:ea typeface="Aptos"/>
              </a:rPr>
              <a:t>camino se </a:t>
            </a:r>
            <a:r>
              <a:rPr lang="en-US" b="1" u="none" strike="noStrike" dirty="0" err="1">
                <a:solidFill>
                  <a:srgbClr val="6F6888"/>
                </a:solidFill>
                <a:effectLst/>
                <a:uFillTx/>
                <a:latin typeface="Aptos"/>
                <a:ea typeface="Aptos"/>
              </a:rPr>
              <a:t>adapta</a:t>
            </a:r>
            <a:r>
              <a:rPr lang="en-US" b="1" u="none" strike="noStrike" dirty="0">
                <a:solidFill>
                  <a:srgbClr val="6F6888"/>
                </a:solidFill>
                <a:effectLst/>
                <a:uFillTx/>
                <a:latin typeface="Aptos"/>
                <a:ea typeface="Aptos"/>
              </a:rPr>
              <a:t> </a:t>
            </a:r>
            <a:r>
              <a:rPr lang="en-US" b="1" u="none" strike="noStrike" dirty="0" err="1">
                <a:solidFill>
                  <a:srgbClr val="6F6888"/>
                </a:solidFill>
                <a:effectLst/>
                <a:uFillTx/>
                <a:latin typeface="Aptos"/>
                <a:ea typeface="Aptos"/>
              </a:rPr>
              <a:t>conforme</a:t>
            </a:r>
            <a:r>
              <a:rPr lang="en-US" b="1" u="none" strike="noStrike" dirty="0">
                <a:solidFill>
                  <a:srgbClr val="6F6888"/>
                </a:solidFill>
                <a:effectLst/>
                <a:uFillTx/>
                <a:latin typeface="Aptos"/>
                <a:ea typeface="Aptos"/>
              </a:rPr>
              <a:t> cambia la </a:t>
            </a:r>
            <a:r>
              <a:rPr lang="en-US" b="1" u="none" strike="noStrike" dirty="0" err="1">
                <a:solidFill>
                  <a:srgbClr val="6F6888"/>
                </a:solidFill>
                <a:effectLst/>
                <a:uFillTx/>
                <a:latin typeface="Aptos"/>
                <a:ea typeface="Aptos"/>
              </a:rPr>
              <a:t>realidad</a:t>
            </a:r>
            <a:r>
              <a:rPr lang="en-US" b="0" u="none" strike="noStrike" dirty="0">
                <a:solidFill>
                  <a:srgbClr val="6F6888"/>
                </a:solidFill>
                <a:effectLst/>
                <a:uFillTx/>
                <a:latin typeface="Aptos"/>
                <a:ea typeface="Aptos"/>
              </a:rPr>
              <a:t>.</a:t>
            </a:r>
            <a:endParaRPr lang="en-US" b="0" u="none" strike="noStrike" dirty="0">
              <a:solidFill>
                <a:srgbClr val="000000"/>
              </a:solidFill>
              <a:effectLst/>
              <a:uFillTx/>
              <a:latin typeface="Arial"/>
            </a:endParaRPr>
          </a:p>
        </p:txBody>
      </p:sp>
      <p:sp>
        <p:nvSpPr>
          <p:cNvPr id="275" name="Text 5">
            <a:extLst>
              <a:ext uri="{FF2B5EF4-FFF2-40B4-BE49-F238E27FC236}">
                <a16:creationId xmlns:a16="http://schemas.microsoft.com/office/drawing/2014/main" id="{2281CC1B-0F9D-61EB-D7ED-AC8026332EAE}"/>
              </a:ext>
            </a:extLst>
          </p:cNvPr>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u="none" strike="noStrike">
                <a:solidFill>
                  <a:srgbClr val="7E7798"/>
                </a:solidFill>
                <a:effectLst/>
                <a:uFillTx/>
                <a:latin typeface="Aptos"/>
                <a:ea typeface="Aptos"/>
              </a:rPr>
              <a:t>CONFIDENTIAL</a:t>
            </a:r>
            <a:endParaRPr lang="en-US" sz="650" b="0" u="none" strike="noStrike">
              <a:solidFill>
                <a:srgbClr val="000000"/>
              </a:solidFill>
              <a:effectLst/>
              <a:uFillTx/>
              <a:latin typeface="Arial"/>
            </a:endParaRPr>
          </a:p>
        </p:txBody>
      </p:sp>
      <p:sp>
        <p:nvSpPr>
          <p:cNvPr id="276" name="Text 6">
            <a:extLst>
              <a:ext uri="{FF2B5EF4-FFF2-40B4-BE49-F238E27FC236}">
                <a16:creationId xmlns:a16="http://schemas.microsoft.com/office/drawing/2014/main" id="{898EB01F-8B82-EAF8-240F-58AD5A5F29F7}"/>
              </a:ext>
            </a:extLst>
          </p:cNvPr>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650" b="0" u="none" strike="noStrike">
                <a:solidFill>
                  <a:srgbClr val="7E7798"/>
                </a:solidFill>
                <a:effectLst/>
                <a:uFillTx/>
                <a:latin typeface="Aptos"/>
                <a:ea typeface="Aptos"/>
              </a:rPr>
              <a:t>ungga.com</a:t>
            </a:r>
            <a:endParaRPr lang="en-US" sz="650" b="0" u="none" strike="noStrike">
              <a:solidFill>
                <a:srgbClr val="000000"/>
              </a:solidFill>
              <a:effectLst/>
              <a:uFillTx/>
              <a:latin typeface="Arial"/>
            </a:endParaRPr>
          </a:p>
        </p:txBody>
      </p:sp>
      <p:sp>
        <p:nvSpPr>
          <p:cNvPr id="277" name="Text 7">
            <a:extLst>
              <a:ext uri="{FF2B5EF4-FFF2-40B4-BE49-F238E27FC236}">
                <a16:creationId xmlns:a16="http://schemas.microsoft.com/office/drawing/2014/main" id="{5B6D0330-FAB0-5BDA-C83E-2827052348E1}"/>
              </a:ext>
            </a:extLst>
          </p:cNvPr>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b="0" u="none" strike="noStrike" dirty="0">
                <a:solidFill>
                  <a:srgbClr val="7E7798"/>
                </a:solidFill>
                <a:effectLst/>
                <a:uFillTx/>
                <a:latin typeface="Aptos"/>
                <a:ea typeface="Aptos"/>
              </a:rPr>
              <a:t>12</a:t>
            </a:r>
            <a:endParaRPr lang="en-US" sz="800" b="0" u="none" strike="noStrike" dirty="0">
              <a:solidFill>
                <a:srgbClr val="000000"/>
              </a:solidFill>
              <a:effectLst/>
              <a:uFillTx/>
              <a:latin typeface="Arial"/>
            </a:endParaRPr>
          </a:p>
        </p:txBody>
      </p:sp>
      <p:grpSp>
        <p:nvGrpSpPr>
          <p:cNvPr id="33" name="Grupo 32">
            <a:extLst>
              <a:ext uri="{FF2B5EF4-FFF2-40B4-BE49-F238E27FC236}">
                <a16:creationId xmlns:a16="http://schemas.microsoft.com/office/drawing/2014/main" id="{456E43E6-B62E-D68D-77B1-5D71F8B30B44}"/>
              </a:ext>
            </a:extLst>
          </p:cNvPr>
          <p:cNvGrpSpPr/>
          <p:nvPr/>
        </p:nvGrpSpPr>
        <p:grpSpPr>
          <a:xfrm>
            <a:off x="558582" y="2015646"/>
            <a:ext cx="2599760" cy="2915908"/>
            <a:chOff x="598338" y="2052820"/>
            <a:chExt cx="3029446" cy="2552305"/>
          </a:xfrm>
        </p:grpSpPr>
        <p:sp>
          <p:nvSpPr>
            <p:cNvPr id="278" name="Shape 8">
              <a:extLst>
                <a:ext uri="{FF2B5EF4-FFF2-40B4-BE49-F238E27FC236}">
                  <a16:creationId xmlns:a16="http://schemas.microsoft.com/office/drawing/2014/main" id="{DB29663A-744A-2162-F307-28CDC514DFDF}"/>
                </a:ext>
              </a:extLst>
            </p:cNvPr>
            <p:cNvSpPr/>
            <p:nvPr/>
          </p:nvSpPr>
          <p:spPr>
            <a:xfrm>
              <a:off x="598338" y="2052820"/>
              <a:ext cx="3029446" cy="2552305"/>
            </a:xfrm>
            <a:prstGeom prst="roundRect">
              <a:avLst>
                <a:gd name="adj" fmla="val 3922"/>
              </a:avLst>
            </a:prstGeom>
            <a:solidFill>
              <a:srgbClr val="FFFFFF"/>
            </a:solidFill>
            <a:ln w="12700">
              <a:solidFill>
                <a:srgbClr val="DED2F6"/>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9" name="Text 9">
              <a:extLst>
                <a:ext uri="{FF2B5EF4-FFF2-40B4-BE49-F238E27FC236}">
                  <a16:creationId xmlns:a16="http://schemas.microsoft.com/office/drawing/2014/main" id="{3E1BE664-5DAF-0B5F-0314-FCFBA1A23F11}"/>
                </a:ext>
              </a:extLst>
            </p:cNvPr>
            <p:cNvSpPr/>
            <p:nvPr/>
          </p:nvSpPr>
          <p:spPr>
            <a:xfrm>
              <a:off x="799578" y="2204484"/>
              <a:ext cx="2633040" cy="20147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00" b="1" u="none" strike="noStrike" dirty="0">
                  <a:solidFill>
                    <a:srgbClr val="5F2CCB"/>
                  </a:solidFill>
                  <a:effectLst/>
                  <a:uFillTx/>
                  <a:latin typeface="Aptos"/>
                  <a:ea typeface="Aptos"/>
                </a:rPr>
                <a:t>DURABLE</a:t>
              </a:r>
              <a:endParaRPr lang="en-US" sz="1200" b="0" u="none" strike="noStrike" dirty="0">
                <a:solidFill>
                  <a:srgbClr val="000000"/>
                </a:solidFill>
                <a:effectLst/>
                <a:uFillTx/>
                <a:latin typeface="Arial"/>
              </a:endParaRPr>
            </a:p>
          </p:txBody>
        </p:sp>
        <p:sp>
          <p:nvSpPr>
            <p:cNvPr id="280" name="Text 10">
              <a:extLst>
                <a:ext uri="{FF2B5EF4-FFF2-40B4-BE49-F238E27FC236}">
                  <a16:creationId xmlns:a16="http://schemas.microsoft.com/office/drawing/2014/main" id="{55B777C1-F647-82B9-F781-ECC2A1038393}"/>
                </a:ext>
              </a:extLst>
            </p:cNvPr>
            <p:cNvSpPr/>
            <p:nvPr/>
          </p:nvSpPr>
          <p:spPr>
            <a:xfrm>
              <a:off x="799578" y="2507120"/>
              <a:ext cx="25689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dirty="0">
                  <a:solidFill>
                    <a:srgbClr val="151327"/>
                  </a:solidFill>
                  <a:effectLst/>
                  <a:uFillTx/>
                  <a:latin typeface="Aptos Display"/>
                  <a:ea typeface="Aptos Display"/>
                </a:rPr>
                <a:t>Caso </a:t>
              </a:r>
              <a:r>
                <a:rPr lang="en-US" sz="1600" b="1" u="none" strike="noStrike" dirty="0" err="1">
                  <a:solidFill>
                    <a:srgbClr val="151327"/>
                  </a:solidFill>
                  <a:effectLst/>
                  <a:uFillTx/>
                  <a:latin typeface="Aptos Display"/>
                  <a:ea typeface="Aptos Display"/>
                </a:rPr>
                <a:t>Operacional</a:t>
              </a:r>
              <a:endParaRPr lang="en-US" sz="1600" b="0" u="none" strike="noStrike" dirty="0">
                <a:solidFill>
                  <a:srgbClr val="000000"/>
                </a:solidFill>
                <a:effectLst/>
                <a:uFillTx/>
                <a:latin typeface="Arial"/>
              </a:endParaRPr>
            </a:p>
          </p:txBody>
        </p:sp>
        <p:sp>
          <p:nvSpPr>
            <p:cNvPr id="281" name="Text 11">
              <a:extLst>
                <a:ext uri="{FF2B5EF4-FFF2-40B4-BE49-F238E27FC236}">
                  <a16:creationId xmlns:a16="http://schemas.microsoft.com/office/drawing/2014/main" id="{BC1A9369-DCA3-6F73-6419-060AF758F580}"/>
                </a:ext>
              </a:extLst>
            </p:cNvPr>
            <p:cNvSpPr/>
            <p:nvPr/>
          </p:nvSpPr>
          <p:spPr>
            <a:xfrm>
              <a:off x="804603" y="3078675"/>
              <a:ext cx="2568960" cy="11793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marL="171450" indent="-171450" defTabSz="914400">
                <a:lnSpc>
                  <a:spcPct val="100000"/>
                </a:lnSpc>
                <a:buFont typeface="Arial" panose="020B0604020202020204" pitchFamily="34" charset="0"/>
                <a:buChar char="•"/>
                <a:tabLst>
                  <a:tab pos="0" algn="l"/>
                </a:tabLst>
              </a:pPr>
              <a:r>
                <a:rPr lang="en-US" sz="1400" b="0" u="none" strike="noStrike" dirty="0" err="1">
                  <a:solidFill>
                    <a:srgbClr val="6F6888"/>
                  </a:solidFill>
                  <a:effectLst/>
                  <a:uFillTx/>
                  <a:latin typeface="Aptos"/>
                  <a:ea typeface="Aptos"/>
                </a:rPr>
                <a:t>Objetivo</a:t>
              </a:r>
              <a:r>
                <a:rPr lang="en-US" sz="1400" b="0" u="none" strike="noStrike" dirty="0">
                  <a:solidFill>
                    <a:srgbClr val="6F6888"/>
                  </a:solidFill>
                  <a:effectLst/>
                  <a:uFillTx/>
                  <a:latin typeface="Aptos"/>
                  <a:ea typeface="Aptos"/>
                </a:rPr>
                <a:t> / </a:t>
              </a:r>
              <a:r>
                <a:rPr lang="en-US" sz="1400" b="0" u="none" strike="noStrike" dirty="0" err="1">
                  <a:solidFill>
                    <a:srgbClr val="6F6888"/>
                  </a:solidFill>
                  <a:effectLst/>
                  <a:uFillTx/>
                  <a:latin typeface="Aptos"/>
                  <a:ea typeface="Aptos"/>
                </a:rPr>
                <a:t>compromiso</a:t>
              </a:r>
              <a:r>
                <a:rPr lang="en-US" sz="1400" b="0" u="none" strike="noStrike" dirty="0">
                  <a:solidFill>
                    <a:srgbClr val="6F6888"/>
                  </a:solidFill>
                  <a:effectLst/>
                  <a:uFillTx/>
                  <a:latin typeface="Aptos"/>
                  <a:ea typeface="Aptos"/>
                </a:rPr>
                <a:t> durable</a:t>
              </a:r>
              <a:endParaRPr lang="en-US" sz="1400" b="0" u="none" strike="noStrike" dirty="0">
                <a:solidFill>
                  <a:srgbClr val="000000"/>
                </a:solidFill>
                <a:effectLst/>
                <a:uFillTx/>
                <a:latin typeface="Arial"/>
              </a:endParaRPr>
            </a:p>
            <a:p>
              <a:pPr marL="171450" indent="-171450" defTabSz="914400">
                <a:lnSpc>
                  <a:spcPct val="100000"/>
                </a:lnSpc>
                <a:buFont typeface="Arial" panose="020B0604020202020204" pitchFamily="34" charset="0"/>
                <a:buChar char="•"/>
                <a:tabLst>
                  <a:tab pos="0" algn="l"/>
                </a:tabLst>
              </a:pPr>
              <a:r>
                <a:rPr lang="en-US" sz="1400" b="0" u="none" strike="noStrike" dirty="0">
                  <a:solidFill>
                    <a:srgbClr val="6F6888"/>
                  </a:solidFill>
                  <a:effectLst/>
                  <a:uFillTx/>
                  <a:latin typeface="Aptos"/>
                  <a:ea typeface="Aptos"/>
                </a:rPr>
                <a:t>Estado del </a:t>
              </a:r>
              <a:r>
                <a:rPr lang="en-US" sz="1400" b="0" u="none" strike="noStrike" dirty="0" err="1">
                  <a:solidFill>
                    <a:srgbClr val="6F6888"/>
                  </a:solidFill>
                  <a:effectLst/>
                  <a:uFillTx/>
                  <a:latin typeface="Aptos"/>
                  <a:ea typeface="Aptos"/>
                </a:rPr>
                <a:t>trabajo</a:t>
              </a:r>
              <a:endParaRPr lang="en-US" sz="1400" b="0" u="none" strike="noStrike" dirty="0">
                <a:solidFill>
                  <a:srgbClr val="000000"/>
                </a:solidFill>
                <a:effectLst/>
                <a:uFillTx/>
                <a:latin typeface="Arial"/>
              </a:endParaRPr>
            </a:p>
            <a:p>
              <a:pPr marL="171450" indent="-171450" defTabSz="914400">
                <a:lnSpc>
                  <a:spcPct val="100000"/>
                </a:lnSpc>
                <a:buFont typeface="Arial" panose="020B0604020202020204" pitchFamily="34" charset="0"/>
                <a:buChar char="•"/>
                <a:tabLst>
                  <a:tab pos="0" algn="l"/>
                </a:tabLst>
              </a:pPr>
              <a:r>
                <a:rPr lang="en-US" sz="1400" b="0" u="none" strike="noStrike" dirty="0" err="1">
                  <a:solidFill>
                    <a:srgbClr val="6F6888"/>
                  </a:solidFill>
                  <a:effectLst/>
                  <a:uFillTx/>
                  <a:latin typeface="Aptos"/>
                  <a:ea typeface="Aptos"/>
                </a:rPr>
                <a:t>Participantes</a:t>
              </a:r>
              <a:endParaRPr lang="en-US" sz="1400" b="0" u="none" strike="noStrike" dirty="0">
                <a:solidFill>
                  <a:srgbClr val="000000"/>
                </a:solidFill>
                <a:effectLst/>
                <a:uFillTx/>
                <a:latin typeface="Arial"/>
              </a:endParaRPr>
            </a:p>
            <a:p>
              <a:pPr marL="171450" indent="-171450" defTabSz="914400">
                <a:lnSpc>
                  <a:spcPct val="100000"/>
                </a:lnSpc>
                <a:buFont typeface="Arial" panose="020B0604020202020204" pitchFamily="34" charset="0"/>
                <a:buChar char="•"/>
                <a:tabLst>
                  <a:tab pos="0" algn="l"/>
                </a:tabLst>
              </a:pPr>
              <a:r>
                <a:rPr lang="en-US" sz="1400" b="0" u="none" strike="noStrike" dirty="0" err="1">
                  <a:solidFill>
                    <a:srgbClr val="6F6888"/>
                  </a:solidFill>
                  <a:effectLst/>
                  <a:uFillTx/>
                  <a:latin typeface="Aptos"/>
                  <a:ea typeface="Aptos"/>
                </a:rPr>
                <a:t>Restricciones</a:t>
              </a:r>
              <a:r>
                <a:rPr lang="en-US" sz="1400" b="0" u="none" strike="noStrike" dirty="0">
                  <a:solidFill>
                    <a:srgbClr val="6F6888"/>
                  </a:solidFill>
                  <a:effectLst/>
                  <a:uFillTx/>
                  <a:latin typeface="Aptos"/>
                  <a:ea typeface="Aptos"/>
                </a:rPr>
                <a:t> y </a:t>
              </a:r>
              <a:r>
                <a:rPr lang="en-US" sz="1400" b="0" u="none" strike="noStrike" dirty="0" err="1">
                  <a:solidFill>
                    <a:srgbClr val="6F6888"/>
                  </a:solidFill>
                  <a:effectLst/>
                  <a:uFillTx/>
                  <a:latin typeface="Aptos"/>
                  <a:ea typeface="Aptos"/>
                </a:rPr>
                <a:t>permisos</a:t>
              </a:r>
              <a:endParaRPr lang="en-US" sz="1400" b="0" u="none" strike="noStrike" dirty="0">
                <a:solidFill>
                  <a:srgbClr val="000000"/>
                </a:solidFill>
                <a:effectLst/>
                <a:uFillTx/>
                <a:latin typeface="Arial"/>
              </a:endParaRPr>
            </a:p>
            <a:p>
              <a:pPr marL="171450" indent="-171450" defTabSz="914400">
                <a:lnSpc>
                  <a:spcPct val="100000"/>
                </a:lnSpc>
                <a:buFont typeface="Arial" panose="020B0604020202020204" pitchFamily="34" charset="0"/>
                <a:buChar char="•"/>
                <a:tabLst>
                  <a:tab pos="0" algn="l"/>
                </a:tabLst>
              </a:pPr>
              <a:r>
                <a:rPr lang="en-US" sz="1400" b="0" u="none" strike="noStrike" dirty="0" err="1">
                  <a:solidFill>
                    <a:srgbClr val="6F6888"/>
                  </a:solidFill>
                  <a:effectLst/>
                  <a:uFillTx/>
                  <a:latin typeface="Aptos"/>
                  <a:ea typeface="Aptos"/>
                </a:rPr>
                <a:t>Evidencia</a:t>
              </a:r>
              <a:r>
                <a:rPr lang="en-US" sz="1400" b="0" u="none" strike="noStrike" dirty="0">
                  <a:solidFill>
                    <a:srgbClr val="6F6888"/>
                  </a:solidFill>
                  <a:effectLst/>
                  <a:uFillTx/>
                  <a:latin typeface="Aptos"/>
                  <a:ea typeface="Aptos"/>
                </a:rPr>
                <a:t> / </a:t>
              </a:r>
              <a:r>
                <a:rPr lang="en-US" sz="1400" b="0" u="none" strike="noStrike" dirty="0" err="1">
                  <a:solidFill>
                    <a:srgbClr val="6F6888"/>
                  </a:solidFill>
                  <a:effectLst/>
                  <a:uFillTx/>
                  <a:latin typeface="Aptos"/>
                  <a:ea typeface="Aptos"/>
                </a:rPr>
                <a:t>criterios</a:t>
              </a:r>
              <a:r>
                <a:rPr lang="en-US" sz="1400" b="0" u="none" strike="noStrike" dirty="0">
                  <a:solidFill>
                    <a:srgbClr val="6F6888"/>
                  </a:solidFill>
                  <a:effectLst/>
                  <a:uFillTx/>
                  <a:latin typeface="Aptos"/>
                  <a:ea typeface="Aptos"/>
                </a:rPr>
                <a:t> de </a:t>
              </a:r>
              <a:r>
                <a:rPr lang="en-US" sz="1400" b="0" u="none" strike="noStrike" dirty="0" err="1">
                  <a:solidFill>
                    <a:srgbClr val="6F6888"/>
                  </a:solidFill>
                  <a:effectLst/>
                  <a:uFillTx/>
                  <a:latin typeface="Aptos"/>
                  <a:ea typeface="Aptos"/>
                </a:rPr>
                <a:t>finalización</a:t>
              </a:r>
              <a:endParaRPr lang="en-US" sz="1400" b="0" u="none" strike="noStrike" dirty="0">
                <a:solidFill>
                  <a:srgbClr val="000000"/>
                </a:solidFill>
                <a:effectLst/>
                <a:uFillTx/>
                <a:latin typeface="Arial"/>
              </a:endParaRPr>
            </a:p>
            <a:p>
              <a:pPr marL="171450" indent="-171450" defTabSz="914400">
                <a:lnSpc>
                  <a:spcPct val="100000"/>
                </a:lnSpc>
                <a:buFont typeface="Arial" panose="020B0604020202020204" pitchFamily="34" charset="0"/>
                <a:buChar char="•"/>
                <a:tabLst>
                  <a:tab pos="0" algn="l"/>
                </a:tabLst>
              </a:pPr>
              <a:r>
                <a:rPr lang="en-US" sz="1400" b="0" u="none" strike="noStrike" dirty="0">
                  <a:solidFill>
                    <a:srgbClr val="6F6888"/>
                  </a:solidFill>
                  <a:effectLst/>
                  <a:uFillTx/>
                  <a:latin typeface="Aptos"/>
                  <a:ea typeface="Aptos"/>
                </a:rPr>
                <a:t>Ciclo de </a:t>
              </a:r>
              <a:r>
                <a:rPr lang="en-US" sz="1400" b="0" u="none" strike="noStrike" dirty="0" err="1">
                  <a:solidFill>
                    <a:srgbClr val="6F6888"/>
                  </a:solidFill>
                  <a:effectLst/>
                  <a:uFillTx/>
                  <a:latin typeface="Aptos"/>
                  <a:ea typeface="Aptos"/>
                </a:rPr>
                <a:t>vida</a:t>
              </a:r>
              <a:endParaRPr lang="en-US" sz="1400" b="0" u="none" strike="noStrike" dirty="0">
                <a:solidFill>
                  <a:srgbClr val="000000"/>
                </a:solidFill>
                <a:effectLst/>
                <a:uFillTx/>
                <a:latin typeface="Arial"/>
              </a:endParaRPr>
            </a:p>
          </p:txBody>
        </p:sp>
      </p:grpSp>
      <p:sp>
        <p:nvSpPr>
          <p:cNvPr id="282" name="Shape 12">
            <a:extLst>
              <a:ext uri="{FF2B5EF4-FFF2-40B4-BE49-F238E27FC236}">
                <a16:creationId xmlns:a16="http://schemas.microsoft.com/office/drawing/2014/main" id="{72E364FC-291F-1C9E-7FFA-CB9E100C424A}"/>
              </a:ext>
            </a:extLst>
          </p:cNvPr>
          <p:cNvSpPr/>
          <p:nvPr/>
        </p:nvSpPr>
        <p:spPr>
          <a:xfrm>
            <a:off x="4600632" y="2010333"/>
            <a:ext cx="3621007" cy="645045"/>
          </a:xfrm>
          <a:prstGeom prst="roundRect">
            <a:avLst>
              <a:gd name="adj" fmla="val 18519"/>
            </a:avLst>
          </a:prstGeom>
          <a:solidFill>
            <a:srgbClr val="FFFFFF"/>
          </a:solidFill>
          <a:ln w="12700">
            <a:solidFill>
              <a:schemeClr val="tx1">
                <a:lumMod val="50000"/>
                <a:lumOff val="50000"/>
              </a:scheme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3" name="Text 13">
            <a:extLst>
              <a:ext uri="{FF2B5EF4-FFF2-40B4-BE49-F238E27FC236}">
                <a16:creationId xmlns:a16="http://schemas.microsoft.com/office/drawing/2014/main" id="{E26899A2-D4C9-F121-ABB2-7EACA4AF300B}"/>
              </a:ext>
            </a:extLst>
          </p:cNvPr>
          <p:cNvSpPr/>
          <p:nvPr/>
        </p:nvSpPr>
        <p:spPr>
          <a:xfrm>
            <a:off x="4711145" y="2119846"/>
            <a:ext cx="3359426" cy="43081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dirty="0" err="1">
                <a:effectLst/>
                <a:uFillTx/>
                <a:latin typeface="Aptos"/>
                <a:ea typeface="Aptos"/>
              </a:rPr>
              <a:t>event</a:t>
            </a:r>
            <a:r>
              <a:rPr lang="en-US" sz="1400" b="1" dirty="0" err="1">
                <a:latin typeface="Aptos"/>
                <a:ea typeface="Aptos"/>
              </a:rPr>
              <a:t>o</a:t>
            </a:r>
            <a:r>
              <a:rPr lang="en-US" sz="1400" b="1" u="none" strike="noStrike" dirty="0">
                <a:effectLst/>
                <a:uFillTx/>
                <a:latin typeface="Aptos"/>
                <a:ea typeface="Aptos"/>
              </a:rPr>
              <a:t> · “wake-up” </a:t>
            </a:r>
            <a:r>
              <a:rPr lang="en-US" sz="1400" b="1" u="none" strike="noStrike" dirty="0" err="1">
                <a:effectLst/>
                <a:uFillTx/>
                <a:latin typeface="Aptos"/>
                <a:ea typeface="Aptos"/>
              </a:rPr>
              <a:t>programado</a:t>
            </a:r>
            <a:r>
              <a:rPr lang="en-US" sz="1400" b="1" u="none" strike="noStrike" dirty="0">
                <a:effectLst/>
                <a:uFillTx/>
                <a:latin typeface="Aptos"/>
                <a:ea typeface="Aptos"/>
              </a:rPr>
              <a:t> · </a:t>
            </a:r>
            <a:r>
              <a:rPr lang="en-US" sz="1400" b="1" u="none" strike="noStrike" dirty="0" err="1">
                <a:effectLst/>
                <a:uFillTx/>
                <a:latin typeface="Aptos"/>
                <a:ea typeface="Aptos"/>
              </a:rPr>
              <a:t>intervención</a:t>
            </a:r>
            <a:r>
              <a:rPr lang="en-US" sz="1400" b="1" u="none" strike="noStrike" dirty="0">
                <a:effectLst/>
                <a:uFillTx/>
                <a:latin typeface="Aptos"/>
                <a:ea typeface="Aptos"/>
              </a:rPr>
              <a:t> humana</a:t>
            </a:r>
            <a:endParaRPr lang="en-US" sz="1400" b="1" u="none" strike="noStrike" dirty="0">
              <a:effectLst/>
              <a:uFillTx/>
              <a:latin typeface="Arial"/>
            </a:endParaRPr>
          </a:p>
        </p:txBody>
      </p:sp>
      <p:sp>
        <p:nvSpPr>
          <p:cNvPr id="284" name="Shape 14">
            <a:extLst>
              <a:ext uri="{FF2B5EF4-FFF2-40B4-BE49-F238E27FC236}">
                <a16:creationId xmlns:a16="http://schemas.microsoft.com/office/drawing/2014/main" id="{AF00CE06-8E54-4D67-94BB-62006D4C4F5D}"/>
              </a:ext>
            </a:extLst>
          </p:cNvPr>
          <p:cNvSpPr/>
          <p:nvPr/>
        </p:nvSpPr>
        <p:spPr>
          <a:xfrm flipH="1">
            <a:off x="6411136" y="2675256"/>
            <a:ext cx="0" cy="333760"/>
          </a:xfrm>
          <a:prstGeom prst="line">
            <a:avLst/>
          </a:prstGeom>
          <a:ln w="17780">
            <a:solidFill>
              <a:srgbClr val="5F2CCB"/>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285" name="Shape 15">
            <a:extLst>
              <a:ext uri="{FF2B5EF4-FFF2-40B4-BE49-F238E27FC236}">
                <a16:creationId xmlns:a16="http://schemas.microsoft.com/office/drawing/2014/main" id="{99F029EA-EFA8-66B3-6F9F-91EC4A4B2FCD}"/>
              </a:ext>
            </a:extLst>
          </p:cNvPr>
          <p:cNvSpPr/>
          <p:nvPr/>
        </p:nvSpPr>
        <p:spPr>
          <a:xfrm>
            <a:off x="4600632" y="3043366"/>
            <a:ext cx="3621727" cy="868320"/>
          </a:xfrm>
          <a:prstGeom prst="roundRect">
            <a:avLst>
              <a:gd name="adj" fmla="val 10526"/>
            </a:avLst>
          </a:prstGeom>
          <a:solidFill>
            <a:srgbClr val="FFFFFF"/>
          </a:solidFill>
          <a:ln w="12700">
            <a:solidFill>
              <a:srgbClr val="5F2CCB"/>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6" name="Text 16">
            <a:extLst>
              <a:ext uri="{FF2B5EF4-FFF2-40B4-BE49-F238E27FC236}">
                <a16:creationId xmlns:a16="http://schemas.microsoft.com/office/drawing/2014/main" id="{8546E097-327E-5F5D-4625-677487B05131}"/>
              </a:ext>
            </a:extLst>
          </p:cNvPr>
          <p:cNvSpPr/>
          <p:nvPr/>
        </p:nvSpPr>
        <p:spPr>
          <a:xfrm>
            <a:off x="5121107" y="3129801"/>
            <a:ext cx="2614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600" b="1" i="1" u="none" strike="noStrike" dirty="0">
                <a:solidFill>
                  <a:srgbClr val="151327"/>
                </a:solidFill>
                <a:effectLst/>
                <a:uFillTx/>
                <a:latin typeface="Aptos Display"/>
                <a:ea typeface="Aptos Display"/>
              </a:rPr>
              <a:t>Supervisor de Caso</a:t>
            </a:r>
            <a:endParaRPr lang="en-US" sz="1600" b="0" i="1" u="none" strike="noStrike" dirty="0">
              <a:solidFill>
                <a:srgbClr val="000000"/>
              </a:solidFill>
              <a:effectLst/>
              <a:uFillTx/>
              <a:latin typeface="Arial"/>
            </a:endParaRPr>
          </a:p>
        </p:txBody>
      </p:sp>
      <p:sp>
        <p:nvSpPr>
          <p:cNvPr id="287" name="Text 17">
            <a:extLst>
              <a:ext uri="{FF2B5EF4-FFF2-40B4-BE49-F238E27FC236}">
                <a16:creationId xmlns:a16="http://schemas.microsoft.com/office/drawing/2014/main" id="{17FC8A71-4AE9-BDB6-EBE3-5B9CA8A2F616}"/>
              </a:ext>
            </a:extLst>
          </p:cNvPr>
          <p:cNvSpPr/>
          <p:nvPr/>
        </p:nvSpPr>
        <p:spPr>
          <a:xfrm>
            <a:off x="4680145" y="3492929"/>
            <a:ext cx="3469938" cy="281256"/>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400" b="0" u="none" strike="noStrike" dirty="0">
                <a:solidFill>
                  <a:srgbClr val="6F6888"/>
                </a:solidFill>
                <a:effectLst/>
                <a:uFillTx/>
                <a:latin typeface="Aptos"/>
                <a:ea typeface="Aptos"/>
              </a:rPr>
              <a:t>¿</a:t>
            </a:r>
            <a:r>
              <a:rPr lang="en-US" sz="1400" b="0" u="none" strike="noStrike" dirty="0" err="1">
                <a:solidFill>
                  <a:srgbClr val="6F6888"/>
                </a:solidFill>
                <a:effectLst/>
                <a:uFillTx/>
                <a:latin typeface="Aptos"/>
                <a:ea typeface="Aptos"/>
              </a:rPr>
              <a:t>Qué</a:t>
            </a:r>
            <a:r>
              <a:rPr lang="en-US" sz="1400" b="0" u="none" strike="noStrike" dirty="0">
                <a:solidFill>
                  <a:srgbClr val="6F6888"/>
                </a:solidFill>
                <a:effectLst/>
                <a:uFillTx/>
                <a:latin typeface="Aptos"/>
                <a:ea typeface="Aptos"/>
              </a:rPr>
              <a:t> </a:t>
            </a:r>
            <a:r>
              <a:rPr lang="en-US" sz="1400" b="0" u="none" strike="noStrike" dirty="0" err="1">
                <a:solidFill>
                  <a:srgbClr val="6F6888"/>
                </a:solidFill>
                <a:effectLst/>
                <a:uFillTx/>
                <a:latin typeface="Aptos"/>
                <a:ea typeface="Aptos"/>
              </a:rPr>
              <a:t>trabajo</a:t>
            </a:r>
            <a:r>
              <a:rPr lang="en-US" sz="1400" b="0" u="none" strike="noStrike" dirty="0">
                <a:solidFill>
                  <a:srgbClr val="6F6888"/>
                </a:solidFill>
                <a:effectLst/>
                <a:uFillTx/>
                <a:latin typeface="Aptos"/>
                <a:ea typeface="Aptos"/>
              </a:rPr>
              <a:t> </a:t>
            </a:r>
            <a:r>
              <a:rPr lang="en-US" sz="1400" b="0" u="none" strike="noStrike" dirty="0" err="1">
                <a:solidFill>
                  <a:srgbClr val="6F6888"/>
                </a:solidFill>
                <a:effectLst/>
                <a:uFillTx/>
                <a:latin typeface="Aptos"/>
                <a:ea typeface="Aptos"/>
              </a:rPr>
              <a:t>avanza</a:t>
            </a:r>
            <a:r>
              <a:rPr lang="en-US" sz="1400" b="0" u="none" strike="noStrike" dirty="0">
                <a:solidFill>
                  <a:srgbClr val="6F6888"/>
                </a:solidFill>
                <a:effectLst/>
                <a:uFillTx/>
                <a:latin typeface="Aptos"/>
                <a:ea typeface="Aptos"/>
              </a:rPr>
              <a:t> </a:t>
            </a:r>
            <a:r>
              <a:rPr lang="en-US" sz="1400" b="0" u="none" strike="noStrike" dirty="0" err="1">
                <a:solidFill>
                  <a:srgbClr val="6F6888"/>
                </a:solidFill>
                <a:effectLst/>
                <a:uFillTx/>
                <a:latin typeface="Aptos"/>
                <a:ea typeface="Aptos"/>
              </a:rPr>
              <a:t>mejor</a:t>
            </a:r>
            <a:r>
              <a:rPr lang="en-US" sz="1400" b="0" u="none" strike="noStrike" dirty="0">
                <a:solidFill>
                  <a:srgbClr val="6F6888"/>
                </a:solidFill>
                <a:effectLst/>
                <a:uFillTx/>
                <a:latin typeface="Aptos"/>
                <a:ea typeface="Aptos"/>
              </a:rPr>
              <a:t> el </a:t>
            </a:r>
            <a:r>
              <a:rPr lang="en-US" sz="1400" b="0" u="none" strike="noStrike" dirty="0" err="1">
                <a:solidFill>
                  <a:srgbClr val="6F6888"/>
                </a:solidFill>
                <a:effectLst/>
                <a:uFillTx/>
                <a:latin typeface="Aptos"/>
                <a:ea typeface="Aptos"/>
              </a:rPr>
              <a:t>objetivo</a:t>
            </a:r>
            <a:r>
              <a:rPr lang="en-US" sz="1400" b="0" u="none" strike="noStrike" dirty="0">
                <a:solidFill>
                  <a:srgbClr val="6F6888"/>
                </a:solidFill>
                <a:effectLst/>
                <a:uFillTx/>
                <a:latin typeface="Aptos"/>
                <a:ea typeface="Aptos"/>
              </a:rPr>
              <a:t> </a:t>
            </a:r>
            <a:r>
              <a:rPr lang="en-US" sz="1400" b="0" u="none" strike="noStrike" dirty="0" err="1">
                <a:solidFill>
                  <a:srgbClr val="6F6888"/>
                </a:solidFill>
                <a:effectLst/>
                <a:uFillTx/>
                <a:latin typeface="Aptos"/>
                <a:ea typeface="Aptos"/>
              </a:rPr>
              <a:t>ahora</a:t>
            </a:r>
            <a:r>
              <a:rPr lang="en-US" sz="1400" b="0" u="none" strike="noStrike" dirty="0">
                <a:solidFill>
                  <a:srgbClr val="6F6888"/>
                </a:solidFill>
                <a:effectLst/>
                <a:uFillTx/>
                <a:latin typeface="Aptos"/>
                <a:ea typeface="Aptos"/>
              </a:rPr>
              <a:t>?</a:t>
            </a:r>
            <a:endParaRPr lang="en-US" sz="1400" b="0" u="none" strike="noStrike" dirty="0">
              <a:solidFill>
                <a:srgbClr val="000000"/>
              </a:solidFill>
              <a:effectLst/>
              <a:uFillTx/>
              <a:latin typeface="Arial"/>
            </a:endParaRPr>
          </a:p>
        </p:txBody>
      </p:sp>
      <p:sp>
        <p:nvSpPr>
          <p:cNvPr id="288" name="Shape 18">
            <a:extLst>
              <a:ext uri="{FF2B5EF4-FFF2-40B4-BE49-F238E27FC236}">
                <a16:creationId xmlns:a16="http://schemas.microsoft.com/office/drawing/2014/main" id="{4B1C1D46-8703-ED9A-E42A-29D42A79EF77}"/>
              </a:ext>
            </a:extLst>
          </p:cNvPr>
          <p:cNvSpPr/>
          <p:nvPr/>
        </p:nvSpPr>
        <p:spPr>
          <a:xfrm>
            <a:off x="6411137" y="3916316"/>
            <a:ext cx="0" cy="312109"/>
          </a:xfrm>
          <a:prstGeom prst="line">
            <a:avLst/>
          </a:prstGeom>
          <a:ln w="17780">
            <a:solidFill>
              <a:srgbClr val="5F2CCB"/>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289" name="Shape 19">
            <a:extLst>
              <a:ext uri="{FF2B5EF4-FFF2-40B4-BE49-F238E27FC236}">
                <a16:creationId xmlns:a16="http://schemas.microsoft.com/office/drawing/2014/main" id="{A13533F3-F2C8-276B-2218-2CB852138937}"/>
              </a:ext>
            </a:extLst>
          </p:cNvPr>
          <p:cNvSpPr/>
          <p:nvPr/>
        </p:nvSpPr>
        <p:spPr>
          <a:xfrm>
            <a:off x="4600632" y="4249977"/>
            <a:ext cx="3621007" cy="937359"/>
          </a:xfrm>
          <a:prstGeom prst="roundRect">
            <a:avLst>
              <a:gd name="adj" fmla="val 12821"/>
            </a:avLst>
          </a:prstGeom>
          <a:solidFill>
            <a:srgbClr val="FFFFFF"/>
          </a:solidFill>
          <a:ln w="12700">
            <a:solidFill>
              <a:srgbClr val="078C53"/>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0" name="Text 20">
            <a:extLst>
              <a:ext uri="{FF2B5EF4-FFF2-40B4-BE49-F238E27FC236}">
                <a16:creationId xmlns:a16="http://schemas.microsoft.com/office/drawing/2014/main" id="{519FE353-04B2-5E71-B072-F9A3F31DAF7B}"/>
              </a:ext>
            </a:extLst>
          </p:cNvPr>
          <p:cNvSpPr/>
          <p:nvPr/>
        </p:nvSpPr>
        <p:spPr>
          <a:xfrm>
            <a:off x="5121107" y="4327535"/>
            <a:ext cx="2614680" cy="27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600" b="1" i="1" u="none" strike="noStrike" dirty="0" err="1">
                <a:solidFill>
                  <a:srgbClr val="151327"/>
                </a:solidFill>
                <a:effectLst/>
                <a:uFillTx/>
                <a:latin typeface="Aptos Display"/>
                <a:ea typeface="Aptos Display"/>
              </a:rPr>
              <a:t>Grafo</a:t>
            </a:r>
            <a:r>
              <a:rPr lang="en-US" sz="1600" b="1" i="1" u="none" strike="noStrike" dirty="0">
                <a:solidFill>
                  <a:srgbClr val="151327"/>
                </a:solidFill>
                <a:effectLst/>
                <a:uFillTx/>
                <a:latin typeface="Aptos Display"/>
                <a:ea typeface="Aptos Display"/>
              </a:rPr>
              <a:t> de </a:t>
            </a:r>
            <a:r>
              <a:rPr lang="en-US" sz="1600" b="1" i="1" u="none" strike="noStrike" dirty="0" err="1">
                <a:solidFill>
                  <a:srgbClr val="151327"/>
                </a:solidFill>
                <a:effectLst/>
                <a:uFillTx/>
                <a:latin typeface="Aptos Display"/>
                <a:ea typeface="Aptos Display"/>
              </a:rPr>
              <a:t>trabajo</a:t>
            </a:r>
            <a:endParaRPr lang="en-US" sz="1600" b="0" i="1" u="none" strike="noStrike" dirty="0">
              <a:solidFill>
                <a:srgbClr val="000000"/>
              </a:solidFill>
              <a:effectLst/>
              <a:uFillTx/>
              <a:latin typeface="Arial"/>
            </a:endParaRPr>
          </a:p>
        </p:txBody>
      </p:sp>
      <p:sp>
        <p:nvSpPr>
          <p:cNvPr id="291" name="Text 21">
            <a:extLst>
              <a:ext uri="{FF2B5EF4-FFF2-40B4-BE49-F238E27FC236}">
                <a16:creationId xmlns:a16="http://schemas.microsoft.com/office/drawing/2014/main" id="{F209726F-47CE-F311-8960-B6FB720C648B}"/>
              </a:ext>
            </a:extLst>
          </p:cNvPr>
          <p:cNvSpPr/>
          <p:nvPr/>
        </p:nvSpPr>
        <p:spPr>
          <a:xfrm>
            <a:off x="4711145" y="4701325"/>
            <a:ext cx="3359425"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a:tabLst>
                <a:tab pos="0" algn="l"/>
              </a:tabLst>
            </a:pPr>
            <a:r>
              <a:rPr lang="es-ES" sz="1300" dirty="0">
                <a:solidFill>
                  <a:srgbClr val="6F6888"/>
                </a:solidFill>
                <a:ea typeface="Aptos"/>
              </a:rPr>
              <a:t>acciones / </a:t>
            </a:r>
            <a:r>
              <a:rPr lang="es-ES" sz="1300" dirty="0" err="1">
                <a:solidFill>
                  <a:srgbClr val="6F6888"/>
                </a:solidFill>
                <a:ea typeface="Aptos"/>
              </a:rPr>
              <a:t>skills</a:t>
            </a:r>
            <a:r>
              <a:rPr lang="es-ES" sz="1300" dirty="0">
                <a:solidFill>
                  <a:srgbClr val="6F6888"/>
                </a:solidFill>
                <a:ea typeface="Aptos"/>
              </a:rPr>
              <a:t> / </a:t>
            </a:r>
            <a:r>
              <a:rPr lang="es-ES" sz="1300" dirty="0" err="1">
                <a:solidFill>
                  <a:srgbClr val="6F6888"/>
                </a:solidFill>
                <a:ea typeface="Aptos"/>
              </a:rPr>
              <a:t>tools</a:t>
            </a:r>
            <a:r>
              <a:rPr lang="es-ES" sz="1300" dirty="0">
                <a:solidFill>
                  <a:srgbClr val="6F6888"/>
                </a:solidFill>
                <a:ea typeface="Aptos"/>
              </a:rPr>
              <a:t> · ítems de trabajo · esperas · HITL · Casos hijo · trabajo en paralelo</a:t>
            </a:r>
            <a:endParaRPr lang="en-US" sz="1300" b="0" u="none" strike="noStrike" dirty="0">
              <a:solidFill>
                <a:srgbClr val="000000"/>
              </a:solidFill>
              <a:effectLst/>
              <a:uFillTx/>
              <a:latin typeface="Arial"/>
            </a:endParaRPr>
          </a:p>
        </p:txBody>
      </p:sp>
      <p:sp>
        <p:nvSpPr>
          <p:cNvPr id="292" name="Shape 22">
            <a:extLst>
              <a:ext uri="{FF2B5EF4-FFF2-40B4-BE49-F238E27FC236}">
                <a16:creationId xmlns:a16="http://schemas.microsoft.com/office/drawing/2014/main" id="{8647DD3D-112D-187E-6EA7-E2326FBE765D}"/>
              </a:ext>
            </a:extLst>
          </p:cNvPr>
          <p:cNvSpPr/>
          <p:nvPr/>
        </p:nvSpPr>
        <p:spPr>
          <a:xfrm>
            <a:off x="8491992" y="2040150"/>
            <a:ext cx="3179022" cy="3618513"/>
          </a:xfrm>
          <a:prstGeom prst="roundRect">
            <a:avLst>
              <a:gd name="adj" fmla="val 0"/>
            </a:avLst>
          </a:prstGeom>
          <a:solidFill>
            <a:schemeClr val="bg2"/>
          </a:solidFill>
          <a:ln w="12700">
            <a:solidFill>
              <a:srgbClr val="DED2F6"/>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4" name="Text 24">
            <a:extLst>
              <a:ext uri="{FF2B5EF4-FFF2-40B4-BE49-F238E27FC236}">
                <a16:creationId xmlns:a16="http://schemas.microsoft.com/office/drawing/2014/main" id="{B84AE9ED-090A-29EF-3DF9-0B753733DBEB}"/>
              </a:ext>
            </a:extLst>
          </p:cNvPr>
          <p:cNvSpPr/>
          <p:nvPr/>
        </p:nvSpPr>
        <p:spPr>
          <a:xfrm>
            <a:off x="8820534" y="2423143"/>
            <a:ext cx="2524098" cy="86916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s-ES" sz="1600" b="1" dirty="0">
                <a:solidFill>
                  <a:srgbClr val="151327"/>
                </a:solidFill>
                <a:latin typeface="Aptos Display"/>
                <a:ea typeface="Aptos Display"/>
              </a:rPr>
              <a:t>El grafo puede construirse y ajustarse dinámicamente para avanzar el Caso</a:t>
            </a:r>
            <a:endParaRPr lang="en-US" sz="1600" b="0" u="none" strike="noStrike" dirty="0">
              <a:solidFill>
                <a:srgbClr val="000000"/>
              </a:solidFill>
              <a:effectLst/>
              <a:uFillTx/>
              <a:latin typeface="Arial"/>
            </a:endParaRPr>
          </a:p>
        </p:txBody>
      </p:sp>
      <p:sp>
        <p:nvSpPr>
          <p:cNvPr id="295" name="Text 25">
            <a:extLst>
              <a:ext uri="{FF2B5EF4-FFF2-40B4-BE49-F238E27FC236}">
                <a16:creationId xmlns:a16="http://schemas.microsoft.com/office/drawing/2014/main" id="{97A5D10E-A242-E2AF-8587-2FC8689025D2}"/>
              </a:ext>
            </a:extLst>
          </p:cNvPr>
          <p:cNvSpPr/>
          <p:nvPr/>
        </p:nvSpPr>
        <p:spPr>
          <a:xfrm>
            <a:off x="8819196" y="3535875"/>
            <a:ext cx="2525436" cy="174783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marL="171450" indent="-171450" defTabSz="914400">
              <a:lnSpc>
                <a:spcPct val="100000"/>
              </a:lnSpc>
              <a:buFont typeface="Arial" panose="020B0604020202020204" pitchFamily="34" charset="0"/>
              <a:buChar char="•"/>
              <a:tabLst>
                <a:tab pos="0" algn="l"/>
              </a:tabLst>
            </a:pPr>
            <a:r>
              <a:rPr lang="es-ES" sz="1400" b="0" u="none" strike="noStrike" dirty="0">
                <a:solidFill>
                  <a:srgbClr val="6F6888"/>
                </a:solidFill>
                <a:effectLst/>
                <a:uFillTx/>
                <a:latin typeface="Aptos"/>
                <a:ea typeface="Aptos"/>
              </a:rPr>
              <a:t>Ramificación</a:t>
            </a:r>
          </a:p>
          <a:p>
            <a:pPr marL="171450" indent="-171450" defTabSz="914400">
              <a:lnSpc>
                <a:spcPct val="100000"/>
              </a:lnSpc>
              <a:buFont typeface="Arial" panose="020B0604020202020204" pitchFamily="34" charset="0"/>
              <a:buChar char="•"/>
              <a:tabLst>
                <a:tab pos="0" algn="l"/>
              </a:tabLst>
            </a:pPr>
            <a:r>
              <a:rPr lang="es-ES" sz="1400" b="0" u="none" strike="noStrike" dirty="0">
                <a:solidFill>
                  <a:srgbClr val="6F6888"/>
                </a:solidFill>
                <a:effectLst/>
                <a:uFillTx/>
                <a:latin typeface="Aptos"/>
                <a:ea typeface="Aptos"/>
              </a:rPr>
              <a:t>Bucles</a:t>
            </a:r>
          </a:p>
          <a:p>
            <a:pPr marL="171450" indent="-171450" defTabSz="914400">
              <a:lnSpc>
                <a:spcPct val="100000"/>
              </a:lnSpc>
              <a:buFont typeface="Arial" panose="020B0604020202020204" pitchFamily="34" charset="0"/>
              <a:buChar char="•"/>
              <a:tabLst>
                <a:tab pos="0" algn="l"/>
              </a:tabLst>
            </a:pPr>
            <a:r>
              <a:rPr lang="es-ES" sz="1400" b="0" u="none" strike="noStrike" dirty="0">
                <a:solidFill>
                  <a:srgbClr val="6F6888"/>
                </a:solidFill>
                <a:effectLst/>
                <a:uFillTx/>
                <a:latin typeface="Aptos"/>
                <a:ea typeface="Aptos"/>
              </a:rPr>
              <a:t>Trabajo y dependencias en paralelo</a:t>
            </a:r>
          </a:p>
          <a:p>
            <a:pPr marL="171450" indent="-171450" defTabSz="914400">
              <a:lnSpc>
                <a:spcPct val="100000"/>
              </a:lnSpc>
              <a:buFont typeface="Arial" panose="020B0604020202020204" pitchFamily="34" charset="0"/>
              <a:buChar char="•"/>
              <a:tabLst>
                <a:tab pos="0" algn="l"/>
              </a:tabLst>
            </a:pPr>
            <a:r>
              <a:rPr lang="es-ES" sz="1400" b="0" u="none" strike="noStrike" dirty="0">
                <a:solidFill>
                  <a:srgbClr val="6F6888"/>
                </a:solidFill>
                <a:effectLst/>
                <a:uFillTx/>
                <a:latin typeface="Aptos"/>
                <a:ea typeface="Aptos"/>
              </a:rPr>
              <a:t>Replanificación</a:t>
            </a:r>
          </a:p>
          <a:p>
            <a:pPr marL="171450" indent="-171450" defTabSz="914400">
              <a:lnSpc>
                <a:spcPct val="100000"/>
              </a:lnSpc>
              <a:buFont typeface="Arial" panose="020B0604020202020204" pitchFamily="34" charset="0"/>
              <a:buChar char="•"/>
              <a:tabLst>
                <a:tab pos="0" algn="l"/>
              </a:tabLst>
            </a:pPr>
            <a:r>
              <a:rPr lang="es-ES" sz="1400" b="0" u="none" strike="noStrike" dirty="0">
                <a:solidFill>
                  <a:srgbClr val="6F6888"/>
                </a:solidFill>
                <a:effectLst/>
                <a:uFillTx/>
                <a:latin typeface="Aptos"/>
                <a:ea typeface="Aptos"/>
              </a:rPr>
              <a:t>Intervenciones humanas</a:t>
            </a:r>
          </a:p>
          <a:p>
            <a:pPr marL="171450" indent="-171450" defTabSz="914400">
              <a:lnSpc>
                <a:spcPct val="100000"/>
              </a:lnSpc>
              <a:buFont typeface="Arial" panose="020B0604020202020204" pitchFamily="34" charset="0"/>
              <a:buChar char="•"/>
              <a:tabLst>
                <a:tab pos="0" algn="l"/>
              </a:tabLst>
            </a:pPr>
            <a:r>
              <a:rPr lang="es-ES" sz="1400" b="0" u="none" strike="noStrike" dirty="0">
                <a:solidFill>
                  <a:srgbClr val="6F6888"/>
                </a:solidFill>
                <a:effectLst/>
                <a:uFillTx/>
                <a:latin typeface="Aptos"/>
                <a:ea typeface="Aptos"/>
              </a:rPr>
              <a:t>Creación/coordinación de Casos hijo</a:t>
            </a:r>
            <a:endParaRPr lang="en-US" sz="1400" b="0" u="none" strike="noStrike" dirty="0">
              <a:solidFill>
                <a:srgbClr val="000000"/>
              </a:solidFill>
              <a:effectLst/>
              <a:uFillTx/>
              <a:latin typeface="Arial"/>
            </a:endParaRPr>
          </a:p>
        </p:txBody>
      </p:sp>
      <p:pic>
        <p:nvPicPr>
          <p:cNvPr id="3" name="Image 0" descr="/mnt/data/ungga_logo_purple.png">
            <a:extLst>
              <a:ext uri="{FF2B5EF4-FFF2-40B4-BE49-F238E27FC236}">
                <a16:creationId xmlns:a16="http://schemas.microsoft.com/office/drawing/2014/main" id="{E25BF132-F7EA-04E4-E7DE-DECE333EED25}"/>
              </a:ext>
            </a:extLst>
          </p:cNvPr>
          <p:cNvPicPr>
            <a:picLocks noChangeAspect="1"/>
          </p:cNvPicPr>
          <p:nvPr/>
        </p:nvPicPr>
        <p:blipFill>
          <a:blip r:embed="rId3"/>
          <a:stretch>
            <a:fillRect/>
          </a:stretch>
        </p:blipFill>
        <p:spPr>
          <a:xfrm>
            <a:off x="11109960" y="449715"/>
            <a:ext cx="566928" cy="472170"/>
          </a:xfrm>
          <a:prstGeom prst="rect">
            <a:avLst/>
          </a:prstGeom>
        </p:spPr>
      </p:pic>
      <p:cxnSp>
        <p:nvCxnSpPr>
          <p:cNvPr id="5" name="Conector: angular 4">
            <a:extLst>
              <a:ext uri="{FF2B5EF4-FFF2-40B4-BE49-F238E27FC236}">
                <a16:creationId xmlns:a16="http://schemas.microsoft.com/office/drawing/2014/main" id="{83CE2CDE-C087-CA2C-1C89-B7E2007FD9E3}"/>
              </a:ext>
            </a:extLst>
          </p:cNvPr>
          <p:cNvCxnSpPr>
            <a:cxnSpLocks/>
            <a:stCxn id="289" idx="2"/>
            <a:endCxn id="278" idx="2"/>
          </p:cNvCxnSpPr>
          <p:nvPr/>
        </p:nvCxnSpPr>
        <p:spPr>
          <a:xfrm rot="5400000" flipH="1">
            <a:off x="4006908" y="2783108"/>
            <a:ext cx="255782" cy="4552674"/>
          </a:xfrm>
          <a:prstGeom prst="bentConnector3">
            <a:avLst>
              <a:gd name="adj1" fmla="val -89373"/>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 name="Text 13">
            <a:extLst>
              <a:ext uri="{FF2B5EF4-FFF2-40B4-BE49-F238E27FC236}">
                <a16:creationId xmlns:a16="http://schemas.microsoft.com/office/drawing/2014/main" id="{4E858D72-298E-749F-1920-304E73FDD74B}"/>
              </a:ext>
            </a:extLst>
          </p:cNvPr>
          <p:cNvSpPr/>
          <p:nvPr/>
        </p:nvSpPr>
        <p:spPr>
          <a:xfrm>
            <a:off x="2117038" y="5430046"/>
            <a:ext cx="4254342" cy="339993"/>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dirty="0" err="1">
                <a:solidFill>
                  <a:srgbClr val="6F6888"/>
                </a:solidFill>
                <a:latin typeface="Aptos"/>
                <a:ea typeface="Aptos"/>
              </a:rPr>
              <a:t>a</a:t>
            </a:r>
            <a:r>
              <a:rPr lang="en-US" sz="1300" u="none" strike="noStrike" dirty="0" err="1">
                <a:solidFill>
                  <a:srgbClr val="6F6888"/>
                </a:solidFill>
                <a:effectLst/>
                <a:uFillTx/>
                <a:latin typeface="Aptos"/>
                <a:ea typeface="Aptos"/>
              </a:rPr>
              <a:t>vanza</a:t>
            </a:r>
            <a:r>
              <a:rPr lang="en-US" sz="1300" u="none" strike="noStrike" dirty="0">
                <a:solidFill>
                  <a:srgbClr val="6F6888"/>
                </a:solidFill>
                <a:effectLst/>
                <a:uFillTx/>
                <a:latin typeface="Aptos"/>
                <a:ea typeface="Aptos"/>
              </a:rPr>
              <a:t> </a:t>
            </a:r>
            <a:r>
              <a:rPr lang="en-US" sz="1300" u="none" strike="noStrike" dirty="0" err="1">
                <a:solidFill>
                  <a:srgbClr val="6F6888"/>
                </a:solidFill>
                <a:effectLst/>
                <a:uFillTx/>
                <a:latin typeface="Aptos"/>
                <a:ea typeface="Aptos"/>
              </a:rPr>
              <a:t>trabajo</a:t>
            </a:r>
            <a:r>
              <a:rPr lang="en-US" sz="1300" u="none" strike="noStrike" dirty="0">
                <a:solidFill>
                  <a:srgbClr val="6F6888"/>
                </a:solidFill>
                <a:effectLst/>
                <a:uFillTx/>
                <a:latin typeface="Aptos"/>
                <a:ea typeface="Aptos"/>
              </a:rPr>
              <a:t> + produce </a:t>
            </a:r>
            <a:r>
              <a:rPr lang="en-US" sz="1300" u="none" strike="noStrike" dirty="0" err="1">
                <a:solidFill>
                  <a:srgbClr val="6F6888"/>
                </a:solidFill>
                <a:effectLst/>
                <a:uFillTx/>
                <a:latin typeface="Aptos"/>
                <a:ea typeface="Aptos"/>
              </a:rPr>
              <a:t>evidencia</a:t>
            </a:r>
            <a:r>
              <a:rPr lang="en-US" sz="1300" u="none" strike="noStrike" dirty="0">
                <a:solidFill>
                  <a:srgbClr val="6F6888"/>
                </a:solidFill>
                <a:effectLst/>
                <a:uFillTx/>
                <a:latin typeface="Aptos"/>
                <a:ea typeface="Aptos"/>
              </a:rPr>
              <a:t> + </a:t>
            </a:r>
            <a:r>
              <a:rPr lang="en-US" sz="1300" u="none" strike="noStrike" dirty="0" err="1">
                <a:solidFill>
                  <a:srgbClr val="6F6888"/>
                </a:solidFill>
                <a:effectLst/>
                <a:uFillTx/>
                <a:latin typeface="Aptos"/>
                <a:ea typeface="Aptos"/>
              </a:rPr>
              <a:t>actualiza</a:t>
            </a:r>
            <a:r>
              <a:rPr lang="en-US" sz="1300" u="none" strike="noStrike" dirty="0">
                <a:solidFill>
                  <a:srgbClr val="6F6888"/>
                </a:solidFill>
                <a:effectLst/>
                <a:uFillTx/>
                <a:latin typeface="Aptos"/>
                <a:ea typeface="Aptos"/>
              </a:rPr>
              <a:t> el </a:t>
            </a:r>
            <a:r>
              <a:rPr lang="en-US" sz="1300" dirty="0">
                <a:solidFill>
                  <a:srgbClr val="6F6888"/>
                </a:solidFill>
                <a:latin typeface="Aptos"/>
                <a:ea typeface="Aptos"/>
              </a:rPr>
              <a:t>C</a:t>
            </a:r>
            <a:r>
              <a:rPr lang="en-US" sz="1300" u="none" strike="noStrike" dirty="0">
                <a:solidFill>
                  <a:srgbClr val="6F6888"/>
                </a:solidFill>
                <a:effectLst/>
                <a:uFillTx/>
                <a:latin typeface="Aptos"/>
                <a:ea typeface="Aptos"/>
              </a:rPr>
              <a:t>aso</a:t>
            </a:r>
            <a:endParaRPr lang="en-US" sz="1300" u="none" strike="noStrike" dirty="0">
              <a:solidFill>
                <a:srgbClr val="000000"/>
              </a:solidFill>
              <a:effectLst/>
              <a:uFillTx/>
              <a:latin typeface="Arial"/>
            </a:endParaRPr>
          </a:p>
        </p:txBody>
      </p:sp>
      <p:grpSp>
        <p:nvGrpSpPr>
          <p:cNvPr id="13" name="Grupo 12">
            <a:extLst>
              <a:ext uri="{FF2B5EF4-FFF2-40B4-BE49-F238E27FC236}">
                <a16:creationId xmlns:a16="http://schemas.microsoft.com/office/drawing/2014/main" id="{262B3BB1-3375-7346-E87B-D093BA52671E}"/>
              </a:ext>
            </a:extLst>
          </p:cNvPr>
          <p:cNvGrpSpPr/>
          <p:nvPr/>
        </p:nvGrpSpPr>
        <p:grpSpPr>
          <a:xfrm>
            <a:off x="7513981" y="3048771"/>
            <a:ext cx="683676" cy="319663"/>
            <a:chOff x="4083894" y="3029717"/>
            <a:chExt cx="1068958" cy="319663"/>
          </a:xfrm>
        </p:grpSpPr>
        <p:sp>
          <p:nvSpPr>
            <p:cNvPr id="14" name="Shape 10">
              <a:extLst>
                <a:ext uri="{FF2B5EF4-FFF2-40B4-BE49-F238E27FC236}">
                  <a16:creationId xmlns:a16="http://schemas.microsoft.com/office/drawing/2014/main" id="{F5F155B6-344F-CC73-D30B-1105F028E90A}"/>
                </a:ext>
              </a:extLst>
            </p:cNvPr>
            <p:cNvSpPr/>
            <p:nvPr/>
          </p:nvSpPr>
          <p:spPr>
            <a:xfrm>
              <a:off x="4092148" y="3029717"/>
              <a:ext cx="1060704" cy="310896"/>
            </a:xfrm>
            <a:prstGeom prst="roundRect">
              <a:avLst>
                <a:gd name="adj" fmla="val 23529"/>
              </a:avLst>
            </a:prstGeom>
            <a:solidFill>
              <a:srgbClr val="FFF2E2"/>
            </a:solidFill>
            <a:ln w="12700">
              <a:solidFill>
                <a:srgbClr val="FFF2E2">
                  <a:alpha val="0"/>
                </a:srgbClr>
              </a:solidFill>
              <a:prstDash val="solid"/>
            </a:ln>
          </p:spPr>
          <p:txBody>
            <a:bodyPr/>
            <a:lstStyle/>
            <a:p>
              <a:endParaRPr lang="es-MX" dirty="0"/>
            </a:p>
          </p:txBody>
        </p:sp>
        <p:sp>
          <p:nvSpPr>
            <p:cNvPr id="15" name="Text 11">
              <a:extLst>
                <a:ext uri="{FF2B5EF4-FFF2-40B4-BE49-F238E27FC236}">
                  <a16:creationId xmlns:a16="http://schemas.microsoft.com/office/drawing/2014/main" id="{31EDE7D3-71D8-CCB3-3970-A7CAABCF99FC}"/>
                </a:ext>
              </a:extLst>
            </p:cNvPr>
            <p:cNvSpPr txBox="1"/>
            <p:nvPr/>
          </p:nvSpPr>
          <p:spPr>
            <a:xfrm>
              <a:off x="4083894" y="3038484"/>
              <a:ext cx="1060704" cy="310896"/>
            </a:xfrm>
            <a:prstGeom prst="rect">
              <a:avLst/>
            </a:prstGeom>
            <a:noFill/>
            <a:ln/>
          </p:spPr>
          <p:txBody>
            <a:bodyPr wrap="square" lIns="0" tIns="0" rIns="0" bIns="0" rtlCol="0" anchor="ctr">
              <a:normAutofit/>
            </a:bodyPr>
            <a:lstStyle/>
            <a:p>
              <a:pPr marL="0" indent="0" algn="ctr">
                <a:lnSpc>
                  <a:spcPct val="100000"/>
                </a:lnSpc>
                <a:buNone/>
              </a:pPr>
              <a:r>
                <a:rPr lang="en-US" sz="740" b="1" dirty="0">
                  <a:solidFill>
                    <a:srgbClr val="F0A44A"/>
                  </a:solidFill>
                  <a:latin typeface="Inter" pitchFamily="34" charset="0"/>
                  <a:ea typeface="Inter" pitchFamily="34" charset="-122"/>
                  <a:cs typeface="Inter" pitchFamily="34" charset="-120"/>
                </a:rPr>
                <a:t>EVOLUCIÓN</a:t>
              </a:r>
              <a:endParaRPr lang="en-US" sz="740" dirty="0"/>
            </a:p>
          </p:txBody>
        </p:sp>
      </p:grpSp>
      <p:sp>
        <p:nvSpPr>
          <p:cNvPr id="18" name="Shape 26">
            <a:extLst>
              <a:ext uri="{FF2B5EF4-FFF2-40B4-BE49-F238E27FC236}">
                <a16:creationId xmlns:a16="http://schemas.microsoft.com/office/drawing/2014/main" id="{0D8BB112-252C-F5A1-A627-92F61900440C}"/>
              </a:ext>
            </a:extLst>
          </p:cNvPr>
          <p:cNvSpPr/>
          <p:nvPr/>
        </p:nvSpPr>
        <p:spPr>
          <a:xfrm>
            <a:off x="1371600" y="6053221"/>
            <a:ext cx="8979566" cy="448316"/>
          </a:xfrm>
          <a:prstGeom prst="roundRect">
            <a:avLst>
              <a:gd name="adj" fmla="val 19048"/>
            </a:avLst>
          </a:prstGeom>
          <a:solidFill>
            <a:srgbClr val="F1EBFF"/>
          </a:solidFill>
          <a:ln w="12700">
            <a:solidFill>
              <a:srgbClr val="F1EB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 name="Text 27">
            <a:extLst>
              <a:ext uri="{FF2B5EF4-FFF2-40B4-BE49-F238E27FC236}">
                <a16:creationId xmlns:a16="http://schemas.microsoft.com/office/drawing/2014/main" id="{F1CFDFFA-54DD-C1C0-10AB-0A84EB52AE26}"/>
              </a:ext>
            </a:extLst>
          </p:cNvPr>
          <p:cNvSpPr/>
          <p:nvPr/>
        </p:nvSpPr>
        <p:spPr>
          <a:xfrm>
            <a:off x="1510748" y="6113034"/>
            <a:ext cx="8706678" cy="36907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s-ES" sz="1400" b="1" u="none" strike="noStrike" dirty="0">
                <a:solidFill>
                  <a:srgbClr val="5F2CCB"/>
                </a:solidFill>
                <a:effectLst/>
                <a:uFillTx/>
                <a:latin typeface="Aptos"/>
                <a:ea typeface="Aptos"/>
              </a:rPr>
              <a:t>Firme (determinístico) </a:t>
            </a:r>
            <a:r>
              <a:rPr lang="es-ES" sz="1400" u="none" strike="noStrike" dirty="0">
                <a:solidFill>
                  <a:srgbClr val="5F2CCB"/>
                </a:solidFill>
                <a:effectLst/>
                <a:uFillTx/>
                <a:latin typeface="Aptos"/>
                <a:ea typeface="Aptos"/>
              </a:rPr>
              <a:t>donde la realidad es dura.  </a:t>
            </a:r>
            <a:r>
              <a:rPr lang="es-ES" sz="1400" b="1" u="none" strike="noStrike" dirty="0">
                <a:solidFill>
                  <a:srgbClr val="5F2CCB"/>
                </a:solidFill>
                <a:effectLst/>
                <a:uFillTx/>
                <a:latin typeface="Aptos"/>
                <a:ea typeface="Aptos"/>
              </a:rPr>
              <a:t>Flexible (adaptativo) </a:t>
            </a:r>
            <a:r>
              <a:rPr lang="es-ES" sz="1400" u="none" strike="noStrike" dirty="0">
                <a:solidFill>
                  <a:srgbClr val="5F2CCB"/>
                </a:solidFill>
                <a:effectLst/>
                <a:uFillTx/>
                <a:latin typeface="Aptos"/>
                <a:ea typeface="Aptos"/>
              </a:rPr>
              <a:t>donde la inteligencia puede elegir.</a:t>
            </a:r>
            <a:endParaRPr lang="en-US" sz="1400" u="none" strike="noStrike" dirty="0">
              <a:solidFill>
                <a:srgbClr val="000000"/>
              </a:solidFill>
              <a:effectLst/>
              <a:uFillTx/>
              <a:latin typeface="Arial"/>
            </a:endParaRPr>
          </a:p>
        </p:txBody>
      </p:sp>
      <p:cxnSp>
        <p:nvCxnSpPr>
          <p:cNvPr id="37" name="Conector recto de flecha 36">
            <a:extLst>
              <a:ext uri="{FF2B5EF4-FFF2-40B4-BE49-F238E27FC236}">
                <a16:creationId xmlns:a16="http://schemas.microsoft.com/office/drawing/2014/main" id="{976A5D0E-8B1A-1C58-9CE7-48D4EF42F53A}"/>
              </a:ext>
            </a:extLst>
          </p:cNvPr>
          <p:cNvCxnSpPr>
            <a:cxnSpLocks/>
            <a:stCxn id="278" idx="3"/>
            <a:endCxn id="285" idx="1"/>
          </p:cNvCxnSpPr>
          <p:nvPr/>
        </p:nvCxnSpPr>
        <p:spPr>
          <a:xfrm>
            <a:off x="3158342" y="3473600"/>
            <a:ext cx="1442290" cy="3926"/>
          </a:xfrm>
          <a:prstGeom prst="straightConnector1">
            <a:avLst/>
          </a:prstGeom>
          <a:ln w="19050">
            <a:solidFill>
              <a:schemeClr val="tx1">
                <a:lumMod val="50000"/>
                <a:lumOff val="50000"/>
              </a:schemeClr>
            </a:solidFill>
            <a:prstDash val="sys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0" name="Text 13">
            <a:extLst>
              <a:ext uri="{FF2B5EF4-FFF2-40B4-BE49-F238E27FC236}">
                <a16:creationId xmlns:a16="http://schemas.microsoft.com/office/drawing/2014/main" id="{C04DA751-7304-018C-DA6A-AD61457AD280}"/>
              </a:ext>
            </a:extLst>
          </p:cNvPr>
          <p:cNvSpPr/>
          <p:nvPr/>
        </p:nvSpPr>
        <p:spPr>
          <a:xfrm>
            <a:off x="3677480" y="3553541"/>
            <a:ext cx="842923" cy="339993"/>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dirty="0">
                <a:solidFill>
                  <a:srgbClr val="6F6888"/>
                </a:solidFill>
                <a:latin typeface="Aptos"/>
                <a:ea typeface="Aptos"/>
              </a:rPr>
              <a:t>lee </a:t>
            </a:r>
            <a:r>
              <a:rPr lang="en-US" sz="1300" dirty="0" err="1">
                <a:solidFill>
                  <a:srgbClr val="6F6888"/>
                </a:solidFill>
                <a:latin typeface="Aptos"/>
                <a:ea typeface="Aptos"/>
              </a:rPr>
              <a:t>e</a:t>
            </a:r>
            <a:r>
              <a:rPr lang="en-US" sz="1300" u="none" strike="noStrike" dirty="0" err="1">
                <a:solidFill>
                  <a:srgbClr val="6F6888"/>
                </a:solidFill>
                <a:effectLst/>
                <a:uFillTx/>
                <a:latin typeface="Aptos"/>
                <a:ea typeface="Aptos"/>
              </a:rPr>
              <a:t>stado</a:t>
            </a:r>
            <a:r>
              <a:rPr lang="en-US" sz="1300" u="none" strike="noStrike" dirty="0">
                <a:solidFill>
                  <a:srgbClr val="6F6888"/>
                </a:solidFill>
                <a:effectLst/>
                <a:uFillTx/>
                <a:latin typeface="Aptos"/>
                <a:ea typeface="Aptos"/>
              </a:rPr>
              <a:t> + </a:t>
            </a:r>
            <a:r>
              <a:rPr lang="en-US" sz="1300" u="none" strike="noStrike" dirty="0" err="1">
                <a:solidFill>
                  <a:srgbClr val="6F6888"/>
                </a:solidFill>
                <a:effectLst/>
                <a:uFillTx/>
                <a:latin typeface="Aptos"/>
                <a:ea typeface="Aptos"/>
              </a:rPr>
              <a:t>contrato</a:t>
            </a:r>
            <a:endParaRPr lang="en-US" sz="1300" u="none" strike="noStrike" dirty="0">
              <a:solidFill>
                <a:srgbClr val="000000"/>
              </a:solidFill>
              <a:effectLst/>
              <a:uFillTx/>
              <a:latin typeface="Arial"/>
            </a:endParaRPr>
          </a:p>
        </p:txBody>
      </p:sp>
      <p:sp>
        <p:nvSpPr>
          <p:cNvPr id="42" name="Text 13">
            <a:extLst>
              <a:ext uri="{FF2B5EF4-FFF2-40B4-BE49-F238E27FC236}">
                <a16:creationId xmlns:a16="http://schemas.microsoft.com/office/drawing/2014/main" id="{606748DA-2069-0B20-4ED3-864BE27A8211}"/>
              </a:ext>
            </a:extLst>
          </p:cNvPr>
          <p:cNvSpPr/>
          <p:nvPr/>
        </p:nvSpPr>
        <p:spPr>
          <a:xfrm>
            <a:off x="4629488" y="2652090"/>
            <a:ext cx="1769142" cy="339993"/>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dirty="0" err="1">
                <a:solidFill>
                  <a:srgbClr val="6F6888"/>
                </a:solidFill>
                <a:latin typeface="Aptos"/>
                <a:ea typeface="Aptos"/>
              </a:rPr>
              <a:t>dispara</a:t>
            </a:r>
            <a:r>
              <a:rPr lang="en-US" sz="1300" dirty="0">
                <a:solidFill>
                  <a:srgbClr val="6F6888"/>
                </a:solidFill>
                <a:latin typeface="Aptos"/>
                <a:ea typeface="Aptos"/>
              </a:rPr>
              <a:t> </a:t>
            </a:r>
            <a:r>
              <a:rPr lang="en-US" sz="1300" dirty="0" err="1">
                <a:solidFill>
                  <a:srgbClr val="6F6888"/>
                </a:solidFill>
                <a:latin typeface="Aptos"/>
                <a:ea typeface="Aptos"/>
              </a:rPr>
              <a:t>reevaluación</a:t>
            </a:r>
            <a:endParaRPr lang="en-US" sz="1300" u="none" strike="noStrike" dirty="0">
              <a:solidFill>
                <a:srgbClr val="000000"/>
              </a:solidFill>
              <a:effectLst/>
              <a:uFillTx/>
              <a:latin typeface="Arial"/>
            </a:endParaRPr>
          </a:p>
        </p:txBody>
      </p:sp>
      <p:sp>
        <p:nvSpPr>
          <p:cNvPr id="44" name="Text 13">
            <a:extLst>
              <a:ext uri="{FF2B5EF4-FFF2-40B4-BE49-F238E27FC236}">
                <a16:creationId xmlns:a16="http://schemas.microsoft.com/office/drawing/2014/main" id="{74B3B8D0-6D1C-C158-4919-97EC13133948}"/>
              </a:ext>
            </a:extLst>
          </p:cNvPr>
          <p:cNvSpPr/>
          <p:nvPr/>
        </p:nvSpPr>
        <p:spPr>
          <a:xfrm>
            <a:off x="4969564" y="3918450"/>
            <a:ext cx="1441565" cy="31210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dirty="0">
                <a:solidFill>
                  <a:srgbClr val="6F6888"/>
                </a:solidFill>
                <a:latin typeface="Aptos"/>
                <a:ea typeface="Aptos"/>
              </a:rPr>
              <a:t>define </a:t>
            </a:r>
            <a:r>
              <a:rPr lang="en-US" sz="1300" dirty="0" err="1">
                <a:solidFill>
                  <a:srgbClr val="6F6888"/>
                </a:solidFill>
                <a:latin typeface="Aptos"/>
                <a:ea typeface="Aptos"/>
              </a:rPr>
              <a:t>trabajo</a:t>
            </a:r>
            <a:endParaRPr lang="en-US" sz="1300" u="none" strike="noStrike" dirty="0">
              <a:solidFill>
                <a:srgbClr val="000000"/>
              </a:solidFill>
              <a:effectLst/>
              <a:uFillTx/>
              <a:latin typeface="Arial"/>
            </a:endParaRPr>
          </a:p>
        </p:txBody>
      </p:sp>
      <p:sp>
        <p:nvSpPr>
          <p:cNvPr id="45" name="Elipse 44">
            <a:extLst>
              <a:ext uri="{FF2B5EF4-FFF2-40B4-BE49-F238E27FC236}">
                <a16:creationId xmlns:a16="http://schemas.microsoft.com/office/drawing/2014/main" id="{2E010271-2173-C7E9-7418-5993A539305F}"/>
              </a:ext>
            </a:extLst>
          </p:cNvPr>
          <p:cNvSpPr/>
          <p:nvPr/>
        </p:nvSpPr>
        <p:spPr>
          <a:xfrm>
            <a:off x="3319400" y="2046554"/>
            <a:ext cx="782083" cy="726758"/>
          </a:xfrm>
          <a:prstGeom prst="ellipse">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7" name="Text 13">
            <a:extLst>
              <a:ext uri="{FF2B5EF4-FFF2-40B4-BE49-F238E27FC236}">
                <a16:creationId xmlns:a16="http://schemas.microsoft.com/office/drawing/2014/main" id="{CE939075-B9DC-109F-87E2-99A0CA32B315}"/>
              </a:ext>
            </a:extLst>
          </p:cNvPr>
          <p:cNvSpPr/>
          <p:nvPr/>
        </p:nvSpPr>
        <p:spPr>
          <a:xfrm>
            <a:off x="3260491" y="2217742"/>
            <a:ext cx="924835" cy="43081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u="none" strike="noStrike" dirty="0">
                <a:solidFill>
                  <a:srgbClr val="6F6888"/>
                </a:solidFill>
                <a:effectLst/>
                <a:uFillTx/>
                <a:latin typeface="Aptos"/>
                <a:ea typeface="Aptos"/>
              </a:rPr>
              <a:t>Business Brain</a:t>
            </a:r>
            <a:endParaRPr lang="en-US" sz="1200" u="none" strike="noStrike" dirty="0">
              <a:solidFill>
                <a:srgbClr val="000000"/>
              </a:solidFill>
              <a:effectLst/>
              <a:uFillTx/>
              <a:latin typeface="Arial"/>
            </a:endParaRPr>
          </a:p>
        </p:txBody>
      </p:sp>
      <p:cxnSp>
        <p:nvCxnSpPr>
          <p:cNvPr id="50" name="Conector: angular 49">
            <a:extLst>
              <a:ext uri="{FF2B5EF4-FFF2-40B4-BE49-F238E27FC236}">
                <a16:creationId xmlns:a16="http://schemas.microsoft.com/office/drawing/2014/main" id="{B4B0617F-C8CC-948D-DE47-5FB9E4BF24B6}"/>
              </a:ext>
            </a:extLst>
          </p:cNvPr>
          <p:cNvCxnSpPr>
            <a:cxnSpLocks/>
            <a:stCxn id="45" idx="4"/>
          </p:cNvCxnSpPr>
          <p:nvPr/>
        </p:nvCxnSpPr>
        <p:spPr>
          <a:xfrm rot="16200000" flipH="1">
            <a:off x="3882721" y="2601033"/>
            <a:ext cx="518996" cy="863554"/>
          </a:xfrm>
          <a:prstGeom prst="bentConnector2">
            <a:avLst/>
          </a:prstGeom>
          <a:ln w="19050">
            <a:solidFill>
              <a:schemeClr val="tx1">
                <a:lumMod val="50000"/>
                <a:lumOff val="5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2" name="Text 13">
            <a:extLst>
              <a:ext uri="{FF2B5EF4-FFF2-40B4-BE49-F238E27FC236}">
                <a16:creationId xmlns:a16="http://schemas.microsoft.com/office/drawing/2014/main" id="{04537181-B5AD-0764-DF7A-93C698CCC1B2}"/>
              </a:ext>
            </a:extLst>
          </p:cNvPr>
          <p:cNvSpPr/>
          <p:nvPr/>
        </p:nvSpPr>
        <p:spPr>
          <a:xfrm>
            <a:off x="3677479" y="2845143"/>
            <a:ext cx="842923" cy="339993"/>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dirty="0" err="1">
                <a:solidFill>
                  <a:srgbClr val="6F6888"/>
                </a:solidFill>
                <a:latin typeface="Aptos"/>
                <a:ea typeface="Aptos"/>
              </a:rPr>
              <a:t>aporta</a:t>
            </a:r>
            <a:r>
              <a:rPr lang="en-US" sz="1300" dirty="0">
                <a:solidFill>
                  <a:srgbClr val="6F6888"/>
                </a:solidFill>
                <a:latin typeface="Aptos"/>
                <a:ea typeface="Aptos"/>
              </a:rPr>
              <a:t> </a:t>
            </a:r>
            <a:r>
              <a:rPr lang="en-US" sz="1300" dirty="0" err="1">
                <a:solidFill>
                  <a:srgbClr val="6F6888"/>
                </a:solidFill>
                <a:latin typeface="Aptos"/>
                <a:ea typeface="Aptos"/>
              </a:rPr>
              <a:t>contexto</a:t>
            </a:r>
            <a:endParaRPr lang="en-US" sz="1300" u="none" strike="noStrike" dirty="0">
              <a:solidFill>
                <a:srgbClr val="000000"/>
              </a:solidFill>
              <a:effectLst/>
              <a:uFillTx/>
              <a:latin typeface="Arial"/>
            </a:endParaRPr>
          </a:p>
        </p:txBody>
      </p:sp>
    </p:spTree>
    <p:extLst>
      <p:ext uri="{BB962C8B-B14F-4D97-AF65-F5344CB8AC3E}">
        <p14:creationId xmlns:p14="http://schemas.microsoft.com/office/powerpoint/2010/main" val="29436841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359" name="Shape 0"/>
          <p:cNvSpPr/>
          <p:nvPr/>
        </p:nvSpPr>
        <p:spPr>
          <a:xfrm>
            <a:off x="0" y="0"/>
            <a:ext cx="12191400" cy="63720"/>
          </a:xfrm>
          <a:prstGeom prst="rect">
            <a:avLst/>
          </a:prstGeom>
          <a:solidFill>
            <a:srgbClr val="5F2CCB"/>
          </a:solidFill>
          <a:ln w="12700">
            <a:solidFill>
              <a:srgbClr val="5F2CCB">
                <a:alpha val="0"/>
              </a:srgbClr>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FFFFFF"/>
              </a:solidFill>
              <a:effectLst/>
              <a:uFillTx/>
              <a:latin typeface="Arial"/>
            </a:endParaRPr>
          </a:p>
        </p:txBody>
      </p:sp>
      <p:sp>
        <p:nvSpPr>
          <p:cNvPr id="360" name="Text 1"/>
          <p:cNvSpPr/>
          <p:nvPr/>
        </p:nvSpPr>
        <p:spPr>
          <a:xfrm>
            <a:off x="567000" y="438840"/>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dirty="0">
                <a:solidFill>
                  <a:srgbClr val="5F2CCB"/>
                </a:solidFill>
                <a:effectLst/>
                <a:uFillTx/>
                <a:latin typeface="Aptos"/>
                <a:ea typeface="Aptos"/>
              </a:rPr>
              <a:t>DOMINIOS OPERATIVOS</a:t>
            </a:r>
            <a:endParaRPr lang="en-US" sz="1200" b="0" u="none" strike="noStrike" dirty="0">
              <a:solidFill>
                <a:srgbClr val="000000"/>
              </a:solidFill>
              <a:effectLst/>
              <a:uFillTx/>
              <a:latin typeface="Arial"/>
            </a:endParaRPr>
          </a:p>
        </p:txBody>
      </p:sp>
      <p:sp>
        <p:nvSpPr>
          <p:cNvPr id="361" name="Text 2"/>
          <p:cNvSpPr/>
          <p:nvPr/>
        </p:nvSpPr>
        <p:spPr>
          <a:xfrm>
            <a:off x="567000" y="804600"/>
            <a:ext cx="10415739" cy="890906"/>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2600" b="1" u="none" strike="noStrike" dirty="0" err="1">
                <a:solidFill>
                  <a:srgbClr val="151327"/>
                </a:solidFill>
                <a:effectLst/>
                <a:uFillTx/>
                <a:latin typeface="Aptos Display"/>
                <a:ea typeface="Aptos Display"/>
              </a:rPr>
              <a:t>Recordemos</a:t>
            </a:r>
            <a:r>
              <a:rPr lang="en-US" sz="2600" b="1" u="none" strike="noStrike" dirty="0">
                <a:solidFill>
                  <a:srgbClr val="151327"/>
                </a:solidFill>
                <a:effectLst/>
                <a:uFillTx/>
                <a:latin typeface="Aptos Display"/>
                <a:ea typeface="Aptos Display"/>
              </a:rPr>
              <a:t>: Se </a:t>
            </a:r>
            <a:r>
              <a:rPr lang="en-US" sz="2600" b="1" u="none" strike="noStrike" dirty="0" err="1">
                <a:solidFill>
                  <a:srgbClr val="151327"/>
                </a:solidFill>
                <a:effectLst/>
                <a:uFillTx/>
                <a:latin typeface="Aptos Display"/>
                <a:ea typeface="Aptos Display"/>
              </a:rPr>
              <a:t>tiene</a:t>
            </a:r>
            <a:r>
              <a:rPr lang="en-US" sz="2600" b="1" u="none" strike="noStrike" dirty="0">
                <a:solidFill>
                  <a:srgbClr val="151327"/>
                </a:solidFill>
                <a:effectLst/>
                <a:uFillTx/>
                <a:latin typeface="Aptos Display"/>
                <a:ea typeface="Aptos Display"/>
              </a:rPr>
              <a:t> un </a:t>
            </a:r>
            <a:r>
              <a:rPr lang="en-US" sz="2600" b="1" u="none" strike="noStrike" dirty="0" err="1">
                <a:solidFill>
                  <a:srgbClr val="151327"/>
                </a:solidFill>
                <a:effectLst/>
                <a:uFillTx/>
                <a:latin typeface="Aptos Display"/>
                <a:ea typeface="Aptos Display"/>
              </a:rPr>
              <a:t>núcleo</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operativ</a:t>
            </a:r>
            <a:r>
              <a:rPr lang="en-US" sz="2600" b="1" dirty="0" err="1">
                <a:solidFill>
                  <a:srgbClr val="151327"/>
                </a:solidFill>
                <a:latin typeface="Aptos Display"/>
                <a:ea typeface="Aptos Display"/>
              </a:rPr>
              <a:t>o</a:t>
            </a:r>
            <a:r>
              <a:rPr lang="en-US" sz="2600" b="1" dirty="0">
                <a:solidFill>
                  <a:srgbClr val="151327"/>
                </a:solidFill>
                <a:latin typeface="Aptos Display"/>
                <a:ea typeface="Aptos Display"/>
              </a:rPr>
              <a:t> y</a:t>
            </a:r>
            <a:r>
              <a:rPr lang="en-US" sz="2600" b="1" u="none" strike="noStrike" dirty="0">
                <a:solidFill>
                  <a:srgbClr val="151327"/>
                </a:solidFill>
                <a:effectLst/>
                <a:uFillTx/>
                <a:latin typeface="Aptos Display"/>
                <a:ea typeface="Aptos Display"/>
              </a:rPr>
              <a:t> </a:t>
            </a:r>
            <a:r>
              <a:rPr lang="en-US" sz="2600" b="1" dirty="0" err="1">
                <a:solidFill>
                  <a:srgbClr val="151327"/>
                </a:solidFill>
                <a:latin typeface="Aptos Display"/>
                <a:ea typeface="Aptos Display"/>
              </a:rPr>
              <a:t>m</a:t>
            </a:r>
            <a:r>
              <a:rPr lang="en-US" sz="2600" b="1" u="none" strike="noStrike" dirty="0" err="1">
                <a:solidFill>
                  <a:srgbClr val="151327"/>
                </a:solidFill>
                <a:effectLst/>
                <a:uFillTx/>
                <a:latin typeface="Aptos Display"/>
                <a:ea typeface="Aptos Display"/>
              </a:rPr>
              <a:t>últiples</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dominios</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operativos</a:t>
            </a:r>
            <a:r>
              <a:rPr lang="en-US" sz="2600" b="1" u="none" strike="noStrike" dirty="0">
                <a:solidFill>
                  <a:srgbClr val="151327"/>
                </a:solidFill>
                <a:effectLst/>
                <a:uFillTx/>
                <a:latin typeface="Aptos Display"/>
                <a:ea typeface="Aptos Display"/>
              </a:rPr>
              <a:t> en </a:t>
            </a:r>
            <a:r>
              <a:rPr lang="en-US" sz="2600" b="1" u="none" strike="noStrike" dirty="0" err="1">
                <a:solidFill>
                  <a:srgbClr val="151327"/>
                </a:solidFill>
                <a:effectLst/>
                <a:uFillTx/>
                <a:latin typeface="Aptos Display"/>
                <a:ea typeface="Aptos Display"/>
              </a:rPr>
              <a:t>donde</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viven</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los</a:t>
            </a:r>
            <a:r>
              <a:rPr lang="en-US" sz="2600" b="1" u="none" strike="noStrike" dirty="0">
                <a:solidFill>
                  <a:srgbClr val="151327"/>
                </a:solidFill>
                <a:effectLst/>
                <a:uFillTx/>
                <a:latin typeface="Aptos Display"/>
                <a:ea typeface="Aptos Display"/>
              </a:rPr>
              <a:t> Cases.</a:t>
            </a:r>
            <a:endParaRPr lang="en-US" sz="2600" b="0" u="none" strike="noStrike" dirty="0">
              <a:solidFill>
                <a:srgbClr val="000000"/>
              </a:solidFill>
              <a:effectLst/>
              <a:uFillTx/>
              <a:latin typeface="Arial"/>
            </a:endParaRPr>
          </a:p>
        </p:txBody>
      </p:sp>
      <p:sp>
        <p:nvSpPr>
          <p:cNvPr id="362" name="Text 3"/>
          <p:cNvSpPr/>
          <p:nvPr/>
        </p:nvSpPr>
        <p:spPr>
          <a:xfrm>
            <a:off x="567000" y="1680938"/>
            <a:ext cx="10698120" cy="502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b="0" u="none" strike="noStrike" dirty="0">
                <a:solidFill>
                  <a:srgbClr val="6F6888"/>
                </a:solidFill>
                <a:effectLst/>
                <a:uFillTx/>
                <a:latin typeface="Aptos"/>
                <a:ea typeface="Aptos"/>
              </a:rPr>
              <a:t>Cada </a:t>
            </a:r>
            <a:r>
              <a:rPr lang="en-US" b="0" u="none" strike="noStrike" dirty="0" err="1">
                <a:solidFill>
                  <a:srgbClr val="6F6888"/>
                </a:solidFill>
                <a:effectLst/>
                <a:uFillTx/>
                <a:latin typeface="Aptos"/>
                <a:ea typeface="Aptos"/>
              </a:rPr>
              <a:t>dominio</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agrega</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semántica</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propia</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reutilizando</a:t>
            </a:r>
            <a:r>
              <a:rPr lang="en-US" b="0" u="none" strike="noStrike" dirty="0">
                <a:solidFill>
                  <a:srgbClr val="6F6888"/>
                </a:solidFill>
                <a:effectLst/>
                <a:uFillTx/>
                <a:latin typeface="Aptos"/>
                <a:ea typeface="Aptos"/>
              </a:rPr>
              <a:t> el </a:t>
            </a:r>
            <a:r>
              <a:rPr lang="en-US" b="0" u="none" strike="noStrike" dirty="0" err="1">
                <a:solidFill>
                  <a:srgbClr val="6F6888"/>
                </a:solidFill>
                <a:effectLst/>
                <a:uFillTx/>
                <a:latin typeface="Aptos"/>
                <a:ea typeface="Aptos"/>
              </a:rPr>
              <a:t>mismo</a:t>
            </a:r>
            <a:r>
              <a:rPr lang="en-US" b="0" u="none" strike="noStrike" dirty="0">
                <a:solidFill>
                  <a:srgbClr val="6F6888"/>
                </a:solidFill>
                <a:effectLst/>
                <a:uFillTx/>
                <a:latin typeface="Aptos"/>
                <a:ea typeface="Aptos"/>
              </a:rPr>
              <a:t> core </a:t>
            </a:r>
            <a:r>
              <a:rPr lang="en-US" b="0" u="none" strike="noStrike" dirty="0" err="1">
                <a:solidFill>
                  <a:srgbClr val="6F6888"/>
                </a:solidFill>
                <a:effectLst/>
                <a:uFillTx/>
                <a:latin typeface="Aptos"/>
                <a:ea typeface="Aptos"/>
              </a:rPr>
              <a:t>operativo</a:t>
            </a:r>
            <a:r>
              <a:rPr lang="en-US" b="0" u="none" strike="noStrike" dirty="0">
                <a:solidFill>
                  <a:srgbClr val="6F6888"/>
                </a:solidFill>
                <a:effectLst/>
                <a:uFillTx/>
                <a:latin typeface="Aptos"/>
                <a:ea typeface="Aptos"/>
              </a:rPr>
              <a:t> de Gu OS.</a:t>
            </a:r>
            <a:endParaRPr lang="en-US" b="0" u="none" strike="noStrike" dirty="0">
              <a:solidFill>
                <a:srgbClr val="000000"/>
              </a:solidFill>
              <a:effectLst/>
              <a:uFillTx/>
              <a:latin typeface="Arial"/>
            </a:endParaRPr>
          </a:p>
        </p:txBody>
      </p:sp>
      <p:sp>
        <p:nvSpPr>
          <p:cNvPr id="364" name="Text 5"/>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u="none" strike="noStrike">
                <a:solidFill>
                  <a:srgbClr val="7E7798"/>
                </a:solidFill>
                <a:effectLst/>
                <a:uFillTx/>
                <a:latin typeface="Aptos"/>
                <a:ea typeface="Aptos"/>
              </a:rPr>
              <a:t>CONFIDENTIAL</a:t>
            </a:r>
            <a:endParaRPr lang="en-US" sz="650" b="0" u="none" strike="noStrike">
              <a:solidFill>
                <a:srgbClr val="000000"/>
              </a:solidFill>
              <a:effectLst/>
              <a:uFillTx/>
              <a:latin typeface="Arial"/>
            </a:endParaRPr>
          </a:p>
        </p:txBody>
      </p:sp>
      <p:sp>
        <p:nvSpPr>
          <p:cNvPr id="365" name="Text 6"/>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650" b="0" u="none" strike="noStrike">
                <a:solidFill>
                  <a:srgbClr val="7E7798"/>
                </a:solidFill>
                <a:effectLst/>
                <a:uFillTx/>
                <a:latin typeface="Aptos"/>
                <a:ea typeface="Aptos"/>
              </a:rPr>
              <a:t>ungga.com</a:t>
            </a:r>
            <a:endParaRPr lang="en-US" sz="650" b="0" u="none" strike="noStrike">
              <a:solidFill>
                <a:srgbClr val="000000"/>
              </a:solidFill>
              <a:effectLst/>
              <a:uFillTx/>
              <a:latin typeface="Arial"/>
            </a:endParaRPr>
          </a:p>
        </p:txBody>
      </p:sp>
      <p:sp>
        <p:nvSpPr>
          <p:cNvPr id="366" name="Text 7"/>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b="0" u="none" strike="noStrike" dirty="0">
                <a:solidFill>
                  <a:srgbClr val="7E7798"/>
                </a:solidFill>
                <a:effectLst/>
                <a:uFillTx/>
                <a:latin typeface="Aptos"/>
                <a:ea typeface="Aptos"/>
              </a:rPr>
              <a:t>13</a:t>
            </a:r>
            <a:endParaRPr lang="en-US" sz="800" b="0" u="none" strike="noStrike" dirty="0">
              <a:solidFill>
                <a:srgbClr val="000000"/>
              </a:solidFill>
              <a:effectLst/>
              <a:uFillTx/>
              <a:latin typeface="Arial"/>
            </a:endParaRPr>
          </a:p>
        </p:txBody>
      </p:sp>
      <p:pic>
        <p:nvPicPr>
          <p:cNvPr id="3" name="Image 0" descr="/mnt/data/ungga_logo_purple.png">
            <a:extLst>
              <a:ext uri="{FF2B5EF4-FFF2-40B4-BE49-F238E27FC236}">
                <a16:creationId xmlns:a16="http://schemas.microsoft.com/office/drawing/2014/main" id="{9F5A7870-718B-5B54-98A2-DB45B9BBB485}"/>
              </a:ext>
            </a:extLst>
          </p:cNvPr>
          <p:cNvPicPr>
            <a:picLocks noChangeAspect="1"/>
          </p:cNvPicPr>
          <p:nvPr/>
        </p:nvPicPr>
        <p:blipFill>
          <a:blip r:embed="rId3"/>
          <a:stretch>
            <a:fillRect/>
          </a:stretch>
        </p:blipFill>
        <p:spPr>
          <a:xfrm>
            <a:off x="11109960" y="449715"/>
            <a:ext cx="566928" cy="472170"/>
          </a:xfrm>
          <a:prstGeom prst="rect">
            <a:avLst/>
          </a:prstGeom>
        </p:spPr>
      </p:pic>
      <p:sp>
        <p:nvSpPr>
          <p:cNvPr id="444" name="Shape 7">
            <a:extLst>
              <a:ext uri="{FF2B5EF4-FFF2-40B4-BE49-F238E27FC236}">
                <a16:creationId xmlns:a16="http://schemas.microsoft.com/office/drawing/2014/main" id="{86AD60F0-41C2-1699-BBEF-5D11B15BDF2C}"/>
              </a:ext>
            </a:extLst>
          </p:cNvPr>
          <p:cNvSpPr/>
          <p:nvPr/>
        </p:nvSpPr>
        <p:spPr>
          <a:xfrm>
            <a:off x="911088" y="2530710"/>
            <a:ext cx="9982199" cy="804672"/>
          </a:xfrm>
          <a:prstGeom prst="roundRect">
            <a:avLst>
              <a:gd name="adj" fmla="val 9091"/>
            </a:avLst>
          </a:prstGeom>
          <a:solidFill>
            <a:srgbClr val="21174D"/>
          </a:solidFill>
          <a:ln w="12700">
            <a:solidFill>
              <a:srgbClr val="21174D"/>
            </a:solidFill>
            <a:prstDash val="solid"/>
          </a:ln>
        </p:spPr>
        <p:txBody>
          <a:bodyPr/>
          <a:lstStyle/>
          <a:p>
            <a:endParaRPr lang="es-MX"/>
          </a:p>
        </p:txBody>
      </p:sp>
      <p:sp>
        <p:nvSpPr>
          <p:cNvPr id="446" name="Text 8">
            <a:extLst>
              <a:ext uri="{FF2B5EF4-FFF2-40B4-BE49-F238E27FC236}">
                <a16:creationId xmlns:a16="http://schemas.microsoft.com/office/drawing/2014/main" id="{E1AC4604-E9A3-0E1F-FD45-E5DD8B22BFA2}"/>
              </a:ext>
            </a:extLst>
          </p:cNvPr>
          <p:cNvSpPr/>
          <p:nvPr/>
        </p:nvSpPr>
        <p:spPr>
          <a:xfrm>
            <a:off x="789168" y="2667870"/>
            <a:ext cx="10469880" cy="256032"/>
          </a:xfrm>
          <a:prstGeom prst="rect">
            <a:avLst/>
          </a:prstGeom>
          <a:noFill/>
          <a:ln/>
        </p:spPr>
        <p:txBody>
          <a:bodyPr wrap="square" lIns="0" tIns="0" rIns="0" bIns="0" rtlCol="0" anchor="ctr">
            <a:normAutofit lnSpcReduction="10000"/>
          </a:bodyPr>
          <a:lstStyle/>
          <a:p>
            <a:pPr marL="0" indent="0" algn="ctr">
              <a:buNone/>
            </a:pPr>
            <a:r>
              <a:rPr lang="en-US" sz="1800" b="1" dirty="0">
                <a:solidFill>
                  <a:srgbClr val="FFFFFF"/>
                </a:solidFill>
                <a:latin typeface="Aptos Display" pitchFamily="34" charset="0"/>
                <a:ea typeface="Aptos Display" pitchFamily="34" charset="-122"/>
                <a:cs typeface="Aptos Display" pitchFamily="34" charset="-120"/>
              </a:rPr>
              <a:t>Núcleo operativo común de Gu OS</a:t>
            </a:r>
            <a:endParaRPr lang="en-US" sz="1800" dirty="0"/>
          </a:p>
        </p:txBody>
      </p:sp>
      <p:sp>
        <p:nvSpPr>
          <p:cNvPr id="448" name="Text 9">
            <a:extLst>
              <a:ext uri="{FF2B5EF4-FFF2-40B4-BE49-F238E27FC236}">
                <a16:creationId xmlns:a16="http://schemas.microsoft.com/office/drawing/2014/main" id="{DE95238F-9469-E539-B96E-FE949E1CF0C5}"/>
              </a:ext>
            </a:extLst>
          </p:cNvPr>
          <p:cNvSpPr/>
          <p:nvPr/>
        </p:nvSpPr>
        <p:spPr>
          <a:xfrm>
            <a:off x="926328" y="2987910"/>
            <a:ext cx="10195560" cy="182880"/>
          </a:xfrm>
          <a:prstGeom prst="rect">
            <a:avLst/>
          </a:prstGeom>
          <a:noFill/>
          <a:ln/>
        </p:spPr>
        <p:txBody>
          <a:bodyPr wrap="square" lIns="0" tIns="0" rIns="0" bIns="0" rtlCol="0" anchor="ctr">
            <a:normAutofit/>
          </a:bodyPr>
          <a:lstStyle/>
          <a:p>
            <a:pPr marL="0" indent="0" algn="ctr">
              <a:buNone/>
            </a:pPr>
            <a:r>
              <a:rPr lang="en-US" sz="1120" dirty="0">
                <a:solidFill>
                  <a:srgbClr val="E8E3F6"/>
                </a:solidFill>
                <a:latin typeface="Aptos" pitchFamily="34" charset="0"/>
                <a:ea typeface="Aptos" pitchFamily="34" charset="-122"/>
                <a:cs typeface="Aptos" pitchFamily="34" charset="-120"/>
              </a:rPr>
              <a:t>Casos · eventos · trabajo · </a:t>
            </a:r>
            <a:r>
              <a:rPr lang="en-US" sz="1120" i="1" dirty="0">
                <a:solidFill>
                  <a:srgbClr val="E8E3F6"/>
                </a:solidFill>
                <a:latin typeface="Aptos" pitchFamily="34" charset="0"/>
                <a:ea typeface="Aptos" pitchFamily="34" charset="-122"/>
                <a:cs typeface="Aptos" pitchFamily="34" charset="-120"/>
              </a:rPr>
              <a:t>scheduler</a:t>
            </a:r>
            <a:r>
              <a:rPr lang="en-US" sz="1120" dirty="0">
                <a:solidFill>
                  <a:srgbClr val="E8E3F6"/>
                </a:solidFill>
                <a:latin typeface="Aptos" pitchFamily="34" charset="0"/>
                <a:ea typeface="Aptos" pitchFamily="34" charset="-122"/>
                <a:cs typeface="Aptos" pitchFamily="34" charset="-120"/>
              </a:rPr>
              <a:t> · gobernanza · evidencia · </a:t>
            </a:r>
            <a:r>
              <a:rPr lang="en-US" sz="1120" i="1" dirty="0">
                <a:solidFill>
                  <a:srgbClr val="E8E3F6"/>
                </a:solidFill>
                <a:latin typeface="Aptos" pitchFamily="34" charset="0"/>
                <a:ea typeface="Aptos" pitchFamily="34" charset="-122"/>
                <a:cs typeface="Aptos" pitchFamily="34" charset="-120"/>
              </a:rPr>
              <a:t>HITL</a:t>
            </a:r>
            <a:r>
              <a:rPr lang="en-US" sz="1120" dirty="0">
                <a:solidFill>
                  <a:srgbClr val="E8E3F6"/>
                </a:solidFill>
                <a:latin typeface="Aptos" pitchFamily="34" charset="0"/>
                <a:ea typeface="Aptos" pitchFamily="34" charset="-122"/>
                <a:cs typeface="Aptos" pitchFamily="34" charset="-120"/>
              </a:rPr>
              <a:t> · </a:t>
            </a:r>
            <a:r>
              <a:rPr lang="en-US" sz="1120" i="1" dirty="0">
                <a:solidFill>
                  <a:srgbClr val="E8E3F6"/>
                </a:solidFill>
                <a:latin typeface="Aptos" pitchFamily="34" charset="0"/>
                <a:ea typeface="Aptos" pitchFamily="34" charset="-122"/>
                <a:cs typeface="Aptos" pitchFamily="34" charset="-120"/>
              </a:rPr>
              <a:t>Skills</a:t>
            </a:r>
            <a:r>
              <a:rPr lang="en-US" sz="1120" dirty="0">
                <a:solidFill>
                  <a:srgbClr val="E8E3F6"/>
                </a:solidFill>
                <a:latin typeface="Aptos" pitchFamily="34" charset="0"/>
                <a:ea typeface="Aptos" pitchFamily="34" charset="-122"/>
                <a:cs typeface="Aptos" pitchFamily="34" charset="-120"/>
              </a:rPr>
              <a:t>/</a:t>
            </a:r>
            <a:r>
              <a:rPr lang="en-US" sz="1120" i="1" dirty="0">
                <a:solidFill>
                  <a:srgbClr val="E8E3F6"/>
                </a:solidFill>
                <a:latin typeface="Aptos" pitchFamily="34" charset="0"/>
                <a:ea typeface="Aptos" pitchFamily="34" charset="-122"/>
                <a:cs typeface="Aptos" pitchFamily="34" charset="-120"/>
              </a:rPr>
              <a:t>tools</a:t>
            </a:r>
            <a:endParaRPr lang="en-US" sz="1120" i="1" dirty="0"/>
          </a:p>
        </p:txBody>
      </p:sp>
      <p:sp>
        <p:nvSpPr>
          <p:cNvPr id="450" name="Shape 10">
            <a:extLst>
              <a:ext uri="{FF2B5EF4-FFF2-40B4-BE49-F238E27FC236}">
                <a16:creationId xmlns:a16="http://schemas.microsoft.com/office/drawing/2014/main" id="{B6738F1D-73A5-F404-D226-6035181392C0}"/>
              </a:ext>
            </a:extLst>
          </p:cNvPr>
          <p:cNvSpPr/>
          <p:nvPr/>
        </p:nvSpPr>
        <p:spPr>
          <a:xfrm>
            <a:off x="2455877" y="3345007"/>
            <a:ext cx="0" cy="283464"/>
          </a:xfrm>
          <a:prstGeom prst="line">
            <a:avLst/>
          </a:prstGeom>
          <a:noFill/>
          <a:ln w="15240">
            <a:solidFill>
              <a:schemeClr val="tx1">
                <a:lumMod val="50000"/>
                <a:lumOff val="50000"/>
              </a:schemeClr>
            </a:solidFill>
            <a:prstDash val="solid"/>
            <a:headEnd type="none"/>
            <a:tailEnd type="triangle"/>
          </a:ln>
        </p:spPr>
        <p:txBody>
          <a:bodyPr/>
          <a:lstStyle/>
          <a:p>
            <a:endParaRPr lang="es-MX"/>
          </a:p>
        </p:txBody>
      </p:sp>
      <p:sp>
        <p:nvSpPr>
          <p:cNvPr id="452" name="Shape 11">
            <a:extLst>
              <a:ext uri="{FF2B5EF4-FFF2-40B4-BE49-F238E27FC236}">
                <a16:creationId xmlns:a16="http://schemas.microsoft.com/office/drawing/2014/main" id="{560AC81D-4199-D564-018F-8F922A6999E4}"/>
              </a:ext>
            </a:extLst>
          </p:cNvPr>
          <p:cNvSpPr/>
          <p:nvPr/>
        </p:nvSpPr>
        <p:spPr>
          <a:xfrm>
            <a:off x="1381457" y="3691998"/>
            <a:ext cx="2148840" cy="914400"/>
          </a:xfrm>
          <a:prstGeom prst="roundRect">
            <a:avLst>
              <a:gd name="adj" fmla="val 8000"/>
            </a:avLst>
          </a:prstGeom>
          <a:solidFill>
            <a:srgbClr val="FFFFFF"/>
          </a:solidFill>
          <a:ln w="16510">
            <a:solidFill>
              <a:srgbClr val="56607F"/>
            </a:solidFill>
            <a:prstDash val="solid"/>
          </a:ln>
          <a:effectLst>
            <a:outerShdw blurRad="12700" dist="50800" dir="2700000" algn="bl" rotWithShape="0">
              <a:srgbClr val="000000">
                <a:alpha val="10000"/>
              </a:srgbClr>
            </a:outerShdw>
          </a:effectLst>
        </p:spPr>
        <p:txBody>
          <a:bodyPr/>
          <a:lstStyle/>
          <a:p>
            <a:endParaRPr lang="es-MX"/>
          </a:p>
        </p:txBody>
      </p:sp>
      <p:sp>
        <p:nvSpPr>
          <p:cNvPr id="454" name="Text 12">
            <a:extLst>
              <a:ext uri="{FF2B5EF4-FFF2-40B4-BE49-F238E27FC236}">
                <a16:creationId xmlns:a16="http://schemas.microsoft.com/office/drawing/2014/main" id="{6F88373A-1911-ABF9-23C7-93DDBB83F513}"/>
              </a:ext>
            </a:extLst>
          </p:cNvPr>
          <p:cNvSpPr/>
          <p:nvPr/>
        </p:nvSpPr>
        <p:spPr>
          <a:xfrm>
            <a:off x="1491185" y="3810870"/>
            <a:ext cx="1929384" cy="256032"/>
          </a:xfrm>
          <a:prstGeom prst="rect">
            <a:avLst/>
          </a:prstGeom>
          <a:noFill/>
          <a:ln/>
        </p:spPr>
        <p:txBody>
          <a:bodyPr wrap="square" lIns="0" tIns="0" rIns="0" bIns="0" rtlCol="0" anchor="ctr">
            <a:noAutofit/>
          </a:bodyPr>
          <a:lstStyle/>
          <a:p>
            <a:pPr marL="0" indent="0" algn="ctr">
              <a:buNone/>
            </a:pPr>
            <a:r>
              <a:rPr lang="en-US" sz="1400" b="1" dirty="0">
                <a:solidFill>
                  <a:srgbClr val="15132B"/>
                </a:solidFill>
                <a:latin typeface="Aptos" pitchFamily="34" charset="0"/>
                <a:ea typeface="Aptos" pitchFamily="34" charset="-122"/>
                <a:cs typeface="Aptos" pitchFamily="34" charset="-120"/>
              </a:rPr>
              <a:t>Operaciones de</a:t>
            </a:r>
            <a:endParaRPr lang="en-US" sz="1400" dirty="0"/>
          </a:p>
          <a:p>
            <a:pPr marL="0" indent="0" algn="ctr">
              <a:buNone/>
            </a:pPr>
            <a:r>
              <a:rPr lang="en-US" sz="1400" b="1" dirty="0" err="1">
                <a:solidFill>
                  <a:srgbClr val="15132B"/>
                </a:solidFill>
                <a:latin typeface="Aptos" pitchFamily="34" charset="0"/>
                <a:ea typeface="Aptos" pitchFamily="34" charset="-122"/>
                <a:cs typeface="Aptos" pitchFamily="34" charset="-120"/>
              </a:rPr>
              <a:t>Propiedades</a:t>
            </a:r>
            <a:r>
              <a:rPr lang="en-US" sz="1400" b="1" dirty="0">
                <a:solidFill>
                  <a:srgbClr val="15132B"/>
                </a:solidFill>
                <a:latin typeface="Aptos" pitchFamily="34" charset="0"/>
                <a:ea typeface="Aptos" pitchFamily="34" charset="-122"/>
                <a:cs typeface="Aptos" pitchFamily="34" charset="-120"/>
              </a:rPr>
              <a:t> (PO)</a:t>
            </a:r>
            <a:endParaRPr lang="en-US" sz="1400" dirty="0"/>
          </a:p>
        </p:txBody>
      </p:sp>
      <p:sp>
        <p:nvSpPr>
          <p:cNvPr id="456" name="Text 13">
            <a:extLst>
              <a:ext uri="{FF2B5EF4-FFF2-40B4-BE49-F238E27FC236}">
                <a16:creationId xmlns:a16="http://schemas.microsoft.com/office/drawing/2014/main" id="{146B1ED3-AA7E-C812-1248-4E7CDAD8A1CF}"/>
              </a:ext>
            </a:extLst>
          </p:cNvPr>
          <p:cNvSpPr/>
          <p:nvPr/>
        </p:nvSpPr>
        <p:spPr>
          <a:xfrm>
            <a:off x="1491185" y="4166535"/>
            <a:ext cx="1929384" cy="420624"/>
          </a:xfrm>
          <a:prstGeom prst="rect">
            <a:avLst/>
          </a:prstGeom>
          <a:noFill/>
          <a:ln/>
        </p:spPr>
        <p:txBody>
          <a:bodyPr wrap="square" lIns="0" tIns="0" rIns="0" bIns="0" rtlCol="0" anchor="ctr">
            <a:normAutofit/>
          </a:bodyPr>
          <a:lstStyle/>
          <a:p>
            <a:pPr marL="0" indent="0" algn="ctr">
              <a:buNone/>
            </a:pPr>
            <a:r>
              <a:rPr lang="en-US" sz="1000" i="1" dirty="0">
                <a:solidFill>
                  <a:srgbClr val="746F93"/>
                </a:solidFill>
                <a:latin typeface="Aptos" pitchFamily="34" charset="0"/>
                <a:ea typeface="Aptos" pitchFamily="34" charset="-122"/>
                <a:cs typeface="Aptos" pitchFamily="34" charset="-120"/>
              </a:rPr>
              <a:t>onboarding</a:t>
            </a:r>
            <a:r>
              <a:rPr lang="en-US" sz="1000" dirty="0">
                <a:solidFill>
                  <a:srgbClr val="746F93"/>
                </a:solidFill>
                <a:latin typeface="Aptos" pitchFamily="34" charset="0"/>
                <a:ea typeface="Aptos" pitchFamily="34" charset="-122"/>
                <a:cs typeface="Aptos" pitchFamily="34" charset="-120"/>
              </a:rPr>
              <a:t> · publicación · </a:t>
            </a:r>
            <a:r>
              <a:rPr lang="en-US" sz="1000" dirty="0" err="1">
                <a:solidFill>
                  <a:srgbClr val="746F93"/>
                </a:solidFill>
                <a:latin typeface="Aptos" pitchFamily="34" charset="0"/>
                <a:ea typeface="Aptos" pitchFamily="34" charset="-122"/>
                <a:cs typeface="Aptos" pitchFamily="34" charset="-120"/>
              </a:rPr>
              <a:t>corrección</a:t>
            </a:r>
            <a:endParaRPr lang="en-US" sz="1000" dirty="0"/>
          </a:p>
        </p:txBody>
      </p:sp>
      <p:sp>
        <p:nvSpPr>
          <p:cNvPr id="464" name="Shape 17">
            <a:extLst>
              <a:ext uri="{FF2B5EF4-FFF2-40B4-BE49-F238E27FC236}">
                <a16:creationId xmlns:a16="http://schemas.microsoft.com/office/drawing/2014/main" id="{D648068F-6AFF-BF3C-C366-5F50FA138113}"/>
              </a:ext>
            </a:extLst>
          </p:cNvPr>
          <p:cNvSpPr/>
          <p:nvPr/>
        </p:nvSpPr>
        <p:spPr>
          <a:xfrm>
            <a:off x="4760165" y="3345007"/>
            <a:ext cx="0" cy="283464"/>
          </a:xfrm>
          <a:prstGeom prst="line">
            <a:avLst/>
          </a:prstGeom>
          <a:noFill/>
          <a:ln w="15240">
            <a:solidFill>
              <a:schemeClr val="tx1">
                <a:lumMod val="50000"/>
                <a:lumOff val="50000"/>
              </a:schemeClr>
            </a:solidFill>
            <a:prstDash val="solid"/>
            <a:headEnd type="none"/>
            <a:tailEnd type="triangle"/>
          </a:ln>
        </p:spPr>
        <p:txBody>
          <a:bodyPr/>
          <a:lstStyle/>
          <a:p>
            <a:endParaRPr lang="es-MX"/>
          </a:p>
        </p:txBody>
      </p:sp>
      <p:sp>
        <p:nvSpPr>
          <p:cNvPr id="466" name="Shape 18">
            <a:extLst>
              <a:ext uri="{FF2B5EF4-FFF2-40B4-BE49-F238E27FC236}">
                <a16:creationId xmlns:a16="http://schemas.microsoft.com/office/drawing/2014/main" id="{FEE85023-D8CB-DCA0-24F8-05D0AABF0A77}"/>
              </a:ext>
            </a:extLst>
          </p:cNvPr>
          <p:cNvSpPr/>
          <p:nvPr/>
        </p:nvSpPr>
        <p:spPr>
          <a:xfrm>
            <a:off x="3685745" y="3691998"/>
            <a:ext cx="2148840" cy="914400"/>
          </a:xfrm>
          <a:prstGeom prst="roundRect">
            <a:avLst>
              <a:gd name="adj" fmla="val 8000"/>
            </a:avLst>
          </a:prstGeom>
          <a:solidFill>
            <a:srgbClr val="FFFFFF"/>
          </a:solidFill>
          <a:ln w="16510">
            <a:solidFill>
              <a:srgbClr val="F39A2C"/>
            </a:solidFill>
            <a:prstDash val="solid"/>
          </a:ln>
          <a:effectLst>
            <a:outerShdw blurRad="12700" dist="50800" dir="2700000" algn="bl" rotWithShape="0">
              <a:srgbClr val="000000">
                <a:alpha val="10000"/>
              </a:srgbClr>
            </a:outerShdw>
          </a:effectLst>
        </p:spPr>
        <p:txBody>
          <a:bodyPr/>
          <a:lstStyle/>
          <a:p>
            <a:endParaRPr lang="es-MX"/>
          </a:p>
        </p:txBody>
      </p:sp>
      <p:sp>
        <p:nvSpPr>
          <p:cNvPr id="468" name="Text 19">
            <a:extLst>
              <a:ext uri="{FF2B5EF4-FFF2-40B4-BE49-F238E27FC236}">
                <a16:creationId xmlns:a16="http://schemas.microsoft.com/office/drawing/2014/main" id="{ED37E0D6-2E30-62D1-754A-B7F66F340B43}"/>
              </a:ext>
            </a:extLst>
          </p:cNvPr>
          <p:cNvSpPr/>
          <p:nvPr/>
        </p:nvSpPr>
        <p:spPr>
          <a:xfrm>
            <a:off x="3795473" y="3810870"/>
            <a:ext cx="1929384" cy="256032"/>
          </a:xfrm>
          <a:prstGeom prst="rect">
            <a:avLst/>
          </a:prstGeom>
          <a:noFill/>
          <a:ln/>
        </p:spPr>
        <p:txBody>
          <a:bodyPr wrap="square" lIns="0" tIns="0" rIns="0" bIns="0" rtlCol="0" anchor="ctr">
            <a:noAutofit/>
          </a:bodyPr>
          <a:lstStyle/>
          <a:p>
            <a:pPr marL="0" indent="0" algn="ctr">
              <a:buNone/>
            </a:pPr>
            <a:r>
              <a:rPr lang="en-US" sz="1400" b="1" dirty="0">
                <a:solidFill>
                  <a:srgbClr val="15132B"/>
                </a:solidFill>
                <a:latin typeface="Aptos" pitchFamily="34" charset="0"/>
                <a:ea typeface="Aptos" pitchFamily="34" charset="-122"/>
                <a:cs typeface="Aptos" pitchFamily="34" charset="-120"/>
              </a:rPr>
              <a:t>Operaciones de</a:t>
            </a:r>
            <a:endParaRPr lang="en-US" sz="1400" dirty="0"/>
          </a:p>
          <a:p>
            <a:pPr marL="0" indent="0" algn="ctr">
              <a:buNone/>
            </a:pPr>
            <a:r>
              <a:rPr lang="en-US" sz="1400" b="1" dirty="0" err="1">
                <a:solidFill>
                  <a:srgbClr val="15132B"/>
                </a:solidFill>
                <a:latin typeface="Aptos" pitchFamily="34" charset="0"/>
                <a:ea typeface="Aptos" pitchFamily="34" charset="-122"/>
                <a:cs typeface="Aptos" pitchFamily="34" charset="-120"/>
              </a:rPr>
              <a:t>Demanda</a:t>
            </a:r>
            <a:r>
              <a:rPr lang="en-US" sz="1400" b="1" dirty="0">
                <a:solidFill>
                  <a:srgbClr val="15132B"/>
                </a:solidFill>
                <a:latin typeface="Aptos" pitchFamily="34" charset="0"/>
                <a:ea typeface="Aptos" pitchFamily="34" charset="-122"/>
                <a:cs typeface="Aptos" pitchFamily="34" charset="-120"/>
              </a:rPr>
              <a:t> (DO)</a:t>
            </a:r>
            <a:endParaRPr lang="en-US" sz="1400" dirty="0"/>
          </a:p>
        </p:txBody>
      </p:sp>
      <p:sp>
        <p:nvSpPr>
          <p:cNvPr id="470" name="Text 20">
            <a:extLst>
              <a:ext uri="{FF2B5EF4-FFF2-40B4-BE49-F238E27FC236}">
                <a16:creationId xmlns:a16="http://schemas.microsoft.com/office/drawing/2014/main" id="{E63D79C9-CBDE-3DAE-94AC-C3BD4F1B080B}"/>
              </a:ext>
            </a:extLst>
          </p:cNvPr>
          <p:cNvSpPr/>
          <p:nvPr/>
        </p:nvSpPr>
        <p:spPr>
          <a:xfrm>
            <a:off x="3795473" y="4166535"/>
            <a:ext cx="1929384" cy="420624"/>
          </a:xfrm>
          <a:prstGeom prst="rect">
            <a:avLst/>
          </a:prstGeom>
          <a:noFill/>
          <a:ln/>
        </p:spPr>
        <p:txBody>
          <a:bodyPr wrap="square" lIns="0" tIns="0" rIns="0" bIns="0" rtlCol="0" anchor="ctr">
            <a:normAutofit/>
          </a:bodyPr>
          <a:lstStyle/>
          <a:p>
            <a:pPr marL="0" indent="0" algn="ctr">
              <a:buNone/>
            </a:pPr>
            <a:r>
              <a:rPr lang="en-US" sz="1000" dirty="0">
                <a:solidFill>
                  <a:srgbClr val="746F93"/>
                </a:solidFill>
                <a:latin typeface="Aptos" pitchFamily="34" charset="0"/>
                <a:ea typeface="Aptos" pitchFamily="34" charset="-122"/>
                <a:cs typeface="Aptos" pitchFamily="34" charset="-120"/>
              </a:rPr>
              <a:t>campañas · atribución · optimización</a:t>
            </a:r>
            <a:endParaRPr lang="en-US" sz="1000" dirty="0"/>
          </a:p>
        </p:txBody>
      </p:sp>
      <p:sp>
        <p:nvSpPr>
          <p:cNvPr id="478" name="Shape 24">
            <a:extLst>
              <a:ext uri="{FF2B5EF4-FFF2-40B4-BE49-F238E27FC236}">
                <a16:creationId xmlns:a16="http://schemas.microsoft.com/office/drawing/2014/main" id="{080E216B-6CD3-36D5-4553-B1647E834A60}"/>
              </a:ext>
            </a:extLst>
          </p:cNvPr>
          <p:cNvSpPr/>
          <p:nvPr/>
        </p:nvSpPr>
        <p:spPr>
          <a:xfrm>
            <a:off x="7064453" y="3345007"/>
            <a:ext cx="0" cy="283464"/>
          </a:xfrm>
          <a:prstGeom prst="line">
            <a:avLst/>
          </a:prstGeom>
          <a:noFill/>
          <a:ln w="15240">
            <a:solidFill>
              <a:schemeClr val="tx1">
                <a:lumMod val="50000"/>
                <a:lumOff val="50000"/>
              </a:schemeClr>
            </a:solidFill>
            <a:prstDash val="solid"/>
            <a:headEnd type="none"/>
            <a:tailEnd type="triangle"/>
          </a:ln>
        </p:spPr>
        <p:txBody>
          <a:bodyPr/>
          <a:lstStyle/>
          <a:p>
            <a:endParaRPr lang="es-MX"/>
          </a:p>
        </p:txBody>
      </p:sp>
      <p:sp>
        <p:nvSpPr>
          <p:cNvPr id="480" name="Shape 25">
            <a:extLst>
              <a:ext uri="{FF2B5EF4-FFF2-40B4-BE49-F238E27FC236}">
                <a16:creationId xmlns:a16="http://schemas.microsoft.com/office/drawing/2014/main" id="{9532F679-50AE-A8C2-0710-07035642CB5E}"/>
              </a:ext>
            </a:extLst>
          </p:cNvPr>
          <p:cNvSpPr/>
          <p:nvPr/>
        </p:nvSpPr>
        <p:spPr>
          <a:xfrm>
            <a:off x="5990033" y="3691998"/>
            <a:ext cx="2148840" cy="914400"/>
          </a:xfrm>
          <a:prstGeom prst="roundRect">
            <a:avLst>
              <a:gd name="adj" fmla="val 8000"/>
            </a:avLst>
          </a:prstGeom>
          <a:solidFill>
            <a:srgbClr val="FFFFFF"/>
          </a:solidFill>
          <a:ln w="16510">
            <a:solidFill>
              <a:srgbClr val="6034D3"/>
            </a:solidFill>
            <a:prstDash val="solid"/>
          </a:ln>
          <a:effectLst>
            <a:outerShdw blurRad="12700" dist="50800" dir="2700000" algn="bl" rotWithShape="0">
              <a:srgbClr val="000000">
                <a:alpha val="10000"/>
              </a:srgbClr>
            </a:outerShdw>
          </a:effectLst>
        </p:spPr>
        <p:txBody>
          <a:bodyPr/>
          <a:lstStyle/>
          <a:p>
            <a:endParaRPr lang="es-MX"/>
          </a:p>
        </p:txBody>
      </p:sp>
      <p:sp>
        <p:nvSpPr>
          <p:cNvPr id="482" name="Text 26">
            <a:extLst>
              <a:ext uri="{FF2B5EF4-FFF2-40B4-BE49-F238E27FC236}">
                <a16:creationId xmlns:a16="http://schemas.microsoft.com/office/drawing/2014/main" id="{5DFE55CB-32D1-1C4C-79FC-9EBAD52CF3A7}"/>
              </a:ext>
            </a:extLst>
          </p:cNvPr>
          <p:cNvSpPr/>
          <p:nvPr/>
        </p:nvSpPr>
        <p:spPr>
          <a:xfrm>
            <a:off x="6099761" y="3810870"/>
            <a:ext cx="1929384" cy="256032"/>
          </a:xfrm>
          <a:prstGeom prst="rect">
            <a:avLst/>
          </a:prstGeom>
          <a:noFill/>
          <a:ln/>
        </p:spPr>
        <p:txBody>
          <a:bodyPr wrap="square" lIns="0" tIns="0" rIns="0" bIns="0" rtlCol="0" anchor="ctr">
            <a:noAutofit/>
          </a:bodyPr>
          <a:lstStyle/>
          <a:p>
            <a:pPr marL="0" indent="0" algn="ctr">
              <a:buNone/>
            </a:pPr>
            <a:r>
              <a:rPr lang="en-US" sz="1400" b="1" dirty="0">
                <a:solidFill>
                  <a:srgbClr val="15132B"/>
                </a:solidFill>
                <a:latin typeface="Aptos" pitchFamily="34" charset="0"/>
                <a:ea typeface="Aptos" pitchFamily="34" charset="-122"/>
                <a:cs typeface="Aptos" pitchFamily="34" charset="-120"/>
              </a:rPr>
              <a:t>Operaciones de</a:t>
            </a:r>
            <a:endParaRPr lang="en-US" sz="1400" dirty="0"/>
          </a:p>
          <a:p>
            <a:pPr marL="0" indent="0" algn="ctr">
              <a:buNone/>
            </a:pPr>
            <a:r>
              <a:rPr lang="en-US" sz="1400" b="1" dirty="0" err="1">
                <a:solidFill>
                  <a:srgbClr val="15132B"/>
                </a:solidFill>
                <a:latin typeface="Aptos" pitchFamily="34" charset="0"/>
                <a:ea typeface="Aptos" pitchFamily="34" charset="-122"/>
                <a:cs typeface="Aptos" pitchFamily="34" charset="-120"/>
              </a:rPr>
              <a:t>Relaciones</a:t>
            </a:r>
            <a:r>
              <a:rPr lang="en-US" sz="1400" b="1" dirty="0">
                <a:solidFill>
                  <a:srgbClr val="15132B"/>
                </a:solidFill>
                <a:latin typeface="Aptos" pitchFamily="34" charset="0"/>
                <a:ea typeface="Aptos" pitchFamily="34" charset="-122"/>
                <a:cs typeface="Aptos" pitchFamily="34" charset="-120"/>
              </a:rPr>
              <a:t> (RO)</a:t>
            </a:r>
            <a:endParaRPr lang="en-US" sz="1400" dirty="0"/>
          </a:p>
        </p:txBody>
      </p:sp>
      <p:sp>
        <p:nvSpPr>
          <p:cNvPr id="484" name="Text 27">
            <a:extLst>
              <a:ext uri="{FF2B5EF4-FFF2-40B4-BE49-F238E27FC236}">
                <a16:creationId xmlns:a16="http://schemas.microsoft.com/office/drawing/2014/main" id="{1310CCBB-E903-19AF-45EB-1A41A8DAE98E}"/>
              </a:ext>
            </a:extLst>
          </p:cNvPr>
          <p:cNvSpPr/>
          <p:nvPr/>
        </p:nvSpPr>
        <p:spPr>
          <a:xfrm>
            <a:off x="6099761" y="4166535"/>
            <a:ext cx="1929384" cy="420624"/>
          </a:xfrm>
          <a:prstGeom prst="rect">
            <a:avLst/>
          </a:prstGeom>
          <a:noFill/>
          <a:ln/>
        </p:spPr>
        <p:txBody>
          <a:bodyPr wrap="square" lIns="0" tIns="0" rIns="0" bIns="0" rtlCol="0" anchor="ctr">
            <a:normAutofit/>
          </a:bodyPr>
          <a:lstStyle/>
          <a:p>
            <a:pPr marL="0" indent="0" algn="ctr">
              <a:buNone/>
            </a:pPr>
            <a:r>
              <a:rPr lang="en-US" sz="1000" dirty="0">
                <a:solidFill>
                  <a:srgbClr val="746F93"/>
                </a:solidFill>
                <a:latin typeface="Aptos" pitchFamily="34" charset="0"/>
                <a:ea typeface="Aptos" pitchFamily="34" charset="-122"/>
                <a:cs typeface="Aptos" pitchFamily="34" charset="-120"/>
              </a:rPr>
              <a:t>leads · oportunidades · visitas · </a:t>
            </a:r>
            <a:r>
              <a:rPr lang="en-US" sz="1000" dirty="0" err="1">
                <a:solidFill>
                  <a:srgbClr val="746F93"/>
                </a:solidFill>
                <a:latin typeface="Aptos" pitchFamily="34" charset="0"/>
                <a:ea typeface="Aptos" pitchFamily="34" charset="-122"/>
                <a:cs typeface="Aptos" pitchFamily="34" charset="-120"/>
              </a:rPr>
              <a:t>seguimiento</a:t>
            </a:r>
            <a:endParaRPr lang="en-US" sz="1000" dirty="0"/>
          </a:p>
        </p:txBody>
      </p:sp>
      <p:sp>
        <p:nvSpPr>
          <p:cNvPr id="492" name="Shape 31">
            <a:extLst>
              <a:ext uri="{FF2B5EF4-FFF2-40B4-BE49-F238E27FC236}">
                <a16:creationId xmlns:a16="http://schemas.microsoft.com/office/drawing/2014/main" id="{5B8FB48E-DA23-9DF7-6AD8-005C58BB3D52}"/>
              </a:ext>
            </a:extLst>
          </p:cNvPr>
          <p:cNvSpPr/>
          <p:nvPr/>
        </p:nvSpPr>
        <p:spPr>
          <a:xfrm>
            <a:off x="9368741" y="3345007"/>
            <a:ext cx="0" cy="283464"/>
          </a:xfrm>
          <a:prstGeom prst="line">
            <a:avLst/>
          </a:prstGeom>
          <a:noFill/>
          <a:ln w="15240">
            <a:solidFill>
              <a:schemeClr val="tx1">
                <a:lumMod val="50000"/>
                <a:lumOff val="50000"/>
              </a:schemeClr>
            </a:solidFill>
            <a:prstDash val="solid"/>
            <a:headEnd type="none"/>
            <a:tailEnd type="triangle"/>
          </a:ln>
        </p:spPr>
        <p:txBody>
          <a:bodyPr/>
          <a:lstStyle/>
          <a:p>
            <a:endParaRPr lang="es-MX"/>
          </a:p>
        </p:txBody>
      </p:sp>
      <p:sp>
        <p:nvSpPr>
          <p:cNvPr id="494" name="Shape 32">
            <a:extLst>
              <a:ext uri="{FF2B5EF4-FFF2-40B4-BE49-F238E27FC236}">
                <a16:creationId xmlns:a16="http://schemas.microsoft.com/office/drawing/2014/main" id="{3B39055C-743D-84D4-990B-60DA2307AA2E}"/>
              </a:ext>
            </a:extLst>
          </p:cNvPr>
          <p:cNvSpPr/>
          <p:nvPr/>
        </p:nvSpPr>
        <p:spPr>
          <a:xfrm>
            <a:off x="8294321" y="3691998"/>
            <a:ext cx="2148840" cy="914400"/>
          </a:xfrm>
          <a:prstGeom prst="roundRect">
            <a:avLst>
              <a:gd name="adj" fmla="val 8000"/>
            </a:avLst>
          </a:prstGeom>
          <a:solidFill>
            <a:srgbClr val="FFFFFF"/>
          </a:solidFill>
          <a:ln w="16510">
            <a:solidFill>
              <a:srgbClr val="B04D80"/>
            </a:solidFill>
            <a:prstDash val="solid"/>
          </a:ln>
          <a:effectLst>
            <a:outerShdw blurRad="12700" dist="50800" dir="2700000" algn="bl" rotWithShape="0">
              <a:srgbClr val="000000">
                <a:alpha val="10000"/>
              </a:srgbClr>
            </a:outerShdw>
          </a:effectLst>
        </p:spPr>
        <p:txBody>
          <a:bodyPr/>
          <a:lstStyle/>
          <a:p>
            <a:endParaRPr lang="es-MX"/>
          </a:p>
        </p:txBody>
      </p:sp>
      <p:sp>
        <p:nvSpPr>
          <p:cNvPr id="496" name="Text 33">
            <a:extLst>
              <a:ext uri="{FF2B5EF4-FFF2-40B4-BE49-F238E27FC236}">
                <a16:creationId xmlns:a16="http://schemas.microsoft.com/office/drawing/2014/main" id="{4451B90F-CBBC-98F9-E83A-A9683CA49391}"/>
              </a:ext>
            </a:extLst>
          </p:cNvPr>
          <p:cNvSpPr/>
          <p:nvPr/>
        </p:nvSpPr>
        <p:spPr>
          <a:xfrm>
            <a:off x="8404049" y="3810870"/>
            <a:ext cx="1929384" cy="256032"/>
          </a:xfrm>
          <a:prstGeom prst="rect">
            <a:avLst/>
          </a:prstGeom>
          <a:noFill/>
          <a:ln/>
        </p:spPr>
        <p:txBody>
          <a:bodyPr wrap="square" lIns="0" tIns="0" rIns="0" bIns="0" rtlCol="0" anchor="ctr">
            <a:noAutofit/>
          </a:bodyPr>
          <a:lstStyle/>
          <a:p>
            <a:pPr marL="0" indent="0" algn="ctr">
              <a:buNone/>
            </a:pPr>
            <a:r>
              <a:rPr lang="en-US" sz="1400" b="1" dirty="0">
                <a:solidFill>
                  <a:srgbClr val="15132B"/>
                </a:solidFill>
                <a:latin typeface="Aptos" pitchFamily="34" charset="0"/>
                <a:ea typeface="Aptos" pitchFamily="34" charset="-122"/>
                <a:cs typeface="Aptos" pitchFamily="34" charset="-120"/>
              </a:rPr>
              <a:t>Operaciones de</a:t>
            </a:r>
            <a:endParaRPr lang="en-US" sz="1400" dirty="0"/>
          </a:p>
          <a:p>
            <a:pPr marL="0" indent="0" algn="ctr">
              <a:buNone/>
            </a:pPr>
            <a:r>
              <a:rPr lang="en-US" sz="1400" b="1" dirty="0" err="1">
                <a:solidFill>
                  <a:srgbClr val="15132B"/>
                </a:solidFill>
                <a:latin typeface="Aptos" pitchFamily="34" charset="0"/>
                <a:ea typeface="Aptos" pitchFamily="34" charset="-122"/>
                <a:cs typeface="Aptos" pitchFamily="34" charset="-120"/>
              </a:rPr>
              <a:t>Transacciones</a:t>
            </a:r>
            <a:r>
              <a:rPr lang="en-US" sz="1400" b="1" dirty="0">
                <a:solidFill>
                  <a:srgbClr val="15132B"/>
                </a:solidFill>
                <a:latin typeface="Aptos" pitchFamily="34" charset="0"/>
                <a:ea typeface="Aptos" pitchFamily="34" charset="-122"/>
                <a:cs typeface="Aptos" pitchFamily="34" charset="-120"/>
              </a:rPr>
              <a:t> (TO)</a:t>
            </a:r>
            <a:endParaRPr lang="en-US" sz="1400" dirty="0"/>
          </a:p>
        </p:txBody>
      </p:sp>
      <p:sp>
        <p:nvSpPr>
          <p:cNvPr id="498" name="Text 34">
            <a:extLst>
              <a:ext uri="{FF2B5EF4-FFF2-40B4-BE49-F238E27FC236}">
                <a16:creationId xmlns:a16="http://schemas.microsoft.com/office/drawing/2014/main" id="{A24C7297-2CCD-1668-0ADE-99A6DB954F61}"/>
              </a:ext>
            </a:extLst>
          </p:cNvPr>
          <p:cNvSpPr/>
          <p:nvPr/>
        </p:nvSpPr>
        <p:spPr>
          <a:xfrm>
            <a:off x="8404049" y="4166535"/>
            <a:ext cx="1929384" cy="420624"/>
          </a:xfrm>
          <a:prstGeom prst="rect">
            <a:avLst/>
          </a:prstGeom>
          <a:noFill/>
          <a:ln/>
        </p:spPr>
        <p:txBody>
          <a:bodyPr wrap="square" lIns="0" tIns="0" rIns="0" bIns="0" rtlCol="0" anchor="ctr">
            <a:normAutofit/>
          </a:bodyPr>
          <a:lstStyle/>
          <a:p>
            <a:pPr marL="0" indent="0" algn="ctr">
              <a:buNone/>
            </a:pPr>
            <a:r>
              <a:rPr lang="en-US" sz="1000" dirty="0">
                <a:solidFill>
                  <a:srgbClr val="746F93"/>
                </a:solidFill>
                <a:latin typeface="Aptos" pitchFamily="34" charset="0"/>
                <a:ea typeface="Aptos" pitchFamily="34" charset="-122"/>
                <a:cs typeface="Aptos" pitchFamily="34" charset="-120"/>
              </a:rPr>
              <a:t>ofertas · documentos · financiamiento · cierre</a:t>
            </a:r>
            <a:endParaRPr lang="en-US" sz="1000" dirty="0"/>
          </a:p>
        </p:txBody>
      </p:sp>
      <p:sp>
        <p:nvSpPr>
          <p:cNvPr id="506" name="Shape 38">
            <a:extLst>
              <a:ext uri="{FF2B5EF4-FFF2-40B4-BE49-F238E27FC236}">
                <a16:creationId xmlns:a16="http://schemas.microsoft.com/office/drawing/2014/main" id="{2AADB126-D1F5-1BAE-4216-70EBEAAED4D7}"/>
              </a:ext>
            </a:extLst>
          </p:cNvPr>
          <p:cNvSpPr/>
          <p:nvPr/>
        </p:nvSpPr>
        <p:spPr>
          <a:xfrm>
            <a:off x="1381457" y="4790473"/>
            <a:ext cx="9072920" cy="576656"/>
          </a:xfrm>
          <a:prstGeom prst="roundRect">
            <a:avLst>
              <a:gd name="adj" fmla="val 8621"/>
            </a:avLst>
          </a:prstGeom>
          <a:solidFill>
            <a:srgbClr val="E7F6EF"/>
          </a:solidFill>
          <a:ln w="15240">
            <a:solidFill>
              <a:srgbClr val="008C58"/>
            </a:solidFill>
            <a:prstDash val="solid"/>
          </a:ln>
        </p:spPr>
        <p:txBody>
          <a:bodyPr/>
          <a:lstStyle/>
          <a:p>
            <a:endParaRPr lang="es-MX"/>
          </a:p>
        </p:txBody>
      </p:sp>
      <p:sp>
        <p:nvSpPr>
          <p:cNvPr id="508" name="Text 39">
            <a:extLst>
              <a:ext uri="{FF2B5EF4-FFF2-40B4-BE49-F238E27FC236}">
                <a16:creationId xmlns:a16="http://schemas.microsoft.com/office/drawing/2014/main" id="{1BBEC49C-CDB8-D9F8-F299-32251CFE8BF7}"/>
              </a:ext>
            </a:extLst>
          </p:cNvPr>
          <p:cNvSpPr/>
          <p:nvPr/>
        </p:nvSpPr>
        <p:spPr>
          <a:xfrm>
            <a:off x="1818862" y="4881913"/>
            <a:ext cx="2181752" cy="341696"/>
          </a:xfrm>
          <a:prstGeom prst="rect">
            <a:avLst/>
          </a:prstGeom>
          <a:noFill/>
          <a:ln/>
        </p:spPr>
        <p:txBody>
          <a:bodyPr wrap="square" lIns="0" tIns="0" rIns="0" bIns="0" rtlCol="0" anchor="ctr">
            <a:noAutofit/>
          </a:bodyPr>
          <a:lstStyle/>
          <a:p>
            <a:pPr marL="0" indent="0" algn="l">
              <a:buNone/>
            </a:pPr>
            <a:r>
              <a:rPr lang="en-US" sz="1400" b="1" dirty="0">
                <a:solidFill>
                  <a:srgbClr val="008C58"/>
                </a:solidFill>
                <a:latin typeface="Aptos" pitchFamily="34" charset="0"/>
                <a:ea typeface="Aptos" pitchFamily="34" charset="-122"/>
                <a:cs typeface="Aptos" pitchFamily="34" charset="-120"/>
              </a:rPr>
              <a:t>Operaciones de Red</a:t>
            </a:r>
            <a:endParaRPr lang="en-US" sz="1400" dirty="0"/>
          </a:p>
        </p:txBody>
      </p:sp>
      <p:sp>
        <p:nvSpPr>
          <p:cNvPr id="510" name="Text 40">
            <a:extLst>
              <a:ext uri="{FF2B5EF4-FFF2-40B4-BE49-F238E27FC236}">
                <a16:creationId xmlns:a16="http://schemas.microsoft.com/office/drawing/2014/main" id="{68A36271-1AE1-7223-F8FE-EA9BD1206453}"/>
              </a:ext>
            </a:extLst>
          </p:cNvPr>
          <p:cNvSpPr/>
          <p:nvPr/>
        </p:nvSpPr>
        <p:spPr>
          <a:xfrm>
            <a:off x="4084983" y="4881913"/>
            <a:ext cx="6285025" cy="341696"/>
          </a:xfrm>
          <a:prstGeom prst="rect">
            <a:avLst/>
          </a:prstGeom>
          <a:noFill/>
          <a:ln/>
        </p:spPr>
        <p:txBody>
          <a:bodyPr wrap="square" lIns="0" tIns="0" rIns="0" bIns="0" rtlCol="0" anchor="ctr">
            <a:normAutofit lnSpcReduction="10000"/>
          </a:bodyPr>
          <a:lstStyle/>
          <a:p>
            <a:pPr marL="0" indent="0" algn="l">
              <a:buNone/>
            </a:pPr>
            <a:r>
              <a:rPr lang="en-US" sz="1200" dirty="0" err="1">
                <a:solidFill>
                  <a:srgbClr val="746F93"/>
                </a:solidFill>
                <a:latin typeface="Aptos" pitchFamily="34" charset="0"/>
                <a:ea typeface="Aptos" pitchFamily="34" charset="-122"/>
                <a:cs typeface="Aptos" pitchFamily="34" charset="-120"/>
              </a:rPr>
              <a:t>Apoya</a:t>
            </a:r>
            <a:r>
              <a:rPr lang="en-US" sz="1200" dirty="0">
                <a:solidFill>
                  <a:srgbClr val="746F93"/>
                </a:solidFill>
                <a:latin typeface="Aptos" pitchFamily="34" charset="0"/>
                <a:ea typeface="Aptos" pitchFamily="34" charset="-122"/>
                <a:cs typeface="Aptos" pitchFamily="34" charset="-120"/>
              </a:rPr>
              <a:t> </a:t>
            </a:r>
            <a:r>
              <a:rPr lang="en-US" sz="1200" dirty="0" err="1">
                <a:solidFill>
                  <a:srgbClr val="746F93"/>
                </a:solidFill>
                <a:latin typeface="Aptos" pitchFamily="34" charset="0"/>
                <a:ea typeface="Aptos" pitchFamily="34" charset="-122"/>
                <a:cs typeface="Aptos" pitchFamily="34" charset="-120"/>
              </a:rPr>
              <a:t>múltiples</a:t>
            </a:r>
            <a:r>
              <a:rPr lang="en-US" sz="1200" dirty="0">
                <a:solidFill>
                  <a:srgbClr val="746F93"/>
                </a:solidFill>
                <a:latin typeface="Aptos" pitchFamily="34" charset="0"/>
                <a:ea typeface="Aptos" pitchFamily="34" charset="-122"/>
                <a:cs typeface="Aptos" pitchFamily="34" charset="-120"/>
              </a:rPr>
              <a:t> </a:t>
            </a:r>
            <a:r>
              <a:rPr lang="en-US" sz="1200" dirty="0" err="1">
                <a:solidFill>
                  <a:srgbClr val="746F93"/>
                </a:solidFill>
                <a:latin typeface="Aptos" pitchFamily="34" charset="0"/>
                <a:ea typeface="Aptos" pitchFamily="34" charset="-122"/>
                <a:cs typeface="Aptos" pitchFamily="34" charset="-120"/>
              </a:rPr>
              <a:t>dominios</a:t>
            </a:r>
            <a:r>
              <a:rPr lang="en-US" sz="1200" dirty="0">
                <a:solidFill>
                  <a:srgbClr val="746F93"/>
                </a:solidFill>
                <a:latin typeface="Aptos" pitchFamily="34" charset="0"/>
                <a:ea typeface="Aptos" pitchFamily="34" charset="-122"/>
                <a:cs typeface="Aptos" pitchFamily="34" charset="-120"/>
              </a:rPr>
              <a:t> </a:t>
            </a:r>
            <a:r>
              <a:rPr lang="en-US" sz="1200" dirty="0" err="1">
                <a:solidFill>
                  <a:srgbClr val="746F93"/>
                </a:solidFill>
                <a:latin typeface="Aptos" pitchFamily="34" charset="0"/>
                <a:ea typeface="Aptos" pitchFamily="34" charset="-122"/>
                <a:cs typeface="Aptos" pitchFamily="34" charset="-120"/>
              </a:rPr>
              <a:t>mediante</a:t>
            </a:r>
            <a:r>
              <a:rPr lang="en-US" sz="1200" dirty="0">
                <a:solidFill>
                  <a:srgbClr val="746F93"/>
                </a:solidFill>
                <a:latin typeface="Aptos" pitchFamily="34" charset="0"/>
                <a:ea typeface="Aptos" pitchFamily="34" charset="-122"/>
                <a:cs typeface="Aptos" pitchFamily="34" charset="-120"/>
              </a:rPr>
              <a:t> </a:t>
            </a:r>
            <a:r>
              <a:rPr lang="en-US" sz="1200" dirty="0" err="1">
                <a:solidFill>
                  <a:srgbClr val="746F93"/>
                </a:solidFill>
                <a:latin typeface="Aptos" pitchFamily="34" charset="0"/>
                <a:ea typeface="Aptos" pitchFamily="34" charset="-122"/>
                <a:cs typeface="Aptos" pitchFamily="34" charset="-120"/>
              </a:rPr>
              <a:t>inventario</a:t>
            </a:r>
            <a:r>
              <a:rPr lang="en-US" sz="1200" dirty="0">
                <a:solidFill>
                  <a:srgbClr val="746F93"/>
                </a:solidFill>
                <a:latin typeface="Aptos" pitchFamily="34" charset="0"/>
                <a:ea typeface="Aptos" pitchFamily="34" charset="-122"/>
                <a:cs typeface="Aptos" pitchFamily="34" charset="-120"/>
              </a:rPr>
              <a:t> </a:t>
            </a:r>
            <a:r>
              <a:rPr lang="en-US" sz="1200" dirty="0" err="1">
                <a:solidFill>
                  <a:srgbClr val="746F93"/>
                </a:solidFill>
                <a:latin typeface="Aptos" pitchFamily="34" charset="0"/>
                <a:ea typeface="Aptos" pitchFamily="34" charset="-122"/>
                <a:cs typeface="Aptos" pitchFamily="34" charset="-120"/>
              </a:rPr>
              <a:t>compartido</a:t>
            </a:r>
            <a:r>
              <a:rPr lang="en-US" sz="1200" dirty="0">
                <a:solidFill>
                  <a:srgbClr val="746F93"/>
                </a:solidFill>
                <a:latin typeface="Aptos" pitchFamily="34" charset="0"/>
                <a:ea typeface="Aptos" pitchFamily="34" charset="-122"/>
                <a:cs typeface="Aptos" pitchFamily="34" charset="-120"/>
              </a:rPr>
              <a:t> · </a:t>
            </a:r>
            <a:r>
              <a:rPr lang="en-US" sz="1200" dirty="0" err="1">
                <a:solidFill>
                  <a:srgbClr val="746F93"/>
                </a:solidFill>
                <a:latin typeface="Aptos" pitchFamily="34" charset="0"/>
                <a:ea typeface="Aptos" pitchFamily="34" charset="-122"/>
                <a:cs typeface="Aptos" pitchFamily="34" charset="-120"/>
              </a:rPr>
              <a:t>enrutamiento</a:t>
            </a:r>
            <a:r>
              <a:rPr lang="en-US" sz="1200" dirty="0">
                <a:solidFill>
                  <a:srgbClr val="746F93"/>
                </a:solidFill>
                <a:latin typeface="Aptos" pitchFamily="34" charset="0"/>
                <a:ea typeface="Aptos" pitchFamily="34" charset="-122"/>
                <a:cs typeface="Aptos" pitchFamily="34" charset="-120"/>
              </a:rPr>
              <a:t> · </a:t>
            </a:r>
            <a:r>
              <a:rPr lang="en-US" sz="1200" dirty="0" err="1">
                <a:solidFill>
                  <a:srgbClr val="746F93"/>
                </a:solidFill>
                <a:latin typeface="Aptos" pitchFamily="34" charset="0"/>
                <a:ea typeface="Aptos" pitchFamily="34" charset="-122"/>
                <a:cs typeface="Aptos" pitchFamily="34" charset="-120"/>
              </a:rPr>
              <a:t>servicios</a:t>
            </a:r>
            <a:r>
              <a:rPr lang="en-US" sz="1200" dirty="0">
                <a:solidFill>
                  <a:srgbClr val="746F93"/>
                </a:solidFill>
                <a:latin typeface="Aptos" pitchFamily="34" charset="0"/>
                <a:ea typeface="Aptos" pitchFamily="34" charset="-122"/>
                <a:cs typeface="Aptos" pitchFamily="34" charset="-120"/>
              </a:rPr>
              <a:t> </a:t>
            </a:r>
            <a:r>
              <a:rPr lang="en-US" sz="1200" dirty="0" err="1">
                <a:solidFill>
                  <a:srgbClr val="746F93"/>
                </a:solidFill>
                <a:latin typeface="Aptos" pitchFamily="34" charset="0"/>
                <a:ea typeface="Aptos" pitchFamily="34" charset="-122"/>
                <a:cs typeface="Aptos" pitchFamily="34" charset="-120"/>
              </a:rPr>
              <a:t>especializados</a:t>
            </a:r>
            <a:r>
              <a:rPr lang="en-US" sz="1200" dirty="0">
                <a:solidFill>
                  <a:srgbClr val="746F93"/>
                </a:solidFill>
                <a:latin typeface="Aptos" pitchFamily="34" charset="0"/>
                <a:ea typeface="Aptos" pitchFamily="34" charset="-122"/>
                <a:cs typeface="Aptos" pitchFamily="34" charset="-120"/>
              </a:rPr>
              <a:t> · </a:t>
            </a:r>
            <a:r>
              <a:rPr lang="en-US" sz="1200" dirty="0" err="1">
                <a:solidFill>
                  <a:srgbClr val="746F93"/>
                </a:solidFill>
                <a:latin typeface="Aptos" pitchFamily="34" charset="0"/>
                <a:ea typeface="Aptos" pitchFamily="34" charset="-122"/>
                <a:cs typeface="Aptos" pitchFamily="34" charset="-120"/>
              </a:rPr>
              <a:t>oportunidades</a:t>
            </a:r>
            <a:r>
              <a:rPr lang="en-US" sz="1200" dirty="0">
                <a:solidFill>
                  <a:srgbClr val="746F93"/>
                </a:solidFill>
                <a:latin typeface="Aptos" pitchFamily="34" charset="0"/>
                <a:ea typeface="Aptos" pitchFamily="34" charset="-122"/>
                <a:cs typeface="Aptos" pitchFamily="34" charset="-120"/>
              </a:rPr>
              <a:t> </a:t>
            </a:r>
            <a:r>
              <a:rPr lang="en-US" sz="1200" dirty="0" err="1">
                <a:solidFill>
                  <a:srgbClr val="746F93"/>
                </a:solidFill>
                <a:latin typeface="Aptos" pitchFamily="34" charset="0"/>
                <a:ea typeface="Aptos" pitchFamily="34" charset="-122"/>
                <a:cs typeface="Aptos" pitchFamily="34" charset="-120"/>
              </a:rPr>
              <a:t>compartidas</a:t>
            </a:r>
            <a:endParaRPr lang="en-US" sz="1200" dirty="0"/>
          </a:p>
        </p:txBody>
      </p:sp>
      <p:sp>
        <p:nvSpPr>
          <p:cNvPr id="512" name="Shape 41">
            <a:extLst>
              <a:ext uri="{FF2B5EF4-FFF2-40B4-BE49-F238E27FC236}">
                <a16:creationId xmlns:a16="http://schemas.microsoft.com/office/drawing/2014/main" id="{100DDC5D-27DB-0063-03D0-08A6532EC363}"/>
              </a:ext>
            </a:extLst>
          </p:cNvPr>
          <p:cNvSpPr/>
          <p:nvPr/>
        </p:nvSpPr>
        <p:spPr>
          <a:xfrm>
            <a:off x="911088" y="5558170"/>
            <a:ext cx="9982199" cy="614028"/>
          </a:xfrm>
          <a:prstGeom prst="roundRect">
            <a:avLst>
              <a:gd name="adj" fmla="val 8621"/>
            </a:avLst>
          </a:prstGeom>
          <a:solidFill>
            <a:srgbClr val="F0E9FF"/>
          </a:solidFill>
          <a:ln w="15240">
            <a:noFill/>
            <a:prstDash val="solid"/>
          </a:ln>
        </p:spPr>
        <p:txBody>
          <a:bodyPr/>
          <a:lstStyle/>
          <a:p>
            <a:endParaRPr lang="es-MX"/>
          </a:p>
        </p:txBody>
      </p:sp>
      <p:sp>
        <p:nvSpPr>
          <p:cNvPr id="514" name="Text 42">
            <a:extLst>
              <a:ext uri="{FF2B5EF4-FFF2-40B4-BE49-F238E27FC236}">
                <a16:creationId xmlns:a16="http://schemas.microsoft.com/office/drawing/2014/main" id="{2379EA04-9C7C-E97E-4008-37E8D9B98221}"/>
              </a:ext>
            </a:extLst>
          </p:cNvPr>
          <p:cNvSpPr/>
          <p:nvPr/>
        </p:nvSpPr>
        <p:spPr>
          <a:xfrm>
            <a:off x="1125107" y="5686186"/>
            <a:ext cx="2832569" cy="289682"/>
          </a:xfrm>
          <a:prstGeom prst="rect">
            <a:avLst/>
          </a:prstGeom>
          <a:noFill/>
          <a:ln/>
        </p:spPr>
        <p:txBody>
          <a:bodyPr wrap="square" lIns="0" tIns="0" rIns="0" bIns="0" rtlCol="0" anchor="ctr">
            <a:noAutofit/>
          </a:bodyPr>
          <a:lstStyle/>
          <a:p>
            <a:pPr marL="0" indent="0" algn="l">
              <a:buNone/>
            </a:pPr>
            <a:r>
              <a:rPr lang="en-US" sz="1400" b="1" dirty="0" err="1">
                <a:solidFill>
                  <a:srgbClr val="6034D3"/>
                </a:solidFill>
                <a:latin typeface="Aptos" pitchFamily="34" charset="0"/>
                <a:ea typeface="Aptos" pitchFamily="34" charset="-122"/>
                <a:cs typeface="Aptos" pitchFamily="34" charset="-120"/>
              </a:rPr>
              <a:t>Retroalimentación</a:t>
            </a:r>
            <a:r>
              <a:rPr lang="en-US" sz="1400" b="1" dirty="0">
                <a:solidFill>
                  <a:srgbClr val="6034D3"/>
                </a:solidFill>
                <a:latin typeface="Aptos" pitchFamily="34" charset="0"/>
                <a:ea typeface="Aptos" pitchFamily="34" charset="-122"/>
                <a:cs typeface="Aptos" pitchFamily="34" charset="-120"/>
              </a:rPr>
              <a:t> de </a:t>
            </a:r>
            <a:r>
              <a:rPr lang="en-US" sz="1400" b="1" dirty="0" err="1">
                <a:solidFill>
                  <a:srgbClr val="6034D3"/>
                </a:solidFill>
                <a:latin typeface="Aptos" pitchFamily="34" charset="0"/>
                <a:ea typeface="Aptos" pitchFamily="34" charset="-122"/>
                <a:cs typeface="Aptos" pitchFamily="34" charset="-120"/>
              </a:rPr>
              <a:t>Resultados</a:t>
            </a:r>
            <a:endParaRPr lang="en-US" sz="1400" dirty="0"/>
          </a:p>
        </p:txBody>
      </p:sp>
      <p:sp>
        <p:nvSpPr>
          <p:cNvPr id="516" name="Text 43">
            <a:extLst>
              <a:ext uri="{FF2B5EF4-FFF2-40B4-BE49-F238E27FC236}">
                <a16:creationId xmlns:a16="http://schemas.microsoft.com/office/drawing/2014/main" id="{1324EA09-BDC0-079E-89E3-450A6B462913}"/>
              </a:ext>
            </a:extLst>
          </p:cNvPr>
          <p:cNvSpPr/>
          <p:nvPr/>
        </p:nvSpPr>
        <p:spPr>
          <a:xfrm>
            <a:off x="4097223" y="5713618"/>
            <a:ext cx="6585752" cy="282128"/>
          </a:xfrm>
          <a:prstGeom prst="rect">
            <a:avLst/>
          </a:prstGeom>
          <a:noFill/>
          <a:ln/>
        </p:spPr>
        <p:txBody>
          <a:bodyPr wrap="square" lIns="0" tIns="0" rIns="0" bIns="0" rtlCol="0" anchor="ctr">
            <a:noAutofit/>
          </a:bodyPr>
          <a:lstStyle/>
          <a:p>
            <a:pPr marL="0" indent="0" algn="l">
              <a:buNone/>
            </a:pPr>
            <a:r>
              <a:rPr lang="es-ES" sz="1200" dirty="0">
                <a:solidFill>
                  <a:srgbClr val="746F93"/>
                </a:solidFill>
                <a:latin typeface="Aptos" pitchFamily="34" charset="0"/>
                <a:ea typeface="Aptos" pitchFamily="34" charset="-122"/>
                <a:cs typeface="Aptos" pitchFamily="34" charset="-120"/>
              </a:rPr>
              <a:t>Los resultados reales del negocio retroalimentan múltiples dominios y ayudan a decidir qué hacer después en propiedades, demanda, relaciones y transacciones.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298" name="Shape 0"/>
          <p:cNvSpPr/>
          <p:nvPr/>
        </p:nvSpPr>
        <p:spPr>
          <a:xfrm>
            <a:off x="0" y="0"/>
            <a:ext cx="12191400" cy="63720"/>
          </a:xfrm>
          <a:prstGeom prst="rect">
            <a:avLst/>
          </a:prstGeom>
          <a:solidFill>
            <a:srgbClr val="5F2CCB"/>
          </a:solidFill>
          <a:ln w="12700">
            <a:solidFill>
              <a:srgbClr val="5F2CCB">
                <a:alpha val="0"/>
              </a:srgbClr>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FFFFFF"/>
              </a:solidFill>
              <a:effectLst/>
              <a:uFillTx/>
              <a:latin typeface="Arial"/>
            </a:endParaRPr>
          </a:p>
        </p:txBody>
      </p:sp>
      <p:sp>
        <p:nvSpPr>
          <p:cNvPr id="299" name="Text 1"/>
          <p:cNvSpPr/>
          <p:nvPr/>
        </p:nvSpPr>
        <p:spPr>
          <a:xfrm>
            <a:off x="567000" y="438840"/>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dirty="0">
                <a:solidFill>
                  <a:srgbClr val="5F2CCB"/>
                </a:solidFill>
                <a:effectLst/>
                <a:uFillTx/>
                <a:latin typeface="Aptos"/>
                <a:ea typeface="Aptos"/>
              </a:rPr>
              <a:t>RELATIONSHIP OPERATIONS (RO)</a:t>
            </a:r>
            <a:endParaRPr lang="en-US" sz="1200" b="0" u="none" strike="noStrike" dirty="0">
              <a:solidFill>
                <a:srgbClr val="000000"/>
              </a:solidFill>
              <a:effectLst/>
              <a:uFillTx/>
              <a:latin typeface="Arial"/>
            </a:endParaRPr>
          </a:p>
        </p:txBody>
      </p:sp>
      <p:sp>
        <p:nvSpPr>
          <p:cNvPr id="300" name="Text 2"/>
          <p:cNvSpPr/>
          <p:nvPr/>
        </p:nvSpPr>
        <p:spPr>
          <a:xfrm>
            <a:off x="567000" y="804600"/>
            <a:ext cx="10195200" cy="731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n-US" sz="2600" b="1" u="none" strike="noStrike" dirty="0">
                <a:solidFill>
                  <a:srgbClr val="151327"/>
                </a:solidFill>
                <a:effectLst/>
                <a:uFillTx/>
                <a:latin typeface="Aptos Display"/>
                <a:ea typeface="Aptos Display"/>
              </a:rPr>
              <a:t>No </a:t>
            </a:r>
            <a:r>
              <a:rPr lang="en-US" sz="2600" b="1" u="none" strike="noStrike" dirty="0" err="1">
                <a:solidFill>
                  <a:srgbClr val="151327"/>
                </a:solidFill>
                <a:effectLst/>
                <a:uFillTx/>
                <a:latin typeface="Aptos Display"/>
                <a:ea typeface="Aptos Display"/>
              </a:rPr>
              <a:t>queremos</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reconstruir</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pantallas</a:t>
            </a:r>
            <a:r>
              <a:rPr lang="en-US" sz="2600" b="1" u="none" strike="noStrike" dirty="0">
                <a:solidFill>
                  <a:srgbClr val="151327"/>
                </a:solidFill>
                <a:effectLst/>
                <a:uFillTx/>
                <a:latin typeface="Aptos Display"/>
                <a:ea typeface="Aptos Display"/>
              </a:rPr>
              <a:t> de CRM. </a:t>
            </a:r>
            <a:r>
              <a:rPr lang="en-US" sz="2600" b="1" u="none" strike="noStrike" dirty="0" err="1">
                <a:solidFill>
                  <a:srgbClr val="151327"/>
                </a:solidFill>
                <a:effectLst/>
                <a:uFillTx/>
                <a:latin typeface="Aptos Display"/>
                <a:ea typeface="Aptos Display"/>
              </a:rPr>
              <a:t>Queremos</a:t>
            </a:r>
            <a:r>
              <a:rPr lang="en-US" sz="2600" b="1" u="none" strike="noStrike" dirty="0">
                <a:solidFill>
                  <a:srgbClr val="151327"/>
                </a:solidFill>
                <a:effectLst/>
                <a:uFillTx/>
                <a:latin typeface="Aptos Display"/>
                <a:ea typeface="Aptos Display"/>
              </a:rPr>
              <a:t> absorber </a:t>
            </a:r>
            <a:r>
              <a:rPr lang="en-US" sz="2600" b="1" u="none" strike="noStrike" dirty="0" err="1">
                <a:solidFill>
                  <a:srgbClr val="151327"/>
                </a:solidFill>
                <a:effectLst/>
                <a:uFillTx/>
                <a:latin typeface="Aptos Display"/>
                <a:ea typeface="Aptos Display"/>
              </a:rPr>
              <a:t>su</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responsabilidad</a:t>
            </a:r>
            <a:r>
              <a:rPr lang="en-US" sz="2600" b="1" u="none" strike="noStrike" dirty="0">
                <a:solidFill>
                  <a:srgbClr val="151327"/>
                </a:solidFill>
                <a:effectLst/>
                <a:uFillTx/>
                <a:latin typeface="Aptos Display"/>
                <a:ea typeface="Aptos Display"/>
              </a:rPr>
              <a:t> real.</a:t>
            </a:r>
            <a:endParaRPr lang="en-US" sz="2600" b="0" u="none" strike="noStrike" dirty="0">
              <a:solidFill>
                <a:srgbClr val="000000"/>
              </a:solidFill>
              <a:effectLst/>
              <a:uFillTx/>
              <a:latin typeface="Arial"/>
            </a:endParaRPr>
          </a:p>
        </p:txBody>
      </p:sp>
      <p:sp>
        <p:nvSpPr>
          <p:cNvPr id="301" name="Text 3"/>
          <p:cNvSpPr/>
          <p:nvPr/>
        </p:nvSpPr>
        <p:spPr>
          <a:xfrm>
            <a:off x="567000" y="1591200"/>
            <a:ext cx="10881000" cy="508412"/>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n-US" b="0" u="none" strike="noStrike" dirty="0">
                <a:solidFill>
                  <a:srgbClr val="6F6888"/>
                </a:solidFill>
                <a:effectLst/>
                <a:uFillTx/>
                <a:latin typeface="Aptos"/>
                <a:ea typeface="Aptos"/>
              </a:rPr>
              <a:t>El </a:t>
            </a:r>
            <a:r>
              <a:rPr lang="en-US" b="0" u="none" strike="noStrike" dirty="0" err="1">
                <a:solidFill>
                  <a:srgbClr val="6F6888"/>
                </a:solidFill>
                <a:effectLst/>
                <a:uFillTx/>
                <a:latin typeface="Aptos"/>
                <a:ea typeface="Aptos"/>
              </a:rPr>
              <a:t>objetivo</a:t>
            </a:r>
            <a:r>
              <a:rPr lang="en-US" b="0" u="none" strike="noStrike" dirty="0">
                <a:solidFill>
                  <a:srgbClr val="6F6888"/>
                </a:solidFill>
                <a:effectLst/>
                <a:uFillTx/>
                <a:latin typeface="Aptos"/>
                <a:ea typeface="Aptos"/>
              </a:rPr>
              <a:t> es </a:t>
            </a:r>
            <a:r>
              <a:rPr lang="en-US" b="0" u="none" strike="noStrike" dirty="0" err="1">
                <a:solidFill>
                  <a:srgbClr val="6F6888"/>
                </a:solidFill>
                <a:effectLst/>
                <a:uFillTx/>
                <a:latin typeface="Aptos"/>
                <a:ea typeface="Aptos"/>
              </a:rPr>
              <a:t>mantener</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relaciones</a:t>
            </a:r>
            <a:r>
              <a:rPr lang="en-US" b="0" u="none" strike="noStrike" dirty="0">
                <a:solidFill>
                  <a:srgbClr val="6F6888"/>
                </a:solidFill>
                <a:effectLst/>
                <a:uFillTx/>
                <a:latin typeface="Aptos"/>
                <a:ea typeface="Aptos"/>
              </a:rPr>
              <a:t> y </a:t>
            </a:r>
            <a:r>
              <a:rPr lang="en-US" b="0" u="none" strike="noStrike" dirty="0" err="1">
                <a:solidFill>
                  <a:srgbClr val="6F6888"/>
                </a:solidFill>
                <a:effectLst/>
                <a:uFillTx/>
                <a:latin typeface="Aptos"/>
                <a:ea typeface="Aptos"/>
              </a:rPr>
              <a:t>oportunidades</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vivas</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avanzando</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hacia</a:t>
            </a:r>
            <a:r>
              <a:rPr lang="en-US" b="0" u="none" strike="noStrike" dirty="0">
                <a:solidFill>
                  <a:srgbClr val="6F6888"/>
                </a:solidFill>
                <a:effectLst/>
                <a:uFillTx/>
                <a:latin typeface="Aptos"/>
                <a:ea typeface="Aptos"/>
              </a:rPr>
              <a:t> visitas, </a:t>
            </a:r>
            <a:r>
              <a:rPr lang="en-US" b="0" u="none" strike="noStrike" dirty="0" err="1">
                <a:solidFill>
                  <a:srgbClr val="6F6888"/>
                </a:solidFill>
                <a:effectLst/>
                <a:uFillTx/>
                <a:latin typeface="Aptos"/>
                <a:ea typeface="Aptos"/>
              </a:rPr>
              <a:t>decisiones</a:t>
            </a:r>
            <a:r>
              <a:rPr lang="en-US" b="0" u="none" strike="noStrike" dirty="0">
                <a:solidFill>
                  <a:srgbClr val="6F6888"/>
                </a:solidFill>
                <a:effectLst/>
                <a:uFillTx/>
                <a:latin typeface="Aptos"/>
                <a:ea typeface="Aptos"/>
              </a:rPr>
              <a:t> o </a:t>
            </a:r>
            <a:r>
              <a:rPr lang="en-US" b="0" u="none" strike="noStrike" dirty="0" err="1">
                <a:solidFill>
                  <a:srgbClr val="6F6888"/>
                </a:solidFill>
                <a:effectLst/>
                <a:uFillTx/>
                <a:latin typeface="Aptos"/>
                <a:ea typeface="Aptos"/>
              </a:rPr>
              <a:t>transacciones</a:t>
            </a:r>
            <a:r>
              <a:rPr lang="en-US" b="0" u="none" strike="noStrike" dirty="0">
                <a:solidFill>
                  <a:srgbClr val="6F6888"/>
                </a:solidFill>
                <a:effectLst/>
                <a:uFillTx/>
                <a:latin typeface="Aptos"/>
                <a:ea typeface="Aptos"/>
              </a:rPr>
              <a:t>.</a:t>
            </a:r>
            <a:endParaRPr lang="en-US" b="0" u="none" strike="noStrike" dirty="0">
              <a:solidFill>
                <a:srgbClr val="000000"/>
              </a:solidFill>
              <a:effectLst/>
              <a:uFillTx/>
              <a:latin typeface="Arial"/>
            </a:endParaRPr>
          </a:p>
        </p:txBody>
      </p:sp>
      <p:sp>
        <p:nvSpPr>
          <p:cNvPr id="303" name="Text 5"/>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u="none" strike="noStrike">
                <a:solidFill>
                  <a:srgbClr val="7E7798"/>
                </a:solidFill>
                <a:effectLst/>
                <a:uFillTx/>
                <a:latin typeface="Aptos"/>
                <a:ea typeface="Aptos"/>
              </a:rPr>
              <a:t>CONFIDENTIAL</a:t>
            </a:r>
            <a:endParaRPr lang="en-US" sz="650" b="0" u="none" strike="noStrike">
              <a:solidFill>
                <a:srgbClr val="000000"/>
              </a:solidFill>
              <a:effectLst/>
              <a:uFillTx/>
              <a:latin typeface="Arial"/>
            </a:endParaRPr>
          </a:p>
        </p:txBody>
      </p:sp>
      <p:sp>
        <p:nvSpPr>
          <p:cNvPr id="304" name="Text 6"/>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650" b="0" u="none" strike="noStrike">
                <a:solidFill>
                  <a:srgbClr val="7E7798"/>
                </a:solidFill>
                <a:effectLst/>
                <a:uFillTx/>
                <a:latin typeface="Aptos"/>
                <a:ea typeface="Aptos"/>
              </a:rPr>
              <a:t>ungga.com</a:t>
            </a:r>
            <a:endParaRPr lang="en-US" sz="650" b="0" u="none" strike="noStrike">
              <a:solidFill>
                <a:srgbClr val="000000"/>
              </a:solidFill>
              <a:effectLst/>
              <a:uFillTx/>
              <a:latin typeface="Arial"/>
            </a:endParaRPr>
          </a:p>
        </p:txBody>
      </p:sp>
      <p:sp>
        <p:nvSpPr>
          <p:cNvPr id="305" name="Text 7"/>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b="0" u="none" strike="noStrike" dirty="0">
                <a:solidFill>
                  <a:srgbClr val="7E7798"/>
                </a:solidFill>
                <a:effectLst/>
                <a:uFillTx/>
                <a:latin typeface="Aptos"/>
                <a:ea typeface="Aptos"/>
              </a:rPr>
              <a:t>14</a:t>
            </a:r>
            <a:endParaRPr lang="en-US" sz="800" b="0" u="none" strike="noStrike" dirty="0">
              <a:solidFill>
                <a:srgbClr val="000000"/>
              </a:solidFill>
              <a:effectLst/>
              <a:uFillTx/>
              <a:latin typeface="Arial"/>
            </a:endParaRPr>
          </a:p>
        </p:txBody>
      </p:sp>
      <p:sp>
        <p:nvSpPr>
          <p:cNvPr id="306" name="Shape 8"/>
          <p:cNvSpPr/>
          <p:nvPr/>
        </p:nvSpPr>
        <p:spPr>
          <a:xfrm>
            <a:off x="534877" y="2346370"/>
            <a:ext cx="5074560" cy="3039792"/>
          </a:xfrm>
          <a:prstGeom prst="roundRect">
            <a:avLst>
              <a:gd name="adj" fmla="val 2740"/>
            </a:avLst>
          </a:prstGeom>
          <a:solidFill>
            <a:srgbClr val="FFFFFF"/>
          </a:solidFill>
          <a:ln w="12700">
            <a:solidFill>
              <a:srgbClr val="DED2F6"/>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2000" b="0" u="none" strike="noStrike" dirty="0">
              <a:solidFill>
                <a:srgbClr val="000000"/>
              </a:solidFill>
              <a:effectLst/>
              <a:uFillTx/>
              <a:latin typeface="Arial"/>
            </a:endParaRPr>
          </a:p>
        </p:txBody>
      </p:sp>
      <p:sp>
        <p:nvSpPr>
          <p:cNvPr id="307" name="Text 9"/>
          <p:cNvSpPr/>
          <p:nvPr/>
        </p:nvSpPr>
        <p:spPr>
          <a:xfrm>
            <a:off x="672037" y="2492530"/>
            <a:ext cx="4800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00" b="1" u="none" strike="noStrike" dirty="0">
                <a:solidFill>
                  <a:srgbClr val="A84A7A"/>
                </a:solidFill>
                <a:effectLst/>
                <a:uFillTx/>
                <a:latin typeface="Aptos"/>
                <a:ea typeface="Aptos"/>
              </a:rPr>
              <a:t>REGISTROS + UI</a:t>
            </a:r>
            <a:endParaRPr lang="en-US" sz="1200" b="0" u="none" strike="noStrike" dirty="0">
              <a:solidFill>
                <a:srgbClr val="000000"/>
              </a:solidFill>
              <a:effectLst/>
              <a:uFillTx/>
              <a:latin typeface="Arial"/>
            </a:endParaRPr>
          </a:p>
        </p:txBody>
      </p:sp>
      <p:sp>
        <p:nvSpPr>
          <p:cNvPr id="308" name="Text 10"/>
          <p:cNvSpPr/>
          <p:nvPr/>
        </p:nvSpPr>
        <p:spPr>
          <a:xfrm>
            <a:off x="736117" y="2821930"/>
            <a:ext cx="46720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00" b="1" u="none" strike="noStrike" dirty="0">
                <a:solidFill>
                  <a:srgbClr val="151327"/>
                </a:solidFill>
                <a:effectLst/>
                <a:uFillTx/>
                <a:latin typeface="Aptos Display"/>
                <a:ea typeface="Aptos Display"/>
              </a:rPr>
              <a:t>Modelo CRM </a:t>
            </a:r>
            <a:r>
              <a:rPr lang="en-US" sz="2000" b="1" u="none" strike="noStrike" dirty="0" err="1">
                <a:solidFill>
                  <a:srgbClr val="151327"/>
                </a:solidFill>
                <a:effectLst/>
                <a:uFillTx/>
                <a:latin typeface="Aptos Display"/>
                <a:ea typeface="Aptos Display"/>
              </a:rPr>
              <a:t>tradicional</a:t>
            </a:r>
            <a:endParaRPr lang="en-US" sz="2000" b="0" u="none" strike="noStrike" dirty="0">
              <a:solidFill>
                <a:srgbClr val="000000"/>
              </a:solidFill>
              <a:effectLst/>
              <a:uFillTx/>
              <a:latin typeface="Arial"/>
            </a:endParaRPr>
          </a:p>
        </p:txBody>
      </p:sp>
      <p:sp>
        <p:nvSpPr>
          <p:cNvPr id="309" name="Text 11"/>
          <p:cNvSpPr/>
          <p:nvPr/>
        </p:nvSpPr>
        <p:spPr>
          <a:xfrm>
            <a:off x="790837" y="3333850"/>
            <a:ext cx="4562640" cy="1797443"/>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marL="285750" indent="-285750" defTabSz="914400">
              <a:lnSpc>
                <a:spcPct val="100000"/>
              </a:lnSpc>
              <a:buFont typeface="Arial" panose="020B0604020202020204" pitchFamily="34" charset="0"/>
              <a:buChar char="•"/>
              <a:tabLst>
                <a:tab pos="0" algn="l"/>
              </a:tabLst>
            </a:pPr>
            <a:r>
              <a:rPr lang="es-ES" sz="1600" b="0" u="none" strike="noStrike" dirty="0">
                <a:solidFill>
                  <a:srgbClr val="6F6888"/>
                </a:solidFill>
                <a:effectLst/>
                <a:uFillTx/>
                <a:latin typeface="Aptos"/>
                <a:ea typeface="Aptos"/>
              </a:rPr>
              <a:t>El usuario revisa el pipeline</a:t>
            </a:r>
          </a:p>
          <a:p>
            <a:pPr marL="285750" indent="-285750" defTabSz="914400">
              <a:lnSpc>
                <a:spcPct val="100000"/>
              </a:lnSpc>
              <a:buFont typeface="Arial" panose="020B0604020202020204" pitchFamily="34" charset="0"/>
              <a:buChar char="•"/>
              <a:tabLst>
                <a:tab pos="0" algn="l"/>
              </a:tabLst>
            </a:pPr>
            <a:r>
              <a:rPr lang="es-ES" sz="1600" b="0" u="none" strike="noStrike" dirty="0">
                <a:solidFill>
                  <a:srgbClr val="6F6888"/>
                </a:solidFill>
                <a:effectLst/>
                <a:uFillTx/>
                <a:latin typeface="Aptos"/>
                <a:ea typeface="Aptos"/>
              </a:rPr>
              <a:t>Crea tareas</a:t>
            </a:r>
          </a:p>
          <a:p>
            <a:pPr marL="285750" indent="-285750" defTabSz="914400">
              <a:lnSpc>
                <a:spcPct val="100000"/>
              </a:lnSpc>
              <a:buFont typeface="Arial" panose="020B0604020202020204" pitchFamily="34" charset="0"/>
              <a:buChar char="•"/>
              <a:tabLst>
                <a:tab pos="0" algn="l"/>
              </a:tabLst>
            </a:pPr>
            <a:r>
              <a:rPr lang="es-ES" sz="1600" b="0" u="none" strike="noStrike" dirty="0">
                <a:solidFill>
                  <a:srgbClr val="6F6888"/>
                </a:solidFill>
                <a:effectLst/>
                <a:uFillTx/>
                <a:latin typeface="Aptos"/>
                <a:ea typeface="Aptos"/>
              </a:rPr>
              <a:t>Actualiza etapas</a:t>
            </a:r>
          </a:p>
          <a:p>
            <a:pPr marL="285750" indent="-285750" defTabSz="914400">
              <a:lnSpc>
                <a:spcPct val="100000"/>
              </a:lnSpc>
              <a:buFont typeface="Arial" panose="020B0604020202020204" pitchFamily="34" charset="0"/>
              <a:buChar char="•"/>
              <a:tabLst>
                <a:tab pos="0" algn="l"/>
              </a:tabLst>
            </a:pPr>
            <a:r>
              <a:rPr lang="es-ES" sz="1600" b="0" u="none" strike="noStrike" dirty="0">
                <a:solidFill>
                  <a:srgbClr val="6F6888"/>
                </a:solidFill>
                <a:effectLst/>
                <a:uFillTx/>
                <a:latin typeface="Aptos"/>
                <a:ea typeface="Aptos"/>
              </a:rPr>
              <a:t>Debe recordar compromisos</a:t>
            </a:r>
          </a:p>
          <a:p>
            <a:pPr marL="285750" indent="-285750" defTabSz="914400">
              <a:lnSpc>
                <a:spcPct val="100000"/>
              </a:lnSpc>
              <a:buFont typeface="Arial" panose="020B0604020202020204" pitchFamily="34" charset="0"/>
              <a:buChar char="•"/>
              <a:tabLst>
                <a:tab pos="0" algn="l"/>
              </a:tabLst>
            </a:pPr>
            <a:r>
              <a:rPr lang="es-ES" sz="1600" b="0" u="none" strike="noStrike" dirty="0">
                <a:solidFill>
                  <a:srgbClr val="6F6888"/>
                </a:solidFill>
                <a:effectLst/>
                <a:uFillTx/>
                <a:latin typeface="Aptos"/>
                <a:ea typeface="Aptos"/>
              </a:rPr>
              <a:t>Opera el software</a:t>
            </a:r>
            <a:endParaRPr lang="en-US" sz="1600" b="0" u="none" strike="noStrike" dirty="0">
              <a:solidFill>
                <a:srgbClr val="6F6888"/>
              </a:solidFill>
              <a:effectLst/>
              <a:uFillTx/>
              <a:latin typeface="Aptos"/>
              <a:ea typeface="Aptos"/>
            </a:endParaRPr>
          </a:p>
          <a:p>
            <a:pPr marL="285750" indent="-285750" defTabSz="914400">
              <a:lnSpc>
                <a:spcPct val="100000"/>
              </a:lnSpc>
              <a:buFont typeface="Arial" panose="020B0604020202020204" pitchFamily="34" charset="0"/>
              <a:buChar char="•"/>
              <a:tabLst>
                <a:tab pos="0" algn="l"/>
              </a:tabLst>
            </a:pPr>
            <a:endParaRPr lang="en-US" sz="1600" b="0" u="none" strike="noStrike" dirty="0">
              <a:solidFill>
                <a:srgbClr val="000000"/>
              </a:solidFill>
              <a:effectLst/>
              <a:uFillTx/>
              <a:latin typeface="Arial"/>
            </a:endParaRPr>
          </a:p>
        </p:txBody>
      </p:sp>
      <p:sp>
        <p:nvSpPr>
          <p:cNvPr id="310" name="Shape 12"/>
          <p:cNvSpPr/>
          <p:nvPr/>
        </p:nvSpPr>
        <p:spPr>
          <a:xfrm>
            <a:off x="6295597" y="2346370"/>
            <a:ext cx="5074560" cy="3013863"/>
          </a:xfrm>
          <a:prstGeom prst="roundRect">
            <a:avLst>
              <a:gd name="adj" fmla="val 2740"/>
            </a:avLst>
          </a:prstGeom>
          <a:solidFill>
            <a:srgbClr val="FFFFFF"/>
          </a:solidFill>
          <a:ln w="12700">
            <a:solidFill>
              <a:srgbClr val="DED2F6"/>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1" name="Text 13"/>
          <p:cNvSpPr/>
          <p:nvPr/>
        </p:nvSpPr>
        <p:spPr>
          <a:xfrm>
            <a:off x="6432757" y="2492530"/>
            <a:ext cx="4800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00" b="1" u="none" strike="noStrike" dirty="0">
                <a:solidFill>
                  <a:srgbClr val="078C53"/>
                </a:solidFill>
                <a:effectLst/>
                <a:uFillTx/>
                <a:latin typeface="Aptos"/>
                <a:ea typeface="Aptos"/>
              </a:rPr>
              <a:t>AVANZA OPORTUNIDADES</a:t>
            </a:r>
            <a:endParaRPr lang="en-US" sz="1200" b="0" u="none" strike="noStrike" dirty="0">
              <a:solidFill>
                <a:srgbClr val="000000"/>
              </a:solidFill>
              <a:effectLst/>
              <a:uFillTx/>
              <a:latin typeface="Arial"/>
            </a:endParaRPr>
          </a:p>
        </p:txBody>
      </p:sp>
      <p:sp>
        <p:nvSpPr>
          <p:cNvPr id="312" name="Text 14"/>
          <p:cNvSpPr/>
          <p:nvPr/>
        </p:nvSpPr>
        <p:spPr>
          <a:xfrm>
            <a:off x="6496837" y="2821930"/>
            <a:ext cx="46720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00" b="1" u="none" strike="noStrike" dirty="0" err="1">
                <a:solidFill>
                  <a:srgbClr val="151327"/>
                </a:solidFill>
                <a:effectLst/>
                <a:uFillTx/>
                <a:latin typeface="Aptos Display"/>
                <a:ea typeface="Aptos Display"/>
              </a:rPr>
              <a:t>Operación</a:t>
            </a:r>
            <a:r>
              <a:rPr lang="en-US" sz="2000" b="1" u="none" strike="noStrike" dirty="0">
                <a:solidFill>
                  <a:srgbClr val="151327"/>
                </a:solidFill>
                <a:effectLst/>
                <a:uFillTx/>
                <a:latin typeface="Aptos Display"/>
                <a:ea typeface="Aptos Display"/>
              </a:rPr>
              <a:t> de </a:t>
            </a:r>
            <a:r>
              <a:rPr lang="en-US" sz="2000" b="1" u="none" strike="noStrike" dirty="0" err="1">
                <a:solidFill>
                  <a:srgbClr val="151327"/>
                </a:solidFill>
                <a:effectLst/>
                <a:uFillTx/>
                <a:latin typeface="Aptos Display"/>
                <a:ea typeface="Aptos Display"/>
              </a:rPr>
              <a:t>Relaciones</a:t>
            </a:r>
            <a:r>
              <a:rPr lang="en-US" sz="2000" b="1" u="none" strike="noStrike" dirty="0">
                <a:solidFill>
                  <a:srgbClr val="151327"/>
                </a:solidFill>
                <a:effectLst/>
                <a:uFillTx/>
                <a:latin typeface="Aptos Display"/>
                <a:ea typeface="Aptos Display"/>
              </a:rPr>
              <a:t> (RO)</a:t>
            </a:r>
            <a:endParaRPr lang="en-US" sz="2000" b="0" u="none" strike="noStrike" dirty="0">
              <a:solidFill>
                <a:srgbClr val="000000"/>
              </a:solidFill>
              <a:effectLst/>
              <a:uFillTx/>
              <a:latin typeface="Arial"/>
            </a:endParaRPr>
          </a:p>
        </p:txBody>
      </p:sp>
      <p:sp>
        <p:nvSpPr>
          <p:cNvPr id="313" name="Text 15"/>
          <p:cNvSpPr/>
          <p:nvPr/>
        </p:nvSpPr>
        <p:spPr>
          <a:xfrm>
            <a:off x="6551557" y="3333850"/>
            <a:ext cx="4165283" cy="1797443"/>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marL="285750" indent="-285750" defTabSz="914400">
              <a:lnSpc>
                <a:spcPct val="100000"/>
              </a:lnSpc>
              <a:buFont typeface="Arial" panose="020B0604020202020204" pitchFamily="34" charset="0"/>
              <a:buChar char="•"/>
              <a:tabLst>
                <a:tab pos="0" algn="l"/>
              </a:tabLst>
            </a:pPr>
            <a:r>
              <a:rPr lang="es-ES" sz="1600" b="0" u="none" strike="noStrike" dirty="0" err="1">
                <a:solidFill>
                  <a:srgbClr val="6F6888"/>
                </a:solidFill>
                <a:effectLst/>
                <a:uFillTx/>
                <a:latin typeface="Aptos"/>
                <a:ea typeface="Aptos"/>
              </a:rPr>
              <a:t>Gu</a:t>
            </a:r>
            <a:r>
              <a:rPr lang="es-ES" sz="1600" b="0" u="none" strike="noStrike" dirty="0">
                <a:solidFill>
                  <a:srgbClr val="6F6888"/>
                </a:solidFill>
                <a:effectLst/>
                <a:uFillTx/>
                <a:latin typeface="Aptos"/>
                <a:ea typeface="Aptos"/>
              </a:rPr>
              <a:t> mantiene viva la oportunidad y determina qué sigue</a:t>
            </a:r>
          </a:p>
          <a:p>
            <a:pPr marL="285750" indent="-285750" defTabSz="914400">
              <a:lnSpc>
                <a:spcPct val="100000"/>
              </a:lnSpc>
              <a:buFont typeface="Arial" panose="020B0604020202020204" pitchFamily="34" charset="0"/>
              <a:buChar char="•"/>
              <a:tabLst>
                <a:tab pos="0" algn="l"/>
              </a:tabLst>
            </a:pPr>
            <a:r>
              <a:rPr lang="en-US" sz="1600" b="0" u="none" strike="noStrike" dirty="0" err="1">
                <a:solidFill>
                  <a:srgbClr val="6F6888"/>
                </a:solidFill>
                <a:effectLst/>
                <a:uFillTx/>
                <a:latin typeface="Aptos"/>
                <a:ea typeface="Aptos"/>
              </a:rPr>
              <a:t>Ejecuta</a:t>
            </a:r>
            <a:r>
              <a:rPr lang="en-US" sz="1600" b="0" u="none" strike="noStrike" dirty="0">
                <a:solidFill>
                  <a:srgbClr val="6F6888"/>
                </a:solidFill>
                <a:effectLst/>
                <a:uFillTx/>
                <a:latin typeface="Aptos"/>
                <a:ea typeface="Aptos"/>
              </a:rPr>
              <a:t> </a:t>
            </a:r>
            <a:r>
              <a:rPr lang="en-US" sz="1600" dirty="0" err="1">
                <a:solidFill>
                  <a:srgbClr val="6F6888"/>
                </a:solidFill>
                <a:latin typeface="Aptos"/>
                <a:ea typeface="Aptos"/>
              </a:rPr>
              <a:t>seguimiento</a:t>
            </a:r>
            <a:r>
              <a:rPr lang="en-US" sz="1600" b="0" u="none" strike="noStrike" dirty="0">
                <a:solidFill>
                  <a:srgbClr val="6F6888"/>
                </a:solidFill>
                <a:effectLst/>
                <a:uFillTx/>
                <a:latin typeface="Aptos"/>
                <a:ea typeface="Aptos"/>
              </a:rPr>
              <a:t> </a:t>
            </a:r>
            <a:r>
              <a:rPr lang="en-US" sz="1600" b="0" u="none" strike="noStrike" dirty="0" err="1">
                <a:solidFill>
                  <a:srgbClr val="6F6888"/>
                </a:solidFill>
                <a:effectLst/>
                <a:uFillTx/>
                <a:latin typeface="Aptos"/>
                <a:ea typeface="Aptos"/>
              </a:rPr>
              <a:t>permitido</a:t>
            </a:r>
            <a:endParaRPr lang="en-US" sz="1600" b="0" u="none" strike="noStrike" dirty="0">
              <a:solidFill>
                <a:srgbClr val="000000"/>
              </a:solidFill>
              <a:effectLst/>
              <a:uFillTx/>
              <a:latin typeface="Arial"/>
            </a:endParaRPr>
          </a:p>
          <a:p>
            <a:pPr marL="285750" indent="-285750" defTabSz="914400">
              <a:lnSpc>
                <a:spcPct val="100000"/>
              </a:lnSpc>
              <a:buFont typeface="Arial" panose="020B0604020202020204" pitchFamily="34" charset="0"/>
              <a:buChar char="•"/>
              <a:tabLst>
                <a:tab pos="0" algn="l"/>
              </a:tabLst>
            </a:pPr>
            <a:r>
              <a:rPr lang="en-US" sz="1600" b="0" u="none" strike="noStrike" dirty="0" err="1">
                <a:solidFill>
                  <a:srgbClr val="6F6888"/>
                </a:solidFill>
                <a:effectLst/>
                <a:uFillTx/>
                <a:latin typeface="Aptos"/>
                <a:ea typeface="Aptos"/>
              </a:rPr>
              <a:t>Reacciona</a:t>
            </a:r>
            <a:r>
              <a:rPr lang="en-US" sz="1600" b="0" u="none" strike="noStrike" dirty="0">
                <a:solidFill>
                  <a:srgbClr val="6F6888"/>
                </a:solidFill>
                <a:effectLst/>
                <a:uFillTx/>
                <a:latin typeface="Aptos"/>
                <a:ea typeface="Aptos"/>
              </a:rPr>
              <a:t> a </a:t>
            </a:r>
            <a:r>
              <a:rPr lang="en-US" sz="1600" b="0" u="none" strike="noStrike" dirty="0" err="1">
                <a:solidFill>
                  <a:srgbClr val="6F6888"/>
                </a:solidFill>
                <a:effectLst/>
                <a:uFillTx/>
                <a:latin typeface="Aptos"/>
                <a:ea typeface="Aptos"/>
              </a:rPr>
              <a:t>eventos</a:t>
            </a:r>
            <a:r>
              <a:rPr lang="en-US" sz="1600" b="0" u="none" strike="noStrike" dirty="0">
                <a:solidFill>
                  <a:srgbClr val="6F6888"/>
                </a:solidFill>
                <a:effectLst/>
                <a:uFillTx/>
                <a:latin typeface="Aptos"/>
                <a:ea typeface="Aptos"/>
              </a:rPr>
              <a:t> y </a:t>
            </a:r>
            <a:r>
              <a:rPr lang="en-US" sz="1600" b="0" u="none" strike="noStrike" dirty="0" err="1">
                <a:solidFill>
                  <a:srgbClr val="6F6888"/>
                </a:solidFill>
                <a:effectLst/>
                <a:uFillTx/>
                <a:latin typeface="Aptos"/>
                <a:ea typeface="Aptos"/>
              </a:rPr>
              <a:t>cambios</a:t>
            </a:r>
            <a:endParaRPr lang="en-US" sz="1600" b="0" u="none" strike="noStrike" dirty="0">
              <a:solidFill>
                <a:srgbClr val="000000"/>
              </a:solidFill>
              <a:effectLst/>
              <a:uFillTx/>
              <a:latin typeface="Arial"/>
            </a:endParaRPr>
          </a:p>
          <a:p>
            <a:pPr marL="285750" indent="-285750" defTabSz="914400">
              <a:lnSpc>
                <a:spcPct val="100000"/>
              </a:lnSpc>
              <a:buFont typeface="Arial" panose="020B0604020202020204" pitchFamily="34" charset="0"/>
              <a:buChar char="•"/>
              <a:tabLst>
                <a:tab pos="0" algn="l"/>
              </a:tabLst>
            </a:pPr>
            <a:r>
              <a:rPr lang="en-US" sz="1600" b="0" u="none" strike="noStrike" dirty="0" err="1">
                <a:solidFill>
                  <a:srgbClr val="6F6888"/>
                </a:solidFill>
                <a:effectLst/>
                <a:uFillTx/>
                <a:latin typeface="Aptos"/>
                <a:ea typeface="Aptos"/>
              </a:rPr>
              <a:t>Preserva</a:t>
            </a:r>
            <a:r>
              <a:rPr lang="en-US" sz="1600" b="0" u="none" strike="noStrike" dirty="0">
                <a:solidFill>
                  <a:srgbClr val="6F6888"/>
                </a:solidFill>
                <a:effectLst/>
                <a:uFillTx/>
                <a:latin typeface="Aptos"/>
                <a:ea typeface="Aptos"/>
              </a:rPr>
              <a:t> </a:t>
            </a:r>
            <a:r>
              <a:rPr lang="en-US" sz="1600" b="0" u="none" strike="noStrike" dirty="0" err="1">
                <a:solidFill>
                  <a:srgbClr val="6F6888"/>
                </a:solidFill>
                <a:effectLst/>
                <a:uFillTx/>
                <a:latin typeface="Aptos"/>
                <a:ea typeface="Aptos"/>
              </a:rPr>
              <a:t>compromisos</a:t>
            </a:r>
            <a:endParaRPr lang="en-US" sz="1600" b="0" u="none" strike="noStrike" dirty="0">
              <a:solidFill>
                <a:srgbClr val="000000"/>
              </a:solidFill>
              <a:effectLst/>
              <a:uFillTx/>
              <a:latin typeface="Arial"/>
            </a:endParaRPr>
          </a:p>
          <a:p>
            <a:pPr marL="285750" indent="-285750" defTabSz="914400">
              <a:lnSpc>
                <a:spcPct val="100000"/>
              </a:lnSpc>
              <a:buFont typeface="Arial" panose="020B0604020202020204" pitchFamily="34" charset="0"/>
              <a:buChar char="•"/>
              <a:tabLst>
                <a:tab pos="0" algn="l"/>
              </a:tabLst>
            </a:pPr>
            <a:r>
              <a:rPr lang="en-US" sz="1600" b="0" u="none" strike="noStrike" dirty="0" err="1">
                <a:solidFill>
                  <a:srgbClr val="6F6888"/>
                </a:solidFill>
                <a:effectLst/>
                <a:uFillTx/>
                <a:latin typeface="Aptos"/>
                <a:ea typeface="Aptos"/>
              </a:rPr>
              <a:t>Involucra</a:t>
            </a:r>
            <a:r>
              <a:rPr lang="en-US" sz="1600" b="0" u="none" strike="noStrike" dirty="0">
                <a:solidFill>
                  <a:srgbClr val="6F6888"/>
                </a:solidFill>
                <a:effectLst/>
                <a:uFillTx/>
                <a:latin typeface="Aptos"/>
                <a:ea typeface="Aptos"/>
              </a:rPr>
              <a:t> al </a:t>
            </a:r>
            <a:r>
              <a:rPr lang="en-US" sz="1600" b="0" u="none" strike="noStrike" dirty="0" err="1">
                <a:solidFill>
                  <a:srgbClr val="6F6888"/>
                </a:solidFill>
                <a:effectLst/>
                <a:uFillTx/>
                <a:latin typeface="Aptos"/>
                <a:ea typeface="Aptos"/>
              </a:rPr>
              <a:t>humano</a:t>
            </a:r>
            <a:r>
              <a:rPr lang="en-US" sz="1600" b="0" u="none" strike="noStrike" dirty="0">
                <a:solidFill>
                  <a:srgbClr val="6F6888"/>
                </a:solidFill>
                <a:effectLst/>
                <a:uFillTx/>
                <a:latin typeface="Aptos"/>
                <a:ea typeface="Aptos"/>
              </a:rPr>
              <a:t> </a:t>
            </a:r>
            <a:r>
              <a:rPr lang="en-US" sz="1600" b="0" u="none" strike="noStrike" dirty="0" err="1">
                <a:solidFill>
                  <a:srgbClr val="6F6888"/>
                </a:solidFill>
                <a:effectLst/>
                <a:uFillTx/>
                <a:latin typeface="Aptos"/>
                <a:ea typeface="Aptos"/>
              </a:rPr>
              <a:t>cuando</a:t>
            </a:r>
            <a:r>
              <a:rPr lang="en-US" sz="1600" b="0" u="none" strike="noStrike" dirty="0">
                <a:solidFill>
                  <a:srgbClr val="6F6888"/>
                </a:solidFill>
                <a:effectLst/>
                <a:uFillTx/>
                <a:latin typeface="Aptos"/>
                <a:ea typeface="Aptos"/>
              </a:rPr>
              <a:t> </a:t>
            </a:r>
            <a:r>
              <a:rPr lang="en-US" sz="1600" b="0" u="none" strike="noStrike" dirty="0" err="1">
                <a:solidFill>
                  <a:srgbClr val="6F6888"/>
                </a:solidFill>
                <a:effectLst/>
                <a:uFillTx/>
                <a:latin typeface="Aptos"/>
                <a:ea typeface="Aptos"/>
              </a:rPr>
              <a:t>importa</a:t>
            </a:r>
            <a:endParaRPr lang="en-US" sz="1600" b="0" u="none" strike="noStrike" dirty="0">
              <a:solidFill>
                <a:srgbClr val="000000"/>
              </a:solidFill>
              <a:effectLst/>
              <a:uFillTx/>
              <a:latin typeface="Arial"/>
            </a:endParaRPr>
          </a:p>
        </p:txBody>
      </p:sp>
      <p:sp>
        <p:nvSpPr>
          <p:cNvPr id="314" name="Shape 16"/>
          <p:cNvSpPr/>
          <p:nvPr/>
        </p:nvSpPr>
        <p:spPr>
          <a:xfrm>
            <a:off x="5719237" y="3957504"/>
            <a:ext cx="484920" cy="360"/>
          </a:xfrm>
          <a:prstGeom prst="line">
            <a:avLst/>
          </a:prstGeom>
          <a:ln w="22860">
            <a:solidFill>
              <a:srgbClr val="5F2CCB"/>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15" name="Shape 17"/>
          <p:cNvSpPr/>
          <p:nvPr/>
        </p:nvSpPr>
        <p:spPr>
          <a:xfrm>
            <a:off x="923278" y="5762408"/>
            <a:ext cx="10049521" cy="655311"/>
          </a:xfrm>
          <a:prstGeom prst="roundRect">
            <a:avLst>
              <a:gd name="adj" fmla="val 16667"/>
            </a:avLst>
          </a:prstGeom>
          <a:solidFill>
            <a:srgbClr val="20143D"/>
          </a:solidFill>
          <a:ln w="12700">
            <a:solidFill>
              <a:srgbClr val="20143D">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16" name="Text 18"/>
          <p:cNvSpPr/>
          <p:nvPr/>
        </p:nvSpPr>
        <p:spPr>
          <a:xfrm>
            <a:off x="1145220" y="5877017"/>
            <a:ext cx="9616980" cy="420242"/>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s-ES" sz="1400" b="1" u="none" strike="noStrike" dirty="0">
                <a:solidFill>
                  <a:srgbClr val="FFFFFF"/>
                </a:solidFill>
                <a:effectLst/>
                <a:uFillTx/>
                <a:latin typeface="Aptos"/>
                <a:ea typeface="Aptos"/>
              </a:rPr>
              <a:t>El CRM tradicional registra y organiza la relación. </a:t>
            </a:r>
          </a:p>
          <a:p>
            <a:pPr algn="ctr" defTabSz="914400">
              <a:lnSpc>
                <a:spcPct val="100000"/>
              </a:lnSpc>
              <a:tabLst>
                <a:tab pos="0" algn="l"/>
              </a:tabLst>
            </a:pPr>
            <a:r>
              <a:rPr lang="es-ES" sz="1400" b="1" u="none" strike="noStrike" dirty="0">
                <a:solidFill>
                  <a:srgbClr val="FFFFFF"/>
                </a:solidFill>
                <a:effectLst/>
                <a:uFillTx/>
                <a:latin typeface="Aptos"/>
                <a:ea typeface="Aptos"/>
              </a:rPr>
              <a:t>La Operación de Relaciones (RO) asume la responsabilidad de hacer avanzar la oportunidad.</a:t>
            </a:r>
            <a:endParaRPr lang="en-US" sz="1400" b="0" u="none" strike="noStrike" dirty="0">
              <a:solidFill>
                <a:srgbClr val="000000"/>
              </a:solidFill>
              <a:effectLst/>
              <a:uFillTx/>
              <a:latin typeface="Arial"/>
            </a:endParaRPr>
          </a:p>
        </p:txBody>
      </p:sp>
      <p:pic>
        <p:nvPicPr>
          <p:cNvPr id="3" name="Image 0" descr="/mnt/data/ungga_logo_purple.png">
            <a:extLst>
              <a:ext uri="{FF2B5EF4-FFF2-40B4-BE49-F238E27FC236}">
                <a16:creationId xmlns:a16="http://schemas.microsoft.com/office/drawing/2014/main" id="{D3AF29BF-4944-0D58-9F7E-9F3FFAC1D3FA}"/>
              </a:ext>
            </a:extLst>
          </p:cNvPr>
          <p:cNvPicPr>
            <a:picLocks noChangeAspect="1"/>
          </p:cNvPicPr>
          <p:nvPr/>
        </p:nvPicPr>
        <p:blipFill>
          <a:blip r:embed="rId3"/>
          <a:stretch>
            <a:fillRect/>
          </a:stretch>
        </p:blipFill>
        <p:spPr>
          <a:xfrm>
            <a:off x="11109960" y="449715"/>
            <a:ext cx="566928" cy="472170"/>
          </a:xfrm>
          <a:prstGeom prst="rect">
            <a:avLst/>
          </a:prstGeom>
        </p:spPr>
      </p:pic>
      <p:grpSp>
        <p:nvGrpSpPr>
          <p:cNvPr id="6" name="Grupo 5">
            <a:extLst>
              <a:ext uri="{FF2B5EF4-FFF2-40B4-BE49-F238E27FC236}">
                <a16:creationId xmlns:a16="http://schemas.microsoft.com/office/drawing/2014/main" id="{DFF66390-D920-5B05-7C25-68FFFDC3B91D}"/>
              </a:ext>
            </a:extLst>
          </p:cNvPr>
          <p:cNvGrpSpPr/>
          <p:nvPr/>
        </p:nvGrpSpPr>
        <p:grpSpPr>
          <a:xfrm>
            <a:off x="2998013" y="357691"/>
            <a:ext cx="683676" cy="319663"/>
            <a:chOff x="4083894" y="3029717"/>
            <a:chExt cx="1068958" cy="319663"/>
          </a:xfrm>
        </p:grpSpPr>
        <p:sp>
          <p:nvSpPr>
            <p:cNvPr id="7" name="Shape 10">
              <a:extLst>
                <a:ext uri="{FF2B5EF4-FFF2-40B4-BE49-F238E27FC236}">
                  <a16:creationId xmlns:a16="http://schemas.microsoft.com/office/drawing/2014/main" id="{3AD61266-22A2-3195-C6DD-B04703F79188}"/>
                </a:ext>
              </a:extLst>
            </p:cNvPr>
            <p:cNvSpPr/>
            <p:nvPr/>
          </p:nvSpPr>
          <p:spPr>
            <a:xfrm>
              <a:off x="4092148" y="3029717"/>
              <a:ext cx="1060704" cy="310896"/>
            </a:xfrm>
            <a:prstGeom prst="roundRect">
              <a:avLst>
                <a:gd name="adj" fmla="val 23529"/>
              </a:avLst>
            </a:prstGeom>
            <a:solidFill>
              <a:srgbClr val="FFF2E2"/>
            </a:solidFill>
            <a:ln w="12700">
              <a:solidFill>
                <a:srgbClr val="FFF2E2">
                  <a:alpha val="0"/>
                </a:srgbClr>
              </a:solidFill>
              <a:prstDash val="solid"/>
            </a:ln>
          </p:spPr>
          <p:txBody>
            <a:bodyPr/>
            <a:lstStyle/>
            <a:p>
              <a:endParaRPr lang="es-MX" dirty="0"/>
            </a:p>
          </p:txBody>
        </p:sp>
        <p:sp>
          <p:nvSpPr>
            <p:cNvPr id="8" name="Text 11">
              <a:extLst>
                <a:ext uri="{FF2B5EF4-FFF2-40B4-BE49-F238E27FC236}">
                  <a16:creationId xmlns:a16="http://schemas.microsoft.com/office/drawing/2014/main" id="{C2C0EEEA-AEB8-1FB7-00A0-D4D4E61FC9F7}"/>
                </a:ext>
              </a:extLst>
            </p:cNvPr>
            <p:cNvSpPr txBox="1"/>
            <p:nvPr/>
          </p:nvSpPr>
          <p:spPr>
            <a:xfrm>
              <a:off x="4083894" y="3038484"/>
              <a:ext cx="1060704" cy="310896"/>
            </a:xfrm>
            <a:prstGeom prst="rect">
              <a:avLst/>
            </a:prstGeom>
            <a:noFill/>
            <a:ln/>
          </p:spPr>
          <p:txBody>
            <a:bodyPr wrap="square" lIns="0" tIns="0" rIns="0" bIns="0" rtlCol="0" anchor="ctr">
              <a:normAutofit/>
            </a:bodyPr>
            <a:lstStyle/>
            <a:p>
              <a:pPr marL="0" indent="0" algn="ctr">
                <a:lnSpc>
                  <a:spcPct val="100000"/>
                </a:lnSpc>
                <a:buNone/>
              </a:pPr>
              <a:r>
                <a:rPr lang="en-US" sz="740" b="1" dirty="0">
                  <a:solidFill>
                    <a:srgbClr val="F0A44A"/>
                  </a:solidFill>
                  <a:latin typeface="Inter" pitchFamily="34" charset="0"/>
                  <a:ea typeface="Inter" pitchFamily="34" charset="-122"/>
                  <a:cs typeface="Inter" pitchFamily="34" charset="-120"/>
                </a:rPr>
                <a:t>EXPANSIÓN</a:t>
              </a:r>
              <a:endParaRPr lang="en-US" sz="740" dirty="0"/>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317" name="Shape 0"/>
          <p:cNvSpPr/>
          <p:nvPr/>
        </p:nvSpPr>
        <p:spPr>
          <a:xfrm>
            <a:off x="0" y="0"/>
            <a:ext cx="12191400" cy="63720"/>
          </a:xfrm>
          <a:prstGeom prst="rect">
            <a:avLst/>
          </a:prstGeom>
          <a:solidFill>
            <a:srgbClr val="5F2CCB"/>
          </a:solidFill>
          <a:ln w="12700">
            <a:solidFill>
              <a:srgbClr val="5F2CCB">
                <a:alpha val="0"/>
              </a:srgbClr>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FFFFFF"/>
              </a:solidFill>
              <a:effectLst/>
              <a:uFillTx/>
              <a:latin typeface="Arial"/>
            </a:endParaRPr>
          </a:p>
        </p:txBody>
      </p:sp>
      <p:sp>
        <p:nvSpPr>
          <p:cNvPr id="318" name="Text 1"/>
          <p:cNvSpPr/>
          <p:nvPr/>
        </p:nvSpPr>
        <p:spPr>
          <a:xfrm>
            <a:off x="567000" y="438840"/>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dirty="0">
                <a:solidFill>
                  <a:srgbClr val="5F2CCB"/>
                </a:solidFill>
                <a:effectLst/>
                <a:uFillTx/>
                <a:latin typeface="Aptos"/>
                <a:ea typeface="Aptos"/>
              </a:rPr>
              <a:t>DEMAND </a:t>
            </a:r>
            <a:r>
              <a:rPr lang="en-US" sz="1200" b="1" dirty="0">
                <a:solidFill>
                  <a:srgbClr val="5F2CCB"/>
                </a:solidFill>
                <a:latin typeface="Aptos"/>
                <a:ea typeface="Aptos"/>
              </a:rPr>
              <a:t>OPERATIONS</a:t>
            </a:r>
            <a:r>
              <a:rPr lang="en-US" sz="1200" b="1" u="none" strike="noStrike" dirty="0">
                <a:solidFill>
                  <a:srgbClr val="5F2CCB"/>
                </a:solidFill>
                <a:effectLst/>
                <a:uFillTx/>
                <a:latin typeface="Aptos"/>
                <a:ea typeface="Aptos"/>
              </a:rPr>
              <a:t> (DO)</a:t>
            </a:r>
            <a:endParaRPr lang="en-US" sz="1200" b="0" u="none" strike="noStrike" dirty="0">
              <a:solidFill>
                <a:srgbClr val="000000"/>
              </a:solidFill>
              <a:effectLst/>
              <a:uFillTx/>
              <a:latin typeface="Arial"/>
            </a:endParaRPr>
          </a:p>
        </p:txBody>
      </p:sp>
      <p:sp>
        <p:nvSpPr>
          <p:cNvPr id="319" name="Text 2"/>
          <p:cNvSpPr/>
          <p:nvPr/>
        </p:nvSpPr>
        <p:spPr>
          <a:xfrm>
            <a:off x="567000" y="804600"/>
            <a:ext cx="10195200" cy="731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2600" b="1" u="none" strike="noStrike" dirty="0">
                <a:solidFill>
                  <a:srgbClr val="151327"/>
                </a:solidFill>
                <a:effectLst/>
                <a:uFillTx/>
                <a:latin typeface="Aptos Display"/>
                <a:ea typeface="Aptos Display"/>
              </a:rPr>
              <a:t>No </a:t>
            </a:r>
            <a:r>
              <a:rPr lang="en-US" sz="2600" b="1" u="none" strike="noStrike" dirty="0" err="1">
                <a:solidFill>
                  <a:srgbClr val="151327"/>
                </a:solidFill>
                <a:effectLst/>
                <a:uFillTx/>
                <a:latin typeface="Aptos Display"/>
                <a:ea typeface="Aptos Display"/>
              </a:rPr>
              <a:t>sólo</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reportar</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campañas</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operar</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adquisición</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conectada</a:t>
            </a:r>
            <a:r>
              <a:rPr lang="en-US" sz="2600" b="1" u="none" strike="noStrike" dirty="0">
                <a:solidFill>
                  <a:srgbClr val="151327"/>
                </a:solidFill>
                <a:effectLst/>
                <a:uFillTx/>
                <a:latin typeface="Aptos Display"/>
                <a:ea typeface="Aptos Display"/>
              </a:rPr>
              <a:t> a </a:t>
            </a:r>
            <a:r>
              <a:rPr lang="en-US" sz="2600" b="1" u="none" strike="noStrike" dirty="0" err="1">
                <a:solidFill>
                  <a:srgbClr val="151327"/>
                </a:solidFill>
                <a:effectLst/>
                <a:uFillTx/>
                <a:latin typeface="Aptos Display"/>
                <a:ea typeface="Aptos Display"/>
              </a:rPr>
              <a:t>resultados</a:t>
            </a:r>
            <a:r>
              <a:rPr lang="en-US" sz="2600" b="1" u="none" strike="noStrike" dirty="0">
                <a:solidFill>
                  <a:srgbClr val="151327"/>
                </a:solidFill>
                <a:effectLst/>
                <a:uFillTx/>
                <a:latin typeface="Aptos Display"/>
                <a:ea typeface="Aptos Display"/>
              </a:rPr>
              <a:t>.</a:t>
            </a:r>
            <a:endParaRPr lang="en-US" sz="2600" b="0" u="none" strike="noStrike" dirty="0">
              <a:solidFill>
                <a:srgbClr val="000000"/>
              </a:solidFill>
              <a:effectLst/>
              <a:uFillTx/>
              <a:latin typeface="Arial"/>
            </a:endParaRPr>
          </a:p>
        </p:txBody>
      </p:sp>
      <p:sp>
        <p:nvSpPr>
          <p:cNvPr id="320" name="Text 3"/>
          <p:cNvSpPr/>
          <p:nvPr/>
        </p:nvSpPr>
        <p:spPr>
          <a:xfrm>
            <a:off x="567000" y="1529054"/>
            <a:ext cx="1069812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b="0" u="none" strike="noStrike" dirty="0">
                <a:solidFill>
                  <a:srgbClr val="6F6888"/>
                </a:solidFill>
                <a:effectLst/>
                <a:uFillTx/>
                <a:latin typeface="Aptos"/>
                <a:ea typeface="Aptos"/>
              </a:rPr>
              <a:t>El punto no es CPL </a:t>
            </a:r>
            <a:r>
              <a:rPr lang="en-US" b="0" u="none" strike="noStrike" dirty="0" err="1">
                <a:solidFill>
                  <a:srgbClr val="6F6888"/>
                </a:solidFill>
                <a:effectLst/>
                <a:uFillTx/>
                <a:latin typeface="Aptos"/>
                <a:ea typeface="Aptos"/>
              </a:rPr>
              <a:t>barato</a:t>
            </a:r>
            <a:r>
              <a:rPr lang="en-US" b="0" u="none" strike="noStrike" dirty="0">
                <a:solidFill>
                  <a:srgbClr val="6F6888"/>
                </a:solidFill>
                <a:effectLst/>
                <a:uFillTx/>
                <a:latin typeface="Aptos"/>
                <a:ea typeface="Aptos"/>
              </a:rPr>
              <a:t>. Es </a:t>
            </a:r>
            <a:r>
              <a:rPr lang="en-US" b="0" u="none" strike="noStrike" dirty="0" err="1">
                <a:solidFill>
                  <a:srgbClr val="6F6888"/>
                </a:solidFill>
                <a:effectLst/>
                <a:uFillTx/>
                <a:latin typeface="Aptos"/>
                <a:ea typeface="Aptos"/>
              </a:rPr>
              <a:t>demanda</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calificada</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que</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avance</a:t>
            </a:r>
            <a:r>
              <a:rPr lang="en-US" b="0" u="none" strike="noStrike" dirty="0">
                <a:solidFill>
                  <a:srgbClr val="6F6888"/>
                </a:solidFill>
                <a:effectLst/>
                <a:uFillTx/>
                <a:latin typeface="Aptos"/>
                <a:ea typeface="Aptos"/>
              </a:rPr>
              <a:t> a visitas y </a:t>
            </a:r>
            <a:r>
              <a:rPr lang="en-US" b="0" u="none" strike="noStrike" dirty="0" err="1">
                <a:solidFill>
                  <a:srgbClr val="6F6888"/>
                </a:solidFill>
                <a:effectLst/>
                <a:uFillTx/>
                <a:latin typeface="Aptos"/>
                <a:ea typeface="Aptos"/>
              </a:rPr>
              <a:t>resultados</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comerciales</a:t>
            </a:r>
            <a:r>
              <a:rPr lang="en-US" b="0" u="none" strike="noStrike" dirty="0">
                <a:solidFill>
                  <a:srgbClr val="6F6888"/>
                </a:solidFill>
                <a:effectLst/>
                <a:uFillTx/>
                <a:latin typeface="Aptos"/>
                <a:ea typeface="Aptos"/>
              </a:rPr>
              <a:t>.</a:t>
            </a:r>
            <a:endParaRPr lang="en-US" b="0" u="none" strike="noStrike" dirty="0">
              <a:solidFill>
                <a:srgbClr val="000000"/>
              </a:solidFill>
              <a:effectLst/>
              <a:uFillTx/>
              <a:latin typeface="Arial"/>
            </a:endParaRPr>
          </a:p>
        </p:txBody>
      </p:sp>
      <p:sp>
        <p:nvSpPr>
          <p:cNvPr id="322" name="Text 5"/>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u="none" strike="noStrike">
                <a:solidFill>
                  <a:srgbClr val="7E7798"/>
                </a:solidFill>
                <a:effectLst/>
                <a:uFillTx/>
                <a:latin typeface="Aptos"/>
                <a:ea typeface="Aptos"/>
              </a:rPr>
              <a:t>CONFIDENTIAL</a:t>
            </a:r>
            <a:endParaRPr lang="en-US" sz="650" b="0" u="none" strike="noStrike">
              <a:solidFill>
                <a:srgbClr val="000000"/>
              </a:solidFill>
              <a:effectLst/>
              <a:uFillTx/>
              <a:latin typeface="Arial"/>
            </a:endParaRPr>
          </a:p>
        </p:txBody>
      </p:sp>
      <p:sp>
        <p:nvSpPr>
          <p:cNvPr id="323" name="Text 6"/>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650" b="0" u="none" strike="noStrike">
                <a:solidFill>
                  <a:srgbClr val="7E7798"/>
                </a:solidFill>
                <a:effectLst/>
                <a:uFillTx/>
                <a:latin typeface="Aptos"/>
                <a:ea typeface="Aptos"/>
              </a:rPr>
              <a:t>ungga.com</a:t>
            </a:r>
            <a:endParaRPr lang="en-US" sz="650" b="0" u="none" strike="noStrike">
              <a:solidFill>
                <a:srgbClr val="000000"/>
              </a:solidFill>
              <a:effectLst/>
              <a:uFillTx/>
              <a:latin typeface="Arial"/>
            </a:endParaRPr>
          </a:p>
        </p:txBody>
      </p:sp>
      <p:sp>
        <p:nvSpPr>
          <p:cNvPr id="324" name="Text 7"/>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b="0" u="none" strike="noStrike" dirty="0">
                <a:solidFill>
                  <a:srgbClr val="7E7798"/>
                </a:solidFill>
                <a:effectLst/>
                <a:uFillTx/>
                <a:latin typeface="Aptos"/>
                <a:ea typeface="Aptos"/>
              </a:rPr>
              <a:t>15</a:t>
            </a:r>
            <a:endParaRPr lang="en-US" sz="800" b="0" u="none" strike="noStrike" dirty="0">
              <a:solidFill>
                <a:srgbClr val="000000"/>
              </a:solidFill>
              <a:effectLst/>
              <a:uFillTx/>
              <a:latin typeface="Arial"/>
            </a:endParaRPr>
          </a:p>
        </p:txBody>
      </p:sp>
      <p:sp>
        <p:nvSpPr>
          <p:cNvPr id="325" name="Shape 8"/>
          <p:cNvSpPr/>
          <p:nvPr/>
        </p:nvSpPr>
        <p:spPr>
          <a:xfrm>
            <a:off x="1280160" y="2474895"/>
            <a:ext cx="1554480" cy="360"/>
          </a:xfrm>
          <a:prstGeom prst="line">
            <a:avLst/>
          </a:prstGeom>
          <a:ln w="16510">
            <a:solidFill>
              <a:srgbClr val="AA98CE"/>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200" b="0" u="none" strike="noStrike">
              <a:solidFill>
                <a:srgbClr val="000000"/>
              </a:solidFill>
              <a:effectLst/>
              <a:uFillTx/>
              <a:latin typeface="Arial"/>
            </a:endParaRPr>
          </a:p>
        </p:txBody>
      </p:sp>
      <p:sp>
        <p:nvSpPr>
          <p:cNvPr id="326" name="Shape 9"/>
          <p:cNvSpPr/>
          <p:nvPr/>
        </p:nvSpPr>
        <p:spPr>
          <a:xfrm>
            <a:off x="3291840" y="2474895"/>
            <a:ext cx="1554480" cy="360"/>
          </a:xfrm>
          <a:prstGeom prst="line">
            <a:avLst/>
          </a:prstGeom>
          <a:ln w="16510">
            <a:solidFill>
              <a:srgbClr val="AA98CE"/>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200" b="0" u="none" strike="noStrike">
              <a:solidFill>
                <a:srgbClr val="000000"/>
              </a:solidFill>
              <a:effectLst/>
              <a:uFillTx/>
              <a:latin typeface="Arial"/>
            </a:endParaRPr>
          </a:p>
        </p:txBody>
      </p:sp>
      <p:sp>
        <p:nvSpPr>
          <p:cNvPr id="327" name="Shape 10"/>
          <p:cNvSpPr/>
          <p:nvPr/>
        </p:nvSpPr>
        <p:spPr>
          <a:xfrm>
            <a:off x="5303520" y="2474895"/>
            <a:ext cx="1554480" cy="360"/>
          </a:xfrm>
          <a:prstGeom prst="line">
            <a:avLst/>
          </a:prstGeom>
          <a:ln w="16510">
            <a:solidFill>
              <a:srgbClr val="AA98CE"/>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200" b="0" u="none" strike="noStrike">
              <a:solidFill>
                <a:srgbClr val="000000"/>
              </a:solidFill>
              <a:effectLst/>
              <a:uFillTx/>
              <a:latin typeface="Arial"/>
            </a:endParaRPr>
          </a:p>
        </p:txBody>
      </p:sp>
      <p:sp>
        <p:nvSpPr>
          <p:cNvPr id="328" name="Shape 11"/>
          <p:cNvSpPr/>
          <p:nvPr/>
        </p:nvSpPr>
        <p:spPr>
          <a:xfrm>
            <a:off x="7315200" y="2474895"/>
            <a:ext cx="1554480" cy="360"/>
          </a:xfrm>
          <a:prstGeom prst="line">
            <a:avLst/>
          </a:prstGeom>
          <a:ln w="16510">
            <a:solidFill>
              <a:srgbClr val="AA98CE"/>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200" b="0" u="none" strike="noStrike">
              <a:solidFill>
                <a:srgbClr val="000000"/>
              </a:solidFill>
              <a:effectLst/>
              <a:uFillTx/>
              <a:latin typeface="Arial"/>
            </a:endParaRPr>
          </a:p>
        </p:txBody>
      </p:sp>
      <p:sp>
        <p:nvSpPr>
          <p:cNvPr id="329" name="Shape 12"/>
          <p:cNvSpPr/>
          <p:nvPr/>
        </p:nvSpPr>
        <p:spPr>
          <a:xfrm>
            <a:off x="9326880" y="2474895"/>
            <a:ext cx="1554480" cy="360"/>
          </a:xfrm>
          <a:prstGeom prst="line">
            <a:avLst/>
          </a:prstGeom>
          <a:ln w="16510">
            <a:solidFill>
              <a:srgbClr val="AA98CE"/>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200" b="0" u="none" strike="noStrike">
              <a:solidFill>
                <a:srgbClr val="000000"/>
              </a:solidFill>
              <a:effectLst/>
              <a:uFillTx/>
              <a:latin typeface="Arial"/>
            </a:endParaRPr>
          </a:p>
        </p:txBody>
      </p:sp>
      <p:sp>
        <p:nvSpPr>
          <p:cNvPr id="330" name="Shape 13"/>
          <p:cNvSpPr/>
          <p:nvPr/>
        </p:nvSpPr>
        <p:spPr>
          <a:xfrm>
            <a:off x="905400" y="2319735"/>
            <a:ext cx="292320" cy="292320"/>
          </a:xfrm>
          <a:prstGeom prst="ellipse">
            <a:avLst/>
          </a:prstGeom>
          <a:solidFill>
            <a:srgbClr val="5F2CCB"/>
          </a:solidFill>
          <a:ln w="12700">
            <a:solidFill>
              <a:srgbClr val="5F2CC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200" b="0" u="none" strike="noStrike">
              <a:solidFill>
                <a:srgbClr val="FFFFFF"/>
              </a:solidFill>
              <a:effectLst/>
              <a:uFillTx/>
              <a:latin typeface="Arial"/>
            </a:endParaRPr>
          </a:p>
        </p:txBody>
      </p:sp>
      <p:sp>
        <p:nvSpPr>
          <p:cNvPr id="331" name="Text 14"/>
          <p:cNvSpPr/>
          <p:nvPr/>
        </p:nvSpPr>
        <p:spPr>
          <a:xfrm>
            <a:off x="914400" y="2401089"/>
            <a:ext cx="2739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dirty="0">
                <a:solidFill>
                  <a:srgbClr val="FFFFFF"/>
                </a:solidFill>
                <a:effectLst/>
                <a:uFillTx/>
                <a:latin typeface="Aptos"/>
                <a:ea typeface="Aptos"/>
              </a:rPr>
              <a:t>1</a:t>
            </a:r>
            <a:endParaRPr lang="en-US" sz="1200" b="0" u="none" strike="noStrike" dirty="0">
              <a:solidFill>
                <a:srgbClr val="000000"/>
              </a:solidFill>
              <a:effectLst/>
              <a:uFillTx/>
              <a:latin typeface="Arial"/>
            </a:endParaRPr>
          </a:p>
        </p:txBody>
      </p:sp>
      <p:sp>
        <p:nvSpPr>
          <p:cNvPr id="332" name="Text 15"/>
          <p:cNvSpPr/>
          <p:nvPr/>
        </p:nvSpPr>
        <p:spPr>
          <a:xfrm>
            <a:off x="365760" y="2795295"/>
            <a:ext cx="13712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dirty="0" err="1">
                <a:solidFill>
                  <a:srgbClr val="151327"/>
                </a:solidFill>
                <a:effectLst/>
                <a:uFillTx/>
                <a:latin typeface="Aptos"/>
                <a:ea typeface="Aptos"/>
              </a:rPr>
              <a:t>Inventario</a:t>
            </a:r>
            <a:r>
              <a:rPr lang="en-US" sz="1400" b="1" u="none" strike="noStrike" dirty="0">
                <a:solidFill>
                  <a:srgbClr val="151327"/>
                </a:solidFill>
                <a:effectLst/>
                <a:uFillTx/>
                <a:latin typeface="Aptos"/>
                <a:ea typeface="Aptos"/>
              </a:rPr>
              <a:t> / </a:t>
            </a:r>
            <a:r>
              <a:rPr lang="en-US" sz="1400" b="1" u="none" strike="noStrike" dirty="0" err="1">
                <a:solidFill>
                  <a:srgbClr val="151327"/>
                </a:solidFill>
                <a:effectLst/>
                <a:uFillTx/>
                <a:latin typeface="Aptos"/>
                <a:ea typeface="Aptos"/>
              </a:rPr>
              <a:t>objetivo</a:t>
            </a:r>
            <a:endParaRPr lang="en-US" sz="1400" b="0" u="none" strike="noStrike" dirty="0">
              <a:solidFill>
                <a:srgbClr val="000000"/>
              </a:solidFill>
              <a:effectLst/>
              <a:uFillTx/>
              <a:latin typeface="Arial"/>
            </a:endParaRPr>
          </a:p>
        </p:txBody>
      </p:sp>
      <p:sp>
        <p:nvSpPr>
          <p:cNvPr id="333" name="Shape 16"/>
          <p:cNvSpPr/>
          <p:nvPr/>
        </p:nvSpPr>
        <p:spPr>
          <a:xfrm>
            <a:off x="2917080" y="2319735"/>
            <a:ext cx="292320" cy="292320"/>
          </a:xfrm>
          <a:prstGeom prst="ellipse">
            <a:avLst/>
          </a:prstGeom>
          <a:solidFill>
            <a:srgbClr val="F39A2B"/>
          </a:solidFill>
          <a:ln w="12700">
            <a:solidFill>
              <a:srgbClr val="F39A2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200" b="0" u="none" strike="noStrike">
              <a:solidFill>
                <a:srgbClr val="000000"/>
              </a:solidFill>
              <a:effectLst/>
              <a:uFillTx/>
              <a:latin typeface="Arial"/>
            </a:endParaRPr>
          </a:p>
        </p:txBody>
      </p:sp>
      <p:sp>
        <p:nvSpPr>
          <p:cNvPr id="334" name="Text 17"/>
          <p:cNvSpPr/>
          <p:nvPr/>
        </p:nvSpPr>
        <p:spPr>
          <a:xfrm>
            <a:off x="2926080" y="2401089"/>
            <a:ext cx="2739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dirty="0">
                <a:solidFill>
                  <a:srgbClr val="FFFFFF"/>
                </a:solidFill>
                <a:effectLst/>
                <a:uFillTx/>
                <a:latin typeface="Aptos"/>
                <a:ea typeface="Aptos"/>
              </a:rPr>
              <a:t>2</a:t>
            </a:r>
            <a:endParaRPr lang="en-US" sz="1200" b="0" u="none" strike="noStrike" dirty="0">
              <a:solidFill>
                <a:srgbClr val="000000"/>
              </a:solidFill>
              <a:effectLst/>
              <a:uFillTx/>
              <a:latin typeface="Arial"/>
            </a:endParaRPr>
          </a:p>
        </p:txBody>
      </p:sp>
      <p:sp>
        <p:nvSpPr>
          <p:cNvPr id="335" name="Text 18"/>
          <p:cNvSpPr/>
          <p:nvPr/>
        </p:nvSpPr>
        <p:spPr>
          <a:xfrm>
            <a:off x="2377440" y="2795295"/>
            <a:ext cx="13712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dirty="0">
                <a:solidFill>
                  <a:srgbClr val="151327"/>
                </a:solidFill>
                <a:effectLst/>
                <a:uFillTx/>
                <a:latin typeface="Aptos"/>
                <a:ea typeface="Aptos"/>
              </a:rPr>
              <a:t>Audiencia / </a:t>
            </a:r>
            <a:r>
              <a:rPr lang="en-US" sz="1400" b="1" u="none" strike="noStrike" dirty="0" err="1">
                <a:solidFill>
                  <a:srgbClr val="151327"/>
                </a:solidFill>
                <a:effectLst/>
                <a:uFillTx/>
                <a:latin typeface="Aptos"/>
                <a:ea typeface="Aptos"/>
              </a:rPr>
              <a:t>creativo</a:t>
            </a:r>
            <a:endParaRPr lang="en-US" sz="1400" b="0" u="none" strike="noStrike" dirty="0">
              <a:solidFill>
                <a:srgbClr val="000000"/>
              </a:solidFill>
              <a:effectLst/>
              <a:uFillTx/>
              <a:latin typeface="Arial"/>
            </a:endParaRPr>
          </a:p>
        </p:txBody>
      </p:sp>
      <p:sp>
        <p:nvSpPr>
          <p:cNvPr id="336" name="Shape 19"/>
          <p:cNvSpPr/>
          <p:nvPr/>
        </p:nvSpPr>
        <p:spPr>
          <a:xfrm>
            <a:off x="4928760" y="2319735"/>
            <a:ext cx="292320" cy="292320"/>
          </a:xfrm>
          <a:prstGeom prst="ellipse">
            <a:avLst/>
          </a:prstGeom>
          <a:solidFill>
            <a:srgbClr val="F39A2B"/>
          </a:solidFill>
          <a:ln w="12700">
            <a:solidFill>
              <a:srgbClr val="F39A2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200" b="0" u="none" strike="noStrike">
              <a:solidFill>
                <a:srgbClr val="000000"/>
              </a:solidFill>
              <a:effectLst/>
              <a:uFillTx/>
              <a:latin typeface="Arial"/>
            </a:endParaRPr>
          </a:p>
        </p:txBody>
      </p:sp>
      <p:sp>
        <p:nvSpPr>
          <p:cNvPr id="337" name="Text 20"/>
          <p:cNvSpPr/>
          <p:nvPr/>
        </p:nvSpPr>
        <p:spPr>
          <a:xfrm>
            <a:off x="4937760" y="2401089"/>
            <a:ext cx="2739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dirty="0">
                <a:solidFill>
                  <a:srgbClr val="FFFFFF"/>
                </a:solidFill>
                <a:effectLst/>
                <a:uFillTx/>
                <a:latin typeface="Aptos"/>
                <a:ea typeface="Aptos"/>
              </a:rPr>
              <a:t>3</a:t>
            </a:r>
            <a:endParaRPr lang="en-US" sz="1200" b="0" u="none" strike="noStrike" dirty="0">
              <a:solidFill>
                <a:srgbClr val="000000"/>
              </a:solidFill>
              <a:effectLst/>
              <a:uFillTx/>
              <a:latin typeface="Arial"/>
            </a:endParaRPr>
          </a:p>
        </p:txBody>
      </p:sp>
      <p:sp>
        <p:nvSpPr>
          <p:cNvPr id="338" name="Text 21"/>
          <p:cNvSpPr/>
          <p:nvPr/>
        </p:nvSpPr>
        <p:spPr>
          <a:xfrm>
            <a:off x="4389120" y="2795295"/>
            <a:ext cx="13712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151327"/>
                </a:solidFill>
                <a:effectLst/>
                <a:uFillTx/>
                <a:latin typeface="Aptos"/>
                <a:ea typeface="Aptos"/>
              </a:rPr>
              <a:t>Campaña</a:t>
            </a:r>
            <a:endParaRPr lang="en-US" sz="1400" b="0" u="none" strike="noStrike">
              <a:solidFill>
                <a:srgbClr val="000000"/>
              </a:solidFill>
              <a:effectLst/>
              <a:uFillTx/>
              <a:latin typeface="Arial"/>
            </a:endParaRPr>
          </a:p>
        </p:txBody>
      </p:sp>
      <p:sp>
        <p:nvSpPr>
          <p:cNvPr id="339" name="Shape 22"/>
          <p:cNvSpPr/>
          <p:nvPr/>
        </p:nvSpPr>
        <p:spPr>
          <a:xfrm>
            <a:off x="6940440" y="2319735"/>
            <a:ext cx="292320" cy="292320"/>
          </a:xfrm>
          <a:prstGeom prst="ellipse">
            <a:avLst/>
          </a:prstGeom>
          <a:solidFill>
            <a:srgbClr val="546080"/>
          </a:solidFill>
          <a:ln w="12700">
            <a:solidFill>
              <a:srgbClr val="54608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200" b="0" u="none" strike="noStrike">
              <a:solidFill>
                <a:srgbClr val="FFFFFF"/>
              </a:solidFill>
              <a:effectLst/>
              <a:uFillTx/>
              <a:latin typeface="Arial"/>
            </a:endParaRPr>
          </a:p>
        </p:txBody>
      </p:sp>
      <p:sp>
        <p:nvSpPr>
          <p:cNvPr id="340" name="Text 23"/>
          <p:cNvSpPr/>
          <p:nvPr/>
        </p:nvSpPr>
        <p:spPr>
          <a:xfrm>
            <a:off x="6949440" y="2401089"/>
            <a:ext cx="2739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dirty="0">
                <a:solidFill>
                  <a:srgbClr val="FFFFFF"/>
                </a:solidFill>
                <a:effectLst/>
                <a:uFillTx/>
                <a:latin typeface="Aptos"/>
                <a:ea typeface="Aptos"/>
              </a:rPr>
              <a:t>4</a:t>
            </a:r>
            <a:endParaRPr lang="en-US" sz="1200" b="0" u="none" strike="noStrike" dirty="0">
              <a:solidFill>
                <a:srgbClr val="000000"/>
              </a:solidFill>
              <a:effectLst/>
              <a:uFillTx/>
              <a:latin typeface="Arial"/>
            </a:endParaRPr>
          </a:p>
        </p:txBody>
      </p:sp>
      <p:sp>
        <p:nvSpPr>
          <p:cNvPr id="341" name="Text 24"/>
          <p:cNvSpPr/>
          <p:nvPr/>
        </p:nvSpPr>
        <p:spPr>
          <a:xfrm>
            <a:off x="6400800" y="2795295"/>
            <a:ext cx="13712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dirty="0" err="1">
                <a:solidFill>
                  <a:srgbClr val="151327"/>
                </a:solidFill>
                <a:effectLst/>
                <a:uFillTx/>
                <a:latin typeface="Aptos"/>
                <a:ea typeface="Aptos"/>
              </a:rPr>
              <a:t>Prospectos</a:t>
            </a:r>
            <a:endParaRPr lang="en-US" sz="1400" b="0" u="none" strike="noStrike" dirty="0">
              <a:solidFill>
                <a:srgbClr val="000000"/>
              </a:solidFill>
              <a:effectLst/>
              <a:uFillTx/>
              <a:latin typeface="Arial"/>
            </a:endParaRPr>
          </a:p>
        </p:txBody>
      </p:sp>
      <p:sp>
        <p:nvSpPr>
          <p:cNvPr id="342" name="Shape 25"/>
          <p:cNvSpPr/>
          <p:nvPr/>
        </p:nvSpPr>
        <p:spPr>
          <a:xfrm>
            <a:off x="8952120" y="2319735"/>
            <a:ext cx="292320" cy="292320"/>
          </a:xfrm>
          <a:prstGeom prst="ellipse">
            <a:avLst/>
          </a:prstGeom>
          <a:solidFill>
            <a:srgbClr val="078C53"/>
          </a:solidFill>
          <a:ln w="12700">
            <a:solidFill>
              <a:srgbClr val="078C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200" b="0" u="none" strike="noStrike">
              <a:solidFill>
                <a:srgbClr val="FFFFFF"/>
              </a:solidFill>
              <a:effectLst/>
              <a:uFillTx/>
              <a:latin typeface="Arial"/>
            </a:endParaRPr>
          </a:p>
        </p:txBody>
      </p:sp>
      <p:sp>
        <p:nvSpPr>
          <p:cNvPr id="343" name="Text 26"/>
          <p:cNvSpPr/>
          <p:nvPr/>
        </p:nvSpPr>
        <p:spPr>
          <a:xfrm>
            <a:off x="8961120" y="2401089"/>
            <a:ext cx="2739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dirty="0">
                <a:solidFill>
                  <a:srgbClr val="FFFFFF"/>
                </a:solidFill>
                <a:effectLst/>
                <a:uFillTx/>
                <a:latin typeface="Aptos"/>
                <a:ea typeface="Aptos"/>
              </a:rPr>
              <a:t>5</a:t>
            </a:r>
            <a:endParaRPr lang="en-US" sz="1200" b="0" u="none" strike="noStrike" dirty="0">
              <a:solidFill>
                <a:srgbClr val="000000"/>
              </a:solidFill>
              <a:effectLst/>
              <a:uFillTx/>
              <a:latin typeface="Arial"/>
            </a:endParaRPr>
          </a:p>
        </p:txBody>
      </p:sp>
      <p:sp>
        <p:nvSpPr>
          <p:cNvPr id="344" name="Text 27"/>
          <p:cNvSpPr/>
          <p:nvPr/>
        </p:nvSpPr>
        <p:spPr>
          <a:xfrm>
            <a:off x="8412480" y="2795295"/>
            <a:ext cx="13712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dirty="0" err="1">
                <a:solidFill>
                  <a:srgbClr val="151327"/>
                </a:solidFill>
                <a:effectLst/>
                <a:uFillTx/>
                <a:latin typeface="Aptos"/>
                <a:ea typeface="Aptos"/>
              </a:rPr>
              <a:t>Conversión</a:t>
            </a:r>
            <a:endParaRPr lang="en-US" sz="1400" b="0" u="none" strike="noStrike" dirty="0">
              <a:solidFill>
                <a:srgbClr val="000000"/>
              </a:solidFill>
              <a:effectLst/>
              <a:uFillTx/>
              <a:latin typeface="Arial"/>
            </a:endParaRPr>
          </a:p>
        </p:txBody>
      </p:sp>
      <p:sp>
        <p:nvSpPr>
          <p:cNvPr id="345" name="Shape 28"/>
          <p:cNvSpPr/>
          <p:nvPr/>
        </p:nvSpPr>
        <p:spPr>
          <a:xfrm>
            <a:off x="10963800" y="2319735"/>
            <a:ext cx="292320" cy="292320"/>
          </a:xfrm>
          <a:prstGeom prst="ellipse">
            <a:avLst/>
          </a:prstGeom>
          <a:solidFill>
            <a:srgbClr val="A84A7A"/>
          </a:solidFill>
          <a:ln w="12700">
            <a:solidFill>
              <a:srgbClr val="A84A7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200" b="0" u="none" strike="noStrike">
              <a:solidFill>
                <a:srgbClr val="FFFFFF"/>
              </a:solidFill>
              <a:effectLst/>
              <a:uFillTx/>
              <a:latin typeface="Arial"/>
            </a:endParaRPr>
          </a:p>
        </p:txBody>
      </p:sp>
      <p:sp>
        <p:nvSpPr>
          <p:cNvPr id="346" name="Text 29"/>
          <p:cNvSpPr/>
          <p:nvPr/>
        </p:nvSpPr>
        <p:spPr>
          <a:xfrm>
            <a:off x="10972800" y="2401089"/>
            <a:ext cx="2739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dirty="0">
                <a:solidFill>
                  <a:srgbClr val="FFFFFF"/>
                </a:solidFill>
                <a:effectLst/>
                <a:uFillTx/>
                <a:latin typeface="Aptos"/>
                <a:ea typeface="Aptos"/>
              </a:rPr>
              <a:t>6</a:t>
            </a:r>
            <a:endParaRPr lang="en-US" sz="1200" b="0" u="none" strike="noStrike" dirty="0">
              <a:solidFill>
                <a:srgbClr val="000000"/>
              </a:solidFill>
              <a:effectLst/>
              <a:uFillTx/>
              <a:latin typeface="Arial"/>
            </a:endParaRPr>
          </a:p>
        </p:txBody>
      </p:sp>
      <p:sp>
        <p:nvSpPr>
          <p:cNvPr id="347" name="Text 30"/>
          <p:cNvSpPr/>
          <p:nvPr/>
        </p:nvSpPr>
        <p:spPr>
          <a:xfrm>
            <a:off x="10240920" y="2795295"/>
            <a:ext cx="15544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dirty="0">
                <a:solidFill>
                  <a:srgbClr val="151327"/>
                </a:solidFill>
                <a:effectLst/>
                <a:uFillTx/>
                <a:latin typeface="Aptos"/>
                <a:ea typeface="Aptos"/>
              </a:rPr>
              <a:t>Visita / </a:t>
            </a:r>
            <a:r>
              <a:rPr lang="en-US" sz="1400" b="1" u="none" strike="noStrike" dirty="0" err="1">
                <a:solidFill>
                  <a:srgbClr val="151327"/>
                </a:solidFill>
                <a:effectLst/>
                <a:uFillTx/>
                <a:latin typeface="Aptos"/>
                <a:ea typeface="Aptos"/>
              </a:rPr>
              <a:t>resultado</a:t>
            </a:r>
            <a:endParaRPr lang="en-US" sz="1400" b="0" u="none" strike="noStrike" dirty="0">
              <a:solidFill>
                <a:srgbClr val="000000"/>
              </a:solidFill>
              <a:effectLst/>
              <a:uFillTx/>
              <a:latin typeface="Arial"/>
            </a:endParaRPr>
          </a:p>
        </p:txBody>
      </p:sp>
      <p:sp>
        <p:nvSpPr>
          <p:cNvPr id="348" name="Shape 31"/>
          <p:cNvSpPr/>
          <p:nvPr/>
        </p:nvSpPr>
        <p:spPr>
          <a:xfrm>
            <a:off x="672043" y="3618254"/>
            <a:ext cx="3474360" cy="1514411"/>
          </a:xfrm>
          <a:prstGeom prst="roundRect">
            <a:avLst>
              <a:gd name="adj" fmla="val 7407"/>
            </a:avLst>
          </a:prstGeom>
          <a:solidFill>
            <a:srgbClr val="FFFFFF"/>
          </a:solidFill>
          <a:ln w="12700">
            <a:solidFill>
              <a:srgbClr val="F39A2B"/>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9" name="Text 32"/>
          <p:cNvSpPr/>
          <p:nvPr/>
        </p:nvSpPr>
        <p:spPr>
          <a:xfrm>
            <a:off x="873283" y="3837495"/>
            <a:ext cx="30718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dirty="0">
                <a:solidFill>
                  <a:srgbClr val="151327"/>
                </a:solidFill>
                <a:effectLst/>
                <a:uFillTx/>
                <a:latin typeface="Aptos Display"/>
                <a:ea typeface="Aptos Display"/>
              </a:rPr>
              <a:t>Caso de </a:t>
            </a:r>
            <a:r>
              <a:rPr lang="en-US" sz="1500" b="1" u="none" strike="noStrike" dirty="0" err="1">
                <a:solidFill>
                  <a:srgbClr val="151327"/>
                </a:solidFill>
                <a:effectLst/>
                <a:uFillTx/>
                <a:latin typeface="Aptos Display"/>
                <a:ea typeface="Aptos Display"/>
              </a:rPr>
              <a:t>Gestión</a:t>
            </a:r>
            <a:r>
              <a:rPr lang="en-US" sz="1500" b="1" u="none" strike="noStrike" dirty="0">
                <a:solidFill>
                  <a:srgbClr val="151327"/>
                </a:solidFill>
                <a:effectLst/>
                <a:uFillTx/>
                <a:latin typeface="Aptos Display"/>
                <a:ea typeface="Aptos Display"/>
              </a:rPr>
              <a:t> de </a:t>
            </a:r>
            <a:r>
              <a:rPr lang="en-US" sz="1500" b="1" u="none" strike="noStrike" dirty="0" err="1">
                <a:solidFill>
                  <a:srgbClr val="151327"/>
                </a:solidFill>
                <a:effectLst/>
                <a:uFillTx/>
                <a:latin typeface="Aptos Display"/>
                <a:ea typeface="Aptos Display"/>
              </a:rPr>
              <a:t>Campaña</a:t>
            </a:r>
            <a:endParaRPr lang="en-US" sz="1500" b="0" u="none" strike="noStrike" dirty="0">
              <a:solidFill>
                <a:srgbClr val="000000"/>
              </a:solidFill>
              <a:effectLst/>
              <a:uFillTx/>
              <a:latin typeface="Arial"/>
            </a:endParaRPr>
          </a:p>
        </p:txBody>
      </p:sp>
      <p:sp>
        <p:nvSpPr>
          <p:cNvPr id="350" name="Text 33"/>
          <p:cNvSpPr/>
          <p:nvPr/>
        </p:nvSpPr>
        <p:spPr>
          <a:xfrm>
            <a:off x="928003" y="4486935"/>
            <a:ext cx="296244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200" b="0" u="none" strike="noStrike" dirty="0" err="1">
                <a:solidFill>
                  <a:srgbClr val="6F6888"/>
                </a:solidFill>
                <a:effectLst/>
                <a:uFillTx/>
                <a:latin typeface="Aptos"/>
                <a:ea typeface="Aptos"/>
              </a:rPr>
              <a:t>Objetivo</a:t>
            </a:r>
            <a:r>
              <a:rPr lang="en-US" sz="1200" b="0" u="none" strike="noStrike" dirty="0">
                <a:solidFill>
                  <a:srgbClr val="6F6888"/>
                </a:solidFill>
                <a:effectLst/>
                <a:uFillTx/>
                <a:latin typeface="Aptos"/>
                <a:ea typeface="Aptos"/>
              </a:rPr>
              <a:t> </a:t>
            </a:r>
            <a:r>
              <a:rPr lang="en-US" sz="1200" b="0" u="none" strike="noStrike" dirty="0" err="1">
                <a:solidFill>
                  <a:srgbClr val="6F6888"/>
                </a:solidFill>
                <a:effectLst/>
                <a:uFillTx/>
                <a:latin typeface="Aptos"/>
                <a:ea typeface="Aptos"/>
              </a:rPr>
              <a:t>económico</a:t>
            </a:r>
            <a:r>
              <a:rPr lang="en-US" sz="1200" b="0" u="none" strike="noStrike" dirty="0">
                <a:solidFill>
                  <a:srgbClr val="6F6888"/>
                </a:solidFill>
                <a:effectLst/>
                <a:uFillTx/>
                <a:latin typeface="Aptos"/>
                <a:ea typeface="Aptos"/>
              </a:rPr>
              <a:t>, </a:t>
            </a:r>
            <a:r>
              <a:rPr lang="en-US" sz="1200" b="0" u="none" strike="noStrike" dirty="0" err="1">
                <a:solidFill>
                  <a:srgbClr val="6F6888"/>
                </a:solidFill>
                <a:effectLst/>
                <a:uFillTx/>
                <a:latin typeface="Aptos"/>
                <a:ea typeface="Aptos"/>
              </a:rPr>
              <a:t>presupuesto</a:t>
            </a:r>
            <a:r>
              <a:rPr lang="en-US" sz="1200" b="0" u="none" strike="noStrike" dirty="0">
                <a:solidFill>
                  <a:srgbClr val="6F6888"/>
                </a:solidFill>
                <a:effectLst/>
                <a:uFillTx/>
                <a:latin typeface="Aptos"/>
                <a:ea typeface="Aptos"/>
              </a:rPr>
              <a:t>, </a:t>
            </a:r>
            <a:r>
              <a:rPr lang="en-US" sz="1200" b="0" u="none" strike="noStrike" dirty="0" err="1">
                <a:solidFill>
                  <a:srgbClr val="6F6888"/>
                </a:solidFill>
                <a:effectLst/>
                <a:uFillTx/>
                <a:latin typeface="Aptos"/>
                <a:ea typeface="Aptos"/>
              </a:rPr>
              <a:t>restricciones</a:t>
            </a:r>
            <a:r>
              <a:rPr lang="en-US" sz="1200" b="0" u="none" strike="noStrike" dirty="0">
                <a:solidFill>
                  <a:srgbClr val="6F6888"/>
                </a:solidFill>
                <a:effectLst/>
                <a:uFillTx/>
                <a:latin typeface="Aptos"/>
                <a:ea typeface="Aptos"/>
              </a:rPr>
              <a:t>, canales </a:t>
            </a:r>
            <a:r>
              <a:rPr lang="en-US" sz="1200" b="0" u="none" strike="noStrike" dirty="0" err="1">
                <a:solidFill>
                  <a:srgbClr val="6F6888"/>
                </a:solidFill>
                <a:effectLst/>
                <a:uFillTx/>
                <a:latin typeface="Aptos"/>
                <a:ea typeface="Aptos"/>
              </a:rPr>
              <a:t>permitidos</a:t>
            </a:r>
            <a:r>
              <a:rPr lang="en-US" sz="1200" b="0" u="none" strike="noStrike" dirty="0">
                <a:solidFill>
                  <a:srgbClr val="6F6888"/>
                </a:solidFill>
                <a:effectLst/>
                <a:uFillTx/>
                <a:latin typeface="Aptos"/>
                <a:ea typeface="Aptos"/>
              </a:rPr>
              <a:t> y </a:t>
            </a:r>
            <a:r>
              <a:rPr lang="en-US" sz="1200" b="0" u="none" strike="noStrike" dirty="0" err="1">
                <a:solidFill>
                  <a:srgbClr val="6F6888"/>
                </a:solidFill>
                <a:effectLst/>
                <a:uFillTx/>
                <a:latin typeface="Aptos"/>
                <a:ea typeface="Aptos"/>
              </a:rPr>
              <a:t>evidencia</a:t>
            </a:r>
            <a:r>
              <a:rPr lang="en-US" sz="1200" b="0" u="none" strike="noStrike" dirty="0">
                <a:solidFill>
                  <a:srgbClr val="6F6888"/>
                </a:solidFill>
                <a:effectLst/>
                <a:uFillTx/>
                <a:latin typeface="Aptos"/>
                <a:ea typeface="Aptos"/>
              </a:rPr>
              <a:t> downstream.</a:t>
            </a:r>
            <a:endParaRPr lang="en-US" sz="1200" b="0" u="none" strike="noStrike" dirty="0">
              <a:solidFill>
                <a:srgbClr val="000000"/>
              </a:solidFill>
              <a:effectLst/>
              <a:uFillTx/>
              <a:latin typeface="Arial"/>
            </a:endParaRPr>
          </a:p>
        </p:txBody>
      </p:sp>
      <p:sp>
        <p:nvSpPr>
          <p:cNvPr id="351" name="Shape 34"/>
          <p:cNvSpPr/>
          <p:nvPr/>
        </p:nvSpPr>
        <p:spPr>
          <a:xfrm>
            <a:off x="4283923" y="3618255"/>
            <a:ext cx="3474360" cy="1514410"/>
          </a:xfrm>
          <a:prstGeom prst="roundRect">
            <a:avLst>
              <a:gd name="adj" fmla="val 7407"/>
            </a:avLst>
          </a:prstGeom>
          <a:solidFill>
            <a:srgbClr val="FFFFFF"/>
          </a:solidFill>
          <a:ln w="12700">
            <a:solidFill>
              <a:srgbClr val="078C53"/>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2" name="Text 35"/>
          <p:cNvSpPr/>
          <p:nvPr/>
        </p:nvSpPr>
        <p:spPr>
          <a:xfrm>
            <a:off x="4485163" y="3837495"/>
            <a:ext cx="30718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dirty="0" err="1">
                <a:solidFill>
                  <a:srgbClr val="151327"/>
                </a:solidFill>
                <a:latin typeface="Aptos Display"/>
                <a:ea typeface="Aptos Display"/>
              </a:rPr>
              <a:t>Trabajo</a:t>
            </a:r>
            <a:r>
              <a:rPr lang="en-US" sz="1500" b="1" u="none" strike="noStrike" dirty="0">
                <a:solidFill>
                  <a:srgbClr val="151327"/>
                </a:solidFill>
                <a:effectLst/>
                <a:uFillTx/>
                <a:latin typeface="Aptos Display"/>
                <a:ea typeface="Aptos Display"/>
              </a:rPr>
              <a:t> </a:t>
            </a:r>
            <a:r>
              <a:rPr lang="en-US" sz="1500" b="1" u="none" strike="noStrike" dirty="0" err="1">
                <a:solidFill>
                  <a:srgbClr val="151327"/>
                </a:solidFill>
                <a:effectLst/>
                <a:uFillTx/>
                <a:latin typeface="Aptos Display"/>
                <a:ea typeface="Aptos Display"/>
              </a:rPr>
              <a:t>Dinámico</a:t>
            </a:r>
            <a:endParaRPr lang="en-US" sz="1500" b="0" u="none" strike="noStrike" dirty="0">
              <a:solidFill>
                <a:srgbClr val="000000"/>
              </a:solidFill>
              <a:effectLst/>
              <a:uFillTx/>
              <a:latin typeface="Arial"/>
            </a:endParaRPr>
          </a:p>
        </p:txBody>
      </p:sp>
      <p:sp>
        <p:nvSpPr>
          <p:cNvPr id="353" name="Text 36"/>
          <p:cNvSpPr/>
          <p:nvPr/>
        </p:nvSpPr>
        <p:spPr>
          <a:xfrm>
            <a:off x="4539883" y="4486935"/>
            <a:ext cx="296244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200" b="0" u="none" strike="noStrike">
                <a:solidFill>
                  <a:srgbClr val="6F6888"/>
                </a:solidFill>
                <a:effectLst/>
                <a:uFillTx/>
                <a:latin typeface="Aptos"/>
                <a:ea typeface="Aptos"/>
              </a:rPr>
              <a:t>Crear hipótesis, lanzar, esperar datos, comparar performance, proponer cambios, pedir aprobación.</a:t>
            </a:r>
            <a:endParaRPr lang="en-US" sz="1200" b="0" u="none" strike="noStrike">
              <a:solidFill>
                <a:srgbClr val="000000"/>
              </a:solidFill>
              <a:effectLst/>
              <a:uFillTx/>
              <a:latin typeface="Arial"/>
            </a:endParaRPr>
          </a:p>
        </p:txBody>
      </p:sp>
      <p:sp>
        <p:nvSpPr>
          <p:cNvPr id="354" name="Shape 37"/>
          <p:cNvSpPr/>
          <p:nvPr/>
        </p:nvSpPr>
        <p:spPr>
          <a:xfrm>
            <a:off x="7895803" y="3618255"/>
            <a:ext cx="3474360" cy="1514410"/>
          </a:xfrm>
          <a:prstGeom prst="roundRect">
            <a:avLst>
              <a:gd name="adj" fmla="val 7407"/>
            </a:avLst>
          </a:prstGeom>
          <a:solidFill>
            <a:srgbClr val="FFFFFF"/>
          </a:solidFill>
          <a:ln w="12700">
            <a:solidFill>
              <a:srgbClr val="5F2CCB"/>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5" name="Text 38"/>
          <p:cNvSpPr/>
          <p:nvPr/>
        </p:nvSpPr>
        <p:spPr>
          <a:xfrm>
            <a:off x="8097043" y="3837495"/>
            <a:ext cx="30718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dirty="0" err="1">
                <a:solidFill>
                  <a:srgbClr val="151327"/>
                </a:solidFill>
                <a:effectLst/>
                <a:uFillTx/>
                <a:latin typeface="Aptos Display"/>
                <a:ea typeface="Aptos Display"/>
              </a:rPr>
              <a:t>Bucle</a:t>
            </a:r>
            <a:r>
              <a:rPr lang="en-US" sz="1500" b="1" u="none" strike="noStrike" dirty="0">
                <a:solidFill>
                  <a:srgbClr val="151327"/>
                </a:solidFill>
                <a:effectLst/>
                <a:uFillTx/>
                <a:latin typeface="Aptos Display"/>
                <a:ea typeface="Aptos Display"/>
              </a:rPr>
              <a:t> de </a:t>
            </a:r>
            <a:r>
              <a:rPr lang="en-US" sz="1500" b="1" u="none" strike="noStrike" dirty="0" err="1">
                <a:solidFill>
                  <a:srgbClr val="151327"/>
                </a:solidFill>
                <a:effectLst/>
                <a:uFillTx/>
                <a:latin typeface="Aptos Display"/>
                <a:ea typeface="Aptos Display"/>
              </a:rPr>
              <a:t>Retroalime</a:t>
            </a:r>
            <a:r>
              <a:rPr lang="en-US" sz="1500" b="1" dirty="0" err="1">
                <a:solidFill>
                  <a:srgbClr val="151327"/>
                </a:solidFill>
                <a:latin typeface="Aptos Display"/>
                <a:ea typeface="Aptos Display"/>
              </a:rPr>
              <a:t>ntación</a:t>
            </a:r>
            <a:endParaRPr lang="en-US" sz="1500" b="0" u="none" strike="noStrike" dirty="0">
              <a:solidFill>
                <a:srgbClr val="000000"/>
              </a:solidFill>
              <a:effectLst/>
              <a:uFillTx/>
              <a:latin typeface="Arial"/>
            </a:endParaRPr>
          </a:p>
        </p:txBody>
      </p:sp>
      <p:sp>
        <p:nvSpPr>
          <p:cNvPr id="356" name="Text 39"/>
          <p:cNvSpPr/>
          <p:nvPr/>
        </p:nvSpPr>
        <p:spPr>
          <a:xfrm>
            <a:off x="8151763" y="4275974"/>
            <a:ext cx="2962440" cy="571233"/>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200" b="0" u="none" strike="noStrike" dirty="0" err="1">
                <a:solidFill>
                  <a:srgbClr val="6F6888"/>
                </a:solidFill>
                <a:effectLst/>
                <a:uFillTx/>
                <a:latin typeface="Aptos"/>
                <a:ea typeface="Aptos"/>
              </a:rPr>
              <a:t>Campaña</a:t>
            </a:r>
            <a:r>
              <a:rPr lang="en-US" sz="1200" b="0" u="none" strike="noStrike" dirty="0">
                <a:solidFill>
                  <a:srgbClr val="6F6888"/>
                </a:solidFill>
                <a:effectLst/>
                <a:uFillTx/>
                <a:latin typeface="Aptos"/>
                <a:ea typeface="Aptos"/>
              </a:rPr>
              <a:t> → lead → </a:t>
            </a:r>
            <a:r>
              <a:rPr lang="en-US" sz="1200" b="0" u="none" strike="noStrike" dirty="0" err="1">
                <a:solidFill>
                  <a:srgbClr val="6F6888"/>
                </a:solidFill>
                <a:effectLst/>
                <a:uFillTx/>
                <a:latin typeface="Aptos"/>
                <a:ea typeface="Aptos"/>
              </a:rPr>
              <a:t>calificado</a:t>
            </a:r>
            <a:r>
              <a:rPr lang="en-US" sz="1200" b="0" u="none" strike="noStrike" dirty="0">
                <a:solidFill>
                  <a:srgbClr val="6F6888"/>
                </a:solidFill>
                <a:effectLst/>
                <a:uFillTx/>
                <a:latin typeface="Aptos"/>
                <a:ea typeface="Aptos"/>
              </a:rPr>
              <a:t> → visita </a:t>
            </a:r>
            <a:r>
              <a:rPr lang="en-US" sz="1200" b="0" u="none" strike="noStrike" dirty="0" err="1">
                <a:solidFill>
                  <a:srgbClr val="6F6888"/>
                </a:solidFill>
                <a:effectLst/>
                <a:uFillTx/>
                <a:latin typeface="Aptos"/>
                <a:ea typeface="Aptos"/>
              </a:rPr>
              <a:t>solicitada</a:t>
            </a:r>
            <a:r>
              <a:rPr lang="en-US" sz="1200" b="0" u="none" strike="noStrike" dirty="0">
                <a:solidFill>
                  <a:srgbClr val="6F6888"/>
                </a:solidFill>
                <a:effectLst/>
                <a:uFillTx/>
                <a:latin typeface="Aptos"/>
                <a:ea typeface="Aptos"/>
              </a:rPr>
              <a:t> → visita </a:t>
            </a:r>
            <a:r>
              <a:rPr lang="en-US" sz="1200" b="0" u="none" strike="noStrike" dirty="0" err="1">
                <a:solidFill>
                  <a:srgbClr val="6F6888"/>
                </a:solidFill>
                <a:effectLst/>
                <a:uFillTx/>
                <a:latin typeface="Aptos"/>
                <a:ea typeface="Aptos"/>
              </a:rPr>
              <a:t>realizada</a:t>
            </a:r>
            <a:r>
              <a:rPr lang="en-US" sz="1200" b="0" u="none" strike="noStrike" dirty="0">
                <a:solidFill>
                  <a:srgbClr val="6F6888"/>
                </a:solidFill>
                <a:effectLst/>
                <a:uFillTx/>
                <a:latin typeface="Aptos"/>
                <a:ea typeface="Aptos"/>
              </a:rPr>
              <a:t> → </a:t>
            </a:r>
            <a:r>
              <a:rPr lang="en-US" sz="1200" b="0" u="none" strike="noStrike" dirty="0" err="1">
                <a:solidFill>
                  <a:srgbClr val="6F6888"/>
                </a:solidFill>
                <a:effectLst/>
                <a:uFillTx/>
                <a:latin typeface="Aptos"/>
                <a:ea typeface="Aptos"/>
              </a:rPr>
              <a:t>señal</a:t>
            </a:r>
            <a:r>
              <a:rPr lang="en-US" sz="1200" b="0" u="none" strike="noStrike" dirty="0">
                <a:solidFill>
                  <a:srgbClr val="6F6888"/>
                </a:solidFill>
                <a:effectLst/>
                <a:uFillTx/>
                <a:latin typeface="Aptos"/>
                <a:ea typeface="Aptos"/>
              </a:rPr>
              <a:t> </a:t>
            </a:r>
            <a:r>
              <a:rPr lang="en-US" sz="1200" dirty="0">
                <a:solidFill>
                  <a:srgbClr val="6F6888"/>
                </a:solidFill>
                <a:latin typeface="Aptos"/>
                <a:ea typeface="Aptos"/>
              </a:rPr>
              <a:t>de </a:t>
            </a:r>
            <a:r>
              <a:rPr lang="en-US" sz="1200" dirty="0" err="1">
                <a:solidFill>
                  <a:srgbClr val="6F6888"/>
                </a:solidFill>
                <a:latin typeface="Aptos"/>
                <a:ea typeface="Aptos"/>
              </a:rPr>
              <a:t>transacción</a:t>
            </a:r>
            <a:r>
              <a:rPr lang="en-US" sz="1200" b="0" u="none" strike="noStrike" dirty="0">
                <a:solidFill>
                  <a:srgbClr val="6F6888"/>
                </a:solidFill>
                <a:effectLst/>
                <a:uFillTx/>
                <a:latin typeface="Aptos"/>
                <a:ea typeface="Aptos"/>
              </a:rPr>
              <a:t>.</a:t>
            </a:r>
            <a:endParaRPr lang="en-US" sz="1200" b="0" u="none" strike="noStrike" dirty="0">
              <a:solidFill>
                <a:srgbClr val="000000"/>
              </a:solidFill>
              <a:effectLst/>
              <a:uFillTx/>
              <a:latin typeface="Arial"/>
            </a:endParaRPr>
          </a:p>
        </p:txBody>
      </p:sp>
      <p:sp>
        <p:nvSpPr>
          <p:cNvPr id="357" name="Shape 40"/>
          <p:cNvSpPr/>
          <p:nvPr/>
        </p:nvSpPr>
        <p:spPr>
          <a:xfrm>
            <a:off x="1038687" y="5621785"/>
            <a:ext cx="9934113" cy="676700"/>
          </a:xfrm>
          <a:prstGeom prst="roundRect">
            <a:avLst>
              <a:gd name="adj" fmla="val 16667"/>
            </a:avLst>
          </a:prstGeom>
          <a:solidFill>
            <a:srgbClr val="F1EBFF"/>
          </a:solidFill>
          <a:ln w="12700">
            <a:solidFill>
              <a:srgbClr val="F1EB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8" name="Text 41"/>
          <p:cNvSpPr/>
          <p:nvPr/>
        </p:nvSpPr>
        <p:spPr>
          <a:xfrm>
            <a:off x="2246242" y="5676505"/>
            <a:ext cx="7832035" cy="58379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tabLst>
                <a:tab pos="0" algn="l"/>
              </a:tabLst>
            </a:pPr>
            <a:r>
              <a:rPr lang="es-ES" sz="1400" dirty="0">
                <a:solidFill>
                  <a:srgbClr val="5F2CCB"/>
                </a:solidFill>
                <a:ea typeface="Aptos"/>
              </a:rPr>
              <a:t>Las </a:t>
            </a:r>
            <a:r>
              <a:rPr lang="es-ES" sz="1400" b="1" dirty="0">
                <a:solidFill>
                  <a:srgbClr val="5F2CCB"/>
                </a:solidFill>
                <a:ea typeface="Aptos"/>
              </a:rPr>
              <a:t>Operaciones de Demanda (DO) </a:t>
            </a:r>
            <a:r>
              <a:rPr lang="es-ES" sz="1400" dirty="0">
                <a:solidFill>
                  <a:srgbClr val="5F2CCB"/>
                </a:solidFill>
                <a:ea typeface="Aptos"/>
              </a:rPr>
              <a:t>y las </a:t>
            </a:r>
            <a:r>
              <a:rPr lang="es-ES" sz="1400" b="1" dirty="0">
                <a:solidFill>
                  <a:srgbClr val="5F2CCB"/>
                </a:solidFill>
                <a:ea typeface="Aptos"/>
              </a:rPr>
              <a:t>Operaciones de Relaciones (RO) </a:t>
            </a:r>
            <a:r>
              <a:rPr lang="es-ES" sz="1400" dirty="0">
                <a:solidFill>
                  <a:srgbClr val="5F2CCB"/>
                </a:solidFill>
                <a:ea typeface="Aptos"/>
              </a:rPr>
              <a:t>deberían compartir el mismo núcleo operativo </a:t>
            </a:r>
            <a:r>
              <a:rPr lang="es-ES" sz="1400" dirty="0" err="1">
                <a:solidFill>
                  <a:srgbClr val="5F2CCB"/>
                </a:solidFill>
                <a:ea typeface="Aptos"/>
              </a:rPr>
              <a:t>Gu</a:t>
            </a:r>
            <a:r>
              <a:rPr lang="es-ES" sz="1400" dirty="0">
                <a:solidFill>
                  <a:srgbClr val="5F2CCB"/>
                </a:solidFill>
                <a:ea typeface="Aptos"/>
              </a:rPr>
              <a:t> OS.</a:t>
            </a:r>
            <a:endParaRPr lang="en-US" sz="1400" u="none" strike="noStrike" dirty="0">
              <a:solidFill>
                <a:srgbClr val="000000"/>
              </a:solidFill>
              <a:effectLst/>
              <a:uFillTx/>
              <a:latin typeface="Arial"/>
            </a:endParaRPr>
          </a:p>
        </p:txBody>
      </p:sp>
      <p:pic>
        <p:nvPicPr>
          <p:cNvPr id="3" name="Image 0" descr="/mnt/data/ungga_logo_purple.png">
            <a:extLst>
              <a:ext uri="{FF2B5EF4-FFF2-40B4-BE49-F238E27FC236}">
                <a16:creationId xmlns:a16="http://schemas.microsoft.com/office/drawing/2014/main" id="{EC718585-8140-AC18-470B-20F37A7727E4}"/>
              </a:ext>
            </a:extLst>
          </p:cNvPr>
          <p:cNvPicPr>
            <a:picLocks noChangeAspect="1"/>
          </p:cNvPicPr>
          <p:nvPr/>
        </p:nvPicPr>
        <p:blipFill>
          <a:blip r:embed="rId3"/>
          <a:stretch>
            <a:fillRect/>
          </a:stretch>
        </p:blipFill>
        <p:spPr>
          <a:xfrm>
            <a:off x="11109960" y="449715"/>
            <a:ext cx="566928" cy="472170"/>
          </a:xfrm>
          <a:prstGeom prst="rect">
            <a:avLst/>
          </a:prstGeom>
        </p:spPr>
      </p:pic>
      <p:grpSp>
        <p:nvGrpSpPr>
          <p:cNvPr id="2" name="Grupo 1">
            <a:extLst>
              <a:ext uri="{FF2B5EF4-FFF2-40B4-BE49-F238E27FC236}">
                <a16:creationId xmlns:a16="http://schemas.microsoft.com/office/drawing/2014/main" id="{5CA198F3-D502-F137-61FC-733C0B39475F}"/>
              </a:ext>
            </a:extLst>
          </p:cNvPr>
          <p:cNvGrpSpPr/>
          <p:nvPr/>
        </p:nvGrpSpPr>
        <p:grpSpPr>
          <a:xfrm>
            <a:off x="2608164" y="366137"/>
            <a:ext cx="683676" cy="319663"/>
            <a:chOff x="4083894" y="3029717"/>
            <a:chExt cx="1068958" cy="319663"/>
          </a:xfrm>
        </p:grpSpPr>
        <p:sp>
          <p:nvSpPr>
            <p:cNvPr id="4" name="Shape 10">
              <a:extLst>
                <a:ext uri="{FF2B5EF4-FFF2-40B4-BE49-F238E27FC236}">
                  <a16:creationId xmlns:a16="http://schemas.microsoft.com/office/drawing/2014/main" id="{F3760C5C-D721-A0D2-920F-922AC5D174B2}"/>
                </a:ext>
              </a:extLst>
            </p:cNvPr>
            <p:cNvSpPr/>
            <p:nvPr/>
          </p:nvSpPr>
          <p:spPr>
            <a:xfrm>
              <a:off x="4092148" y="3029717"/>
              <a:ext cx="1060704" cy="310896"/>
            </a:xfrm>
            <a:prstGeom prst="roundRect">
              <a:avLst>
                <a:gd name="adj" fmla="val 23529"/>
              </a:avLst>
            </a:prstGeom>
            <a:solidFill>
              <a:srgbClr val="FFF2E2"/>
            </a:solidFill>
            <a:ln w="12700">
              <a:solidFill>
                <a:srgbClr val="FFF2E2">
                  <a:alpha val="0"/>
                </a:srgbClr>
              </a:solidFill>
              <a:prstDash val="solid"/>
            </a:ln>
          </p:spPr>
          <p:txBody>
            <a:bodyPr/>
            <a:lstStyle/>
            <a:p>
              <a:endParaRPr lang="es-MX" dirty="0"/>
            </a:p>
          </p:txBody>
        </p:sp>
        <p:sp>
          <p:nvSpPr>
            <p:cNvPr id="5" name="Text 11">
              <a:extLst>
                <a:ext uri="{FF2B5EF4-FFF2-40B4-BE49-F238E27FC236}">
                  <a16:creationId xmlns:a16="http://schemas.microsoft.com/office/drawing/2014/main" id="{1E55A127-A589-20AE-029A-F2942EC1CC8D}"/>
                </a:ext>
              </a:extLst>
            </p:cNvPr>
            <p:cNvSpPr txBox="1"/>
            <p:nvPr/>
          </p:nvSpPr>
          <p:spPr>
            <a:xfrm>
              <a:off x="4083894" y="3038484"/>
              <a:ext cx="1060704" cy="310896"/>
            </a:xfrm>
            <a:prstGeom prst="rect">
              <a:avLst/>
            </a:prstGeom>
            <a:noFill/>
            <a:ln/>
          </p:spPr>
          <p:txBody>
            <a:bodyPr wrap="square" lIns="0" tIns="0" rIns="0" bIns="0" rtlCol="0" anchor="ctr">
              <a:normAutofit/>
            </a:bodyPr>
            <a:lstStyle/>
            <a:p>
              <a:pPr marL="0" indent="0" algn="ctr">
                <a:lnSpc>
                  <a:spcPct val="100000"/>
                </a:lnSpc>
                <a:buNone/>
              </a:pPr>
              <a:r>
                <a:rPr lang="en-US" sz="740" b="1" dirty="0">
                  <a:solidFill>
                    <a:srgbClr val="F0A44A"/>
                  </a:solidFill>
                  <a:latin typeface="Inter" pitchFamily="34" charset="0"/>
                  <a:ea typeface="Inter" pitchFamily="34" charset="-122"/>
                  <a:cs typeface="Inter" pitchFamily="34" charset="-120"/>
                </a:rPr>
                <a:t>EXPANSIÓN</a:t>
              </a:r>
              <a:endParaRPr lang="en-US" sz="740" dirty="0"/>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84048"/>
            <a:ext cx="4389120" cy="201168"/>
          </a:xfrm>
          <a:prstGeom prst="rect">
            <a:avLst/>
          </a:prstGeom>
          <a:noFill/>
          <a:ln/>
        </p:spPr>
        <p:txBody>
          <a:bodyPr wrap="square" lIns="0" tIns="0" rIns="0" bIns="0" rtlCol="0" anchor="t">
            <a:normAutofit/>
          </a:bodyPr>
          <a:lstStyle/>
          <a:p>
            <a:pPr marL="0" indent="0" algn="l">
              <a:buNone/>
            </a:pPr>
            <a:r>
              <a:rPr lang="en-US" sz="1200" b="1" dirty="0">
                <a:solidFill>
                  <a:srgbClr val="5E2BCF"/>
                </a:solidFill>
                <a:latin typeface="Inter Display" pitchFamily="34" charset="0"/>
                <a:ea typeface="Inter Display" pitchFamily="34" charset="-122"/>
                <a:cs typeface="Inter Display" pitchFamily="34" charset="-120"/>
              </a:rPr>
              <a:t>BUSINESS BRAIN E INTELIGENCIA COMPUESTA</a:t>
            </a:r>
            <a:endParaRPr lang="en-US" sz="1200" dirty="0"/>
          </a:p>
        </p:txBody>
      </p:sp>
      <p:sp>
        <p:nvSpPr>
          <p:cNvPr id="6" name="Text 4"/>
          <p:cNvSpPr/>
          <p:nvPr/>
        </p:nvSpPr>
        <p:spPr>
          <a:xfrm>
            <a:off x="566928" y="888298"/>
            <a:ext cx="10351008" cy="685800"/>
          </a:xfrm>
          <a:prstGeom prst="rect">
            <a:avLst/>
          </a:prstGeom>
          <a:noFill/>
          <a:ln/>
        </p:spPr>
        <p:txBody>
          <a:bodyPr wrap="square" lIns="0" tIns="0" rIns="0" bIns="0" rtlCol="0" anchor="t">
            <a:normAutofit fontScale="92500" lnSpcReduction="20000"/>
          </a:bodyPr>
          <a:lstStyle/>
          <a:p>
            <a:pPr marL="0" indent="0" algn="l">
              <a:buNone/>
            </a:pPr>
            <a:r>
              <a:rPr lang="en-US" sz="2800" b="1" dirty="0">
                <a:solidFill>
                  <a:srgbClr val="1F123E"/>
                </a:solidFill>
                <a:latin typeface="+mj-lt"/>
                <a:ea typeface="Inter Display" pitchFamily="34" charset="-122"/>
                <a:cs typeface="Inter Display" pitchFamily="34" charset="-120"/>
              </a:rPr>
              <a:t>El activo no es acumular más chat. Es convertir trabajo y resultados en inteligencia operativa.</a:t>
            </a:r>
            <a:endParaRPr lang="en-US" sz="2800" dirty="0">
              <a:latin typeface="+mj-lt"/>
            </a:endParaRPr>
          </a:p>
        </p:txBody>
      </p:sp>
      <p:sp>
        <p:nvSpPr>
          <p:cNvPr id="8" name="Shape 6"/>
          <p:cNvSpPr/>
          <p:nvPr/>
        </p:nvSpPr>
        <p:spPr>
          <a:xfrm>
            <a:off x="3518578" y="3730752"/>
            <a:ext cx="1161288" cy="0"/>
          </a:xfrm>
          <a:prstGeom prst="line">
            <a:avLst/>
          </a:prstGeom>
          <a:noFill/>
          <a:ln w="22860">
            <a:solidFill>
              <a:srgbClr val="5E2BCF"/>
            </a:solidFill>
            <a:prstDash val="solid"/>
            <a:headEnd type="none"/>
            <a:tailEnd type="triangle"/>
          </a:ln>
        </p:spPr>
        <p:txBody>
          <a:bodyPr/>
          <a:lstStyle/>
          <a:p>
            <a:endParaRPr lang="es-MX"/>
          </a:p>
        </p:txBody>
      </p:sp>
      <p:sp>
        <p:nvSpPr>
          <p:cNvPr id="9" name="Shape 7"/>
          <p:cNvSpPr/>
          <p:nvPr/>
        </p:nvSpPr>
        <p:spPr>
          <a:xfrm>
            <a:off x="7249507" y="3730752"/>
            <a:ext cx="896112" cy="0"/>
          </a:xfrm>
          <a:prstGeom prst="line">
            <a:avLst/>
          </a:prstGeom>
          <a:noFill/>
          <a:ln w="22860">
            <a:solidFill>
              <a:srgbClr val="5E2BCF"/>
            </a:solidFill>
            <a:prstDash val="solid"/>
            <a:headEnd type="none"/>
            <a:tailEnd type="triangle"/>
          </a:ln>
        </p:spPr>
        <p:txBody>
          <a:bodyPr/>
          <a:lstStyle/>
          <a:p>
            <a:endParaRPr lang="es-MX"/>
          </a:p>
        </p:txBody>
      </p:sp>
      <p:sp>
        <p:nvSpPr>
          <p:cNvPr id="10" name="Shape 8"/>
          <p:cNvSpPr/>
          <p:nvPr/>
        </p:nvSpPr>
        <p:spPr>
          <a:xfrm>
            <a:off x="566928" y="2578607"/>
            <a:ext cx="2880360" cy="2708279"/>
          </a:xfrm>
          <a:prstGeom prst="roundRect">
            <a:avLst>
              <a:gd name="adj" fmla="val 4255"/>
            </a:avLst>
          </a:prstGeom>
          <a:solidFill>
            <a:srgbClr val="FFFFFF"/>
          </a:solidFill>
          <a:ln w="15240">
            <a:solidFill>
              <a:srgbClr val="D8D3E8"/>
            </a:solidFill>
            <a:prstDash val="solid"/>
          </a:ln>
          <a:effectLst>
            <a:outerShdw blurRad="12700" dist="50800" dir="2700000" algn="bl" rotWithShape="0">
              <a:srgbClr val="BDB8C8">
                <a:alpha val="22000"/>
              </a:srgbClr>
            </a:outerShdw>
          </a:effectLst>
        </p:spPr>
        <p:txBody>
          <a:bodyPr/>
          <a:lstStyle/>
          <a:p>
            <a:endParaRPr lang="es-MX"/>
          </a:p>
        </p:txBody>
      </p:sp>
      <p:sp>
        <p:nvSpPr>
          <p:cNvPr id="11" name="Text 9"/>
          <p:cNvSpPr/>
          <p:nvPr/>
        </p:nvSpPr>
        <p:spPr>
          <a:xfrm>
            <a:off x="859536" y="2662098"/>
            <a:ext cx="2377440" cy="347472"/>
          </a:xfrm>
          <a:prstGeom prst="rect">
            <a:avLst/>
          </a:prstGeom>
          <a:noFill/>
          <a:ln/>
        </p:spPr>
        <p:txBody>
          <a:bodyPr wrap="square" lIns="0" tIns="0" rIns="0" bIns="0" rtlCol="0" anchor="t">
            <a:noAutofit/>
          </a:bodyPr>
          <a:lstStyle/>
          <a:p>
            <a:pPr marL="0" indent="0" algn="ctr">
              <a:buNone/>
            </a:pPr>
            <a:r>
              <a:rPr lang="en-US" sz="1600" b="1" dirty="0">
                <a:solidFill>
                  <a:srgbClr val="1F123E"/>
                </a:solidFill>
                <a:latin typeface="Inter Display" pitchFamily="34" charset="0"/>
                <a:ea typeface="Inter Display" pitchFamily="34" charset="-122"/>
                <a:cs typeface="Inter Display" pitchFamily="34" charset="-120"/>
              </a:rPr>
              <a:t>Fuentes autoritativas</a:t>
            </a:r>
            <a:endParaRPr lang="en-US" sz="1600" dirty="0"/>
          </a:p>
          <a:p>
            <a:pPr marL="0" indent="0" algn="ctr">
              <a:buNone/>
            </a:pPr>
            <a:r>
              <a:rPr lang="en-US" sz="1600" b="1" dirty="0">
                <a:solidFill>
                  <a:srgbClr val="1F123E"/>
                </a:solidFill>
                <a:latin typeface="Inter Display" pitchFamily="34" charset="0"/>
                <a:ea typeface="Inter Display" pitchFamily="34" charset="-122"/>
                <a:cs typeface="Inter Display" pitchFamily="34" charset="-120"/>
              </a:rPr>
              <a:t>y evidencia</a:t>
            </a:r>
            <a:endParaRPr lang="en-US" sz="1600" dirty="0"/>
          </a:p>
        </p:txBody>
      </p:sp>
      <p:sp>
        <p:nvSpPr>
          <p:cNvPr id="12" name="Shape 10"/>
          <p:cNvSpPr/>
          <p:nvPr/>
        </p:nvSpPr>
        <p:spPr>
          <a:xfrm>
            <a:off x="695607" y="3282430"/>
            <a:ext cx="2602992" cy="548640"/>
          </a:xfrm>
          <a:prstGeom prst="roundRect">
            <a:avLst>
              <a:gd name="adj" fmla="val 15000"/>
            </a:avLst>
          </a:prstGeom>
          <a:solidFill>
            <a:srgbClr val="F4EFFF"/>
          </a:solidFill>
          <a:ln w="15240">
            <a:solidFill>
              <a:srgbClr val="5E2BCF"/>
            </a:solidFill>
            <a:prstDash val="solid"/>
          </a:ln>
          <a:effectLst>
            <a:outerShdw blurRad="12700" dist="50800" dir="2700000" algn="bl" rotWithShape="0">
              <a:srgbClr val="BDB8C8">
                <a:alpha val="22000"/>
              </a:srgbClr>
            </a:outerShdw>
          </a:effectLst>
        </p:spPr>
        <p:txBody>
          <a:bodyPr/>
          <a:lstStyle/>
          <a:p>
            <a:endParaRPr lang="es-MX"/>
          </a:p>
        </p:txBody>
      </p:sp>
      <p:sp>
        <p:nvSpPr>
          <p:cNvPr id="14" name="Shape 12"/>
          <p:cNvSpPr/>
          <p:nvPr/>
        </p:nvSpPr>
        <p:spPr>
          <a:xfrm>
            <a:off x="695607" y="3913632"/>
            <a:ext cx="2602992" cy="548640"/>
          </a:xfrm>
          <a:prstGeom prst="roundRect">
            <a:avLst>
              <a:gd name="adj" fmla="val 15000"/>
            </a:avLst>
          </a:prstGeom>
          <a:solidFill>
            <a:srgbClr val="E9F8F1"/>
          </a:solidFill>
          <a:ln w="15240">
            <a:solidFill>
              <a:srgbClr val="078B55"/>
            </a:solidFill>
            <a:prstDash val="solid"/>
          </a:ln>
          <a:effectLst>
            <a:outerShdw blurRad="12700" dist="50800" dir="2700000" algn="bl" rotWithShape="0">
              <a:srgbClr val="BDB8C8">
                <a:alpha val="22000"/>
              </a:srgbClr>
            </a:outerShdw>
          </a:effectLst>
        </p:spPr>
        <p:txBody>
          <a:bodyPr/>
          <a:lstStyle/>
          <a:p>
            <a:endParaRPr lang="es-MX"/>
          </a:p>
        </p:txBody>
      </p:sp>
      <p:sp>
        <p:nvSpPr>
          <p:cNvPr id="16" name="Shape 14"/>
          <p:cNvSpPr/>
          <p:nvPr/>
        </p:nvSpPr>
        <p:spPr>
          <a:xfrm>
            <a:off x="695607" y="4553712"/>
            <a:ext cx="2602992" cy="548640"/>
          </a:xfrm>
          <a:prstGeom prst="roundRect">
            <a:avLst>
              <a:gd name="adj" fmla="val 15000"/>
            </a:avLst>
          </a:prstGeom>
          <a:solidFill>
            <a:srgbClr val="FFF2DB"/>
          </a:solidFill>
          <a:ln w="15240">
            <a:solidFill>
              <a:srgbClr val="F49322"/>
            </a:solidFill>
            <a:prstDash val="solid"/>
          </a:ln>
          <a:effectLst>
            <a:outerShdw blurRad="12700" dist="50800" dir="2700000" algn="bl" rotWithShape="0">
              <a:srgbClr val="BDB8C8">
                <a:alpha val="22000"/>
              </a:srgbClr>
            </a:outerShdw>
          </a:effectLst>
        </p:spPr>
        <p:txBody>
          <a:bodyPr/>
          <a:lstStyle/>
          <a:p>
            <a:endParaRPr lang="es-MX"/>
          </a:p>
        </p:txBody>
      </p:sp>
      <p:sp>
        <p:nvSpPr>
          <p:cNvPr id="18" name="Text 16"/>
          <p:cNvSpPr/>
          <p:nvPr/>
        </p:nvSpPr>
        <p:spPr>
          <a:xfrm>
            <a:off x="3487855" y="3210131"/>
            <a:ext cx="1192012" cy="402336"/>
          </a:xfrm>
          <a:prstGeom prst="rect">
            <a:avLst/>
          </a:prstGeom>
          <a:noFill/>
          <a:ln/>
        </p:spPr>
        <p:txBody>
          <a:bodyPr wrap="square" lIns="0" tIns="0" rIns="0" bIns="0" rtlCol="0" anchor="t">
            <a:noAutofit/>
          </a:bodyPr>
          <a:lstStyle/>
          <a:p>
            <a:pPr marL="0" indent="0" algn="ctr">
              <a:buNone/>
            </a:pPr>
            <a:r>
              <a:rPr lang="en-US" sz="1000" dirty="0" err="1">
                <a:solidFill>
                  <a:srgbClr val="6E6684"/>
                </a:solidFill>
                <a:latin typeface="Inter" pitchFamily="34" charset="0"/>
                <a:ea typeface="Inter" pitchFamily="34" charset="-122"/>
                <a:cs typeface="Inter" pitchFamily="34" charset="-120"/>
              </a:rPr>
              <a:t>anclaje</a:t>
            </a:r>
            <a:r>
              <a:rPr lang="en-US" sz="1000" dirty="0">
                <a:solidFill>
                  <a:srgbClr val="6E6684"/>
                </a:solidFill>
                <a:latin typeface="Inter" pitchFamily="34" charset="0"/>
                <a:ea typeface="Inter" pitchFamily="34" charset="-122"/>
                <a:cs typeface="Inter" pitchFamily="34" charset="-120"/>
              </a:rPr>
              <a:t> en </a:t>
            </a:r>
            <a:r>
              <a:rPr lang="en-US" sz="1000" dirty="0" err="1">
                <a:solidFill>
                  <a:srgbClr val="6E6684"/>
                </a:solidFill>
                <a:latin typeface="Inter" pitchFamily="34" charset="0"/>
                <a:ea typeface="Inter" pitchFamily="34" charset="-122"/>
                <a:cs typeface="Inter" pitchFamily="34" charset="-120"/>
              </a:rPr>
              <a:t>fuentes</a:t>
            </a:r>
            <a:r>
              <a:rPr lang="en-US" sz="1000" dirty="0">
                <a:solidFill>
                  <a:srgbClr val="6E6684"/>
                </a:solidFill>
                <a:latin typeface="Inter" pitchFamily="34" charset="0"/>
                <a:ea typeface="Inter" pitchFamily="34" charset="-122"/>
                <a:cs typeface="Inter" pitchFamily="34" charset="-120"/>
              </a:rPr>
              <a:t> </a:t>
            </a:r>
            <a:r>
              <a:rPr lang="en-US" sz="1000" dirty="0" err="1">
                <a:solidFill>
                  <a:srgbClr val="6E6684"/>
                </a:solidFill>
                <a:latin typeface="Inter" pitchFamily="34" charset="0"/>
                <a:ea typeface="Inter" pitchFamily="34" charset="-122"/>
                <a:cs typeface="Inter" pitchFamily="34" charset="-120"/>
              </a:rPr>
              <a:t>autoritativas</a:t>
            </a:r>
            <a:r>
              <a:rPr lang="en-US" sz="1000" dirty="0">
                <a:solidFill>
                  <a:srgbClr val="6E6684"/>
                </a:solidFill>
                <a:latin typeface="Inter" pitchFamily="34" charset="0"/>
                <a:ea typeface="Inter" pitchFamily="34" charset="-122"/>
                <a:cs typeface="Inter" pitchFamily="34" charset="-120"/>
              </a:rPr>
              <a:t> +</a:t>
            </a:r>
            <a:endParaRPr lang="en-US" sz="1000" dirty="0"/>
          </a:p>
          <a:p>
            <a:pPr marL="0" indent="0" algn="ctr">
              <a:buNone/>
            </a:pPr>
            <a:r>
              <a:rPr lang="en-US" sz="1000" dirty="0">
                <a:solidFill>
                  <a:srgbClr val="6E6684"/>
                </a:solidFill>
                <a:latin typeface="Inter" pitchFamily="34" charset="0"/>
                <a:ea typeface="Inter" pitchFamily="34" charset="-122"/>
                <a:cs typeface="Inter" pitchFamily="34" charset="-120"/>
              </a:rPr>
              <a:t>promoción selectiva</a:t>
            </a:r>
            <a:endParaRPr lang="en-US" sz="1000" dirty="0"/>
          </a:p>
        </p:txBody>
      </p:sp>
      <p:sp>
        <p:nvSpPr>
          <p:cNvPr id="19" name="Text 17"/>
          <p:cNvSpPr/>
          <p:nvPr/>
        </p:nvSpPr>
        <p:spPr>
          <a:xfrm>
            <a:off x="7276762" y="3344396"/>
            <a:ext cx="694944" cy="384048"/>
          </a:xfrm>
          <a:prstGeom prst="rect">
            <a:avLst/>
          </a:prstGeom>
          <a:noFill/>
          <a:ln/>
        </p:spPr>
        <p:txBody>
          <a:bodyPr wrap="square" lIns="0" tIns="0" rIns="0" bIns="0" rtlCol="0" anchor="t">
            <a:normAutofit/>
          </a:bodyPr>
          <a:lstStyle/>
          <a:p>
            <a:pPr marL="0" indent="0" algn="ctr">
              <a:buNone/>
            </a:pPr>
            <a:r>
              <a:rPr lang="en-US" sz="1000" dirty="0">
                <a:solidFill>
                  <a:srgbClr val="6E6684"/>
                </a:solidFill>
                <a:latin typeface="Inter" pitchFamily="34" charset="0"/>
                <a:ea typeface="Inter" pitchFamily="34" charset="-122"/>
                <a:cs typeface="Inter" pitchFamily="34" charset="-120"/>
              </a:rPr>
              <a:t>consulta +</a:t>
            </a:r>
            <a:endParaRPr lang="en-US" sz="1000" dirty="0"/>
          </a:p>
          <a:p>
            <a:pPr marL="0" indent="0" algn="ctr">
              <a:buNone/>
            </a:pPr>
            <a:r>
              <a:rPr lang="en-US" sz="1000" dirty="0">
                <a:solidFill>
                  <a:srgbClr val="6E6684"/>
                </a:solidFill>
                <a:latin typeface="Inter" pitchFamily="34" charset="0"/>
                <a:ea typeface="Inter" pitchFamily="34" charset="-122"/>
                <a:cs typeface="Inter" pitchFamily="34" charset="-120"/>
              </a:rPr>
              <a:t>síntesis</a:t>
            </a:r>
            <a:endParaRPr lang="en-US" sz="1000" dirty="0"/>
          </a:p>
        </p:txBody>
      </p:sp>
      <p:grpSp>
        <p:nvGrpSpPr>
          <p:cNvPr id="53" name="Grupo 52">
            <a:extLst>
              <a:ext uri="{FF2B5EF4-FFF2-40B4-BE49-F238E27FC236}">
                <a16:creationId xmlns:a16="http://schemas.microsoft.com/office/drawing/2014/main" id="{2B310031-251A-A8F8-CBD0-478B236B853E}"/>
              </a:ext>
            </a:extLst>
          </p:cNvPr>
          <p:cNvGrpSpPr/>
          <p:nvPr/>
        </p:nvGrpSpPr>
        <p:grpSpPr>
          <a:xfrm>
            <a:off x="4796610" y="2578608"/>
            <a:ext cx="2395728" cy="2395728"/>
            <a:chOff x="4663440" y="2578608"/>
            <a:chExt cx="2395728" cy="2395728"/>
          </a:xfrm>
        </p:grpSpPr>
        <p:sp>
          <p:nvSpPr>
            <p:cNvPr id="20" name="Shape 18"/>
            <p:cNvSpPr/>
            <p:nvPr/>
          </p:nvSpPr>
          <p:spPr>
            <a:xfrm>
              <a:off x="4663440" y="2578608"/>
              <a:ext cx="2395728" cy="2395728"/>
            </a:xfrm>
            <a:prstGeom prst="ellipse">
              <a:avLst/>
            </a:prstGeom>
            <a:solidFill>
              <a:srgbClr val="1F123E"/>
            </a:solidFill>
            <a:ln w="12700">
              <a:solidFill>
                <a:srgbClr val="1F123E"/>
              </a:solidFill>
              <a:prstDash val="solid"/>
            </a:ln>
            <a:effectLst>
              <a:outerShdw blurRad="12700" dist="50800" dir="2700000" algn="bl" rotWithShape="0">
                <a:srgbClr val="BDB8C8">
                  <a:alpha val="25000"/>
                </a:srgbClr>
              </a:outerShdw>
            </a:effectLst>
          </p:spPr>
          <p:txBody>
            <a:bodyPr/>
            <a:lstStyle/>
            <a:p>
              <a:endParaRPr lang="es-MX"/>
            </a:p>
          </p:txBody>
        </p:sp>
        <p:sp>
          <p:nvSpPr>
            <p:cNvPr id="21" name="Text 19"/>
            <p:cNvSpPr/>
            <p:nvPr/>
          </p:nvSpPr>
          <p:spPr>
            <a:xfrm>
              <a:off x="4828032" y="3152818"/>
              <a:ext cx="2057400" cy="521208"/>
            </a:xfrm>
            <a:prstGeom prst="rect">
              <a:avLst/>
            </a:prstGeom>
            <a:noFill/>
            <a:ln/>
          </p:spPr>
          <p:txBody>
            <a:bodyPr wrap="square" lIns="0" tIns="0" rIns="0" bIns="0" rtlCol="0" anchor="ctr">
              <a:normAutofit fontScale="92500" lnSpcReduction="20000"/>
            </a:bodyPr>
            <a:lstStyle/>
            <a:p>
              <a:pPr marL="0" indent="0" algn="ctr">
                <a:buNone/>
              </a:pPr>
              <a:r>
                <a:rPr lang="en-US" sz="2250" b="1" dirty="0">
                  <a:solidFill>
                    <a:srgbClr val="FFFFFF"/>
                  </a:solidFill>
                  <a:latin typeface="Inter Display" pitchFamily="34" charset="0"/>
                  <a:ea typeface="Inter Display" pitchFamily="34" charset="-122"/>
                  <a:cs typeface="Inter Display" pitchFamily="34" charset="-120"/>
                </a:rPr>
                <a:t>Business</a:t>
              </a:r>
              <a:endParaRPr lang="en-US" sz="2250" dirty="0"/>
            </a:p>
            <a:p>
              <a:pPr marL="0" indent="0" algn="ctr">
                <a:buNone/>
              </a:pPr>
              <a:r>
                <a:rPr lang="en-US" sz="2250" b="1" dirty="0">
                  <a:solidFill>
                    <a:srgbClr val="FFFFFF"/>
                  </a:solidFill>
                  <a:latin typeface="Inter Display" pitchFamily="34" charset="0"/>
                  <a:ea typeface="Inter Display" pitchFamily="34" charset="-122"/>
                  <a:cs typeface="Inter Display" pitchFamily="34" charset="-120"/>
                </a:rPr>
                <a:t>Brain</a:t>
              </a:r>
              <a:endParaRPr lang="en-US" sz="2250" dirty="0"/>
            </a:p>
          </p:txBody>
        </p:sp>
        <p:sp>
          <p:nvSpPr>
            <p:cNvPr id="22" name="Text 20"/>
            <p:cNvSpPr/>
            <p:nvPr/>
          </p:nvSpPr>
          <p:spPr>
            <a:xfrm>
              <a:off x="4892040" y="3738034"/>
              <a:ext cx="1920240" cy="338328"/>
            </a:xfrm>
            <a:prstGeom prst="rect">
              <a:avLst/>
            </a:prstGeom>
            <a:noFill/>
            <a:ln/>
          </p:spPr>
          <p:txBody>
            <a:bodyPr wrap="square" lIns="0" tIns="0" rIns="0" bIns="0" rtlCol="0" anchor="t">
              <a:noAutofit/>
            </a:bodyPr>
            <a:lstStyle/>
            <a:p>
              <a:pPr marL="0" indent="0" algn="ctr">
                <a:buNone/>
              </a:pPr>
              <a:r>
                <a:rPr lang="en-US" sz="1200" b="1" dirty="0">
                  <a:solidFill>
                    <a:srgbClr val="DCD2FF"/>
                  </a:solidFill>
                  <a:latin typeface="Inter" pitchFamily="34" charset="0"/>
                  <a:ea typeface="Inter" pitchFamily="34" charset="-122"/>
                  <a:cs typeface="Inter" pitchFamily="34" charset="-120"/>
                </a:rPr>
                <a:t>Brain Layer</a:t>
              </a:r>
              <a:endParaRPr lang="en-US" sz="1200" dirty="0"/>
            </a:p>
            <a:p>
              <a:pPr marL="0" indent="0" algn="ctr">
                <a:buNone/>
              </a:pPr>
              <a:r>
                <a:rPr lang="en-US" sz="1200" b="1" dirty="0">
                  <a:solidFill>
                    <a:srgbClr val="DCD2FF"/>
                  </a:solidFill>
                  <a:latin typeface="Inter" pitchFamily="34" charset="0"/>
                  <a:ea typeface="Inter" pitchFamily="34" charset="-122"/>
                  <a:cs typeface="Inter" pitchFamily="34" charset="-120"/>
                </a:rPr>
                <a:t>de Gu OS</a:t>
              </a:r>
              <a:endParaRPr lang="en-US" sz="1200" dirty="0"/>
            </a:p>
          </p:txBody>
        </p:sp>
        <p:sp>
          <p:nvSpPr>
            <p:cNvPr id="23" name="Text 21"/>
            <p:cNvSpPr/>
            <p:nvPr/>
          </p:nvSpPr>
          <p:spPr>
            <a:xfrm>
              <a:off x="4773168" y="4274337"/>
              <a:ext cx="2176272" cy="521207"/>
            </a:xfrm>
            <a:prstGeom prst="rect">
              <a:avLst/>
            </a:prstGeom>
            <a:noFill/>
            <a:ln/>
          </p:spPr>
          <p:txBody>
            <a:bodyPr wrap="square" lIns="0" tIns="0" rIns="0" bIns="0" rtlCol="0" anchor="t">
              <a:normAutofit/>
            </a:bodyPr>
            <a:lstStyle/>
            <a:p>
              <a:pPr marL="0" indent="0" algn="ctr">
                <a:buNone/>
              </a:pPr>
              <a:r>
                <a:rPr lang="es-ES" sz="1000" dirty="0">
                  <a:solidFill>
                    <a:srgbClr val="FFFFFF"/>
                  </a:solidFill>
                  <a:latin typeface="Inter" pitchFamily="34" charset="0"/>
                  <a:ea typeface="Inter" pitchFamily="34" charset="-122"/>
                  <a:cs typeface="Inter" pitchFamily="34" charset="-120"/>
                </a:rPr>
                <a:t>contexto · relaciones · señales · conocimiento </a:t>
              </a:r>
              <a:r>
                <a:rPr lang="es-ES" sz="1000" dirty="0" err="1">
                  <a:solidFill>
                    <a:srgbClr val="FFFFFF"/>
                  </a:solidFill>
                  <a:latin typeface="Inter" pitchFamily="34" charset="0"/>
                  <a:ea typeface="Inter" pitchFamily="34" charset="-122"/>
                  <a:cs typeface="Inter" pitchFamily="34" charset="-120"/>
                </a:rPr>
                <a:t>cross</a:t>
              </a:r>
              <a:r>
                <a:rPr lang="es-ES" sz="1000" dirty="0">
                  <a:solidFill>
                    <a:srgbClr val="FFFFFF"/>
                  </a:solidFill>
                  <a:latin typeface="Inter" pitchFamily="34" charset="0"/>
                  <a:ea typeface="Inter" pitchFamily="34" charset="-122"/>
                  <a:cs typeface="Inter" pitchFamily="34" charset="-120"/>
                </a:rPr>
                <a:t>-Case</a:t>
              </a:r>
              <a:endParaRPr lang="en-US" sz="1000" dirty="0"/>
            </a:p>
          </p:txBody>
        </p:sp>
        <p:grpSp>
          <p:nvGrpSpPr>
            <p:cNvPr id="34" name="Grupo 33">
              <a:extLst>
                <a:ext uri="{FF2B5EF4-FFF2-40B4-BE49-F238E27FC236}">
                  <a16:creationId xmlns:a16="http://schemas.microsoft.com/office/drawing/2014/main" id="{AA1E019A-ADFE-68BD-62A0-6FDDF6F9E817}"/>
                </a:ext>
              </a:extLst>
            </p:cNvPr>
            <p:cNvGrpSpPr/>
            <p:nvPr/>
          </p:nvGrpSpPr>
          <p:grpSpPr>
            <a:xfrm>
              <a:off x="5509260" y="2695817"/>
              <a:ext cx="685800" cy="228600"/>
              <a:chOff x="6108192" y="2679192"/>
              <a:chExt cx="685800" cy="228600"/>
            </a:xfrm>
          </p:grpSpPr>
          <p:sp>
            <p:nvSpPr>
              <p:cNvPr id="24" name="Shape 22"/>
              <p:cNvSpPr/>
              <p:nvPr/>
            </p:nvSpPr>
            <p:spPr>
              <a:xfrm>
                <a:off x="6108192" y="2679192"/>
                <a:ext cx="685800" cy="228600"/>
              </a:xfrm>
              <a:prstGeom prst="roundRect">
                <a:avLst>
                  <a:gd name="adj" fmla="val 20000"/>
                </a:avLst>
              </a:prstGeom>
              <a:solidFill>
                <a:srgbClr val="FFF2DB"/>
              </a:solidFill>
              <a:ln w="15240">
                <a:solidFill>
                  <a:srgbClr val="FFF2DB"/>
                </a:solidFill>
                <a:prstDash val="solid"/>
              </a:ln>
            </p:spPr>
            <p:txBody>
              <a:bodyPr/>
              <a:lstStyle/>
              <a:p>
                <a:endParaRPr lang="es-MX"/>
              </a:p>
            </p:txBody>
          </p:sp>
          <p:sp>
            <p:nvSpPr>
              <p:cNvPr id="25" name="Text 23"/>
              <p:cNvSpPr/>
              <p:nvPr/>
            </p:nvSpPr>
            <p:spPr>
              <a:xfrm>
                <a:off x="6144768" y="2734056"/>
                <a:ext cx="612648" cy="91440"/>
              </a:xfrm>
              <a:prstGeom prst="rect">
                <a:avLst/>
              </a:prstGeom>
              <a:noFill/>
              <a:ln/>
            </p:spPr>
            <p:txBody>
              <a:bodyPr wrap="square" lIns="0" tIns="0" rIns="0" bIns="0" rtlCol="0" anchor="t">
                <a:normAutofit lnSpcReduction="10000"/>
              </a:bodyPr>
              <a:lstStyle/>
              <a:p>
                <a:pPr marL="0" indent="0" algn="ctr">
                  <a:buNone/>
                </a:pPr>
                <a:r>
                  <a:rPr lang="en-US" sz="640" b="1" dirty="0">
                    <a:solidFill>
                      <a:srgbClr val="F49322"/>
                    </a:solidFill>
                    <a:latin typeface="Inter" pitchFamily="34" charset="0"/>
                    <a:ea typeface="Inter" pitchFamily="34" charset="-122"/>
                    <a:cs typeface="Inter" pitchFamily="34" charset="-120"/>
                  </a:rPr>
                  <a:t>EVOLUCIÓN</a:t>
                </a:r>
                <a:endParaRPr lang="en-US" sz="640" dirty="0"/>
              </a:p>
            </p:txBody>
          </p:sp>
        </p:grpSp>
      </p:grpSp>
      <p:sp>
        <p:nvSpPr>
          <p:cNvPr id="26" name="Shape 24"/>
          <p:cNvSpPr/>
          <p:nvPr/>
        </p:nvSpPr>
        <p:spPr>
          <a:xfrm>
            <a:off x="8207765" y="2578608"/>
            <a:ext cx="3072384" cy="2708278"/>
          </a:xfrm>
          <a:prstGeom prst="roundRect">
            <a:avLst>
              <a:gd name="adj" fmla="val 4412"/>
            </a:avLst>
          </a:prstGeom>
          <a:solidFill>
            <a:srgbClr val="FFFFFF"/>
          </a:solidFill>
          <a:ln w="15240">
            <a:solidFill>
              <a:srgbClr val="078B55"/>
            </a:solidFill>
            <a:prstDash val="solid"/>
          </a:ln>
          <a:effectLst>
            <a:outerShdw blurRad="12700" dist="50800" dir="2700000" algn="bl" rotWithShape="0">
              <a:srgbClr val="BDB8C8">
                <a:alpha val="22000"/>
              </a:srgbClr>
            </a:outerShdw>
          </a:effectLst>
        </p:spPr>
        <p:txBody>
          <a:bodyPr/>
          <a:lstStyle/>
          <a:p>
            <a:endParaRPr lang="es-MX"/>
          </a:p>
        </p:txBody>
      </p:sp>
      <p:sp>
        <p:nvSpPr>
          <p:cNvPr id="27" name="Text 25"/>
          <p:cNvSpPr/>
          <p:nvPr/>
        </p:nvSpPr>
        <p:spPr>
          <a:xfrm>
            <a:off x="8482085" y="2705433"/>
            <a:ext cx="2523744" cy="475488"/>
          </a:xfrm>
          <a:prstGeom prst="rect">
            <a:avLst/>
          </a:prstGeom>
          <a:noFill/>
          <a:ln/>
        </p:spPr>
        <p:txBody>
          <a:bodyPr wrap="square" lIns="0" tIns="0" rIns="0" bIns="0" rtlCol="0" anchor="t">
            <a:noAutofit/>
          </a:bodyPr>
          <a:lstStyle/>
          <a:p>
            <a:pPr marL="0" indent="0" algn="ctr">
              <a:buNone/>
            </a:pPr>
            <a:r>
              <a:rPr lang="en-US" sz="1600" b="1" dirty="0">
                <a:solidFill>
                  <a:srgbClr val="1F123E"/>
                </a:solidFill>
                <a:latin typeface="Inter Display" pitchFamily="34" charset="0"/>
                <a:ea typeface="Inter Display" pitchFamily="34" charset="-122"/>
                <a:cs typeface="Inter Display" pitchFamily="34" charset="-120"/>
              </a:rPr>
              <a:t>Mejor comprensión</a:t>
            </a:r>
            <a:endParaRPr lang="en-US" sz="1600" dirty="0"/>
          </a:p>
          <a:p>
            <a:pPr marL="0" indent="0" algn="ctr">
              <a:buNone/>
            </a:pPr>
            <a:r>
              <a:rPr lang="en-US" sz="1600" b="1" dirty="0">
                <a:solidFill>
                  <a:srgbClr val="1F123E"/>
                </a:solidFill>
                <a:latin typeface="Inter Display" pitchFamily="34" charset="0"/>
                <a:ea typeface="Inter Display" pitchFamily="34" charset="-122"/>
                <a:cs typeface="Inter Display" pitchFamily="34" charset="-120"/>
              </a:rPr>
              <a:t>y decisión</a:t>
            </a:r>
            <a:endParaRPr lang="en-US" sz="1600" dirty="0"/>
          </a:p>
        </p:txBody>
      </p:sp>
      <p:sp>
        <p:nvSpPr>
          <p:cNvPr id="28" name="Text 26"/>
          <p:cNvSpPr/>
          <p:nvPr/>
        </p:nvSpPr>
        <p:spPr>
          <a:xfrm>
            <a:off x="8536949" y="3360907"/>
            <a:ext cx="2523744" cy="1274535"/>
          </a:xfrm>
          <a:prstGeom prst="rect">
            <a:avLst/>
          </a:prstGeom>
          <a:noFill/>
          <a:ln/>
        </p:spPr>
        <p:txBody>
          <a:bodyPr wrap="square" lIns="0" tIns="0" rIns="0" bIns="0" rtlCol="0" anchor="t">
            <a:noAutofit/>
          </a:bodyPr>
          <a:lstStyle/>
          <a:p>
            <a:pPr marL="0" indent="0" algn="l">
              <a:buNone/>
            </a:pPr>
            <a:r>
              <a:rPr lang="en-US" sz="1400" dirty="0">
                <a:solidFill>
                  <a:srgbClr val="6E6684"/>
                </a:solidFill>
                <a:latin typeface="Inter" pitchFamily="34" charset="0"/>
                <a:ea typeface="Inter" pitchFamily="34" charset="-122"/>
                <a:cs typeface="Inter" pitchFamily="34" charset="-120"/>
              </a:rPr>
              <a:t>• contexto y síntesis</a:t>
            </a:r>
            <a:endParaRPr lang="en-US" sz="1400" dirty="0"/>
          </a:p>
          <a:p>
            <a:pPr marL="0" indent="0" algn="l">
              <a:buNone/>
            </a:pPr>
            <a:r>
              <a:rPr lang="en-US" sz="1400" dirty="0">
                <a:solidFill>
                  <a:srgbClr val="6E6684"/>
                </a:solidFill>
                <a:latin typeface="Inter" pitchFamily="34" charset="0"/>
                <a:ea typeface="Inter" pitchFamily="34" charset="-122"/>
                <a:cs typeface="Inter" pitchFamily="34" charset="-120"/>
              </a:rPr>
              <a:t>• relaciones y señales</a:t>
            </a:r>
            <a:endParaRPr lang="en-US" sz="1400" dirty="0"/>
          </a:p>
          <a:p>
            <a:pPr marL="0" indent="0" algn="l">
              <a:buNone/>
            </a:pPr>
            <a:r>
              <a:rPr lang="en-US" sz="1400" dirty="0">
                <a:solidFill>
                  <a:srgbClr val="6E6684"/>
                </a:solidFill>
                <a:latin typeface="Inter" pitchFamily="34" charset="0"/>
                <a:ea typeface="Inter" pitchFamily="34" charset="-122"/>
                <a:cs typeface="Inter" pitchFamily="34" charset="-120"/>
              </a:rPr>
              <a:t>• gaps y recomendaciones</a:t>
            </a:r>
            <a:endParaRPr lang="en-US" sz="1400" dirty="0"/>
          </a:p>
          <a:p>
            <a:pPr marL="144000" indent="-457200" algn="l">
              <a:buNone/>
            </a:pPr>
            <a:r>
              <a:rPr lang="en-US" sz="1400" dirty="0">
                <a:solidFill>
                  <a:srgbClr val="6E6684"/>
                </a:solidFill>
                <a:latin typeface="Inter" pitchFamily="34" charset="0"/>
                <a:ea typeface="Inter" pitchFamily="34" charset="-122"/>
                <a:cs typeface="Inter" pitchFamily="34" charset="-120"/>
              </a:rPr>
              <a:t>• </a:t>
            </a:r>
            <a:r>
              <a:rPr lang="es-ES" sz="1400" dirty="0">
                <a:solidFill>
                  <a:srgbClr val="6E6684"/>
                </a:solidFill>
                <a:latin typeface="Inter" pitchFamily="34" charset="0"/>
                <a:ea typeface="Inter" pitchFamily="34" charset="-122"/>
                <a:cs typeface="Inter" pitchFamily="34" charset="-120"/>
              </a:rPr>
              <a:t>aporta contexto y conocimiento para las decisiones que hacen avanzar los Casos</a:t>
            </a:r>
            <a:endParaRPr lang="en-US" sz="1400" dirty="0"/>
          </a:p>
        </p:txBody>
      </p:sp>
      <p:grpSp>
        <p:nvGrpSpPr>
          <p:cNvPr id="54" name="Grupo 53">
            <a:extLst>
              <a:ext uri="{FF2B5EF4-FFF2-40B4-BE49-F238E27FC236}">
                <a16:creationId xmlns:a16="http://schemas.microsoft.com/office/drawing/2014/main" id="{F496A181-EB1D-D217-71FA-BA47BBB3E93C}"/>
              </a:ext>
            </a:extLst>
          </p:cNvPr>
          <p:cNvGrpSpPr/>
          <p:nvPr/>
        </p:nvGrpSpPr>
        <p:grpSpPr>
          <a:xfrm>
            <a:off x="8573525" y="4862837"/>
            <a:ext cx="2304288" cy="329184"/>
            <a:chOff x="8573525" y="4552116"/>
            <a:chExt cx="2304288" cy="329184"/>
          </a:xfrm>
        </p:grpSpPr>
        <p:sp>
          <p:nvSpPr>
            <p:cNvPr id="29" name="Shape 27"/>
            <p:cNvSpPr/>
            <p:nvPr/>
          </p:nvSpPr>
          <p:spPr>
            <a:xfrm>
              <a:off x="8573525" y="4552116"/>
              <a:ext cx="2304288" cy="329184"/>
            </a:xfrm>
            <a:prstGeom prst="roundRect">
              <a:avLst>
                <a:gd name="adj" fmla="val 19444"/>
              </a:avLst>
            </a:prstGeom>
            <a:solidFill>
              <a:srgbClr val="F4EFFF"/>
            </a:solidFill>
            <a:ln w="15240">
              <a:solidFill>
                <a:srgbClr val="F4EFFF"/>
              </a:solidFill>
              <a:prstDash val="solid"/>
            </a:ln>
          </p:spPr>
          <p:txBody>
            <a:bodyPr/>
            <a:lstStyle/>
            <a:p>
              <a:endParaRPr lang="es-MX"/>
            </a:p>
          </p:txBody>
        </p:sp>
        <p:sp>
          <p:nvSpPr>
            <p:cNvPr id="30" name="Text 28"/>
            <p:cNvSpPr/>
            <p:nvPr/>
          </p:nvSpPr>
          <p:spPr>
            <a:xfrm>
              <a:off x="8719829" y="4634678"/>
              <a:ext cx="2011680" cy="109728"/>
            </a:xfrm>
            <a:prstGeom prst="rect">
              <a:avLst/>
            </a:prstGeom>
            <a:noFill/>
            <a:ln/>
          </p:spPr>
          <p:txBody>
            <a:bodyPr wrap="square" lIns="0" tIns="0" rIns="0" bIns="0" rtlCol="0" anchor="t">
              <a:noAutofit/>
            </a:bodyPr>
            <a:lstStyle/>
            <a:p>
              <a:pPr marL="0" indent="0" algn="ctr">
                <a:buNone/>
              </a:pPr>
              <a:r>
                <a:rPr lang="en-US" sz="1200" b="1" dirty="0">
                  <a:solidFill>
                    <a:srgbClr val="5E2BCF"/>
                  </a:solidFill>
                  <a:latin typeface="Inter" pitchFamily="34" charset="0"/>
                  <a:ea typeface="Inter" pitchFamily="34" charset="-122"/>
                  <a:cs typeface="Inter" pitchFamily="34" charset="-120"/>
                </a:rPr>
                <a:t>no decide fuera de </a:t>
              </a:r>
              <a:r>
                <a:rPr lang="en-US" sz="1200" b="1" dirty="0" err="1">
                  <a:solidFill>
                    <a:srgbClr val="5E2BCF"/>
                  </a:solidFill>
                  <a:latin typeface="Inter" pitchFamily="34" charset="0"/>
                  <a:ea typeface="Inter" pitchFamily="34" charset="-122"/>
                  <a:cs typeface="Inter" pitchFamily="34" charset="-120"/>
                </a:rPr>
                <a:t>políticas</a:t>
              </a:r>
              <a:endParaRPr lang="en-US" sz="1200" dirty="0"/>
            </a:p>
          </p:txBody>
        </p:sp>
      </p:grpSp>
      <p:sp>
        <p:nvSpPr>
          <p:cNvPr id="31" name="Shape 29"/>
          <p:cNvSpPr/>
          <p:nvPr/>
        </p:nvSpPr>
        <p:spPr>
          <a:xfrm>
            <a:off x="960120" y="5783359"/>
            <a:ext cx="10287000" cy="585216"/>
          </a:xfrm>
          <a:prstGeom prst="roundRect">
            <a:avLst>
              <a:gd name="adj" fmla="val 12500"/>
            </a:avLst>
          </a:prstGeom>
          <a:solidFill>
            <a:srgbClr val="EFE8FF"/>
          </a:solidFill>
          <a:ln w="15240">
            <a:solidFill>
              <a:srgbClr val="EFE8FF"/>
            </a:solidFill>
            <a:prstDash val="solid"/>
          </a:ln>
        </p:spPr>
        <p:txBody>
          <a:bodyPr/>
          <a:lstStyle/>
          <a:p>
            <a:endParaRPr lang="es-MX"/>
          </a:p>
        </p:txBody>
      </p:sp>
      <p:pic>
        <p:nvPicPr>
          <p:cNvPr id="36" name="Image 0" descr="/mnt/data/ungga_logo_purple.png">
            <a:extLst>
              <a:ext uri="{FF2B5EF4-FFF2-40B4-BE49-F238E27FC236}">
                <a16:creationId xmlns:a16="http://schemas.microsoft.com/office/drawing/2014/main" id="{6CBA4F53-CAAB-7303-3106-442533402EEE}"/>
              </a:ext>
            </a:extLst>
          </p:cNvPr>
          <p:cNvPicPr>
            <a:picLocks noChangeAspect="1"/>
          </p:cNvPicPr>
          <p:nvPr/>
        </p:nvPicPr>
        <p:blipFill>
          <a:blip r:embed="rId3"/>
          <a:stretch>
            <a:fillRect/>
          </a:stretch>
        </p:blipFill>
        <p:spPr>
          <a:xfrm>
            <a:off x="11109960" y="449715"/>
            <a:ext cx="566928" cy="472170"/>
          </a:xfrm>
          <a:prstGeom prst="rect">
            <a:avLst/>
          </a:prstGeom>
        </p:spPr>
      </p:pic>
      <p:sp>
        <p:nvSpPr>
          <p:cNvPr id="38" name="Text 27">
            <a:extLst>
              <a:ext uri="{FF2B5EF4-FFF2-40B4-BE49-F238E27FC236}">
                <a16:creationId xmlns:a16="http://schemas.microsoft.com/office/drawing/2014/main" id="{0FF2225D-F9A8-6483-AE15-E0C29857DCE8}"/>
              </a:ext>
            </a:extLst>
          </p:cNvPr>
          <p:cNvSpPr/>
          <p:nvPr/>
        </p:nvSpPr>
        <p:spPr>
          <a:xfrm>
            <a:off x="1260629" y="5887270"/>
            <a:ext cx="9821611" cy="39474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tabLst>
                <a:tab pos="0" algn="l"/>
              </a:tabLst>
            </a:pPr>
            <a:r>
              <a:rPr lang="es-ES" sz="1400" b="1" dirty="0">
                <a:solidFill>
                  <a:srgbClr val="5F2CCB"/>
                </a:solidFill>
                <a:ea typeface="Aptos"/>
              </a:rPr>
              <a:t>Más trabajo → Contexto enriquecido  + Conocimiento  acumulado + Evidencia de resultados </a:t>
            </a:r>
          </a:p>
          <a:p>
            <a:pPr algn="ctr">
              <a:tabLst>
                <a:tab pos="0" algn="l"/>
              </a:tabLst>
            </a:pPr>
            <a:r>
              <a:rPr lang="es-ES" sz="1400" b="1" dirty="0">
                <a:solidFill>
                  <a:srgbClr val="5F2CCB"/>
                </a:solidFill>
                <a:ea typeface="Aptos"/>
              </a:rPr>
              <a:t>→ Mejores decisiones y ejecución → Mayor confianza</a:t>
            </a:r>
            <a:r>
              <a:rPr lang="en-US" sz="1400" b="1" dirty="0">
                <a:solidFill>
                  <a:srgbClr val="5F2CCB"/>
                </a:solidFill>
                <a:latin typeface="Aptos"/>
                <a:ea typeface="Aptos"/>
              </a:rPr>
              <a:t> </a:t>
            </a:r>
            <a:r>
              <a:rPr lang="es-ES" sz="1400" b="1" dirty="0">
                <a:solidFill>
                  <a:srgbClr val="5F2CCB"/>
                </a:solidFill>
                <a:ea typeface="Aptos"/>
              </a:rPr>
              <a:t>→ Más trabajo delegado</a:t>
            </a:r>
            <a:endParaRPr lang="en-US" sz="1400" b="0" u="none" strike="noStrike" dirty="0">
              <a:solidFill>
                <a:srgbClr val="000000"/>
              </a:solidFill>
              <a:effectLst/>
              <a:uFillTx/>
              <a:latin typeface="Arial"/>
            </a:endParaRPr>
          </a:p>
        </p:txBody>
      </p:sp>
      <p:sp>
        <p:nvSpPr>
          <p:cNvPr id="40" name="Text 33">
            <a:extLst>
              <a:ext uri="{FF2B5EF4-FFF2-40B4-BE49-F238E27FC236}">
                <a16:creationId xmlns:a16="http://schemas.microsoft.com/office/drawing/2014/main" id="{F10FAA81-6A5B-E7AA-14B9-6118E8AC3BCA}"/>
              </a:ext>
            </a:extLst>
          </p:cNvPr>
          <p:cNvSpPr/>
          <p:nvPr/>
        </p:nvSpPr>
        <p:spPr>
          <a:xfrm>
            <a:off x="684351" y="3567490"/>
            <a:ext cx="2638911" cy="170808"/>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100" b="0" u="none" strike="noStrike" dirty="0" err="1">
                <a:solidFill>
                  <a:srgbClr val="6F6888"/>
                </a:solidFill>
                <a:effectLst/>
                <a:uFillTx/>
                <a:latin typeface="Aptos"/>
                <a:ea typeface="Aptos"/>
              </a:rPr>
              <a:t>responsabilidad</a:t>
            </a:r>
            <a:r>
              <a:rPr lang="en-US" sz="1100" b="0" u="none" strike="noStrike" dirty="0">
                <a:solidFill>
                  <a:srgbClr val="6F6888"/>
                </a:solidFill>
                <a:effectLst/>
                <a:uFillTx/>
                <a:latin typeface="Aptos"/>
                <a:ea typeface="Aptos"/>
              </a:rPr>
              <a:t> · </a:t>
            </a:r>
            <a:r>
              <a:rPr lang="en-US" sz="1100" b="0" u="none" strike="noStrike" dirty="0" err="1">
                <a:solidFill>
                  <a:srgbClr val="6F6888"/>
                </a:solidFill>
                <a:effectLst/>
                <a:uFillTx/>
                <a:latin typeface="Aptos"/>
                <a:ea typeface="Aptos"/>
              </a:rPr>
              <a:t>estado</a:t>
            </a:r>
            <a:r>
              <a:rPr lang="en-US" sz="1100" b="0" u="none" strike="noStrike" dirty="0">
                <a:solidFill>
                  <a:srgbClr val="6F6888"/>
                </a:solidFill>
                <a:effectLst/>
                <a:uFillTx/>
                <a:latin typeface="Aptos"/>
                <a:ea typeface="Aptos"/>
              </a:rPr>
              <a:t> · </a:t>
            </a:r>
            <a:r>
              <a:rPr lang="en-US" sz="1100" b="0" u="none" strike="noStrike" dirty="0" err="1">
                <a:solidFill>
                  <a:srgbClr val="6F6888"/>
                </a:solidFill>
                <a:effectLst/>
                <a:uFillTx/>
                <a:latin typeface="Aptos"/>
                <a:ea typeface="Aptos"/>
              </a:rPr>
              <a:t>esperas</a:t>
            </a:r>
            <a:r>
              <a:rPr lang="en-US" sz="1100" b="0" u="none" strike="noStrike" dirty="0">
                <a:solidFill>
                  <a:srgbClr val="6F6888"/>
                </a:solidFill>
                <a:effectLst/>
                <a:uFillTx/>
                <a:latin typeface="Aptos"/>
                <a:ea typeface="Aptos"/>
              </a:rPr>
              <a:t> · HITL</a:t>
            </a:r>
            <a:endParaRPr lang="en-US" sz="1100" b="0" u="none" strike="noStrike" dirty="0">
              <a:solidFill>
                <a:srgbClr val="000000"/>
              </a:solidFill>
              <a:effectLst/>
              <a:uFillTx/>
              <a:latin typeface="Arial"/>
            </a:endParaRPr>
          </a:p>
        </p:txBody>
      </p:sp>
      <p:sp>
        <p:nvSpPr>
          <p:cNvPr id="42" name="Text 33">
            <a:extLst>
              <a:ext uri="{FF2B5EF4-FFF2-40B4-BE49-F238E27FC236}">
                <a16:creationId xmlns:a16="http://schemas.microsoft.com/office/drawing/2014/main" id="{320301F1-527A-6631-7A1F-23ACDC223E97}"/>
              </a:ext>
            </a:extLst>
          </p:cNvPr>
          <p:cNvSpPr/>
          <p:nvPr/>
        </p:nvSpPr>
        <p:spPr>
          <a:xfrm>
            <a:off x="720563" y="3356325"/>
            <a:ext cx="2543845" cy="138994"/>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400" b="1" u="none" strike="noStrike" dirty="0">
                <a:solidFill>
                  <a:srgbClr val="5F2CCB"/>
                </a:solidFill>
                <a:effectLst/>
                <a:uFillTx/>
                <a:latin typeface="Aptos"/>
                <a:ea typeface="Aptos"/>
              </a:rPr>
              <a:t>Casos </a:t>
            </a:r>
            <a:r>
              <a:rPr lang="en-US" sz="1400" b="1" u="none" strike="noStrike" dirty="0" err="1">
                <a:solidFill>
                  <a:srgbClr val="5F2CCB"/>
                </a:solidFill>
                <a:effectLst/>
                <a:uFillTx/>
                <a:latin typeface="Aptos"/>
                <a:ea typeface="Aptos"/>
              </a:rPr>
              <a:t>operacionales</a:t>
            </a:r>
            <a:endParaRPr lang="en-US" sz="1400" b="1" u="none" strike="noStrike" dirty="0">
              <a:solidFill>
                <a:srgbClr val="5F2CCB"/>
              </a:solidFill>
              <a:effectLst/>
              <a:uFillTx/>
              <a:latin typeface="Arial"/>
            </a:endParaRPr>
          </a:p>
        </p:txBody>
      </p:sp>
      <p:sp>
        <p:nvSpPr>
          <p:cNvPr id="44" name="Text 33">
            <a:extLst>
              <a:ext uri="{FF2B5EF4-FFF2-40B4-BE49-F238E27FC236}">
                <a16:creationId xmlns:a16="http://schemas.microsoft.com/office/drawing/2014/main" id="{73D9B3B4-C6A3-8CE7-4FE5-958113863A01}"/>
              </a:ext>
            </a:extLst>
          </p:cNvPr>
          <p:cNvSpPr/>
          <p:nvPr/>
        </p:nvSpPr>
        <p:spPr>
          <a:xfrm>
            <a:off x="679587" y="4198011"/>
            <a:ext cx="2638911" cy="170808"/>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100" b="0" u="none" strike="noStrike" dirty="0" err="1">
                <a:solidFill>
                  <a:srgbClr val="6F6888"/>
                </a:solidFill>
                <a:effectLst/>
                <a:uFillTx/>
                <a:latin typeface="Aptos"/>
                <a:ea typeface="Aptos"/>
              </a:rPr>
              <a:t>hechos</a:t>
            </a:r>
            <a:r>
              <a:rPr lang="en-US" sz="1100" b="0" u="none" strike="noStrike" dirty="0">
                <a:solidFill>
                  <a:srgbClr val="6F6888"/>
                </a:solidFill>
                <a:effectLst/>
                <a:uFillTx/>
                <a:latin typeface="Aptos"/>
                <a:ea typeface="Aptos"/>
              </a:rPr>
              <a:t> de </a:t>
            </a:r>
            <a:r>
              <a:rPr lang="en-US" sz="1100" b="0" u="none" strike="noStrike" dirty="0" err="1">
                <a:solidFill>
                  <a:srgbClr val="6F6888"/>
                </a:solidFill>
                <a:effectLst/>
                <a:uFillTx/>
                <a:latin typeface="Aptos"/>
                <a:ea typeface="Aptos"/>
              </a:rPr>
              <a:t>negocio</a:t>
            </a:r>
            <a:r>
              <a:rPr lang="en-US" sz="1100" b="0" u="none" strike="noStrike" dirty="0">
                <a:solidFill>
                  <a:srgbClr val="6F6888"/>
                </a:solidFill>
                <a:effectLst/>
                <a:uFillTx/>
                <a:latin typeface="Aptos"/>
                <a:ea typeface="Aptos"/>
              </a:rPr>
              <a:t> </a:t>
            </a:r>
            <a:r>
              <a:rPr lang="en-US" sz="1100" b="0" u="none" strike="noStrike" dirty="0" err="1">
                <a:solidFill>
                  <a:srgbClr val="6F6888"/>
                </a:solidFill>
                <a:effectLst/>
                <a:uFillTx/>
                <a:latin typeface="Aptos"/>
                <a:ea typeface="Aptos"/>
              </a:rPr>
              <a:t>trazables</a:t>
            </a:r>
            <a:endParaRPr lang="en-US" sz="1100" b="0" u="none" strike="noStrike" dirty="0">
              <a:solidFill>
                <a:srgbClr val="000000"/>
              </a:solidFill>
              <a:effectLst/>
              <a:uFillTx/>
              <a:latin typeface="Arial"/>
            </a:endParaRPr>
          </a:p>
        </p:txBody>
      </p:sp>
      <p:sp>
        <p:nvSpPr>
          <p:cNvPr id="46" name="Text 33">
            <a:extLst>
              <a:ext uri="{FF2B5EF4-FFF2-40B4-BE49-F238E27FC236}">
                <a16:creationId xmlns:a16="http://schemas.microsoft.com/office/drawing/2014/main" id="{7A43FE5E-50C7-2DA9-03ED-981459BE6DBC}"/>
              </a:ext>
            </a:extLst>
          </p:cNvPr>
          <p:cNvSpPr/>
          <p:nvPr/>
        </p:nvSpPr>
        <p:spPr>
          <a:xfrm>
            <a:off x="715799" y="3986846"/>
            <a:ext cx="2543845" cy="138994"/>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400" b="1" u="none" strike="noStrike" dirty="0" err="1">
                <a:solidFill>
                  <a:srgbClr val="00B050"/>
                </a:solidFill>
                <a:effectLst/>
                <a:uFillTx/>
                <a:latin typeface="Aptos"/>
                <a:ea typeface="Aptos"/>
              </a:rPr>
              <a:t>Hechos</a:t>
            </a:r>
            <a:r>
              <a:rPr lang="en-US" sz="1400" b="1" u="none" strike="noStrike" dirty="0">
                <a:solidFill>
                  <a:srgbClr val="00B050"/>
                </a:solidFill>
                <a:effectLst/>
                <a:uFillTx/>
                <a:latin typeface="Aptos"/>
                <a:ea typeface="Aptos"/>
              </a:rPr>
              <a:t> de </a:t>
            </a:r>
            <a:r>
              <a:rPr lang="en-US" sz="1400" b="1" u="none" strike="noStrike" dirty="0" err="1">
                <a:solidFill>
                  <a:srgbClr val="00B050"/>
                </a:solidFill>
                <a:effectLst/>
                <a:uFillTx/>
                <a:latin typeface="Aptos"/>
                <a:ea typeface="Aptos"/>
              </a:rPr>
              <a:t>caso</a:t>
            </a:r>
            <a:endParaRPr lang="en-US" sz="1400" b="1" u="none" strike="noStrike" dirty="0">
              <a:solidFill>
                <a:srgbClr val="00B050"/>
              </a:solidFill>
              <a:effectLst/>
              <a:uFillTx/>
              <a:latin typeface="Arial"/>
            </a:endParaRPr>
          </a:p>
        </p:txBody>
      </p:sp>
      <p:sp>
        <p:nvSpPr>
          <p:cNvPr id="48" name="Text 33">
            <a:extLst>
              <a:ext uri="{FF2B5EF4-FFF2-40B4-BE49-F238E27FC236}">
                <a16:creationId xmlns:a16="http://schemas.microsoft.com/office/drawing/2014/main" id="{585C5666-BEF9-1C69-BECD-600A21BAC1A6}"/>
              </a:ext>
            </a:extLst>
          </p:cNvPr>
          <p:cNvSpPr/>
          <p:nvPr/>
        </p:nvSpPr>
        <p:spPr>
          <a:xfrm>
            <a:off x="697343" y="4846607"/>
            <a:ext cx="2638911" cy="170808"/>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100" b="0" u="none" strike="noStrike" dirty="0" err="1">
                <a:solidFill>
                  <a:srgbClr val="6F6888"/>
                </a:solidFill>
                <a:effectLst/>
                <a:uFillTx/>
                <a:latin typeface="Aptos"/>
                <a:ea typeface="Aptos"/>
              </a:rPr>
              <a:t>hechos</a:t>
            </a:r>
            <a:r>
              <a:rPr lang="en-US" sz="1100" b="0" u="none" strike="noStrike" dirty="0">
                <a:solidFill>
                  <a:srgbClr val="6F6888"/>
                </a:solidFill>
                <a:effectLst/>
                <a:uFillTx/>
                <a:latin typeface="Aptos"/>
                <a:ea typeface="Aptos"/>
              </a:rPr>
              <a:t> de </a:t>
            </a:r>
            <a:r>
              <a:rPr lang="en-US" sz="1100" b="0" u="none" strike="noStrike" dirty="0" err="1">
                <a:solidFill>
                  <a:srgbClr val="6F6888"/>
                </a:solidFill>
                <a:effectLst/>
                <a:uFillTx/>
                <a:latin typeface="Aptos"/>
                <a:ea typeface="Aptos"/>
              </a:rPr>
              <a:t>negocio</a:t>
            </a:r>
            <a:r>
              <a:rPr lang="en-US" sz="1100" b="0" u="none" strike="noStrike" dirty="0">
                <a:solidFill>
                  <a:srgbClr val="6F6888"/>
                </a:solidFill>
                <a:effectLst/>
                <a:uFillTx/>
                <a:latin typeface="Aptos"/>
                <a:ea typeface="Aptos"/>
              </a:rPr>
              <a:t> </a:t>
            </a:r>
            <a:r>
              <a:rPr lang="en-US" sz="1100" b="0" u="none" strike="noStrike" dirty="0" err="1">
                <a:solidFill>
                  <a:srgbClr val="6F6888"/>
                </a:solidFill>
                <a:effectLst/>
                <a:uFillTx/>
                <a:latin typeface="Aptos"/>
                <a:ea typeface="Aptos"/>
              </a:rPr>
              <a:t>trazables</a:t>
            </a:r>
            <a:endParaRPr lang="en-US" sz="1100" b="0" u="none" strike="noStrike" dirty="0">
              <a:solidFill>
                <a:srgbClr val="000000"/>
              </a:solidFill>
              <a:effectLst/>
              <a:uFillTx/>
              <a:latin typeface="Arial"/>
            </a:endParaRPr>
          </a:p>
        </p:txBody>
      </p:sp>
      <p:sp>
        <p:nvSpPr>
          <p:cNvPr id="50" name="Text 33">
            <a:extLst>
              <a:ext uri="{FF2B5EF4-FFF2-40B4-BE49-F238E27FC236}">
                <a16:creationId xmlns:a16="http://schemas.microsoft.com/office/drawing/2014/main" id="{CE845F73-96F8-93CF-5F24-00BE37D02E9D}"/>
              </a:ext>
            </a:extLst>
          </p:cNvPr>
          <p:cNvSpPr/>
          <p:nvPr/>
        </p:nvSpPr>
        <p:spPr>
          <a:xfrm>
            <a:off x="733555" y="4635442"/>
            <a:ext cx="2543845" cy="138994"/>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400" b="1" u="none" strike="noStrike" dirty="0">
                <a:solidFill>
                  <a:schemeClr val="accent2"/>
                </a:solidFill>
                <a:effectLst/>
                <a:uFillTx/>
                <a:latin typeface="Aptos"/>
                <a:ea typeface="Aptos"/>
              </a:rPr>
              <a:t>SOR: BD transaccional, CRMs</a:t>
            </a:r>
            <a:endParaRPr lang="en-US" sz="1400" b="1" u="none" strike="noStrike" dirty="0">
              <a:solidFill>
                <a:schemeClr val="accent2"/>
              </a:solidFill>
              <a:effectLst/>
              <a:uFillTx/>
              <a:latin typeface="Arial"/>
            </a:endParaRPr>
          </a:p>
        </p:txBody>
      </p:sp>
      <p:sp>
        <p:nvSpPr>
          <p:cNvPr id="52" name="Text 3">
            <a:extLst>
              <a:ext uri="{FF2B5EF4-FFF2-40B4-BE49-F238E27FC236}">
                <a16:creationId xmlns:a16="http://schemas.microsoft.com/office/drawing/2014/main" id="{23E25012-B9F6-D43E-DDBA-CEDF28323A7D}"/>
              </a:ext>
            </a:extLst>
          </p:cNvPr>
          <p:cNvSpPr/>
          <p:nvPr/>
        </p:nvSpPr>
        <p:spPr>
          <a:xfrm>
            <a:off x="546517" y="1643933"/>
            <a:ext cx="10698120" cy="582927"/>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s-ES" b="1" u="none" strike="noStrike" dirty="0">
                <a:solidFill>
                  <a:srgbClr val="6F6888"/>
                </a:solidFill>
                <a:effectLst/>
                <a:uFillTx/>
                <a:latin typeface="Aptos"/>
                <a:ea typeface="Aptos"/>
              </a:rPr>
              <a:t>Business Brain </a:t>
            </a:r>
            <a:r>
              <a:rPr lang="es-ES" b="0" u="none" strike="noStrike" dirty="0">
                <a:solidFill>
                  <a:srgbClr val="6F6888"/>
                </a:solidFill>
                <a:effectLst/>
                <a:uFillTx/>
                <a:latin typeface="Aptos"/>
                <a:ea typeface="Aptos"/>
              </a:rPr>
              <a:t>convierte evidencia y contexto acumulados en conocimiento reutilizable. No reemplaza la responsabilidad de los Casos, los hechos trazables del caso ni los sistemas de registro (SOR)</a:t>
            </a:r>
            <a:r>
              <a:rPr lang="en-US" b="0" u="none" strike="noStrike" dirty="0">
                <a:solidFill>
                  <a:srgbClr val="6F6888"/>
                </a:solidFill>
                <a:effectLst/>
                <a:uFillTx/>
                <a:latin typeface="Aptos"/>
                <a:ea typeface="Aptos"/>
              </a:rPr>
              <a:t>.</a:t>
            </a:r>
            <a:endParaRPr lang="en-US" b="0" u="none" strike="noStrike" dirty="0">
              <a:solidFill>
                <a:srgbClr val="000000"/>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418" name="Shape 0"/>
          <p:cNvSpPr/>
          <p:nvPr/>
        </p:nvSpPr>
        <p:spPr>
          <a:xfrm>
            <a:off x="0" y="0"/>
            <a:ext cx="12191400" cy="63720"/>
          </a:xfrm>
          <a:prstGeom prst="rect">
            <a:avLst/>
          </a:prstGeom>
          <a:solidFill>
            <a:srgbClr val="5F2CCB"/>
          </a:solidFill>
          <a:ln w="12700">
            <a:solidFill>
              <a:srgbClr val="5F2CCB">
                <a:alpha val="0"/>
              </a:srgbClr>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FFFFFF"/>
              </a:solidFill>
              <a:effectLst/>
              <a:uFillTx/>
              <a:latin typeface="Arial"/>
            </a:endParaRPr>
          </a:p>
        </p:txBody>
      </p:sp>
      <p:sp>
        <p:nvSpPr>
          <p:cNvPr id="419" name="Text 1"/>
          <p:cNvSpPr/>
          <p:nvPr/>
        </p:nvSpPr>
        <p:spPr>
          <a:xfrm>
            <a:off x="567000" y="438840"/>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dirty="0">
                <a:solidFill>
                  <a:srgbClr val="5F2CCB"/>
                </a:solidFill>
                <a:effectLst/>
                <a:uFillTx/>
                <a:latin typeface="Aptos"/>
                <a:ea typeface="Aptos"/>
              </a:rPr>
              <a:t>AUTONOMÍA GOBERNADA</a:t>
            </a:r>
            <a:endParaRPr lang="en-US" sz="1200" b="0" u="none" strike="noStrike" dirty="0">
              <a:solidFill>
                <a:srgbClr val="000000"/>
              </a:solidFill>
              <a:effectLst/>
              <a:uFillTx/>
              <a:latin typeface="Arial"/>
            </a:endParaRPr>
          </a:p>
        </p:txBody>
      </p:sp>
      <p:sp>
        <p:nvSpPr>
          <p:cNvPr id="420" name="Text 2"/>
          <p:cNvSpPr/>
          <p:nvPr/>
        </p:nvSpPr>
        <p:spPr>
          <a:xfrm>
            <a:off x="567000" y="831234"/>
            <a:ext cx="10195200" cy="712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n-US" sz="2600" b="1" i="1" u="none" strike="noStrike" dirty="0">
                <a:solidFill>
                  <a:srgbClr val="151327"/>
                </a:solidFill>
                <a:effectLst/>
                <a:uFillTx/>
                <a:latin typeface="Aptos Display"/>
                <a:ea typeface="Aptos Display"/>
              </a:rPr>
              <a:t>AI-native</a:t>
            </a:r>
            <a:r>
              <a:rPr lang="en-US" sz="2600" b="1" u="none" strike="noStrike" dirty="0">
                <a:solidFill>
                  <a:srgbClr val="151327"/>
                </a:solidFill>
                <a:effectLst/>
                <a:uFillTx/>
                <a:latin typeface="Aptos Display"/>
                <a:ea typeface="Aptos Display"/>
              </a:rPr>
              <a:t> no </a:t>
            </a:r>
            <a:r>
              <a:rPr lang="en-US" sz="2600" b="1" u="none" strike="noStrike" dirty="0" err="1">
                <a:solidFill>
                  <a:srgbClr val="151327"/>
                </a:solidFill>
                <a:effectLst/>
                <a:uFillTx/>
                <a:latin typeface="Aptos Display"/>
                <a:ea typeface="Aptos Display"/>
              </a:rPr>
              <a:t>significa</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máxima</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autonomía</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Significa</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responsabilidad</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dentro</a:t>
            </a:r>
            <a:r>
              <a:rPr lang="en-US" sz="2600" b="1" u="none" strike="noStrike" dirty="0">
                <a:solidFill>
                  <a:srgbClr val="151327"/>
                </a:solidFill>
                <a:effectLst/>
                <a:uFillTx/>
                <a:latin typeface="Aptos Display"/>
                <a:ea typeface="Aptos Display"/>
              </a:rPr>
              <a:t> de </a:t>
            </a:r>
            <a:r>
              <a:rPr lang="en-US" sz="2600" b="1" u="none" strike="noStrike" dirty="0" err="1">
                <a:solidFill>
                  <a:srgbClr val="151327"/>
                </a:solidFill>
                <a:effectLst/>
                <a:uFillTx/>
                <a:latin typeface="Aptos Display"/>
                <a:ea typeface="Aptos Display"/>
              </a:rPr>
              <a:t>límites</a:t>
            </a:r>
            <a:r>
              <a:rPr lang="en-US" sz="2600" b="1" u="none" strike="noStrike" dirty="0">
                <a:solidFill>
                  <a:srgbClr val="151327"/>
                </a:solidFill>
                <a:effectLst/>
                <a:uFillTx/>
                <a:latin typeface="Aptos Display"/>
                <a:ea typeface="Aptos Display"/>
              </a:rPr>
              <a:t> claros.</a:t>
            </a:r>
            <a:endParaRPr lang="en-US" sz="2600" b="0" u="none" strike="noStrike" dirty="0">
              <a:solidFill>
                <a:srgbClr val="000000"/>
              </a:solidFill>
              <a:effectLst/>
              <a:uFillTx/>
              <a:latin typeface="Arial"/>
            </a:endParaRPr>
          </a:p>
        </p:txBody>
      </p:sp>
      <p:sp>
        <p:nvSpPr>
          <p:cNvPr id="421" name="Text 3"/>
          <p:cNvSpPr/>
          <p:nvPr/>
        </p:nvSpPr>
        <p:spPr>
          <a:xfrm>
            <a:off x="567000" y="1722964"/>
            <a:ext cx="1069812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n-US" b="0" u="none" strike="noStrike" dirty="0">
                <a:solidFill>
                  <a:srgbClr val="6F6888"/>
                </a:solidFill>
                <a:effectLst/>
                <a:uFillTx/>
                <a:latin typeface="Aptos"/>
                <a:ea typeface="Aptos"/>
              </a:rPr>
              <a:t>El </a:t>
            </a:r>
            <a:r>
              <a:rPr lang="en-US" b="1" u="none" strike="noStrike" dirty="0" err="1">
                <a:solidFill>
                  <a:srgbClr val="6F6888"/>
                </a:solidFill>
                <a:effectLst/>
                <a:uFillTx/>
                <a:latin typeface="Aptos"/>
                <a:ea typeface="Aptos"/>
              </a:rPr>
              <a:t>humano</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sigue</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liderando</a:t>
            </a:r>
            <a:r>
              <a:rPr lang="en-US" b="0" u="none" strike="noStrike" dirty="0">
                <a:solidFill>
                  <a:srgbClr val="6F6888"/>
                </a:solidFill>
                <a:effectLst/>
                <a:uFillTx/>
                <a:latin typeface="Aptos"/>
                <a:ea typeface="Aptos"/>
              </a:rPr>
              <a:t> la </a:t>
            </a:r>
            <a:r>
              <a:rPr lang="en-US" b="0" u="none" strike="noStrike" dirty="0" err="1">
                <a:solidFill>
                  <a:srgbClr val="6F6888"/>
                </a:solidFill>
                <a:effectLst/>
                <a:uFillTx/>
                <a:latin typeface="Aptos"/>
                <a:ea typeface="Aptos"/>
              </a:rPr>
              <a:t>relación</a:t>
            </a:r>
            <a:r>
              <a:rPr lang="en-US" b="0" u="none" strike="noStrike" dirty="0">
                <a:solidFill>
                  <a:srgbClr val="6F6888"/>
                </a:solidFill>
                <a:effectLst/>
                <a:uFillTx/>
                <a:latin typeface="Aptos"/>
                <a:ea typeface="Aptos"/>
              </a:rPr>
              <a:t>, el </a:t>
            </a:r>
            <a:r>
              <a:rPr lang="en-US" b="0" u="none" strike="noStrike" dirty="0" err="1">
                <a:solidFill>
                  <a:srgbClr val="6F6888"/>
                </a:solidFill>
                <a:effectLst/>
                <a:uFillTx/>
                <a:latin typeface="Aptos"/>
                <a:ea typeface="Aptos"/>
              </a:rPr>
              <a:t>juicio</a:t>
            </a:r>
            <a:r>
              <a:rPr lang="en-US" b="0" u="none" strike="noStrike" dirty="0">
                <a:solidFill>
                  <a:srgbClr val="6F6888"/>
                </a:solidFill>
                <a:effectLst/>
                <a:uFillTx/>
                <a:latin typeface="Aptos"/>
                <a:ea typeface="Aptos"/>
              </a:rPr>
              <a:t> y la </a:t>
            </a:r>
            <a:r>
              <a:rPr lang="en-US" b="0" u="none" strike="noStrike" dirty="0" err="1">
                <a:solidFill>
                  <a:srgbClr val="6F6888"/>
                </a:solidFill>
                <a:effectLst/>
                <a:uFillTx/>
                <a:latin typeface="Aptos"/>
                <a:ea typeface="Aptos"/>
              </a:rPr>
              <a:t>autoridad</a:t>
            </a:r>
            <a:r>
              <a:rPr lang="en-US" dirty="0">
                <a:solidFill>
                  <a:srgbClr val="6F6888"/>
                </a:solidFill>
                <a:latin typeface="Aptos"/>
                <a:ea typeface="Aptos"/>
              </a:rPr>
              <a:t>.</a:t>
            </a:r>
            <a:r>
              <a:rPr lang="en-US" b="0" u="none" strike="noStrike" dirty="0">
                <a:solidFill>
                  <a:srgbClr val="6F6888"/>
                </a:solidFill>
                <a:effectLst/>
                <a:uFillTx/>
                <a:latin typeface="Aptos"/>
                <a:ea typeface="Aptos"/>
              </a:rPr>
              <a:t> </a:t>
            </a:r>
            <a:r>
              <a:rPr lang="en-US" b="1" u="none" strike="noStrike" dirty="0">
                <a:solidFill>
                  <a:srgbClr val="6F6888"/>
                </a:solidFill>
                <a:effectLst/>
                <a:uFillTx/>
                <a:latin typeface="Aptos"/>
                <a:ea typeface="Aptos"/>
              </a:rPr>
              <a:t>Gu</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ejecuta</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donde</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puede</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hacerlo</a:t>
            </a:r>
            <a:r>
              <a:rPr lang="en-US" b="0" u="none" strike="noStrike" dirty="0">
                <a:solidFill>
                  <a:srgbClr val="6F6888"/>
                </a:solidFill>
                <a:effectLst/>
                <a:uFillTx/>
                <a:latin typeface="Aptos"/>
                <a:ea typeface="Aptos"/>
              </a:rPr>
              <a:t> con </a:t>
            </a:r>
            <a:r>
              <a:rPr lang="en-US" b="0" u="none" strike="noStrike" dirty="0" err="1">
                <a:solidFill>
                  <a:srgbClr val="6F6888"/>
                </a:solidFill>
                <a:effectLst/>
                <a:uFillTx/>
                <a:latin typeface="Aptos"/>
                <a:ea typeface="Aptos"/>
              </a:rPr>
              <a:t>evidencia</a:t>
            </a:r>
            <a:r>
              <a:rPr lang="en-US" b="0" u="none" strike="noStrike" dirty="0">
                <a:solidFill>
                  <a:srgbClr val="6F6888"/>
                </a:solidFill>
                <a:effectLst/>
                <a:uFillTx/>
                <a:latin typeface="Aptos"/>
                <a:ea typeface="Aptos"/>
              </a:rPr>
              <a:t> y </a:t>
            </a:r>
            <a:r>
              <a:rPr lang="en-US" b="0" u="none" strike="noStrike" dirty="0" err="1">
                <a:solidFill>
                  <a:srgbClr val="6F6888"/>
                </a:solidFill>
                <a:effectLst/>
                <a:uFillTx/>
                <a:latin typeface="Aptos"/>
                <a:ea typeface="Aptos"/>
              </a:rPr>
              <a:t>políticas</a:t>
            </a:r>
            <a:r>
              <a:rPr lang="en-US" b="0" u="none" strike="noStrike" dirty="0">
                <a:solidFill>
                  <a:srgbClr val="6F6888"/>
                </a:solidFill>
                <a:effectLst/>
                <a:uFillTx/>
                <a:latin typeface="Aptos"/>
                <a:ea typeface="Aptos"/>
              </a:rPr>
              <a:t>.</a:t>
            </a:r>
            <a:endParaRPr lang="en-US" b="0" u="none" strike="noStrike" dirty="0">
              <a:solidFill>
                <a:srgbClr val="000000"/>
              </a:solidFill>
              <a:effectLst/>
              <a:uFillTx/>
              <a:latin typeface="Arial"/>
            </a:endParaRPr>
          </a:p>
        </p:txBody>
      </p:sp>
      <p:sp>
        <p:nvSpPr>
          <p:cNvPr id="423" name="Text 5"/>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u="none" strike="noStrike">
                <a:solidFill>
                  <a:srgbClr val="7E7798"/>
                </a:solidFill>
                <a:effectLst/>
                <a:uFillTx/>
                <a:latin typeface="Aptos"/>
                <a:ea typeface="Aptos"/>
              </a:rPr>
              <a:t>CONFIDENTIAL</a:t>
            </a:r>
            <a:endParaRPr lang="en-US" sz="650" b="0" u="none" strike="noStrike">
              <a:solidFill>
                <a:srgbClr val="000000"/>
              </a:solidFill>
              <a:effectLst/>
              <a:uFillTx/>
              <a:latin typeface="Arial"/>
            </a:endParaRPr>
          </a:p>
        </p:txBody>
      </p:sp>
      <p:sp>
        <p:nvSpPr>
          <p:cNvPr id="424" name="Text 6"/>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650" b="0" u="none" strike="noStrike">
                <a:solidFill>
                  <a:srgbClr val="7E7798"/>
                </a:solidFill>
                <a:effectLst/>
                <a:uFillTx/>
                <a:latin typeface="Aptos"/>
                <a:ea typeface="Aptos"/>
              </a:rPr>
              <a:t>ungga.com</a:t>
            </a:r>
            <a:endParaRPr lang="en-US" sz="650" b="0" u="none" strike="noStrike">
              <a:solidFill>
                <a:srgbClr val="000000"/>
              </a:solidFill>
              <a:effectLst/>
              <a:uFillTx/>
              <a:latin typeface="Arial"/>
            </a:endParaRPr>
          </a:p>
        </p:txBody>
      </p:sp>
      <p:sp>
        <p:nvSpPr>
          <p:cNvPr id="425" name="Text 7"/>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00" b="0" u="none" strike="noStrike" dirty="0">
                <a:solidFill>
                  <a:srgbClr val="7E7798"/>
                </a:solidFill>
                <a:effectLst/>
                <a:uFillTx/>
                <a:latin typeface="Aptos"/>
                <a:ea typeface="Aptos"/>
              </a:rPr>
              <a:t>17</a:t>
            </a:r>
            <a:endParaRPr lang="en-US" sz="700" b="0" u="none" strike="noStrike" dirty="0">
              <a:solidFill>
                <a:srgbClr val="000000"/>
              </a:solidFill>
              <a:effectLst/>
              <a:uFillTx/>
              <a:latin typeface="Arial"/>
            </a:endParaRPr>
          </a:p>
        </p:txBody>
      </p:sp>
      <p:sp>
        <p:nvSpPr>
          <p:cNvPr id="426" name="Shape 8"/>
          <p:cNvSpPr/>
          <p:nvPr/>
        </p:nvSpPr>
        <p:spPr>
          <a:xfrm>
            <a:off x="822960" y="2649424"/>
            <a:ext cx="3200040" cy="2239920"/>
          </a:xfrm>
          <a:prstGeom prst="roundRect">
            <a:avLst>
              <a:gd name="adj" fmla="val 4082"/>
            </a:avLst>
          </a:prstGeom>
          <a:solidFill>
            <a:srgbClr val="FFFFFF"/>
          </a:solidFill>
          <a:ln w="12700">
            <a:solidFill>
              <a:srgbClr val="078C53"/>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27" name="Text 9"/>
          <p:cNvSpPr/>
          <p:nvPr/>
        </p:nvSpPr>
        <p:spPr>
          <a:xfrm>
            <a:off x="960120" y="2795584"/>
            <a:ext cx="29257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00" b="1" u="none" strike="noStrike" dirty="0">
                <a:solidFill>
                  <a:srgbClr val="078C53"/>
                </a:solidFill>
                <a:effectLst/>
                <a:uFillTx/>
                <a:latin typeface="Aptos"/>
                <a:ea typeface="Aptos"/>
              </a:rPr>
              <a:t>AUTÓNOMO</a:t>
            </a:r>
            <a:endParaRPr lang="en-US" sz="1200" b="0" u="none" strike="noStrike" dirty="0">
              <a:solidFill>
                <a:srgbClr val="000000"/>
              </a:solidFill>
              <a:effectLst/>
              <a:uFillTx/>
              <a:latin typeface="Arial"/>
            </a:endParaRPr>
          </a:p>
        </p:txBody>
      </p:sp>
      <p:sp>
        <p:nvSpPr>
          <p:cNvPr id="428" name="Text 10"/>
          <p:cNvSpPr/>
          <p:nvPr/>
        </p:nvSpPr>
        <p:spPr>
          <a:xfrm>
            <a:off x="1024200" y="3124984"/>
            <a:ext cx="27975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b="1" u="none" strike="noStrike" dirty="0">
                <a:solidFill>
                  <a:srgbClr val="151327"/>
                </a:solidFill>
                <a:effectLst/>
                <a:uFillTx/>
                <a:latin typeface="Aptos Display"/>
                <a:ea typeface="Aptos Display"/>
              </a:rPr>
              <a:t>Rutina </a:t>
            </a:r>
            <a:r>
              <a:rPr lang="en-US" b="1" u="none" strike="noStrike" dirty="0" err="1">
                <a:solidFill>
                  <a:srgbClr val="151327"/>
                </a:solidFill>
                <a:effectLst/>
                <a:uFillTx/>
                <a:latin typeface="Aptos Display"/>
                <a:ea typeface="Aptos Display"/>
              </a:rPr>
              <a:t>operacional</a:t>
            </a:r>
            <a:endParaRPr lang="en-US" b="0" u="none" strike="noStrike" dirty="0">
              <a:solidFill>
                <a:srgbClr val="000000"/>
              </a:solidFill>
              <a:effectLst/>
              <a:uFillTx/>
              <a:latin typeface="Arial"/>
            </a:endParaRPr>
          </a:p>
        </p:txBody>
      </p:sp>
      <p:sp>
        <p:nvSpPr>
          <p:cNvPr id="429" name="Text 11"/>
          <p:cNvSpPr/>
          <p:nvPr/>
        </p:nvSpPr>
        <p:spPr>
          <a:xfrm>
            <a:off x="1078920" y="3636904"/>
            <a:ext cx="2688120" cy="10879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0" u="none" strike="noStrike" dirty="0">
                <a:solidFill>
                  <a:srgbClr val="6F6888"/>
                </a:solidFill>
                <a:effectLst/>
                <a:uFillTx/>
                <a:latin typeface="Aptos"/>
                <a:ea typeface="Aptos"/>
              </a:rPr>
              <a:t>Gu </a:t>
            </a:r>
            <a:r>
              <a:rPr lang="en-US" sz="1400" b="0" u="none" strike="noStrike" dirty="0" err="1">
                <a:solidFill>
                  <a:srgbClr val="6F6888"/>
                </a:solidFill>
                <a:effectLst/>
                <a:uFillTx/>
                <a:latin typeface="Aptos"/>
                <a:ea typeface="Aptos"/>
              </a:rPr>
              <a:t>puede</a:t>
            </a:r>
            <a:r>
              <a:rPr lang="en-US" sz="1400" b="0" u="none" strike="noStrike" dirty="0">
                <a:solidFill>
                  <a:srgbClr val="6F6888"/>
                </a:solidFill>
                <a:effectLst/>
                <a:uFillTx/>
                <a:latin typeface="Aptos"/>
                <a:ea typeface="Aptos"/>
              </a:rPr>
              <a:t> </a:t>
            </a:r>
            <a:r>
              <a:rPr lang="en-US" sz="1400" b="0" u="none" strike="noStrike" dirty="0" err="1">
                <a:solidFill>
                  <a:srgbClr val="6F6888"/>
                </a:solidFill>
                <a:effectLst/>
                <a:uFillTx/>
                <a:latin typeface="Aptos"/>
                <a:ea typeface="Aptos"/>
              </a:rPr>
              <a:t>decidir</a:t>
            </a:r>
            <a:r>
              <a:rPr lang="en-US" sz="1400" b="0" u="none" strike="noStrike" dirty="0">
                <a:solidFill>
                  <a:srgbClr val="6F6888"/>
                </a:solidFill>
                <a:effectLst/>
                <a:uFillTx/>
                <a:latin typeface="Aptos"/>
                <a:ea typeface="Aptos"/>
              </a:rPr>
              <a:t> y </a:t>
            </a:r>
            <a:r>
              <a:rPr lang="en-US" sz="1400" b="0" u="none" strike="noStrike" dirty="0" err="1">
                <a:solidFill>
                  <a:srgbClr val="6F6888"/>
                </a:solidFill>
                <a:effectLst/>
                <a:uFillTx/>
                <a:latin typeface="Aptos"/>
                <a:ea typeface="Aptos"/>
              </a:rPr>
              <a:t>ejecutar</a:t>
            </a:r>
            <a:r>
              <a:rPr lang="en-US" sz="1400" b="0" u="none" strike="noStrike" dirty="0">
                <a:solidFill>
                  <a:srgbClr val="6F6888"/>
                </a:solidFill>
                <a:effectLst/>
                <a:uFillTx/>
                <a:latin typeface="Aptos"/>
                <a:ea typeface="Aptos"/>
              </a:rPr>
              <a:t> </a:t>
            </a:r>
            <a:r>
              <a:rPr lang="en-US" sz="1400" b="0" u="none" strike="noStrike" dirty="0" err="1">
                <a:solidFill>
                  <a:srgbClr val="6F6888"/>
                </a:solidFill>
                <a:effectLst/>
                <a:uFillTx/>
                <a:latin typeface="Aptos"/>
                <a:ea typeface="Aptos"/>
              </a:rPr>
              <a:t>dentro</a:t>
            </a:r>
            <a:r>
              <a:rPr lang="en-US" sz="1400" b="0" u="none" strike="noStrike" dirty="0">
                <a:solidFill>
                  <a:srgbClr val="6F6888"/>
                </a:solidFill>
                <a:effectLst/>
                <a:uFillTx/>
                <a:latin typeface="Aptos"/>
                <a:ea typeface="Aptos"/>
              </a:rPr>
              <a:t> de </a:t>
            </a:r>
            <a:r>
              <a:rPr lang="en-US" sz="1400" b="0" u="none" strike="noStrike" dirty="0" err="1">
                <a:solidFill>
                  <a:srgbClr val="6F6888"/>
                </a:solidFill>
                <a:effectLst/>
                <a:uFillTx/>
                <a:latin typeface="Aptos"/>
                <a:ea typeface="Aptos"/>
              </a:rPr>
              <a:t>pol</a:t>
            </a:r>
            <a:r>
              <a:rPr lang="en-US" sz="1400" dirty="0" err="1">
                <a:solidFill>
                  <a:srgbClr val="6F6888"/>
                </a:solidFill>
                <a:latin typeface="Aptos"/>
                <a:ea typeface="Aptos"/>
              </a:rPr>
              <a:t>íticas</a:t>
            </a:r>
            <a:r>
              <a:rPr lang="en-US" sz="1400" b="0" u="none" strike="noStrike" dirty="0">
                <a:solidFill>
                  <a:srgbClr val="6F6888"/>
                </a:solidFill>
                <a:effectLst/>
                <a:uFillTx/>
                <a:latin typeface="Aptos"/>
                <a:ea typeface="Aptos"/>
              </a:rPr>
              <a:t>.</a:t>
            </a:r>
            <a:endParaRPr lang="en-US" sz="1400" b="0" u="none" strike="noStrike" dirty="0">
              <a:solidFill>
                <a:srgbClr val="000000"/>
              </a:solidFill>
              <a:effectLst/>
              <a:uFillTx/>
              <a:latin typeface="Arial"/>
            </a:endParaRPr>
          </a:p>
          <a:p>
            <a:pPr algn="ctr" defTabSz="914400">
              <a:lnSpc>
                <a:spcPct val="100000"/>
              </a:lnSpc>
              <a:tabLst>
                <a:tab pos="0" algn="l"/>
              </a:tabLst>
            </a:pPr>
            <a:endParaRPr lang="en-US" sz="1400" b="0" u="none" strike="noStrike" dirty="0">
              <a:solidFill>
                <a:srgbClr val="000000"/>
              </a:solidFill>
              <a:effectLst/>
              <a:uFillTx/>
              <a:latin typeface="Arial"/>
            </a:endParaRPr>
          </a:p>
          <a:p>
            <a:pPr algn="ctr" defTabSz="914400">
              <a:lnSpc>
                <a:spcPct val="100000"/>
              </a:lnSpc>
              <a:tabLst>
                <a:tab pos="0" algn="l"/>
              </a:tabLst>
            </a:pPr>
            <a:r>
              <a:rPr lang="en-US" sz="1400" b="0" u="none" strike="noStrike" dirty="0" err="1">
                <a:solidFill>
                  <a:srgbClr val="6F6888"/>
                </a:solidFill>
                <a:effectLst/>
                <a:uFillTx/>
                <a:latin typeface="Aptos"/>
                <a:ea typeface="Aptos"/>
              </a:rPr>
              <a:t>seguimiento</a:t>
            </a:r>
            <a:r>
              <a:rPr lang="en-US" sz="1400" b="0" u="none" strike="noStrike" dirty="0">
                <a:solidFill>
                  <a:srgbClr val="6F6888"/>
                </a:solidFill>
                <a:effectLst/>
                <a:uFillTx/>
                <a:latin typeface="Aptos"/>
                <a:ea typeface="Aptos"/>
              </a:rPr>
              <a:t> </a:t>
            </a:r>
            <a:r>
              <a:rPr lang="en-US" sz="1400" b="0" u="none" strike="noStrike" dirty="0" err="1">
                <a:solidFill>
                  <a:srgbClr val="6F6888"/>
                </a:solidFill>
                <a:effectLst/>
                <a:uFillTx/>
                <a:latin typeface="Aptos"/>
                <a:ea typeface="Aptos"/>
              </a:rPr>
              <a:t>permitido</a:t>
            </a:r>
            <a:r>
              <a:rPr lang="en-US" sz="1400" b="0" u="none" strike="noStrike" dirty="0">
                <a:solidFill>
                  <a:srgbClr val="6F6888"/>
                </a:solidFill>
                <a:effectLst/>
                <a:uFillTx/>
                <a:latin typeface="Aptos"/>
                <a:ea typeface="Aptos"/>
              </a:rPr>
              <a:t> · </a:t>
            </a:r>
            <a:r>
              <a:rPr lang="en-US" sz="1400" b="0" u="none" strike="noStrike" dirty="0" err="1">
                <a:solidFill>
                  <a:srgbClr val="6F6888"/>
                </a:solidFill>
                <a:effectLst/>
                <a:uFillTx/>
                <a:latin typeface="Aptos"/>
                <a:ea typeface="Aptos"/>
              </a:rPr>
              <a:t>recordatorios</a:t>
            </a:r>
            <a:r>
              <a:rPr lang="en-US" sz="1400" b="0" u="none" strike="noStrike" dirty="0">
                <a:solidFill>
                  <a:srgbClr val="6F6888"/>
                </a:solidFill>
                <a:effectLst/>
                <a:uFillTx/>
                <a:latin typeface="Aptos"/>
                <a:ea typeface="Aptos"/>
              </a:rPr>
              <a:t> · </a:t>
            </a:r>
            <a:r>
              <a:rPr lang="en-US" sz="1400" b="0" u="none" strike="noStrike" dirty="0" err="1">
                <a:solidFill>
                  <a:srgbClr val="6F6888"/>
                </a:solidFill>
                <a:effectLst/>
                <a:uFillTx/>
                <a:latin typeface="Aptos"/>
                <a:ea typeface="Aptos"/>
              </a:rPr>
              <a:t>búsquedas</a:t>
            </a:r>
            <a:endParaRPr lang="en-US" sz="1400" b="0" u="none" strike="noStrike" dirty="0">
              <a:solidFill>
                <a:srgbClr val="000000"/>
              </a:solidFill>
              <a:effectLst/>
              <a:uFillTx/>
              <a:latin typeface="Arial"/>
            </a:endParaRPr>
          </a:p>
        </p:txBody>
      </p:sp>
      <p:sp>
        <p:nvSpPr>
          <p:cNvPr id="430" name="Shape 12"/>
          <p:cNvSpPr/>
          <p:nvPr/>
        </p:nvSpPr>
        <p:spPr>
          <a:xfrm>
            <a:off x="4526280" y="2649424"/>
            <a:ext cx="3200040" cy="2239920"/>
          </a:xfrm>
          <a:prstGeom prst="roundRect">
            <a:avLst>
              <a:gd name="adj" fmla="val 4082"/>
            </a:avLst>
          </a:prstGeom>
          <a:solidFill>
            <a:srgbClr val="FFFFFF"/>
          </a:solidFill>
          <a:ln w="12700">
            <a:solidFill>
              <a:srgbClr val="F39A2B"/>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1" name="Text 13"/>
          <p:cNvSpPr/>
          <p:nvPr/>
        </p:nvSpPr>
        <p:spPr>
          <a:xfrm>
            <a:off x="4663440" y="2795584"/>
            <a:ext cx="29257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00" b="1" u="none" strike="noStrike" dirty="0">
                <a:solidFill>
                  <a:srgbClr val="F39A2B"/>
                </a:solidFill>
                <a:effectLst/>
                <a:uFillTx/>
                <a:latin typeface="Aptos"/>
                <a:ea typeface="Aptos"/>
              </a:rPr>
              <a:t>HUMANO LIDERA</a:t>
            </a:r>
            <a:endParaRPr lang="en-US" sz="1200" b="0" u="none" strike="noStrike" dirty="0">
              <a:solidFill>
                <a:srgbClr val="000000"/>
              </a:solidFill>
              <a:effectLst/>
              <a:uFillTx/>
              <a:latin typeface="Arial"/>
            </a:endParaRPr>
          </a:p>
        </p:txBody>
      </p:sp>
      <p:sp>
        <p:nvSpPr>
          <p:cNvPr id="432" name="Text 14"/>
          <p:cNvSpPr/>
          <p:nvPr/>
        </p:nvSpPr>
        <p:spPr>
          <a:xfrm>
            <a:off x="4727520" y="3124984"/>
            <a:ext cx="27975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b="1" u="none" strike="noStrike" dirty="0" err="1">
                <a:solidFill>
                  <a:srgbClr val="151327"/>
                </a:solidFill>
                <a:effectLst/>
                <a:uFillTx/>
                <a:latin typeface="Aptos Display"/>
                <a:ea typeface="Aptos Display"/>
              </a:rPr>
              <a:t>Estrategia</a:t>
            </a:r>
            <a:r>
              <a:rPr lang="en-US" b="1" u="none" strike="noStrike" dirty="0">
                <a:solidFill>
                  <a:srgbClr val="151327"/>
                </a:solidFill>
                <a:effectLst/>
                <a:uFillTx/>
                <a:latin typeface="Aptos Display"/>
                <a:ea typeface="Aptos Display"/>
              </a:rPr>
              <a:t> / </a:t>
            </a:r>
            <a:r>
              <a:rPr lang="en-US" b="1" u="none" strike="noStrike" dirty="0" err="1">
                <a:solidFill>
                  <a:srgbClr val="151327"/>
                </a:solidFill>
                <a:effectLst/>
                <a:uFillTx/>
                <a:latin typeface="Aptos Display"/>
                <a:ea typeface="Aptos Display"/>
              </a:rPr>
              <a:t>Relación</a:t>
            </a:r>
            <a:endParaRPr lang="en-US" b="0" u="none" strike="noStrike" dirty="0">
              <a:solidFill>
                <a:srgbClr val="000000"/>
              </a:solidFill>
              <a:effectLst/>
              <a:uFillTx/>
              <a:latin typeface="Arial"/>
            </a:endParaRPr>
          </a:p>
        </p:txBody>
      </p:sp>
      <p:sp>
        <p:nvSpPr>
          <p:cNvPr id="433" name="Text 15"/>
          <p:cNvSpPr/>
          <p:nvPr/>
        </p:nvSpPr>
        <p:spPr>
          <a:xfrm>
            <a:off x="4782240" y="3636904"/>
            <a:ext cx="2688120" cy="10879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0" u="none" strike="noStrike" dirty="0">
                <a:solidFill>
                  <a:srgbClr val="6F6888"/>
                </a:solidFill>
                <a:effectLst/>
                <a:uFillTx/>
                <a:latin typeface="Aptos"/>
                <a:ea typeface="Aptos"/>
              </a:rPr>
              <a:t>Gu </a:t>
            </a:r>
            <a:r>
              <a:rPr lang="en-US" sz="1400" b="0" u="none" strike="noStrike" dirty="0" err="1">
                <a:solidFill>
                  <a:srgbClr val="6F6888"/>
                </a:solidFill>
                <a:effectLst/>
                <a:uFillTx/>
                <a:latin typeface="Aptos"/>
                <a:ea typeface="Aptos"/>
              </a:rPr>
              <a:t>analiza</a:t>
            </a:r>
            <a:r>
              <a:rPr lang="en-US" sz="1400" b="0" u="none" strike="noStrike" dirty="0">
                <a:solidFill>
                  <a:srgbClr val="6F6888"/>
                </a:solidFill>
                <a:effectLst/>
                <a:uFillTx/>
                <a:latin typeface="Aptos"/>
                <a:ea typeface="Aptos"/>
              </a:rPr>
              <a:t> y </a:t>
            </a:r>
            <a:r>
              <a:rPr lang="en-US" sz="1400" b="0" u="none" strike="noStrike" dirty="0" err="1">
                <a:solidFill>
                  <a:srgbClr val="6F6888"/>
                </a:solidFill>
                <a:effectLst/>
                <a:uFillTx/>
                <a:latin typeface="Aptos"/>
                <a:ea typeface="Aptos"/>
              </a:rPr>
              <a:t>recomienda</a:t>
            </a:r>
            <a:r>
              <a:rPr lang="en-US" sz="1400" dirty="0">
                <a:solidFill>
                  <a:srgbClr val="6F6888"/>
                </a:solidFill>
                <a:latin typeface="Aptos"/>
                <a:ea typeface="Aptos"/>
              </a:rPr>
              <a:t>,</a:t>
            </a:r>
            <a:r>
              <a:rPr lang="en-US" sz="1400" b="0" u="none" strike="noStrike" dirty="0">
                <a:solidFill>
                  <a:srgbClr val="6F6888"/>
                </a:solidFill>
                <a:effectLst/>
                <a:uFillTx/>
                <a:latin typeface="Aptos"/>
                <a:ea typeface="Aptos"/>
              </a:rPr>
              <a:t> </a:t>
            </a:r>
            <a:r>
              <a:rPr lang="en-US" sz="1400" b="0" u="none" strike="noStrike" dirty="0" err="1">
                <a:solidFill>
                  <a:srgbClr val="6F6888"/>
                </a:solidFill>
                <a:effectLst/>
                <a:uFillTx/>
                <a:latin typeface="Aptos"/>
                <a:ea typeface="Aptos"/>
              </a:rPr>
              <a:t>humano</a:t>
            </a:r>
            <a:r>
              <a:rPr lang="en-US" sz="1400" b="0" u="none" strike="noStrike" dirty="0">
                <a:solidFill>
                  <a:srgbClr val="6F6888"/>
                </a:solidFill>
                <a:effectLst/>
                <a:uFillTx/>
                <a:latin typeface="Aptos"/>
                <a:ea typeface="Aptos"/>
              </a:rPr>
              <a:t> </a:t>
            </a:r>
            <a:r>
              <a:rPr lang="en-US" sz="1400" b="0" u="none" strike="noStrike" dirty="0" err="1">
                <a:solidFill>
                  <a:srgbClr val="6F6888"/>
                </a:solidFill>
                <a:effectLst/>
                <a:uFillTx/>
                <a:latin typeface="Aptos"/>
                <a:ea typeface="Aptos"/>
              </a:rPr>
              <a:t>lidera</a:t>
            </a:r>
            <a:r>
              <a:rPr lang="en-US" sz="1400" b="0" u="none" strike="noStrike" dirty="0">
                <a:solidFill>
                  <a:srgbClr val="6F6888"/>
                </a:solidFill>
                <a:effectLst/>
                <a:uFillTx/>
                <a:latin typeface="Aptos"/>
                <a:ea typeface="Aptos"/>
              </a:rPr>
              <a:t> o decide.</a:t>
            </a:r>
            <a:endParaRPr lang="en-US" sz="1400" b="0" u="none" strike="noStrike" dirty="0">
              <a:solidFill>
                <a:srgbClr val="000000"/>
              </a:solidFill>
              <a:effectLst/>
              <a:uFillTx/>
              <a:latin typeface="Arial"/>
            </a:endParaRPr>
          </a:p>
          <a:p>
            <a:pPr algn="ctr" defTabSz="914400">
              <a:lnSpc>
                <a:spcPct val="100000"/>
              </a:lnSpc>
              <a:tabLst>
                <a:tab pos="0" algn="l"/>
              </a:tabLst>
            </a:pPr>
            <a:endParaRPr lang="en-US" sz="1400" b="0" u="none" strike="noStrike" dirty="0">
              <a:solidFill>
                <a:srgbClr val="000000"/>
              </a:solidFill>
              <a:effectLst/>
              <a:uFillTx/>
              <a:latin typeface="Arial"/>
            </a:endParaRPr>
          </a:p>
          <a:p>
            <a:pPr algn="ctr" defTabSz="914400">
              <a:lnSpc>
                <a:spcPct val="100000"/>
              </a:lnSpc>
              <a:tabLst>
                <a:tab pos="0" algn="l"/>
              </a:tabLst>
            </a:pPr>
            <a:r>
              <a:rPr lang="en-US" sz="1400" b="0" u="none" strike="noStrike" dirty="0" err="1">
                <a:solidFill>
                  <a:srgbClr val="6F6888"/>
                </a:solidFill>
                <a:effectLst/>
                <a:uFillTx/>
                <a:latin typeface="Aptos"/>
                <a:ea typeface="Aptos"/>
              </a:rPr>
              <a:t>negociación</a:t>
            </a:r>
            <a:r>
              <a:rPr lang="en-US" sz="1400" b="0" u="none" strike="noStrike" dirty="0">
                <a:solidFill>
                  <a:srgbClr val="6F6888"/>
                </a:solidFill>
                <a:effectLst/>
                <a:uFillTx/>
                <a:latin typeface="Aptos"/>
                <a:ea typeface="Aptos"/>
              </a:rPr>
              <a:t> · </a:t>
            </a:r>
            <a:r>
              <a:rPr lang="en-US" sz="1400" b="0" u="none" strike="noStrike" dirty="0" err="1">
                <a:solidFill>
                  <a:srgbClr val="6F6888"/>
                </a:solidFill>
                <a:effectLst/>
                <a:uFillTx/>
                <a:latin typeface="Aptos"/>
                <a:ea typeface="Aptos"/>
              </a:rPr>
              <a:t>excepciones</a:t>
            </a:r>
            <a:r>
              <a:rPr lang="en-US" sz="1400" b="0" u="none" strike="noStrike" dirty="0">
                <a:solidFill>
                  <a:srgbClr val="6F6888"/>
                </a:solidFill>
                <a:effectLst/>
                <a:uFillTx/>
                <a:latin typeface="Aptos"/>
                <a:ea typeface="Aptos"/>
              </a:rPr>
              <a:t> · </a:t>
            </a:r>
            <a:r>
              <a:rPr lang="en-US" sz="1400" b="0" u="none" strike="noStrike" dirty="0" err="1">
                <a:solidFill>
                  <a:srgbClr val="6F6888"/>
                </a:solidFill>
                <a:effectLst/>
                <a:uFillTx/>
                <a:latin typeface="Aptos"/>
                <a:ea typeface="Aptos"/>
              </a:rPr>
              <a:t>momentos</a:t>
            </a:r>
            <a:r>
              <a:rPr lang="en-US" sz="1400" b="0" u="none" strike="noStrike" dirty="0">
                <a:solidFill>
                  <a:srgbClr val="6F6888"/>
                </a:solidFill>
                <a:effectLst/>
                <a:uFillTx/>
                <a:latin typeface="Aptos"/>
                <a:ea typeface="Aptos"/>
              </a:rPr>
              <a:t> </a:t>
            </a:r>
            <a:r>
              <a:rPr lang="en-US" sz="1400" b="0" u="none" strike="noStrike" dirty="0" err="1">
                <a:solidFill>
                  <a:srgbClr val="6F6888"/>
                </a:solidFill>
                <a:effectLst/>
                <a:uFillTx/>
                <a:latin typeface="Aptos"/>
                <a:ea typeface="Aptos"/>
              </a:rPr>
              <a:t>sensibles</a:t>
            </a:r>
            <a:endParaRPr lang="en-US" sz="1400" b="0" u="none" strike="noStrike" dirty="0">
              <a:solidFill>
                <a:srgbClr val="000000"/>
              </a:solidFill>
              <a:effectLst/>
              <a:uFillTx/>
              <a:latin typeface="Arial"/>
            </a:endParaRPr>
          </a:p>
        </p:txBody>
      </p:sp>
      <p:sp>
        <p:nvSpPr>
          <p:cNvPr id="434" name="Shape 16"/>
          <p:cNvSpPr/>
          <p:nvPr/>
        </p:nvSpPr>
        <p:spPr>
          <a:xfrm>
            <a:off x="8229600" y="2649424"/>
            <a:ext cx="3200040" cy="2239920"/>
          </a:xfrm>
          <a:prstGeom prst="roundRect">
            <a:avLst>
              <a:gd name="adj" fmla="val 4082"/>
            </a:avLst>
          </a:prstGeom>
          <a:solidFill>
            <a:srgbClr val="FFFFFF"/>
          </a:solidFill>
          <a:ln w="12700">
            <a:solidFill>
              <a:srgbClr val="A84A7A"/>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5" name="Text 17"/>
          <p:cNvSpPr/>
          <p:nvPr/>
        </p:nvSpPr>
        <p:spPr>
          <a:xfrm>
            <a:off x="8366760" y="2795584"/>
            <a:ext cx="29257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00" b="1" u="none" strike="noStrike" dirty="0">
                <a:solidFill>
                  <a:srgbClr val="A84A7A"/>
                </a:solidFill>
                <a:effectLst/>
                <a:uFillTx/>
                <a:latin typeface="Aptos"/>
                <a:ea typeface="Aptos"/>
              </a:rPr>
              <a:t>HUMANO AUTORIZA</a:t>
            </a:r>
            <a:endParaRPr lang="en-US" sz="1200" b="0" u="none" strike="noStrike" dirty="0">
              <a:solidFill>
                <a:srgbClr val="000000"/>
              </a:solidFill>
              <a:effectLst/>
              <a:uFillTx/>
              <a:latin typeface="Arial"/>
            </a:endParaRPr>
          </a:p>
        </p:txBody>
      </p:sp>
      <p:sp>
        <p:nvSpPr>
          <p:cNvPr id="436" name="Text 18"/>
          <p:cNvSpPr/>
          <p:nvPr/>
        </p:nvSpPr>
        <p:spPr>
          <a:xfrm>
            <a:off x="8430840" y="3124984"/>
            <a:ext cx="27975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b="1" u="none" strike="noStrike" dirty="0">
                <a:solidFill>
                  <a:srgbClr val="151327"/>
                </a:solidFill>
                <a:effectLst/>
                <a:uFillTx/>
                <a:latin typeface="Aptos Display"/>
                <a:ea typeface="Aptos Display"/>
              </a:rPr>
              <a:t>Alto </a:t>
            </a:r>
            <a:r>
              <a:rPr lang="en-US" b="1" u="none" strike="noStrike" dirty="0" err="1">
                <a:solidFill>
                  <a:srgbClr val="151327"/>
                </a:solidFill>
                <a:effectLst/>
                <a:uFillTx/>
                <a:latin typeface="Aptos Display"/>
                <a:ea typeface="Aptos Display"/>
              </a:rPr>
              <a:t>riesgo</a:t>
            </a:r>
            <a:r>
              <a:rPr lang="en-US" b="1" u="none" strike="noStrike" dirty="0">
                <a:solidFill>
                  <a:srgbClr val="151327"/>
                </a:solidFill>
                <a:effectLst/>
                <a:uFillTx/>
                <a:latin typeface="Aptos Display"/>
                <a:ea typeface="Aptos Display"/>
              </a:rPr>
              <a:t> / </a:t>
            </a:r>
            <a:r>
              <a:rPr lang="en-US" b="1" u="none" strike="noStrike" dirty="0" err="1">
                <a:solidFill>
                  <a:srgbClr val="151327"/>
                </a:solidFill>
                <a:effectLst/>
                <a:uFillTx/>
                <a:latin typeface="Aptos Display"/>
                <a:ea typeface="Aptos Display"/>
              </a:rPr>
              <a:t>autoridad</a:t>
            </a:r>
            <a:endParaRPr lang="en-US" b="0" u="none" strike="noStrike" dirty="0">
              <a:solidFill>
                <a:srgbClr val="000000"/>
              </a:solidFill>
              <a:effectLst/>
              <a:uFillTx/>
              <a:latin typeface="Arial"/>
            </a:endParaRPr>
          </a:p>
        </p:txBody>
      </p:sp>
      <p:sp>
        <p:nvSpPr>
          <p:cNvPr id="437" name="Text 19"/>
          <p:cNvSpPr/>
          <p:nvPr/>
        </p:nvSpPr>
        <p:spPr>
          <a:xfrm>
            <a:off x="8485560" y="3636904"/>
            <a:ext cx="2688120" cy="10879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0" u="none" strike="noStrike" dirty="0">
                <a:solidFill>
                  <a:srgbClr val="6F6888"/>
                </a:solidFill>
                <a:effectLst/>
                <a:uFillTx/>
                <a:latin typeface="Aptos"/>
                <a:ea typeface="Aptos"/>
              </a:rPr>
              <a:t>Gu </a:t>
            </a:r>
            <a:r>
              <a:rPr lang="en-US" sz="1400" b="0" u="none" strike="noStrike" dirty="0" err="1">
                <a:solidFill>
                  <a:srgbClr val="6F6888"/>
                </a:solidFill>
                <a:effectLst/>
                <a:uFillTx/>
                <a:latin typeface="Aptos"/>
                <a:ea typeface="Aptos"/>
              </a:rPr>
              <a:t>prepara</a:t>
            </a:r>
            <a:r>
              <a:rPr lang="en-US" sz="1400" b="0" u="none" strike="noStrike" dirty="0">
                <a:solidFill>
                  <a:srgbClr val="6F6888"/>
                </a:solidFill>
                <a:effectLst/>
                <a:uFillTx/>
                <a:latin typeface="Aptos"/>
                <a:ea typeface="Aptos"/>
              </a:rPr>
              <a:t> </a:t>
            </a:r>
            <a:r>
              <a:rPr lang="en-US" sz="1400" b="0" u="none" strike="noStrike" dirty="0" err="1">
                <a:solidFill>
                  <a:srgbClr val="6F6888"/>
                </a:solidFill>
                <a:effectLst/>
                <a:uFillTx/>
                <a:latin typeface="Aptos"/>
                <a:ea typeface="Aptos"/>
              </a:rPr>
              <a:t>contexto</a:t>
            </a:r>
            <a:r>
              <a:rPr lang="en-US" sz="1400" b="0" u="none" strike="noStrike" dirty="0">
                <a:solidFill>
                  <a:srgbClr val="6F6888"/>
                </a:solidFill>
                <a:effectLst/>
                <a:uFillTx/>
                <a:latin typeface="Aptos"/>
                <a:ea typeface="Aptos"/>
              </a:rPr>
              <a:t>, </a:t>
            </a:r>
            <a:r>
              <a:rPr lang="en-US" sz="1400" b="0" u="none" strike="noStrike" dirty="0" err="1">
                <a:solidFill>
                  <a:srgbClr val="6F6888"/>
                </a:solidFill>
                <a:effectLst/>
                <a:uFillTx/>
                <a:latin typeface="Aptos"/>
                <a:ea typeface="Aptos"/>
              </a:rPr>
              <a:t>humano</a:t>
            </a:r>
            <a:r>
              <a:rPr lang="en-US" sz="1400" b="0" u="none" strike="noStrike" dirty="0">
                <a:solidFill>
                  <a:srgbClr val="6F6888"/>
                </a:solidFill>
                <a:effectLst/>
                <a:uFillTx/>
                <a:latin typeface="Aptos"/>
                <a:ea typeface="Aptos"/>
              </a:rPr>
              <a:t> </a:t>
            </a:r>
            <a:r>
              <a:rPr lang="en-US" sz="1400" b="0" u="none" strike="noStrike" dirty="0" err="1">
                <a:solidFill>
                  <a:srgbClr val="6F6888"/>
                </a:solidFill>
                <a:effectLst/>
                <a:uFillTx/>
                <a:latin typeface="Aptos"/>
                <a:ea typeface="Aptos"/>
              </a:rPr>
              <a:t>autoriza</a:t>
            </a:r>
            <a:r>
              <a:rPr lang="en-US" sz="1400" b="0" u="none" strike="noStrike" dirty="0">
                <a:solidFill>
                  <a:srgbClr val="6F6888"/>
                </a:solidFill>
                <a:effectLst/>
                <a:uFillTx/>
                <a:latin typeface="Aptos"/>
                <a:ea typeface="Aptos"/>
              </a:rPr>
              <a:t>, Gu </a:t>
            </a:r>
            <a:r>
              <a:rPr lang="en-US" sz="1400" b="0" u="none" strike="noStrike" dirty="0" err="1">
                <a:solidFill>
                  <a:srgbClr val="6F6888"/>
                </a:solidFill>
                <a:effectLst/>
                <a:uFillTx/>
                <a:latin typeface="Aptos"/>
                <a:ea typeface="Aptos"/>
              </a:rPr>
              <a:t>reanuda</a:t>
            </a:r>
            <a:r>
              <a:rPr lang="en-US" sz="1400" b="0" u="none" strike="noStrike" dirty="0">
                <a:solidFill>
                  <a:srgbClr val="6F6888"/>
                </a:solidFill>
                <a:effectLst/>
                <a:uFillTx/>
                <a:latin typeface="Aptos"/>
                <a:ea typeface="Aptos"/>
              </a:rPr>
              <a:t>.</a:t>
            </a:r>
            <a:endParaRPr lang="en-US" sz="1400" b="0" u="none" strike="noStrike" dirty="0">
              <a:solidFill>
                <a:srgbClr val="000000"/>
              </a:solidFill>
              <a:effectLst/>
              <a:uFillTx/>
              <a:latin typeface="Arial"/>
            </a:endParaRPr>
          </a:p>
          <a:p>
            <a:pPr algn="ctr" defTabSz="914400">
              <a:lnSpc>
                <a:spcPct val="100000"/>
              </a:lnSpc>
              <a:tabLst>
                <a:tab pos="0" algn="l"/>
              </a:tabLst>
            </a:pPr>
            <a:endParaRPr lang="en-US" sz="1400" b="0" u="none" strike="noStrike" dirty="0">
              <a:solidFill>
                <a:srgbClr val="000000"/>
              </a:solidFill>
              <a:effectLst/>
              <a:uFillTx/>
              <a:latin typeface="Arial"/>
            </a:endParaRPr>
          </a:p>
          <a:p>
            <a:pPr algn="ctr" defTabSz="914400">
              <a:lnSpc>
                <a:spcPct val="100000"/>
              </a:lnSpc>
              <a:tabLst>
                <a:tab pos="0" algn="l"/>
              </a:tabLst>
            </a:pPr>
            <a:r>
              <a:rPr lang="en-US" sz="1400" b="0" u="none" strike="noStrike" dirty="0" err="1">
                <a:solidFill>
                  <a:srgbClr val="6F6888"/>
                </a:solidFill>
                <a:effectLst/>
                <a:uFillTx/>
                <a:latin typeface="Aptos"/>
                <a:ea typeface="Aptos"/>
              </a:rPr>
              <a:t>precio</a:t>
            </a:r>
            <a:r>
              <a:rPr lang="en-US" sz="1400" b="0" u="none" strike="noStrike" dirty="0">
                <a:solidFill>
                  <a:srgbClr val="6F6888"/>
                </a:solidFill>
                <a:effectLst/>
                <a:uFillTx/>
                <a:latin typeface="Aptos"/>
                <a:ea typeface="Aptos"/>
              </a:rPr>
              <a:t> · </a:t>
            </a:r>
            <a:r>
              <a:rPr lang="en-US" sz="1400" b="0" u="none" strike="noStrike" dirty="0" err="1">
                <a:solidFill>
                  <a:srgbClr val="6F6888"/>
                </a:solidFill>
                <a:effectLst/>
                <a:uFillTx/>
                <a:latin typeface="Aptos"/>
                <a:ea typeface="Aptos"/>
              </a:rPr>
              <a:t>compromisos</a:t>
            </a:r>
            <a:r>
              <a:rPr lang="en-US" sz="1400" b="0" u="none" strike="noStrike" dirty="0">
                <a:solidFill>
                  <a:srgbClr val="6F6888"/>
                </a:solidFill>
                <a:effectLst/>
                <a:uFillTx/>
                <a:latin typeface="Aptos"/>
                <a:ea typeface="Aptos"/>
              </a:rPr>
              <a:t> · </a:t>
            </a:r>
          </a:p>
          <a:p>
            <a:pPr algn="ctr" defTabSz="914400">
              <a:lnSpc>
                <a:spcPct val="100000"/>
              </a:lnSpc>
              <a:tabLst>
                <a:tab pos="0" algn="l"/>
              </a:tabLst>
            </a:pPr>
            <a:r>
              <a:rPr lang="en-US" sz="1400" b="0" u="none" strike="noStrike" dirty="0" err="1">
                <a:solidFill>
                  <a:srgbClr val="6F6888"/>
                </a:solidFill>
                <a:effectLst/>
                <a:uFillTx/>
                <a:latin typeface="Aptos"/>
                <a:ea typeface="Aptos"/>
              </a:rPr>
              <a:t>cambios</a:t>
            </a:r>
            <a:r>
              <a:rPr lang="en-US" sz="1400" b="0" u="none" strike="noStrike" dirty="0">
                <a:solidFill>
                  <a:srgbClr val="6F6888"/>
                </a:solidFill>
                <a:effectLst/>
                <a:uFillTx/>
                <a:latin typeface="Aptos"/>
                <a:ea typeface="Aptos"/>
              </a:rPr>
              <a:t> </a:t>
            </a:r>
            <a:r>
              <a:rPr lang="en-US" sz="1400" b="0" u="none" strike="noStrike" dirty="0" err="1">
                <a:solidFill>
                  <a:srgbClr val="6F6888"/>
                </a:solidFill>
                <a:effectLst/>
                <a:uFillTx/>
                <a:latin typeface="Aptos"/>
                <a:ea typeface="Aptos"/>
              </a:rPr>
              <a:t>económicos</a:t>
            </a:r>
            <a:endParaRPr lang="en-US" sz="1400" b="0" u="none" strike="noStrike" dirty="0">
              <a:solidFill>
                <a:srgbClr val="000000"/>
              </a:solidFill>
              <a:effectLst/>
              <a:uFillTx/>
              <a:latin typeface="Arial"/>
            </a:endParaRPr>
          </a:p>
        </p:txBody>
      </p:sp>
      <p:sp>
        <p:nvSpPr>
          <p:cNvPr id="438" name="Shape 20"/>
          <p:cNvSpPr/>
          <p:nvPr/>
        </p:nvSpPr>
        <p:spPr>
          <a:xfrm>
            <a:off x="2240280" y="5730953"/>
            <a:ext cx="7726320" cy="640345"/>
          </a:xfrm>
          <a:prstGeom prst="roundRect">
            <a:avLst>
              <a:gd name="adj" fmla="val 16000"/>
            </a:avLst>
          </a:prstGeom>
          <a:solidFill>
            <a:srgbClr val="20143D"/>
          </a:solidFill>
          <a:ln w="12700">
            <a:solidFill>
              <a:srgbClr val="20143D">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b="0" u="none" strike="noStrike" dirty="0">
              <a:solidFill>
                <a:srgbClr val="FFFFFF"/>
              </a:solidFill>
              <a:effectLst/>
              <a:uFillTx/>
              <a:latin typeface="Arial"/>
            </a:endParaRPr>
          </a:p>
        </p:txBody>
      </p:sp>
      <p:sp>
        <p:nvSpPr>
          <p:cNvPr id="439" name="Text 21"/>
          <p:cNvSpPr/>
          <p:nvPr/>
        </p:nvSpPr>
        <p:spPr>
          <a:xfrm>
            <a:off x="2516826" y="5868472"/>
            <a:ext cx="7218948"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b="1" u="none" strike="noStrike" dirty="0">
                <a:solidFill>
                  <a:srgbClr val="FFFFFF"/>
                </a:solidFill>
                <a:effectLst/>
                <a:uFillTx/>
                <a:latin typeface="Aptos"/>
                <a:ea typeface="Aptos"/>
              </a:rPr>
              <a:t>El “prompt” </a:t>
            </a:r>
            <a:r>
              <a:rPr lang="en-US" b="1" u="none" strike="noStrike" dirty="0" err="1">
                <a:solidFill>
                  <a:srgbClr val="FFFFFF"/>
                </a:solidFill>
                <a:effectLst/>
                <a:uFillTx/>
                <a:latin typeface="Aptos"/>
                <a:ea typeface="Aptos"/>
              </a:rPr>
              <a:t>guía</a:t>
            </a:r>
            <a:r>
              <a:rPr lang="en-US" b="1" u="none" strike="noStrike" dirty="0">
                <a:solidFill>
                  <a:srgbClr val="FFFFFF"/>
                </a:solidFill>
                <a:effectLst/>
                <a:uFillTx/>
                <a:latin typeface="Aptos"/>
                <a:ea typeface="Aptos"/>
              </a:rPr>
              <a:t>, la </a:t>
            </a:r>
            <a:r>
              <a:rPr lang="en-US" b="1" u="none" strike="noStrike" dirty="0" err="1">
                <a:solidFill>
                  <a:srgbClr val="FFFFFF"/>
                </a:solidFill>
                <a:effectLst/>
                <a:uFillTx/>
                <a:latin typeface="Aptos"/>
                <a:ea typeface="Aptos"/>
              </a:rPr>
              <a:t>verificació</a:t>
            </a:r>
            <a:r>
              <a:rPr lang="en-US" b="1" dirty="0" err="1">
                <a:solidFill>
                  <a:srgbClr val="FFFFFF"/>
                </a:solidFill>
                <a:latin typeface="Aptos"/>
                <a:ea typeface="Aptos"/>
              </a:rPr>
              <a:t>n</a:t>
            </a:r>
            <a:r>
              <a:rPr lang="en-US" b="1" dirty="0">
                <a:solidFill>
                  <a:srgbClr val="FFFFFF"/>
                </a:solidFill>
                <a:latin typeface="Aptos"/>
                <a:ea typeface="Aptos"/>
              </a:rPr>
              <a:t> </a:t>
            </a:r>
            <a:r>
              <a:rPr lang="en-US" b="1" dirty="0" err="1">
                <a:solidFill>
                  <a:srgbClr val="FFFFFF"/>
                </a:solidFill>
                <a:latin typeface="Aptos"/>
                <a:ea typeface="Aptos"/>
              </a:rPr>
              <a:t>gobierna</a:t>
            </a:r>
            <a:r>
              <a:rPr lang="en-US" b="1" u="none" strike="noStrike" dirty="0">
                <a:solidFill>
                  <a:srgbClr val="FFFFFF"/>
                </a:solidFill>
                <a:effectLst/>
                <a:uFillTx/>
                <a:latin typeface="Aptos"/>
                <a:ea typeface="Aptos"/>
              </a:rPr>
              <a:t>.</a:t>
            </a:r>
            <a:endParaRPr lang="en-US" b="0" u="none" strike="noStrike" dirty="0">
              <a:solidFill>
                <a:srgbClr val="000000"/>
              </a:solidFill>
              <a:effectLst/>
              <a:uFillTx/>
              <a:latin typeface="Arial"/>
            </a:endParaRPr>
          </a:p>
        </p:txBody>
      </p:sp>
      <p:pic>
        <p:nvPicPr>
          <p:cNvPr id="3" name="Image 0" descr="/mnt/data/ungga_logo_purple.png">
            <a:extLst>
              <a:ext uri="{FF2B5EF4-FFF2-40B4-BE49-F238E27FC236}">
                <a16:creationId xmlns:a16="http://schemas.microsoft.com/office/drawing/2014/main" id="{1D1849B8-8410-3864-7908-D93C2EC96B68}"/>
              </a:ext>
            </a:extLst>
          </p:cNvPr>
          <p:cNvPicPr>
            <a:picLocks noChangeAspect="1"/>
          </p:cNvPicPr>
          <p:nvPr/>
        </p:nvPicPr>
        <p:blipFill>
          <a:blip r:embed="rId3"/>
          <a:stretch>
            <a:fillRect/>
          </a:stretch>
        </p:blipFill>
        <p:spPr>
          <a:xfrm>
            <a:off x="11109960" y="449715"/>
            <a:ext cx="566928" cy="47217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5C2BD9"/>
          </a:solidFill>
          <a:ln w="12700">
            <a:solidFill>
              <a:srgbClr val="5C2BD9"/>
            </a:solidFill>
            <a:prstDash val="solid"/>
          </a:ln>
        </p:spPr>
        <p:txBody>
          <a:bodyPr/>
          <a:lstStyle/>
          <a:p>
            <a:endParaRPr lang="es-MX"/>
          </a:p>
        </p:txBody>
      </p:sp>
      <p:sp>
        <p:nvSpPr>
          <p:cNvPr id="4" name="Text 2"/>
          <p:cNvSpPr/>
          <p:nvPr/>
        </p:nvSpPr>
        <p:spPr>
          <a:xfrm>
            <a:off x="429768" y="6565392"/>
            <a:ext cx="914400" cy="109728"/>
          </a:xfrm>
          <a:prstGeom prst="rect">
            <a:avLst/>
          </a:prstGeom>
          <a:noFill/>
          <a:ln/>
        </p:spPr>
        <p:txBody>
          <a:bodyPr wrap="square" lIns="0" tIns="0" rIns="0" bIns="0" rtlCol="0" anchor="ctr"/>
          <a:lstStyle/>
          <a:p>
            <a:pPr marL="0" indent="0">
              <a:buNone/>
            </a:pPr>
            <a:r>
              <a:rPr lang="en-US" sz="650" b="1" dirty="0">
                <a:solidFill>
                  <a:srgbClr val="8B849D"/>
                </a:solidFill>
                <a:latin typeface="Aptos" pitchFamily="34" charset="0"/>
                <a:ea typeface="Aptos" pitchFamily="34" charset="-122"/>
                <a:cs typeface="Aptos" pitchFamily="34" charset="-120"/>
              </a:rPr>
              <a:t>CONFIDENTIAL</a:t>
            </a:r>
            <a:endParaRPr lang="en-US" sz="650" dirty="0"/>
          </a:p>
        </p:txBody>
      </p:sp>
      <p:sp>
        <p:nvSpPr>
          <p:cNvPr id="5" name="Text 3"/>
          <p:cNvSpPr/>
          <p:nvPr/>
        </p:nvSpPr>
        <p:spPr>
          <a:xfrm>
            <a:off x="11155680" y="6565392"/>
            <a:ext cx="594360" cy="109728"/>
          </a:xfrm>
          <a:prstGeom prst="rect">
            <a:avLst/>
          </a:prstGeom>
          <a:noFill/>
          <a:ln/>
        </p:spPr>
        <p:txBody>
          <a:bodyPr wrap="square" lIns="0" tIns="0" rIns="0" bIns="0" rtlCol="0" anchor="ctr"/>
          <a:lstStyle/>
          <a:p>
            <a:pPr marL="0" indent="0" algn="r">
              <a:buNone/>
            </a:pPr>
            <a:r>
              <a:rPr lang="en-US" sz="650" dirty="0">
                <a:solidFill>
                  <a:srgbClr val="8B849D"/>
                </a:solidFill>
                <a:latin typeface="Aptos" pitchFamily="34" charset="0"/>
                <a:ea typeface="Aptos" pitchFamily="34" charset="-122"/>
                <a:cs typeface="Aptos" pitchFamily="34" charset="-120"/>
              </a:rPr>
              <a:t>ungga.com</a:t>
            </a:r>
            <a:endParaRPr lang="en-US" sz="650" dirty="0"/>
          </a:p>
        </p:txBody>
      </p:sp>
      <p:sp>
        <p:nvSpPr>
          <p:cNvPr id="6" name="Text 4"/>
          <p:cNvSpPr/>
          <p:nvPr/>
        </p:nvSpPr>
        <p:spPr>
          <a:xfrm>
            <a:off x="11823192" y="6565392"/>
            <a:ext cx="109728" cy="109728"/>
          </a:xfrm>
          <a:prstGeom prst="rect">
            <a:avLst/>
          </a:prstGeom>
          <a:noFill/>
          <a:ln/>
        </p:spPr>
        <p:txBody>
          <a:bodyPr wrap="square" lIns="0" tIns="0" rIns="0" bIns="0" rtlCol="0" anchor="ctr"/>
          <a:lstStyle/>
          <a:p>
            <a:pPr marL="0" indent="0" algn="r">
              <a:buNone/>
            </a:pPr>
            <a:r>
              <a:rPr lang="en-US" sz="650" dirty="0">
                <a:solidFill>
                  <a:srgbClr val="8B849D"/>
                </a:solidFill>
                <a:latin typeface="Aptos" pitchFamily="34" charset="0"/>
                <a:ea typeface="Aptos" pitchFamily="34" charset="-122"/>
                <a:cs typeface="Aptos" pitchFamily="34" charset="-120"/>
              </a:rPr>
              <a:t>18</a:t>
            </a:r>
            <a:endParaRPr lang="en-US" sz="650" dirty="0"/>
          </a:p>
        </p:txBody>
      </p:sp>
      <p:sp>
        <p:nvSpPr>
          <p:cNvPr id="7" name="Text 5"/>
          <p:cNvSpPr/>
          <p:nvPr/>
        </p:nvSpPr>
        <p:spPr>
          <a:xfrm>
            <a:off x="566928" y="457200"/>
            <a:ext cx="4297680" cy="201168"/>
          </a:xfrm>
          <a:prstGeom prst="rect">
            <a:avLst/>
          </a:prstGeom>
          <a:noFill/>
          <a:ln/>
        </p:spPr>
        <p:txBody>
          <a:bodyPr wrap="square" lIns="0" tIns="0" rIns="0" bIns="0" rtlCol="0" anchor="ctr"/>
          <a:lstStyle/>
          <a:p>
            <a:pPr marL="0" indent="0">
              <a:buNone/>
            </a:pPr>
            <a:r>
              <a:rPr lang="en-US" sz="1200" b="1" dirty="0">
                <a:solidFill>
                  <a:srgbClr val="5C2BD9"/>
                </a:solidFill>
                <a:latin typeface="Aptos" pitchFamily="34" charset="0"/>
                <a:ea typeface="Aptos" pitchFamily="34" charset="-122"/>
                <a:cs typeface="Aptos" pitchFamily="34" charset="-120"/>
              </a:rPr>
              <a:t>PARTICIPACIÓN HUMANA EN GU OS</a:t>
            </a:r>
            <a:endParaRPr lang="en-US" sz="1200" dirty="0"/>
          </a:p>
        </p:txBody>
      </p:sp>
      <p:sp>
        <p:nvSpPr>
          <p:cNvPr id="8" name="Text 6"/>
          <p:cNvSpPr/>
          <p:nvPr/>
        </p:nvSpPr>
        <p:spPr>
          <a:xfrm>
            <a:off x="566928" y="914400"/>
            <a:ext cx="10241280" cy="777240"/>
          </a:xfrm>
          <a:prstGeom prst="rect">
            <a:avLst/>
          </a:prstGeom>
          <a:noFill/>
          <a:ln/>
        </p:spPr>
        <p:txBody>
          <a:bodyPr wrap="square" lIns="0" tIns="0" rIns="0" bIns="0" rtlCol="0" anchor="ctr">
            <a:noAutofit/>
          </a:bodyPr>
          <a:lstStyle/>
          <a:p>
            <a:pPr marL="0" indent="0">
              <a:buNone/>
            </a:pPr>
            <a:r>
              <a:rPr lang="en-US" sz="2600" b="1" dirty="0">
                <a:solidFill>
                  <a:srgbClr val="171126"/>
                </a:solidFill>
                <a:latin typeface="Aptos Display" pitchFamily="34" charset="0"/>
                <a:ea typeface="Aptos Display" pitchFamily="34" charset="-122"/>
                <a:cs typeface="Aptos Display" pitchFamily="34" charset="-120"/>
              </a:rPr>
              <a:t>Cuando Gu necesita a una persona, Gu OS distingue qué se necesita y cómo participa.</a:t>
            </a:r>
            <a:endParaRPr lang="en-US" sz="2600" dirty="0"/>
          </a:p>
        </p:txBody>
      </p:sp>
      <p:sp>
        <p:nvSpPr>
          <p:cNvPr id="9" name="Text 7"/>
          <p:cNvSpPr/>
          <p:nvPr/>
        </p:nvSpPr>
        <p:spPr>
          <a:xfrm>
            <a:off x="566928" y="1810512"/>
            <a:ext cx="10515600" cy="411480"/>
          </a:xfrm>
          <a:prstGeom prst="rect">
            <a:avLst/>
          </a:prstGeom>
          <a:noFill/>
          <a:ln/>
        </p:spPr>
        <p:txBody>
          <a:bodyPr wrap="square" lIns="0" tIns="0" rIns="0" bIns="0" rtlCol="0" anchor="ctr">
            <a:normAutofit/>
          </a:bodyPr>
          <a:lstStyle/>
          <a:p>
            <a:pPr marL="0" indent="0">
              <a:buNone/>
            </a:pPr>
            <a:r>
              <a:rPr lang="en-US" dirty="0">
                <a:solidFill>
                  <a:srgbClr val="6F6886"/>
                </a:solidFill>
                <a:latin typeface="Aptos" pitchFamily="34" charset="0"/>
                <a:ea typeface="Aptos" pitchFamily="34" charset="-122"/>
                <a:cs typeface="Aptos" pitchFamily="34" charset="-120"/>
              </a:rPr>
              <a:t>La participación humana se justifica por riesgo, responsabilidad o necesidad de </a:t>
            </a:r>
            <a:r>
              <a:rPr lang="en-US" dirty="0" err="1">
                <a:solidFill>
                  <a:srgbClr val="6F6886"/>
                </a:solidFill>
                <a:latin typeface="Aptos" pitchFamily="34" charset="0"/>
                <a:ea typeface="Aptos" pitchFamily="34" charset="-122"/>
                <a:cs typeface="Aptos" pitchFamily="34" charset="-120"/>
              </a:rPr>
              <a:t>aporte</a:t>
            </a:r>
            <a:r>
              <a:rPr lang="en-US" dirty="0">
                <a:solidFill>
                  <a:srgbClr val="6F6886"/>
                </a:solidFill>
                <a:latin typeface="Aptos" pitchFamily="34" charset="0"/>
                <a:ea typeface="Aptos" pitchFamily="34" charset="-122"/>
                <a:cs typeface="Aptos" pitchFamily="34" charset="-120"/>
              </a:rPr>
              <a:t>, no por hábito.</a:t>
            </a:r>
            <a:endParaRPr lang="en-US" dirty="0"/>
          </a:p>
        </p:txBody>
      </p:sp>
      <p:sp>
        <p:nvSpPr>
          <p:cNvPr id="10" name="Text 8"/>
          <p:cNvSpPr/>
          <p:nvPr/>
        </p:nvSpPr>
        <p:spPr>
          <a:xfrm>
            <a:off x="667512" y="2487168"/>
            <a:ext cx="10863072" cy="502920"/>
          </a:xfrm>
          <a:prstGeom prst="rect">
            <a:avLst/>
          </a:prstGeom>
          <a:solidFill>
            <a:srgbClr val="E7F7EF"/>
          </a:solidFill>
          <a:ln w="12700">
            <a:solidFill>
              <a:srgbClr val="008C51"/>
            </a:solidFill>
          </a:ln>
        </p:spPr>
        <p:txBody>
          <a:bodyPr wrap="square" lIns="635" tIns="635" rIns="635" bIns="635" rtlCol="0" anchor="ctr">
            <a:normAutofit/>
          </a:bodyPr>
          <a:lstStyle/>
          <a:p>
            <a:pPr marL="0" indent="0" algn="ctr">
              <a:buNone/>
            </a:pPr>
            <a:r>
              <a:rPr lang="en-US" sz="1280" b="1" dirty="0">
                <a:solidFill>
                  <a:srgbClr val="008C51"/>
                </a:solidFill>
                <a:latin typeface="Aptos" pitchFamily="34" charset="0"/>
                <a:ea typeface="Aptos" pitchFamily="34" charset="-122"/>
                <a:cs typeface="Aptos" pitchFamily="34" charset="-120"/>
              </a:rPr>
              <a:t>SIN PARTICIPACIÓN HUMANA</a:t>
            </a:r>
            <a:endParaRPr lang="en-US" sz="1280" dirty="0"/>
          </a:p>
          <a:p>
            <a:pPr marL="0" indent="0" algn="ctr">
              <a:buNone/>
            </a:pPr>
            <a:r>
              <a:rPr lang="en-US" sz="1280" dirty="0">
                <a:solidFill>
                  <a:srgbClr val="6F6886"/>
                </a:solidFill>
                <a:latin typeface="Aptos" pitchFamily="34" charset="0"/>
                <a:ea typeface="Aptos" pitchFamily="34" charset="-122"/>
                <a:cs typeface="Aptos" pitchFamily="34" charset="-120"/>
              </a:rPr>
              <a:t>Gu decide y ejecuta cuando políticas, permisos y evidencia lo permiten.</a:t>
            </a:r>
            <a:endParaRPr lang="en-US" sz="1280" dirty="0"/>
          </a:p>
        </p:txBody>
      </p:sp>
      <p:sp>
        <p:nvSpPr>
          <p:cNvPr id="11" name="Text 9"/>
          <p:cNvSpPr/>
          <p:nvPr/>
        </p:nvSpPr>
        <p:spPr>
          <a:xfrm>
            <a:off x="658368" y="3163824"/>
            <a:ext cx="4754880" cy="164592"/>
          </a:xfrm>
          <a:prstGeom prst="rect">
            <a:avLst/>
          </a:prstGeom>
          <a:noFill/>
          <a:ln/>
        </p:spPr>
        <p:txBody>
          <a:bodyPr wrap="square" lIns="0" tIns="0" rIns="0" bIns="0" rtlCol="0" anchor="ctr"/>
          <a:lstStyle/>
          <a:p>
            <a:pPr marL="0" indent="0">
              <a:buNone/>
            </a:pPr>
            <a:r>
              <a:rPr lang="en-US" sz="1200" b="1" dirty="0">
                <a:solidFill>
                  <a:srgbClr val="5C2BD9"/>
                </a:solidFill>
                <a:latin typeface="Aptos" pitchFamily="34" charset="0"/>
                <a:ea typeface="Aptos" pitchFamily="34" charset="-122"/>
                <a:cs typeface="Aptos" pitchFamily="34" charset="-120"/>
              </a:rPr>
              <a:t>QUÉ SE LE PIDE AL HUMANO</a:t>
            </a:r>
            <a:endParaRPr lang="en-US" sz="1200" dirty="0"/>
          </a:p>
        </p:txBody>
      </p:sp>
      <p:sp>
        <p:nvSpPr>
          <p:cNvPr id="12" name="Text 10"/>
          <p:cNvSpPr/>
          <p:nvPr/>
        </p:nvSpPr>
        <p:spPr>
          <a:xfrm>
            <a:off x="6588202" y="3163824"/>
            <a:ext cx="2743200" cy="164592"/>
          </a:xfrm>
          <a:prstGeom prst="rect">
            <a:avLst/>
          </a:prstGeom>
          <a:noFill/>
          <a:ln/>
        </p:spPr>
        <p:txBody>
          <a:bodyPr wrap="square" lIns="0" tIns="0" rIns="0" bIns="0" rtlCol="0" anchor="ctr"/>
          <a:lstStyle/>
          <a:p>
            <a:pPr marL="0" indent="0">
              <a:buNone/>
            </a:pPr>
            <a:r>
              <a:rPr lang="en-US" sz="1200" b="1" dirty="0">
                <a:solidFill>
                  <a:srgbClr val="5C2BD9"/>
                </a:solidFill>
                <a:latin typeface="Aptos" pitchFamily="34" charset="0"/>
                <a:ea typeface="Aptos" pitchFamily="34" charset="-122"/>
                <a:cs typeface="Aptos" pitchFamily="34" charset="-120"/>
              </a:rPr>
              <a:t>CÓMO PARTICIPA</a:t>
            </a:r>
            <a:endParaRPr lang="en-US" sz="1200" dirty="0"/>
          </a:p>
        </p:txBody>
      </p:sp>
      <p:sp>
        <p:nvSpPr>
          <p:cNvPr id="13" name="Text 11"/>
          <p:cNvSpPr/>
          <p:nvPr/>
        </p:nvSpPr>
        <p:spPr>
          <a:xfrm>
            <a:off x="658368" y="3429000"/>
            <a:ext cx="2615184" cy="1033272"/>
          </a:xfrm>
          <a:prstGeom prst="rect">
            <a:avLst/>
          </a:prstGeom>
          <a:solidFill>
            <a:srgbClr val="F6F1FF"/>
          </a:solidFill>
          <a:ln w="13970">
            <a:solidFill>
              <a:srgbClr val="5C2BD9"/>
            </a:solidFill>
          </a:ln>
          <a:effectLst>
            <a:outerShdw blurRad="12700" dist="50800" dir="2700000" algn="bl" rotWithShape="0">
              <a:srgbClr val="CFCAD8">
                <a:alpha val="25000"/>
              </a:srgbClr>
            </a:outerShdw>
          </a:effectLst>
        </p:spPr>
        <p:txBody>
          <a:bodyPr wrap="square" rtlCol="0" anchor="t">
            <a:normAutofit fontScale="92500" lnSpcReduction="20000"/>
          </a:bodyPr>
          <a:lstStyle/>
          <a:p>
            <a:pPr marL="0" indent="0">
              <a:buNone/>
            </a:pPr>
            <a:r>
              <a:rPr lang="en-US" sz="1250" b="1" dirty="0">
                <a:solidFill>
                  <a:srgbClr val="5C2BD9"/>
                </a:solidFill>
                <a:latin typeface="Aptos" pitchFamily="34" charset="0"/>
                <a:ea typeface="Aptos" pitchFamily="34" charset="-122"/>
                <a:cs typeface="Aptos" pitchFamily="34" charset="-120"/>
              </a:rPr>
              <a:t>A. AUTORIZACIÓN DE ACCIÓN</a:t>
            </a:r>
            <a:endParaRPr lang="en-US" sz="1250" dirty="0"/>
          </a:p>
          <a:p>
            <a:pPr marL="0" indent="0">
              <a:buNone/>
            </a:pPr>
            <a:r>
              <a:rPr lang="en-US" sz="1250" b="1" dirty="0">
                <a:solidFill>
                  <a:srgbClr val="171126"/>
                </a:solidFill>
                <a:latin typeface="Aptos" pitchFamily="34" charset="0"/>
                <a:ea typeface="Aptos" pitchFamily="34" charset="-122"/>
                <a:cs typeface="Aptos" pitchFamily="34" charset="-120"/>
              </a:rPr>
              <a:t>¿Puede Gu ejecutar este efecto externo?</a:t>
            </a:r>
            <a:endParaRPr lang="en-US" sz="1250" dirty="0"/>
          </a:p>
          <a:p>
            <a:pPr marL="0" indent="0">
              <a:buNone/>
            </a:pPr>
            <a:endParaRPr lang="en-US" sz="1250" dirty="0"/>
          </a:p>
          <a:p>
            <a:pPr marL="0" indent="0">
              <a:buNone/>
            </a:pPr>
            <a:r>
              <a:rPr lang="en-US" sz="1250" dirty="0">
                <a:solidFill>
                  <a:srgbClr val="6F6886"/>
                </a:solidFill>
                <a:latin typeface="Aptos" pitchFamily="34" charset="0"/>
                <a:ea typeface="Aptos" pitchFamily="34" charset="-122"/>
                <a:cs typeface="Aptos" pitchFamily="34" charset="-120"/>
              </a:rPr>
              <a:t>Tool de riesgo medio/alto · publicar · enviar email</a:t>
            </a:r>
            <a:endParaRPr lang="en-US" sz="1250" dirty="0"/>
          </a:p>
        </p:txBody>
      </p:sp>
      <p:sp>
        <p:nvSpPr>
          <p:cNvPr id="14" name="Text 12"/>
          <p:cNvSpPr/>
          <p:nvPr/>
        </p:nvSpPr>
        <p:spPr>
          <a:xfrm>
            <a:off x="3493008" y="3429000"/>
            <a:ext cx="2615184" cy="1033272"/>
          </a:xfrm>
          <a:prstGeom prst="rect">
            <a:avLst/>
          </a:prstGeom>
          <a:solidFill>
            <a:srgbClr val="FFF2DF"/>
          </a:solidFill>
          <a:ln w="13970">
            <a:solidFill>
              <a:srgbClr val="F28A16"/>
            </a:solidFill>
          </a:ln>
          <a:effectLst>
            <a:outerShdw blurRad="12700" dist="50800" dir="2700000" algn="bl" rotWithShape="0">
              <a:srgbClr val="CFCAD8">
                <a:alpha val="25000"/>
              </a:srgbClr>
            </a:outerShdw>
          </a:effectLst>
        </p:spPr>
        <p:txBody>
          <a:bodyPr wrap="square" rtlCol="0" anchor="t">
            <a:normAutofit fontScale="92500" lnSpcReduction="20000"/>
          </a:bodyPr>
          <a:lstStyle/>
          <a:p>
            <a:pPr marL="0" indent="0">
              <a:buNone/>
            </a:pPr>
            <a:r>
              <a:rPr lang="en-US" sz="1250" b="1" dirty="0">
                <a:solidFill>
                  <a:srgbClr val="F28A16"/>
                </a:solidFill>
                <a:latin typeface="Aptos" pitchFamily="34" charset="0"/>
                <a:ea typeface="Aptos" pitchFamily="34" charset="-122"/>
                <a:cs typeface="Aptos" pitchFamily="34" charset="-120"/>
              </a:rPr>
              <a:t>B. DECISIÓN DE NEGOCIO</a:t>
            </a:r>
            <a:endParaRPr lang="en-US" sz="1250" dirty="0"/>
          </a:p>
          <a:p>
            <a:pPr marL="0" indent="0">
              <a:buNone/>
            </a:pPr>
            <a:r>
              <a:rPr lang="en-US" sz="1250" b="1" dirty="0">
                <a:solidFill>
                  <a:srgbClr val="171126"/>
                </a:solidFill>
                <a:latin typeface="Aptos" pitchFamily="34" charset="0"/>
                <a:ea typeface="Aptos" pitchFamily="34" charset="-122"/>
                <a:cs typeface="Aptos" pitchFamily="34" charset="-120"/>
              </a:rPr>
              <a:t>¿Qué resultado comercial o legal elige?</a:t>
            </a:r>
            <a:endParaRPr lang="en-US" sz="1250" dirty="0"/>
          </a:p>
          <a:p>
            <a:pPr marL="0" indent="0">
              <a:buNone/>
            </a:pPr>
            <a:endParaRPr lang="en-US" sz="1250" dirty="0"/>
          </a:p>
          <a:p>
            <a:pPr marL="0" indent="0">
              <a:buNone/>
            </a:pPr>
            <a:r>
              <a:rPr lang="en-US" sz="1250" dirty="0">
                <a:solidFill>
                  <a:srgbClr val="6F6886"/>
                </a:solidFill>
                <a:latin typeface="Aptos" pitchFamily="34" charset="0"/>
                <a:ea typeface="Aptos" pitchFamily="34" charset="-122"/>
                <a:cs typeface="Aptos" pitchFamily="34" charset="-120"/>
              </a:rPr>
              <a:t>precio · contrato · destino · excepción</a:t>
            </a:r>
            <a:endParaRPr lang="en-US" sz="1250" dirty="0"/>
          </a:p>
        </p:txBody>
      </p:sp>
      <p:sp>
        <p:nvSpPr>
          <p:cNvPr id="15" name="Text 13"/>
          <p:cNvSpPr/>
          <p:nvPr/>
        </p:nvSpPr>
        <p:spPr>
          <a:xfrm>
            <a:off x="658368" y="4617720"/>
            <a:ext cx="2615184" cy="1033272"/>
          </a:xfrm>
          <a:prstGeom prst="rect">
            <a:avLst/>
          </a:prstGeom>
          <a:solidFill>
            <a:srgbClr val="EEF2F7"/>
          </a:solidFill>
          <a:ln w="13970">
            <a:solidFill>
              <a:srgbClr val="485879"/>
            </a:solidFill>
          </a:ln>
          <a:effectLst>
            <a:outerShdw blurRad="12700" dist="50800" dir="2700000" algn="bl" rotWithShape="0">
              <a:srgbClr val="CFCAD8">
                <a:alpha val="25000"/>
              </a:srgbClr>
            </a:outerShdw>
          </a:effectLst>
        </p:spPr>
        <p:txBody>
          <a:bodyPr wrap="square" rtlCol="0" anchor="t">
            <a:normAutofit fontScale="92500" lnSpcReduction="20000"/>
          </a:bodyPr>
          <a:lstStyle/>
          <a:p>
            <a:pPr marL="0" indent="0">
              <a:buNone/>
            </a:pPr>
            <a:r>
              <a:rPr lang="en-US" sz="1250" b="1" dirty="0">
                <a:solidFill>
                  <a:srgbClr val="485879"/>
                </a:solidFill>
                <a:latin typeface="Aptos" pitchFamily="34" charset="0"/>
                <a:ea typeface="Aptos" pitchFamily="34" charset="-122"/>
                <a:cs typeface="Aptos" pitchFamily="34" charset="-120"/>
              </a:rPr>
              <a:t>C. CONTRIBUCIÓN / TAREA</a:t>
            </a:r>
            <a:endParaRPr lang="en-US" sz="1250" dirty="0"/>
          </a:p>
          <a:p>
            <a:pPr marL="0" indent="0">
              <a:buNone/>
            </a:pPr>
            <a:r>
              <a:rPr lang="en-US" sz="1250" b="1" dirty="0">
                <a:solidFill>
                  <a:srgbClr val="171126"/>
                </a:solidFill>
                <a:latin typeface="Aptos" pitchFamily="34" charset="0"/>
                <a:ea typeface="Aptos" pitchFamily="34" charset="-122"/>
                <a:cs typeface="Aptos" pitchFamily="34" charset="-120"/>
              </a:rPr>
              <a:t>¿Qué información o acción debe aportar?</a:t>
            </a:r>
            <a:endParaRPr lang="en-US" sz="1250" dirty="0"/>
          </a:p>
          <a:p>
            <a:pPr marL="0" indent="0">
              <a:buNone/>
            </a:pPr>
            <a:endParaRPr lang="en-US" sz="1250" dirty="0"/>
          </a:p>
          <a:p>
            <a:pPr marL="0" indent="0">
              <a:buNone/>
            </a:pPr>
            <a:r>
              <a:rPr lang="en-US" sz="1250" dirty="0">
                <a:solidFill>
                  <a:srgbClr val="6F6886"/>
                </a:solidFill>
                <a:latin typeface="Aptos" pitchFamily="34" charset="0"/>
                <a:ea typeface="Aptos" pitchFamily="34" charset="-122"/>
                <a:cs typeface="Aptos" pitchFamily="34" charset="-120"/>
              </a:rPr>
              <a:t>documentos · fotos · dato faltante · OTP/CAPTCHA</a:t>
            </a:r>
            <a:endParaRPr lang="en-US" sz="1250" dirty="0"/>
          </a:p>
        </p:txBody>
      </p:sp>
      <p:sp>
        <p:nvSpPr>
          <p:cNvPr id="16" name="Text 14"/>
          <p:cNvSpPr/>
          <p:nvPr/>
        </p:nvSpPr>
        <p:spPr>
          <a:xfrm>
            <a:off x="3493008" y="4617720"/>
            <a:ext cx="2615184" cy="1033272"/>
          </a:xfrm>
          <a:prstGeom prst="rect">
            <a:avLst/>
          </a:prstGeom>
          <a:solidFill>
            <a:srgbClr val="F8EAF1"/>
          </a:solidFill>
          <a:ln w="13970">
            <a:solidFill>
              <a:srgbClr val="B24779"/>
            </a:solidFill>
          </a:ln>
          <a:effectLst>
            <a:outerShdw blurRad="12700" dist="50800" dir="2700000" algn="bl" rotWithShape="0">
              <a:srgbClr val="CFCAD8">
                <a:alpha val="25000"/>
              </a:srgbClr>
            </a:outerShdw>
          </a:effectLst>
        </p:spPr>
        <p:txBody>
          <a:bodyPr wrap="square" rtlCol="0" anchor="t">
            <a:normAutofit fontScale="92500" lnSpcReduction="20000"/>
          </a:bodyPr>
          <a:lstStyle/>
          <a:p>
            <a:pPr marL="0" indent="0">
              <a:buNone/>
            </a:pPr>
            <a:r>
              <a:rPr lang="en-US" sz="1250" b="1" dirty="0">
                <a:solidFill>
                  <a:srgbClr val="B24779"/>
                </a:solidFill>
                <a:latin typeface="Aptos" pitchFamily="34" charset="0"/>
                <a:ea typeface="Aptos" pitchFamily="34" charset="-122"/>
                <a:cs typeface="Aptos" pitchFamily="34" charset="-120"/>
              </a:rPr>
              <a:t>D. REVISIÓN / EXCEPCIÓN</a:t>
            </a:r>
            <a:endParaRPr lang="en-US" sz="1250" dirty="0"/>
          </a:p>
          <a:p>
            <a:pPr marL="0" indent="0">
              <a:buNone/>
            </a:pPr>
            <a:r>
              <a:rPr lang="en-US" sz="1250" b="1" dirty="0">
                <a:solidFill>
                  <a:srgbClr val="171126"/>
                </a:solidFill>
                <a:latin typeface="Aptos" pitchFamily="34" charset="0"/>
                <a:ea typeface="Aptos" pitchFamily="34" charset="-122"/>
                <a:cs typeface="Aptos" pitchFamily="34" charset="-120"/>
              </a:rPr>
              <a:t>¿Qué hacer ante fallo o ambigüedad?</a:t>
            </a:r>
            <a:endParaRPr lang="en-US" sz="1250" dirty="0"/>
          </a:p>
          <a:p>
            <a:pPr marL="0" indent="0">
              <a:buNone/>
            </a:pPr>
            <a:endParaRPr lang="en-US" sz="1250" dirty="0"/>
          </a:p>
          <a:p>
            <a:pPr marL="0" indent="0">
              <a:buNone/>
            </a:pPr>
            <a:r>
              <a:rPr lang="en-US" sz="1250" dirty="0">
                <a:solidFill>
                  <a:srgbClr val="6F6886"/>
                </a:solidFill>
                <a:latin typeface="Aptos" pitchFamily="34" charset="0"/>
                <a:ea typeface="Aptos" pitchFamily="34" charset="-122"/>
                <a:cs typeface="Aptos" pitchFamily="34" charset="-120"/>
              </a:rPr>
              <a:t>verificador falló · ítem bloqueado · incidente</a:t>
            </a:r>
            <a:endParaRPr lang="en-US" sz="1250" dirty="0"/>
          </a:p>
        </p:txBody>
      </p:sp>
      <p:sp>
        <p:nvSpPr>
          <p:cNvPr id="17" name="Shape 15"/>
          <p:cNvSpPr/>
          <p:nvPr/>
        </p:nvSpPr>
        <p:spPr>
          <a:xfrm>
            <a:off x="6328443" y="3246120"/>
            <a:ext cx="0" cy="2542032"/>
          </a:xfrm>
          <a:prstGeom prst="line">
            <a:avLst/>
          </a:prstGeom>
          <a:noFill/>
          <a:ln w="12700">
            <a:solidFill>
              <a:srgbClr val="DAD2F7">
                <a:alpha val="90000"/>
              </a:srgbClr>
            </a:solidFill>
            <a:prstDash val="solid"/>
          </a:ln>
        </p:spPr>
        <p:txBody>
          <a:bodyPr/>
          <a:lstStyle/>
          <a:p>
            <a:endParaRPr lang="es-MX"/>
          </a:p>
        </p:txBody>
      </p:sp>
      <p:sp>
        <p:nvSpPr>
          <p:cNvPr id="18" name="Text 16"/>
          <p:cNvSpPr/>
          <p:nvPr/>
        </p:nvSpPr>
        <p:spPr>
          <a:xfrm>
            <a:off x="6569914" y="3429000"/>
            <a:ext cx="1600200" cy="950976"/>
          </a:xfrm>
          <a:prstGeom prst="rect">
            <a:avLst/>
          </a:prstGeom>
          <a:solidFill>
            <a:srgbClr val="F6F1FF"/>
          </a:solidFill>
          <a:ln w="12700">
            <a:solidFill>
              <a:srgbClr val="5C2BD9"/>
            </a:solidFill>
          </a:ln>
          <a:effectLst>
            <a:outerShdw blurRad="12700" dist="50800" dir="2700000" algn="bl" rotWithShape="0">
              <a:srgbClr val="CFCAD8">
                <a:alpha val="18000"/>
              </a:srgbClr>
            </a:outerShdw>
          </a:effectLst>
        </p:spPr>
        <p:txBody>
          <a:bodyPr wrap="square" rtlCol="0" anchor="ctr">
            <a:normAutofit/>
          </a:bodyPr>
          <a:lstStyle/>
          <a:p>
            <a:pPr marL="0" indent="0" algn="ctr">
              <a:buNone/>
            </a:pPr>
            <a:r>
              <a:rPr lang="en-US" sz="1120" b="1" dirty="0">
                <a:solidFill>
                  <a:srgbClr val="5C2BD9"/>
                </a:solidFill>
                <a:latin typeface="Aptos" pitchFamily="34" charset="0"/>
                <a:ea typeface="Aptos" pitchFamily="34" charset="-122"/>
                <a:cs typeface="Aptos" pitchFamily="34" charset="-120"/>
              </a:rPr>
              <a:t>HITL bloqueante</a:t>
            </a:r>
            <a:endParaRPr lang="en-US" sz="1120" dirty="0"/>
          </a:p>
          <a:p>
            <a:pPr marL="0" indent="0" algn="ctr">
              <a:buNone/>
            </a:pPr>
            <a:r>
              <a:rPr lang="en-US" sz="1120" dirty="0">
                <a:solidFill>
                  <a:srgbClr val="6F6886"/>
                </a:solidFill>
                <a:latin typeface="Aptos" pitchFamily="34" charset="0"/>
                <a:ea typeface="Aptos" pitchFamily="34" charset="-122"/>
                <a:cs typeface="Aptos" pitchFamily="34" charset="-120"/>
              </a:rPr>
              <a:t>Gu pausa y espera respuesta.</a:t>
            </a:r>
            <a:endParaRPr lang="en-US" sz="1120" dirty="0"/>
          </a:p>
        </p:txBody>
      </p:sp>
      <p:sp>
        <p:nvSpPr>
          <p:cNvPr id="19" name="Text 17"/>
          <p:cNvSpPr/>
          <p:nvPr/>
        </p:nvSpPr>
        <p:spPr>
          <a:xfrm>
            <a:off x="8307274" y="3429000"/>
            <a:ext cx="1600200" cy="950976"/>
          </a:xfrm>
          <a:prstGeom prst="rect">
            <a:avLst/>
          </a:prstGeom>
          <a:solidFill>
            <a:srgbClr val="FFF2DF"/>
          </a:solidFill>
          <a:ln w="12700">
            <a:solidFill>
              <a:srgbClr val="F28A16"/>
            </a:solidFill>
          </a:ln>
          <a:effectLst>
            <a:outerShdw blurRad="12700" dist="50800" dir="2700000" algn="bl" rotWithShape="0">
              <a:srgbClr val="CFCAD8">
                <a:alpha val="18000"/>
              </a:srgbClr>
            </a:outerShdw>
          </a:effectLst>
        </p:spPr>
        <p:txBody>
          <a:bodyPr wrap="square" rtlCol="0" anchor="ctr">
            <a:normAutofit/>
          </a:bodyPr>
          <a:lstStyle/>
          <a:p>
            <a:pPr marL="0" indent="0" algn="ctr">
              <a:buNone/>
            </a:pPr>
            <a:r>
              <a:rPr lang="en-US" sz="1120" b="1" dirty="0">
                <a:solidFill>
                  <a:srgbClr val="F28A16"/>
                </a:solidFill>
                <a:latin typeface="Aptos" pitchFamily="34" charset="0"/>
                <a:ea typeface="Aptos" pitchFamily="34" charset="-122"/>
                <a:cs typeface="Aptos" pitchFamily="34" charset="-120"/>
              </a:rPr>
              <a:t>Humano como ejecutor</a:t>
            </a:r>
            <a:endParaRPr lang="en-US" sz="1120" dirty="0"/>
          </a:p>
          <a:p>
            <a:pPr marL="0" indent="0" algn="ctr">
              <a:buNone/>
            </a:pPr>
            <a:r>
              <a:rPr lang="en-US" sz="1120" dirty="0">
                <a:solidFill>
                  <a:srgbClr val="6F6886"/>
                </a:solidFill>
                <a:latin typeface="Aptos" pitchFamily="34" charset="0"/>
                <a:ea typeface="Aptos" pitchFamily="34" charset="-122"/>
                <a:cs typeface="Aptos" pitchFamily="34" charset="-120"/>
              </a:rPr>
              <a:t>La persona realiza el ítem de trabajo.</a:t>
            </a:r>
            <a:endParaRPr lang="en-US" sz="1120" dirty="0"/>
          </a:p>
        </p:txBody>
      </p:sp>
      <p:sp>
        <p:nvSpPr>
          <p:cNvPr id="20" name="Text 18"/>
          <p:cNvSpPr/>
          <p:nvPr/>
        </p:nvSpPr>
        <p:spPr>
          <a:xfrm>
            <a:off x="10044634" y="3429000"/>
            <a:ext cx="1600200" cy="950976"/>
          </a:xfrm>
          <a:prstGeom prst="rect">
            <a:avLst/>
          </a:prstGeom>
          <a:solidFill>
            <a:srgbClr val="E7F7EF"/>
          </a:solidFill>
          <a:ln w="12700">
            <a:solidFill>
              <a:srgbClr val="008C51"/>
            </a:solidFill>
          </a:ln>
          <a:effectLst>
            <a:outerShdw blurRad="12700" dist="50800" dir="2700000" algn="bl" rotWithShape="0">
              <a:srgbClr val="CFCAD8">
                <a:alpha val="18000"/>
              </a:srgbClr>
            </a:outerShdw>
          </a:effectLst>
        </p:spPr>
        <p:txBody>
          <a:bodyPr wrap="square" rtlCol="0" anchor="ctr">
            <a:normAutofit/>
          </a:bodyPr>
          <a:lstStyle/>
          <a:p>
            <a:pPr marL="0" indent="0" algn="ctr">
              <a:buNone/>
            </a:pPr>
            <a:r>
              <a:rPr lang="en-US" sz="1120" b="1" dirty="0">
                <a:solidFill>
                  <a:srgbClr val="008C51"/>
                </a:solidFill>
                <a:latin typeface="Aptos" pitchFamily="34" charset="0"/>
                <a:ea typeface="Aptos" pitchFamily="34" charset="-122"/>
                <a:cs typeface="Aptos" pitchFamily="34" charset="-120"/>
              </a:rPr>
              <a:t>Supervisión humana sin </a:t>
            </a:r>
            <a:r>
              <a:rPr lang="en-US" sz="1120" b="1" dirty="0" err="1">
                <a:solidFill>
                  <a:srgbClr val="008C51"/>
                </a:solidFill>
                <a:latin typeface="Aptos" pitchFamily="34" charset="0"/>
                <a:ea typeface="Aptos" pitchFamily="34" charset="-122"/>
                <a:cs typeface="Aptos" pitchFamily="34" charset="-120"/>
              </a:rPr>
              <a:t>bloqueo</a:t>
            </a:r>
            <a:r>
              <a:rPr lang="en-US" sz="1120" b="1" dirty="0">
                <a:solidFill>
                  <a:srgbClr val="008C51"/>
                </a:solidFill>
                <a:latin typeface="Aptos" pitchFamily="34" charset="0"/>
                <a:ea typeface="Aptos" pitchFamily="34" charset="-122"/>
                <a:cs typeface="Aptos" pitchFamily="34" charset="-120"/>
              </a:rPr>
              <a:t> (HOTL)</a:t>
            </a:r>
            <a:endParaRPr lang="en-US" sz="1120" dirty="0"/>
          </a:p>
          <a:p>
            <a:pPr marL="0" indent="0" algn="ctr">
              <a:buNone/>
            </a:pPr>
            <a:r>
              <a:rPr lang="en-US" sz="1120" dirty="0">
                <a:solidFill>
                  <a:srgbClr val="6F6886"/>
                </a:solidFill>
                <a:latin typeface="Aptos" pitchFamily="34" charset="0"/>
                <a:ea typeface="Aptos" pitchFamily="34" charset="-122"/>
                <a:cs typeface="Aptos" pitchFamily="34" charset="-120"/>
              </a:rPr>
              <a:t>Observa e interviene sin detener cada paso.</a:t>
            </a:r>
            <a:endParaRPr lang="en-US" sz="1120" dirty="0"/>
          </a:p>
        </p:txBody>
      </p:sp>
      <p:sp>
        <p:nvSpPr>
          <p:cNvPr id="21" name="Text 19"/>
          <p:cNvSpPr/>
          <p:nvPr/>
        </p:nvSpPr>
        <p:spPr>
          <a:xfrm>
            <a:off x="6569914" y="4681728"/>
            <a:ext cx="4846320" cy="164592"/>
          </a:xfrm>
          <a:prstGeom prst="rect">
            <a:avLst/>
          </a:prstGeom>
          <a:noFill/>
          <a:ln/>
        </p:spPr>
        <p:txBody>
          <a:bodyPr wrap="square" lIns="0" tIns="0" rIns="0" bIns="0" rtlCol="0" anchor="ctr"/>
          <a:lstStyle/>
          <a:p>
            <a:pPr marL="0" indent="0">
              <a:buNone/>
            </a:pPr>
            <a:r>
              <a:rPr lang="en-US" sz="1200" b="1" dirty="0">
                <a:solidFill>
                  <a:srgbClr val="171126"/>
                </a:solidFill>
                <a:latin typeface="Aptos" pitchFamily="34" charset="0"/>
                <a:ea typeface="Aptos" pitchFamily="34" charset="-122"/>
                <a:cs typeface="Aptos" pitchFamily="34" charset="-120"/>
              </a:rPr>
              <a:t>Ejemplos de combinación:</a:t>
            </a:r>
            <a:endParaRPr lang="en-US" sz="1200" dirty="0"/>
          </a:p>
        </p:txBody>
      </p:sp>
      <p:sp>
        <p:nvSpPr>
          <p:cNvPr id="22" name="Text 20"/>
          <p:cNvSpPr/>
          <p:nvPr/>
        </p:nvSpPr>
        <p:spPr>
          <a:xfrm>
            <a:off x="6569914" y="4919472"/>
            <a:ext cx="5106973" cy="685800"/>
          </a:xfrm>
          <a:prstGeom prst="rect">
            <a:avLst/>
          </a:prstGeom>
          <a:noFill/>
          <a:ln/>
        </p:spPr>
        <p:txBody>
          <a:bodyPr wrap="square" lIns="0" tIns="0" rIns="0" bIns="0" rtlCol="0" anchor="ctr">
            <a:noAutofit/>
          </a:bodyPr>
          <a:lstStyle/>
          <a:p>
            <a:pPr marL="0" indent="0">
              <a:buNone/>
            </a:pPr>
            <a:r>
              <a:rPr lang="en-US" sz="1200" b="1" dirty="0">
                <a:solidFill>
                  <a:srgbClr val="5C2BD9"/>
                </a:solidFill>
                <a:latin typeface="Aptos" pitchFamily="34" charset="0"/>
                <a:ea typeface="Aptos" pitchFamily="34" charset="-122"/>
                <a:cs typeface="Aptos" pitchFamily="34" charset="-120"/>
              </a:rPr>
              <a:t>B + HITL: </a:t>
            </a:r>
            <a:r>
              <a:rPr lang="en-US" sz="1200" dirty="0">
                <a:solidFill>
                  <a:srgbClr val="6F6886"/>
                </a:solidFill>
                <a:latin typeface="Aptos" pitchFamily="34" charset="0"/>
                <a:ea typeface="Aptos" pitchFamily="34" charset="-122"/>
                <a:cs typeface="Aptos" pitchFamily="34" charset="-120"/>
              </a:rPr>
              <a:t>aprobar precio.
</a:t>
            </a:r>
            <a:r>
              <a:rPr lang="en-US" sz="1200" b="1" dirty="0">
                <a:solidFill>
                  <a:srgbClr val="F28A16"/>
                </a:solidFill>
                <a:latin typeface="Aptos" pitchFamily="34" charset="0"/>
                <a:ea typeface="Aptos" pitchFamily="34" charset="-122"/>
                <a:cs typeface="Aptos" pitchFamily="34" charset="-120"/>
              </a:rPr>
              <a:t>C + humano ejecutor: </a:t>
            </a:r>
            <a:r>
              <a:rPr lang="en-US" sz="1200" dirty="0">
                <a:solidFill>
                  <a:srgbClr val="6F6886"/>
                </a:solidFill>
                <a:latin typeface="Aptos" pitchFamily="34" charset="0"/>
                <a:ea typeface="Aptos" pitchFamily="34" charset="-122"/>
                <a:cs typeface="Aptos" pitchFamily="34" charset="-120"/>
              </a:rPr>
              <a:t>subir fotos o documentos.
</a:t>
            </a:r>
            <a:r>
              <a:rPr lang="en-US" sz="1200" b="1" dirty="0">
                <a:solidFill>
                  <a:srgbClr val="B24779"/>
                </a:solidFill>
                <a:latin typeface="Aptos" pitchFamily="34" charset="0"/>
                <a:ea typeface="Aptos" pitchFamily="34" charset="-122"/>
                <a:cs typeface="Aptos" pitchFamily="34" charset="-120"/>
              </a:rPr>
              <a:t>D + </a:t>
            </a:r>
            <a:r>
              <a:rPr lang="en-US" sz="1200" b="1" dirty="0" err="1">
                <a:solidFill>
                  <a:srgbClr val="B24779"/>
                </a:solidFill>
                <a:latin typeface="Aptos" pitchFamily="34" charset="0"/>
                <a:ea typeface="Aptos" pitchFamily="34" charset="-122"/>
                <a:cs typeface="Aptos" pitchFamily="34" charset="-120"/>
              </a:rPr>
              <a:t>humano</a:t>
            </a:r>
            <a:r>
              <a:rPr lang="en-US" sz="1200" b="1" dirty="0">
                <a:solidFill>
                  <a:srgbClr val="B24779"/>
                </a:solidFill>
                <a:latin typeface="Aptos" pitchFamily="34" charset="0"/>
                <a:ea typeface="Aptos" pitchFamily="34" charset="-122"/>
                <a:cs typeface="Aptos" pitchFamily="34" charset="-120"/>
              </a:rPr>
              <a:t> </a:t>
            </a:r>
            <a:r>
              <a:rPr lang="en-US" sz="1200" b="1" dirty="0" err="1">
                <a:solidFill>
                  <a:srgbClr val="B24779"/>
                </a:solidFill>
                <a:latin typeface="Aptos" pitchFamily="34" charset="0"/>
                <a:ea typeface="Aptos" pitchFamily="34" charset="-122"/>
                <a:cs typeface="Aptos" pitchFamily="34" charset="-120"/>
              </a:rPr>
              <a:t>ejecutor</a:t>
            </a:r>
            <a:r>
              <a:rPr lang="en-US" sz="1200" b="1" dirty="0">
                <a:solidFill>
                  <a:srgbClr val="B24779"/>
                </a:solidFill>
                <a:latin typeface="Aptos" pitchFamily="34" charset="0"/>
                <a:ea typeface="Aptos" pitchFamily="34" charset="-122"/>
                <a:cs typeface="Aptos" pitchFamily="34" charset="-120"/>
              </a:rPr>
              <a:t>: </a:t>
            </a:r>
            <a:r>
              <a:rPr lang="es-ES" sz="1200" dirty="0">
                <a:solidFill>
                  <a:srgbClr val="6F6886"/>
                </a:solidFill>
                <a:latin typeface="Aptos" pitchFamily="34" charset="0"/>
                <a:ea typeface="Aptos" pitchFamily="34" charset="-122"/>
                <a:cs typeface="Aptos" pitchFamily="34" charset="-120"/>
              </a:rPr>
              <a:t>corregir manualmente un incidente de publicación</a:t>
            </a:r>
            <a:r>
              <a:rPr lang="en-US" sz="1200" dirty="0">
                <a:solidFill>
                  <a:srgbClr val="6F6886"/>
                </a:solidFill>
                <a:latin typeface="Aptos" pitchFamily="34" charset="0"/>
                <a:ea typeface="Aptos" pitchFamily="34" charset="-122"/>
                <a:cs typeface="Aptos" pitchFamily="34" charset="-120"/>
              </a:rPr>
              <a:t>.</a:t>
            </a:r>
          </a:p>
          <a:p>
            <a:r>
              <a:rPr lang="en-US" sz="1200" b="1" dirty="0">
                <a:solidFill>
                  <a:srgbClr val="B24779"/>
                </a:solidFill>
                <a:latin typeface="Aptos" pitchFamily="34" charset="0"/>
                <a:ea typeface="Aptos" pitchFamily="34" charset="-122"/>
                <a:cs typeface="Aptos" pitchFamily="34" charset="-120"/>
              </a:rPr>
              <a:t>D + HITL: </a:t>
            </a:r>
            <a:r>
              <a:rPr lang="es-ES" sz="1200" dirty="0">
                <a:solidFill>
                  <a:srgbClr val="6F6886"/>
                </a:solidFill>
                <a:latin typeface="Aptos" pitchFamily="34" charset="0"/>
                <a:ea typeface="Aptos" pitchFamily="34" charset="-122"/>
                <a:cs typeface="Aptos" pitchFamily="34" charset="-120"/>
              </a:rPr>
              <a:t>decidir cómo continuar tras una verificación fallida</a:t>
            </a:r>
            <a:r>
              <a:rPr lang="en-US" sz="1200" dirty="0">
                <a:solidFill>
                  <a:srgbClr val="6F6886"/>
                </a:solidFill>
                <a:latin typeface="Aptos" pitchFamily="34" charset="0"/>
                <a:ea typeface="Aptos" pitchFamily="34" charset="-122"/>
                <a:cs typeface="Aptos" pitchFamily="34" charset="-120"/>
              </a:rPr>
              <a:t>.</a:t>
            </a:r>
          </a:p>
        </p:txBody>
      </p:sp>
      <p:sp>
        <p:nvSpPr>
          <p:cNvPr id="23" name="Text 21"/>
          <p:cNvSpPr/>
          <p:nvPr/>
        </p:nvSpPr>
        <p:spPr>
          <a:xfrm>
            <a:off x="1051560" y="5925312"/>
            <a:ext cx="10085832" cy="402336"/>
          </a:xfrm>
          <a:prstGeom prst="rect">
            <a:avLst/>
          </a:prstGeom>
          <a:solidFill>
            <a:srgbClr val="EFE8FF"/>
          </a:solidFill>
          <a:ln>
            <a:solidFill>
              <a:srgbClr val="EFE8FF"/>
            </a:solidFill>
          </a:ln>
        </p:spPr>
        <p:txBody>
          <a:bodyPr wrap="square" lIns="254" tIns="254" rIns="254" bIns="254" rtlCol="0" anchor="ctr">
            <a:normAutofit/>
          </a:bodyPr>
          <a:lstStyle/>
          <a:p>
            <a:pPr marL="0" indent="0" algn="ctr">
              <a:buNone/>
            </a:pPr>
            <a:r>
              <a:rPr lang="en-US" sz="1600" b="1" dirty="0">
                <a:solidFill>
                  <a:srgbClr val="5C2BD9"/>
                </a:solidFill>
                <a:latin typeface="Aptos" pitchFamily="34" charset="0"/>
                <a:ea typeface="Aptos" pitchFamily="34" charset="-122"/>
                <a:cs typeface="Aptos" pitchFamily="34" charset="-120"/>
              </a:rPr>
              <a:t>No todo contacto humano es HITL: el tipo de participación y el modo de </a:t>
            </a:r>
            <a:r>
              <a:rPr lang="en-US" sz="1400" b="1" dirty="0">
                <a:solidFill>
                  <a:srgbClr val="5C2BD9"/>
                </a:solidFill>
                <a:latin typeface="Aptos" pitchFamily="34" charset="0"/>
                <a:ea typeface="Aptos" pitchFamily="34" charset="-122"/>
                <a:cs typeface="Aptos" pitchFamily="34" charset="-120"/>
              </a:rPr>
              <a:t>ejecución</a:t>
            </a:r>
            <a:r>
              <a:rPr lang="en-US" sz="1600" b="1" dirty="0">
                <a:solidFill>
                  <a:srgbClr val="5C2BD9"/>
                </a:solidFill>
                <a:latin typeface="Aptos" pitchFamily="34" charset="0"/>
                <a:ea typeface="Aptos" pitchFamily="34" charset="-122"/>
                <a:cs typeface="Aptos" pitchFamily="34" charset="-120"/>
              </a:rPr>
              <a:t> se deciden explícitamente.</a:t>
            </a:r>
            <a:endParaRPr lang="en-US" sz="1600" dirty="0"/>
          </a:p>
        </p:txBody>
      </p:sp>
      <p:pic>
        <p:nvPicPr>
          <p:cNvPr id="25" name="Image 0" descr="/mnt/data/ungga_logo_purple.png">
            <a:extLst>
              <a:ext uri="{FF2B5EF4-FFF2-40B4-BE49-F238E27FC236}">
                <a16:creationId xmlns:a16="http://schemas.microsoft.com/office/drawing/2014/main" id="{8E7E73EB-EE35-3C89-25FC-ECB3D542900C}"/>
              </a:ext>
            </a:extLst>
          </p:cNvPr>
          <p:cNvPicPr>
            <a:picLocks noChangeAspect="1"/>
          </p:cNvPicPr>
          <p:nvPr/>
        </p:nvPicPr>
        <p:blipFill>
          <a:blip r:embed="rId3"/>
          <a:stretch>
            <a:fillRect/>
          </a:stretch>
        </p:blipFill>
        <p:spPr>
          <a:xfrm>
            <a:off x="11109960" y="449715"/>
            <a:ext cx="566928" cy="47217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440" name="Shape 0"/>
          <p:cNvSpPr/>
          <p:nvPr/>
        </p:nvSpPr>
        <p:spPr>
          <a:xfrm>
            <a:off x="0" y="0"/>
            <a:ext cx="12191400" cy="63720"/>
          </a:xfrm>
          <a:prstGeom prst="rect">
            <a:avLst/>
          </a:prstGeom>
          <a:solidFill>
            <a:srgbClr val="5F2CCB"/>
          </a:solidFill>
          <a:ln w="12700">
            <a:solidFill>
              <a:srgbClr val="5F2CCB">
                <a:alpha val="0"/>
              </a:srgbClr>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FFFFFF"/>
              </a:solidFill>
              <a:effectLst/>
              <a:uFillTx/>
              <a:latin typeface="Arial"/>
            </a:endParaRPr>
          </a:p>
        </p:txBody>
      </p:sp>
      <p:sp>
        <p:nvSpPr>
          <p:cNvPr id="441" name="Text 1"/>
          <p:cNvSpPr/>
          <p:nvPr/>
        </p:nvSpPr>
        <p:spPr>
          <a:xfrm>
            <a:off x="567000" y="438840"/>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dirty="0">
                <a:solidFill>
                  <a:srgbClr val="5F2CCB"/>
                </a:solidFill>
                <a:effectLst/>
                <a:uFillTx/>
                <a:latin typeface="Aptos"/>
                <a:ea typeface="Aptos"/>
              </a:rPr>
              <a:t>UI/UX DINÁMICA</a:t>
            </a:r>
            <a:endParaRPr lang="en-US" sz="1200" b="0" u="none" strike="noStrike" dirty="0">
              <a:solidFill>
                <a:srgbClr val="000000"/>
              </a:solidFill>
              <a:effectLst/>
              <a:uFillTx/>
              <a:latin typeface="Arial"/>
            </a:endParaRPr>
          </a:p>
        </p:txBody>
      </p:sp>
      <p:sp>
        <p:nvSpPr>
          <p:cNvPr id="442" name="Text 2"/>
          <p:cNvSpPr/>
          <p:nvPr/>
        </p:nvSpPr>
        <p:spPr>
          <a:xfrm>
            <a:off x="567000" y="804600"/>
            <a:ext cx="10271046" cy="731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n-US" sz="2600" b="1" u="none" strike="noStrike" dirty="0">
                <a:solidFill>
                  <a:srgbClr val="151327"/>
                </a:solidFill>
                <a:effectLst/>
                <a:uFillTx/>
                <a:latin typeface="Aptos Display"/>
                <a:ea typeface="Aptos Display"/>
              </a:rPr>
              <a:t>La </a:t>
            </a:r>
            <a:r>
              <a:rPr lang="en-US" sz="2600" b="1" u="none" strike="noStrike" dirty="0" err="1">
                <a:solidFill>
                  <a:srgbClr val="151327"/>
                </a:solidFill>
                <a:effectLst/>
                <a:uFillTx/>
                <a:latin typeface="Aptos Display"/>
                <a:ea typeface="Aptos Display"/>
              </a:rPr>
              <a:t>conversación</a:t>
            </a:r>
            <a:r>
              <a:rPr lang="en-US" sz="2600" b="1" u="none" strike="noStrike" dirty="0">
                <a:solidFill>
                  <a:srgbClr val="151327"/>
                </a:solidFill>
                <a:effectLst/>
                <a:uFillTx/>
                <a:latin typeface="Aptos Display"/>
                <a:ea typeface="Aptos Display"/>
              </a:rPr>
              <a:t> es la </a:t>
            </a:r>
            <a:r>
              <a:rPr lang="en-US" sz="2600" b="1" u="none" strike="noStrike" dirty="0" err="1">
                <a:solidFill>
                  <a:srgbClr val="151327"/>
                </a:solidFill>
                <a:effectLst/>
                <a:uFillTx/>
                <a:latin typeface="Aptos Display"/>
                <a:ea typeface="Aptos Display"/>
              </a:rPr>
              <a:t>superficie</a:t>
            </a:r>
            <a:r>
              <a:rPr lang="en-US" sz="2600" b="1" u="none" strike="noStrike" dirty="0">
                <a:solidFill>
                  <a:srgbClr val="151327"/>
                </a:solidFill>
                <a:effectLst/>
                <a:uFillTx/>
                <a:latin typeface="Aptos Display"/>
                <a:ea typeface="Aptos Display"/>
              </a:rPr>
              <a:t> de control. La </a:t>
            </a:r>
            <a:r>
              <a:rPr lang="en-US" sz="2600" b="1" u="none" strike="noStrike" dirty="0" err="1">
                <a:solidFill>
                  <a:srgbClr val="151327"/>
                </a:solidFill>
                <a:effectLst/>
                <a:uFillTx/>
                <a:latin typeface="Aptos Display"/>
                <a:ea typeface="Aptos Display"/>
              </a:rPr>
              <a:t>interfaz</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diná</a:t>
            </a:r>
            <a:r>
              <a:rPr lang="en-US" sz="2600" b="1" dirty="0" err="1">
                <a:solidFill>
                  <a:srgbClr val="151327"/>
                </a:solidFill>
                <a:latin typeface="Aptos Display"/>
                <a:ea typeface="Aptos Display"/>
              </a:rPr>
              <a:t>mica</a:t>
            </a:r>
            <a:r>
              <a:rPr lang="en-US" sz="2600" b="1" dirty="0">
                <a:solidFill>
                  <a:srgbClr val="151327"/>
                </a:solidFill>
                <a:latin typeface="Aptos Display"/>
                <a:ea typeface="Aptos Display"/>
              </a:rPr>
              <a:t> </a:t>
            </a:r>
            <a:r>
              <a:rPr lang="en-US" sz="2600" b="1" dirty="0" err="1">
                <a:solidFill>
                  <a:srgbClr val="151327"/>
                </a:solidFill>
                <a:latin typeface="Aptos Display"/>
                <a:ea typeface="Aptos Display"/>
              </a:rPr>
              <a:t>a</a:t>
            </a:r>
            <a:r>
              <a:rPr lang="en-US" sz="2600" b="1" u="none" strike="noStrike" dirty="0" err="1">
                <a:solidFill>
                  <a:srgbClr val="151327"/>
                </a:solidFill>
                <a:effectLst/>
                <a:uFillTx/>
                <a:latin typeface="Aptos Display"/>
                <a:ea typeface="Aptos Display"/>
              </a:rPr>
              <a:t>parece</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cuando</a:t>
            </a:r>
            <a:r>
              <a:rPr lang="en-US" sz="2600" b="1" u="none" strike="noStrike" dirty="0">
                <a:solidFill>
                  <a:srgbClr val="151327"/>
                </a:solidFill>
                <a:effectLst/>
                <a:uFillTx/>
                <a:latin typeface="Aptos Display"/>
                <a:ea typeface="Aptos Display"/>
              </a:rPr>
              <a:t> el </a:t>
            </a:r>
            <a:r>
              <a:rPr lang="en-US" sz="2600" b="1" u="none" strike="noStrike" dirty="0" err="1">
                <a:solidFill>
                  <a:srgbClr val="151327"/>
                </a:solidFill>
                <a:effectLst/>
                <a:uFillTx/>
                <a:latin typeface="Aptos Display"/>
                <a:ea typeface="Aptos Display"/>
              </a:rPr>
              <a:t>trabajo</a:t>
            </a:r>
            <a:r>
              <a:rPr lang="en-US" sz="2600" b="1" u="none" strike="noStrike" dirty="0">
                <a:solidFill>
                  <a:srgbClr val="151327"/>
                </a:solidFill>
                <a:effectLst/>
                <a:uFillTx/>
                <a:latin typeface="Aptos Display"/>
                <a:ea typeface="Aptos Display"/>
              </a:rPr>
              <a:t> lo </a:t>
            </a:r>
            <a:r>
              <a:rPr lang="en-US" sz="2600" b="1" u="none" strike="noStrike" dirty="0" err="1">
                <a:solidFill>
                  <a:srgbClr val="151327"/>
                </a:solidFill>
                <a:effectLst/>
                <a:uFillTx/>
                <a:latin typeface="Aptos Display"/>
                <a:ea typeface="Aptos Display"/>
              </a:rPr>
              <a:t>requiere</a:t>
            </a:r>
            <a:r>
              <a:rPr lang="en-US" sz="2600" b="1" u="none" strike="noStrike" dirty="0">
                <a:solidFill>
                  <a:srgbClr val="151327"/>
                </a:solidFill>
                <a:effectLst/>
                <a:uFillTx/>
                <a:latin typeface="Aptos Display"/>
                <a:ea typeface="Aptos Display"/>
              </a:rPr>
              <a:t>.</a:t>
            </a:r>
            <a:endParaRPr lang="en-US" sz="2600" b="0" u="none" strike="noStrike" dirty="0">
              <a:solidFill>
                <a:srgbClr val="000000"/>
              </a:solidFill>
              <a:effectLst/>
              <a:uFillTx/>
              <a:latin typeface="Arial"/>
            </a:endParaRPr>
          </a:p>
        </p:txBody>
      </p:sp>
      <p:sp>
        <p:nvSpPr>
          <p:cNvPr id="443" name="Text 3"/>
          <p:cNvSpPr/>
          <p:nvPr/>
        </p:nvSpPr>
        <p:spPr>
          <a:xfrm>
            <a:off x="567000" y="1735579"/>
            <a:ext cx="10646432" cy="549793"/>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s-ES" b="0" u="none" strike="noStrike" dirty="0">
                <a:solidFill>
                  <a:srgbClr val="6F6888"/>
                </a:solidFill>
                <a:effectLst/>
                <a:uFillTx/>
                <a:latin typeface="Aptos"/>
                <a:ea typeface="Aptos"/>
              </a:rPr>
              <a:t>No todo cabe bien en chat o mensajería. Las vistas contextuales enriquecidas permanecen ligadas al mismo contexto de trabajo (y al Caso cuando exista), con sus permisos y trazabilidad</a:t>
            </a:r>
            <a:r>
              <a:rPr lang="en-US" b="0" u="none" strike="noStrike" dirty="0">
                <a:solidFill>
                  <a:srgbClr val="6F6888"/>
                </a:solidFill>
                <a:effectLst/>
                <a:uFillTx/>
                <a:latin typeface="Aptos"/>
                <a:ea typeface="Aptos"/>
              </a:rPr>
              <a:t>.</a:t>
            </a:r>
            <a:endParaRPr lang="en-US" b="0" u="none" strike="noStrike" dirty="0">
              <a:solidFill>
                <a:srgbClr val="000000"/>
              </a:solidFill>
              <a:effectLst/>
              <a:uFillTx/>
              <a:latin typeface="Arial"/>
            </a:endParaRPr>
          </a:p>
        </p:txBody>
      </p:sp>
      <p:sp>
        <p:nvSpPr>
          <p:cNvPr id="445" name="Text 5"/>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u="none" strike="noStrike">
                <a:solidFill>
                  <a:srgbClr val="7E7798"/>
                </a:solidFill>
                <a:effectLst/>
                <a:uFillTx/>
                <a:latin typeface="Aptos"/>
                <a:ea typeface="Aptos"/>
              </a:rPr>
              <a:t>CONFIDENTIAL</a:t>
            </a:r>
            <a:endParaRPr lang="en-US" sz="650" b="0" u="none" strike="noStrike">
              <a:solidFill>
                <a:srgbClr val="000000"/>
              </a:solidFill>
              <a:effectLst/>
              <a:uFillTx/>
              <a:latin typeface="Arial"/>
            </a:endParaRPr>
          </a:p>
        </p:txBody>
      </p:sp>
      <p:sp>
        <p:nvSpPr>
          <p:cNvPr id="446" name="Text 6"/>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650" b="0" u="none" strike="noStrike">
                <a:solidFill>
                  <a:srgbClr val="7E7798"/>
                </a:solidFill>
                <a:effectLst/>
                <a:uFillTx/>
                <a:latin typeface="Aptos"/>
                <a:ea typeface="Aptos"/>
              </a:rPr>
              <a:t>ungga.com</a:t>
            </a:r>
            <a:endParaRPr lang="en-US" sz="650" b="0" u="none" strike="noStrike">
              <a:solidFill>
                <a:srgbClr val="000000"/>
              </a:solidFill>
              <a:effectLst/>
              <a:uFillTx/>
              <a:latin typeface="Arial"/>
            </a:endParaRPr>
          </a:p>
        </p:txBody>
      </p:sp>
      <p:sp>
        <p:nvSpPr>
          <p:cNvPr id="447" name="Text 7"/>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00" b="0" u="none" strike="noStrike" dirty="0">
                <a:solidFill>
                  <a:srgbClr val="7E7798"/>
                </a:solidFill>
                <a:effectLst/>
                <a:uFillTx/>
                <a:latin typeface="Aptos"/>
                <a:ea typeface="Aptos"/>
              </a:rPr>
              <a:t>19</a:t>
            </a:r>
            <a:endParaRPr lang="en-US" sz="700" b="0" u="none" strike="noStrike" dirty="0">
              <a:solidFill>
                <a:srgbClr val="000000"/>
              </a:solidFill>
              <a:effectLst/>
              <a:uFillTx/>
              <a:latin typeface="Arial"/>
            </a:endParaRPr>
          </a:p>
        </p:txBody>
      </p:sp>
      <p:sp>
        <p:nvSpPr>
          <p:cNvPr id="448" name="Shape 8"/>
          <p:cNvSpPr/>
          <p:nvPr/>
        </p:nvSpPr>
        <p:spPr>
          <a:xfrm>
            <a:off x="727363" y="2893594"/>
            <a:ext cx="3192521" cy="2148120"/>
          </a:xfrm>
          <a:prstGeom prst="roundRect">
            <a:avLst>
              <a:gd name="adj" fmla="val 4762"/>
            </a:avLst>
          </a:prstGeom>
          <a:solidFill>
            <a:srgbClr val="FFFFFF"/>
          </a:solidFill>
          <a:ln w="12700">
            <a:solidFill>
              <a:srgbClr val="5F2CCB"/>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49" name="Text 9"/>
          <p:cNvSpPr/>
          <p:nvPr/>
        </p:nvSpPr>
        <p:spPr>
          <a:xfrm>
            <a:off x="914399" y="3083698"/>
            <a:ext cx="2863375"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dirty="0">
                <a:solidFill>
                  <a:srgbClr val="151327"/>
                </a:solidFill>
                <a:effectLst/>
                <a:uFillTx/>
                <a:latin typeface="Aptos Display"/>
                <a:ea typeface="Aptos Display"/>
              </a:rPr>
              <a:t>Chat web / WhatsApp / Telegram</a:t>
            </a:r>
            <a:endParaRPr lang="en-US" sz="1600" b="0" u="none" strike="noStrike" dirty="0">
              <a:solidFill>
                <a:srgbClr val="000000"/>
              </a:solidFill>
              <a:effectLst/>
              <a:uFillTx/>
              <a:latin typeface="Arial"/>
            </a:endParaRPr>
          </a:p>
        </p:txBody>
      </p:sp>
      <p:sp>
        <p:nvSpPr>
          <p:cNvPr id="450" name="Text 10"/>
          <p:cNvSpPr/>
          <p:nvPr/>
        </p:nvSpPr>
        <p:spPr>
          <a:xfrm>
            <a:off x="985401" y="3577258"/>
            <a:ext cx="2505240" cy="1054604"/>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marL="285750" indent="-285750" defTabSz="914400">
              <a:lnSpc>
                <a:spcPct val="100000"/>
              </a:lnSpc>
              <a:buFont typeface="Arial" panose="020B0604020202020204" pitchFamily="34" charset="0"/>
              <a:buChar char="•"/>
              <a:tabLst>
                <a:tab pos="0" algn="l"/>
              </a:tabLst>
            </a:pPr>
            <a:r>
              <a:rPr lang="en-US" sz="1400" b="0" u="none" strike="noStrike" dirty="0" err="1">
                <a:solidFill>
                  <a:srgbClr val="6F6888"/>
                </a:solidFill>
                <a:effectLst/>
                <a:uFillTx/>
                <a:latin typeface="Aptos"/>
                <a:ea typeface="Aptos"/>
              </a:rPr>
              <a:t>Diálogo</a:t>
            </a:r>
            <a:endParaRPr lang="en-US" sz="1400" b="0" u="none" strike="noStrike" dirty="0">
              <a:solidFill>
                <a:srgbClr val="000000"/>
              </a:solidFill>
              <a:effectLst/>
              <a:uFillTx/>
              <a:latin typeface="Arial"/>
            </a:endParaRPr>
          </a:p>
          <a:p>
            <a:pPr marL="285750" indent="-285750" defTabSz="914400">
              <a:lnSpc>
                <a:spcPct val="100000"/>
              </a:lnSpc>
              <a:buFont typeface="Arial" panose="020B0604020202020204" pitchFamily="34" charset="0"/>
              <a:buChar char="•"/>
              <a:tabLst>
                <a:tab pos="0" algn="l"/>
              </a:tabLst>
            </a:pPr>
            <a:r>
              <a:rPr lang="en-US" sz="1400" b="0" u="none" strike="noStrike" dirty="0" err="1">
                <a:solidFill>
                  <a:srgbClr val="6F6888"/>
                </a:solidFill>
                <a:effectLst/>
                <a:uFillTx/>
                <a:latin typeface="Aptos"/>
                <a:ea typeface="Aptos"/>
              </a:rPr>
              <a:t>Notificaciones</a:t>
            </a:r>
            <a:endParaRPr lang="en-US" sz="1400" b="0" u="none" strike="noStrike" dirty="0">
              <a:solidFill>
                <a:srgbClr val="000000"/>
              </a:solidFill>
              <a:effectLst/>
              <a:uFillTx/>
              <a:latin typeface="Arial"/>
            </a:endParaRPr>
          </a:p>
          <a:p>
            <a:pPr marL="285750" indent="-285750" defTabSz="914400">
              <a:lnSpc>
                <a:spcPct val="100000"/>
              </a:lnSpc>
              <a:buFont typeface="Arial" panose="020B0604020202020204" pitchFamily="34" charset="0"/>
              <a:buChar char="•"/>
              <a:tabLst>
                <a:tab pos="0" algn="l"/>
              </a:tabLst>
            </a:pPr>
            <a:r>
              <a:rPr lang="en-US" sz="1400" b="0" u="none" strike="noStrike" dirty="0" err="1">
                <a:solidFill>
                  <a:srgbClr val="6F6888"/>
                </a:solidFill>
                <a:effectLst/>
                <a:uFillTx/>
                <a:latin typeface="Aptos"/>
                <a:ea typeface="Aptos"/>
              </a:rPr>
              <a:t>Preguntas</a:t>
            </a:r>
            <a:endParaRPr lang="en-US" sz="1400" b="0" u="none" strike="noStrike" dirty="0">
              <a:solidFill>
                <a:srgbClr val="000000"/>
              </a:solidFill>
              <a:effectLst/>
              <a:uFillTx/>
              <a:latin typeface="Arial"/>
            </a:endParaRPr>
          </a:p>
          <a:p>
            <a:pPr marL="285750" indent="-285750" defTabSz="914400">
              <a:lnSpc>
                <a:spcPct val="100000"/>
              </a:lnSpc>
              <a:buFont typeface="Arial" panose="020B0604020202020204" pitchFamily="34" charset="0"/>
              <a:buChar char="•"/>
              <a:tabLst>
                <a:tab pos="0" algn="l"/>
              </a:tabLst>
            </a:pPr>
            <a:r>
              <a:rPr lang="en-US" sz="1400" dirty="0" err="1">
                <a:solidFill>
                  <a:srgbClr val="6F6888"/>
                </a:solidFill>
                <a:latin typeface="Aptos"/>
                <a:ea typeface="Aptos"/>
              </a:rPr>
              <a:t>Decisiones</a:t>
            </a:r>
            <a:r>
              <a:rPr lang="en-US" sz="1400" dirty="0">
                <a:solidFill>
                  <a:srgbClr val="6F6888"/>
                </a:solidFill>
                <a:latin typeface="Aptos"/>
                <a:ea typeface="Aptos"/>
              </a:rPr>
              <a:t> y </a:t>
            </a:r>
            <a:r>
              <a:rPr lang="en-US" sz="1400" dirty="0" err="1">
                <a:solidFill>
                  <a:srgbClr val="6F6888"/>
                </a:solidFill>
                <a:latin typeface="Aptos"/>
                <a:ea typeface="Aptos"/>
              </a:rPr>
              <a:t>a</a:t>
            </a:r>
            <a:r>
              <a:rPr lang="en-US" sz="1400" b="0" u="none" strike="noStrike" dirty="0" err="1">
                <a:solidFill>
                  <a:srgbClr val="6F6888"/>
                </a:solidFill>
                <a:effectLst/>
                <a:uFillTx/>
                <a:latin typeface="Aptos"/>
                <a:ea typeface="Aptos"/>
              </a:rPr>
              <a:t>probaciones</a:t>
            </a:r>
            <a:endParaRPr lang="en-US" sz="1400" b="0" u="none" strike="noStrike" dirty="0">
              <a:solidFill>
                <a:srgbClr val="000000"/>
              </a:solidFill>
              <a:effectLst/>
              <a:uFillTx/>
              <a:latin typeface="Arial"/>
            </a:endParaRPr>
          </a:p>
        </p:txBody>
      </p:sp>
      <p:sp>
        <p:nvSpPr>
          <p:cNvPr id="451" name="Shape 11"/>
          <p:cNvSpPr/>
          <p:nvPr/>
        </p:nvSpPr>
        <p:spPr>
          <a:xfrm>
            <a:off x="3977640" y="3871714"/>
            <a:ext cx="731520" cy="360"/>
          </a:xfrm>
          <a:prstGeom prst="line">
            <a:avLst/>
          </a:prstGeom>
          <a:ln w="19050">
            <a:solidFill>
              <a:srgbClr val="5F2CCB"/>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400" b="0" u="none" strike="noStrike">
              <a:solidFill>
                <a:srgbClr val="000000"/>
              </a:solidFill>
              <a:effectLst/>
              <a:uFillTx/>
              <a:latin typeface="Arial"/>
            </a:endParaRPr>
          </a:p>
        </p:txBody>
      </p:sp>
      <p:sp>
        <p:nvSpPr>
          <p:cNvPr id="452" name="Shape 12"/>
          <p:cNvSpPr/>
          <p:nvPr/>
        </p:nvSpPr>
        <p:spPr>
          <a:xfrm>
            <a:off x="4800600" y="2664994"/>
            <a:ext cx="2559960" cy="2626979"/>
          </a:xfrm>
          <a:prstGeom prst="roundRect">
            <a:avLst>
              <a:gd name="adj" fmla="val 3846"/>
            </a:avLst>
          </a:prstGeom>
          <a:solidFill>
            <a:srgbClr val="20143D"/>
          </a:solidFill>
          <a:ln w="12700">
            <a:solidFill>
              <a:srgbClr val="20143D"/>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53" name="Text 13"/>
          <p:cNvSpPr/>
          <p:nvPr/>
        </p:nvSpPr>
        <p:spPr>
          <a:xfrm>
            <a:off x="5001840" y="2884594"/>
            <a:ext cx="21574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20000"/>
          </a:bodyPr>
          <a:lstStyle/>
          <a:p>
            <a:pPr algn="ctr" defTabSz="914400">
              <a:lnSpc>
                <a:spcPct val="100000"/>
              </a:lnSpc>
              <a:tabLst>
                <a:tab pos="0" algn="l"/>
              </a:tabLst>
            </a:pPr>
            <a:r>
              <a:rPr lang="es-ES" b="1" u="none" strike="noStrike" dirty="0" err="1">
                <a:solidFill>
                  <a:srgbClr val="FFFFFF"/>
                </a:solidFill>
                <a:effectLst/>
                <a:uFillTx/>
                <a:latin typeface="Aptos Display"/>
                <a:ea typeface="Aptos Display"/>
              </a:rPr>
              <a:t>Gu</a:t>
            </a:r>
            <a:r>
              <a:rPr lang="es-ES" b="1" u="none" strike="noStrike" dirty="0">
                <a:solidFill>
                  <a:srgbClr val="FFFFFF"/>
                </a:solidFill>
                <a:effectLst/>
                <a:uFillTx/>
                <a:latin typeface="Aptos Display"/>
                <a:ea typeface="Aptos Display"/>
              </a:rPr>
              <a:t> selecciona la superficie adecuada</a:t>
            </a:r>
            <a:endParaRPr lang="en-US" b="0" u="none" strike="noStrike" dirty="0">
              <a:solidFill>
                <a:srgbClr val="000000"/>
              </a:solidFill>
              <a:effectLst/>
              <a:uFillTx/>
              <a:latin typeface="Arial"/>
            </a:endParaRPr>
          </a:p>
        </p:txBody>
      </p:sp>
      <p:sp>
        <p:nvSpPr>
          <p:cNvPr id="454" name="Text 14"/>
          <p:cNvSpPr/>
          <p:nvPr/>
        </p:nvSpPr>
        <p:spPr>
          <a:xfrm>
            <a:off x="4952145" y="3527362"/>
            <a:ext cx="2276640" cy="11045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s-ES" sz="1400" b="0" u="none" strike="noStrike" dirty="0">
                <a:solidFill>
                  <a:srgbClr val="E6DFFF"/>
                </a:solidFill>
                <a:effectLst/>
                <a:uFillTx/>
                <a:latin typeface="Aptos"/>
                <a:ea typeface="Aptos"/>
              </a:rPr>
              <a:t>¿Puede resolverse claramente en conversación o requiere una vista contextual?</a:t>
            </a:r>
            <a:endParaRPr lang="en-US" sz="1400" b="0" u="none" strike="noStrike" dirty="0">
              <a:solidFill>
                <a:srgbClr val="000000"/>
              </a:solidFill>
              <a:effectLst/>
              <a:uFillTx/>
              <a:latin typeface="Arial"/>
            </a:endParaRPr>
          </a:p>
        </p:txBody>
      </p:sp>
      <p:sp>
        <p:nvSpPr>
          <p:cNvPr id="455" name="Shape 15"/>
          <p:cNvSpPr/>
          <p:nvPr/>
        </p:nvSpPr>
        <p:spPr>
          <a:xfrm>
            <a:off x="7448547" y="3871714"/>
            <a:ext cx="704160" cy="360"/>
          </a:xfrm>
          <a:prstGeom prst="line">
            <a:avLst/>
          </a:prstGeom>
          <a:ln w="19050">
            <a:solidFill>
              <a:srgbClr val="5F2CCB"/>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400" b="0" u="none" strike="noStrike">
              <a:solidFill>
                <a:srgbClr val="000000"/>
              </a:solidFill>
              <a:effectLst/>
              <a:uFillTx/>
              <a:latin typeface="Arial"/>
            </a:endParaRPr>
          </a:p>
        </p:txBody>
      </p:sp>
      <p:sp>
        <p:nvSpPr>
          <p:cNvPr id="456" name="Shape 16"/>
          <p:cNvSpPr/>
          <p:nvPr/>
        </p:nvSpPr>
        <p:spPr>
          <a:xfrm>
            <a:off x="8244147" y="2893594"/>
            <a:ext cx="3093720" cy="2148480"/>
          </a:xfrm>
          <a:prstGeom prst="roundRect">
            <a:avLst>
              <a:gd name="adj" fmla="val 4762"/>
            </a:avLst>
          </a:prstGeom>
          <a:solidFill>
            <a:srgbClr val="FFFFFF"/>
          </a:solidFill>
          <a:ln w="12700">
            <a:solidFill>
              <a:srgbClr val="078C53"/>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57" name="Text 17"/>
          <p:cNvSpPr/>
          <p:nvPr/>
        </p:nvSpPr>
        <p:spPr>
          <a:xfrm>
            <a:off x="8445387" y="3113194"/>
            <a:ext cx="26146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dirty="0">
                <a:solidFill>
                  <a:srgbClr val="151327"/>
                </a:solidFill>
                <a:effectLst/>
                <a:uFillTx/>
                <a:latin typeface="Aptos Display"/>
                <a:ea typeface="Aptos Display"/>
              </a:rPr>
              <a:t>Vista contextual</a:t>
            </a:r>
            <a:endParaRPr lang="en-US" sz="1600" b="0" u="none" strike="noStrike" dirty="0">
              <a:solidFill>
                <a:srgbClr val="000000"/>
              </a:solidFill>
              <a:effectLst/>
              <a:uFillTx/>
              <a:latin typeface="Arial"/>
            </a:endParaRPr>
          </a:p>
        </p:txBody>
      </p:sp>
      <p:sp>
        <p:nvSpPr>
          <p:cNvPr id="458" name="Text 18"/>
          <p:cNvSpPr/>
          <p:nvPr/>
        </p:nvSpPr>
        <p:spPr>
          <a:xfrm>
            <a:off x="8500107" y="3762274"/>
            <a:ext cx="2614680" cy="886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marL="285750" indent="-285750" defTabSz="914400">
              <a:lnSpc>
                <a:spcPct val="100000"/>
              </a:lnSpc>
              <a:buFont typeface="Arial" panose="020B0604020202020204" pitchFamily="34" charset="0"/>
              <a:buChar char="•"/>
              <a:tabLst>
                <a:tab pos="0" algn="l"/>
              </a:tabLst>
            </a:pPr>
            <a:r>
              <a:rPr lang="en-US" sz="1400" b="0" u="none" strike="noStrike" dirty="0" err="1">
                <a:solidFill>
                  <a:srgbClr val="6F6888"/>
                </a:solidFill>
                <a:effectLst/>
                <a:uFillTx/>
                <a:latin typeface="Aptos"/>
                <a:ea typeface="Aptos"/>
              </a:rPr>
              <a:t>Gráficas</a:t>
            </a:r>
            <a:endParaRPr lang="en-US" sz="1400" b="0" u="none" strike="noStrike" dirty="0">
              <a:solidFill>
                <a:srgbClr val="000000"/>
              </a:solidFill>
              <a:effectLst/>
              <a:uFillTx/>
              <a:latin typeface="Arial"/>
            </a:endParaRPr>
          </a:p>
          <a:p>
            <a:pPr marL="285750" indent="-285750" defTabSz="914400">
              <a:lnSpc>
                <a:spcPct val="100000"/>
              </a:lnSpc>
              <a:buFont typeface="Arial" panose="020B0604020202020204" pitchFamily="34" charset="0"/>
              <a:buChar char="•"/>
              <a:tabLst>
                <a:tab pos="0" algn="l"/>
              </a:tabLst>
            </a:pPr>
            <a:r>
              <a:rPr lang="en-US" sz="1400" b="0" u="none" strike="noStrike" dirty="0" err="1">
                <a:solidFill>
                  <a:srgbClr val="6F6888"/>
                </a:solidFill>
                <a:effectLst/>
                <a:uFillTx/>
                <a:latin typeface="Aptos"/>
                <a:ea typeface="Aptos"/>
              </a:rPr>
              <a:t>Comparaciones</a:t>
            </a:r>
            <a:endParaRPr lang="en-US" sz="1400" b="0" u="none" strike="noStrike" dirty="0">
              <a:solidFill>
                <a:srgbClr val="000000"/>
              </a:solidFill>
              <a:effectLst/>
              <a:uFillTx/>
              <a:latin typeface="Arial"/>
            </a:endParaRPr>
          </a:p>
          <a:p>
            <a:pPr marL="285750" indent="-285750" defTabSz="914400">
              <a:lnSpc>
                <a:spcPct val="100000"/>
              </a:lnSpc>
              <a:buFont typeface="Arial" panose="020B0604020202020204" pitchFamily="34" charset="0"/>
              <a:buChar char="•"/>
              <a:tabLst>
                <a:tab pos="0" algn="l"/>
              </a:tabLst>
            </a:pPr>
            <a:r>
              <a:rPr lang="en-US" sz="1400" b="0" u="none" strike="noStrike" dirty="0">
                <a:solidFill>
                  <a:srgbClr val="6F6888"/>
                </a:solidFill>
                <a:effectLst/>
                <a:uFillTx/>
                <a:latin typeface="Aptos"/>
                <a:ea typeface="Aptos"/>
              </a:rPr>
              <a:t>Mapas</a:t>
            </a:r>
            <a:endParaRPr lang="en-US" sz="1400" b="0" u="none" strike="noStrike" dirty="0">
              <a:solidFill>
                <a:srgbClr val="000000"/>
              </a:solidFill>
              <a:effectLst/>
              <a:uFillTx/>
              <a:latin typeface="Arial"/>
            </a:endParaRPr>
          </a:p>
          <a:p>
            <a:pPr marL="285750" indent="-285750" defTabSz="914400">
              <a:lnSpc>
                <a:spcPct val="100000"/>
              </a:lnSpc>
              <a:buFont typeface="Arial" panose="020B0604020202020204" pitchFamily="34" charset="0"/>
              <a:buChar char="•"/>
              <a:tabLst>
                <a:tab pos="0" algn="l"/>
              </a:tabLst>
            </a:pPr>
            <a:r>
              <a:rPr lang="en-US" sz="1400" b="0" u="none" strike="noStrike" dirty="0" err="1">
                <a:solidFill>
                  <a:srgbClr val="6F6888"/>
                </a:solidFill>
                <a:effectLst/>
                <a:uFillTx/>
                <a:latin typeface="Aptos"/>
                <a:ea typeface="Aptos"/>
              </a:rPr>
              <a:t>Documentos</a:t>
            </a:r>
            <a:r>
              <a:rPr lang="en-US" sz="1400" b="0" u="none" strike="noStrike" dirty="0">
                <a:solidFill>
                  <a:srgbClr val="6F6888"/>
                </a:solidFill>
                <a:effectLst/>
                <a:uFillTx/>
                <a:latin typeface="Aptos"/>
                <a:ea typeface="Aptos"/>
              </a:rPr>
              <a:t> / </a:t>
            </a:r>
            <a:r>
              <a:rPr lang="en-US" sz="1400" b="0" u="none" strike="noStrike" dirty="0" err="1">
                <a:solidFill>
                  <a:srgbClr val="6F6888"/>
                </a:solidFill>
                <a:effectLst/>
                <a:uFillTx/>
                <a:latin typeface="Aptos"/>
                <a:ea typeface="Aptos"/>
              </a:rPr>
              <a:t>artefactos</a:t>
            </a:r>
            <a:endParaRPr lang="en-US" sz="1400" b="0" u="none" strike="noStrike" dirty="0">
              <a:solidFill>
                <a:srgbClr val="000000"/>
              </a:solidFill>
              <a:effectLst/>
              <a:uFillTx/>
              <a:latin typeface="Arial"/>
            </a:endParaRPr>
          </a:p>
          <a:p>
            <a:pPr marL="285750" indent="-285750" defTabSz="914400">
              <a:lnSpc>
                <a:spcPct val="100000"/>
              </a:lnSpc>
              <a:buFont typeface="Arial" panose="020B0604020202020204" pitchFamily="34" charset="0"/>
              <a:buChar char="•"/>
              <a:tabLst>
                <a:tab pos="0" algn="l"/>
              </a:tabLst>
            </a:pPr>
            <a:r>
              <a:rPr lang="en-US" sz="1400" b="0" u="none" strike="noStrike" dirty="0">
                <a:solidFill>
                  <a:srgbClr val="6F6888"/>
                </a:solidFill>
                <a:effectLst/>
                <a:uFillTx/>
                <a:latin typeface="Aptos"/>
                <a:ea typeface="Aptos"/>
              </a:rPr>
              <a:t>Vistas </a:t>
            </a:r>
            <a:r>
              <a:rPr lang="en-US" sz="1400" b="0" u="none" strike="noStrike" dirty="0" err="1">
                <a:solidFill>
                  <a:srgbClr val="6F6888"/>
                </a:solidFill>
                <a:effectLst/>
                <a:uFillTx/>
                <a:latin typeface="Aptos"/>
                <a:ea typeface="Aptos"/>
              </a:rPr>
              <a:t>operativas</a:t>
            </a:r>
            <a:endParaRPr lang="en-US" sz="1400" b="0" u="none" strike="noStrike" dirty="0">
              <a:solidFill>
                <a:srgbClr val="000000"/>
              </a:solidFill>
              <a:effectLst/>
              <a:uFillTx/>
              <a:latin typeface="Arial"/>
            </a:endParaRPr>
          </a:p>
        </p:txBody>
      </p:sp>
      <p:sp>
        <p:nvSpPr>
          <p:cNvPr id="459" name="Shape 19"/>
          <p:cNvSpPr/>
          <p:nvPr/>
        </p:nvSpPr>
        <p:spPr>
          <a:xfrm>
            <a:off x="1496725" y="5673778"/>
            <a:ext cx="1919880" cy="347040"/>
          </a:xfrm>
          <a:prstGeom prst="roundRect">
            <a:avLst>
              <a:gd name="adj" fmla="val 21053"/>
            </a:avLst>
          </a:prstGeom>
          <a:solidFill>
            <a:srgbClr val="F1EBFF"/>
          </a:solidFill>
          <a:ln w="12700">
            <a:solidFill>
              <a:srgbClr val="F1EB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200" b="0" u="none" strike="noStrike">
              <a:solidFill>
                <a:srgbClr val="000000"/>
              </a:solidFill>
              <a:effectLst/>
              <a:uFillTx/>
              <a:latin typeface="Arial"/>
            </a:endParaRPr>
          </a:p>
        </p:txBody>
      </p:sp>
      <p:sp>
        <p:nvSpPr>
          <p:cNvPr id="460" name="Text 20"/>
          <p:cNvSpPr/>
          <p:nvPr/>
        </p:nvSpPr>
        <p:spPr>
          <a:xfrm>
            <a:off x="1542445" y="5728858"/>
            <a:ext cx="18284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dirty="0" err="1">
                <a:solidFill>
                  <a:srgbClr val="5F2CCB"/>
                </a:solidFill>
                <a:effectLst/>
                <a:uFillTx/>
                <a:latin typeface="Aptos"/>
                <a:ea typeface="Aptos"/>
              </a:rPr>
              <a:t>Análisis</a:t>
            </a:r>
            <a:r>
              <a:rPr lang="en-US" sz="1200" b="1" u="none" strike="noStrike" dirty="0">
                <a:solidFill>
                  <a:srgbClr val="5F2CCB"/>
                </a:solidFill>
                <a:effectLst/>
                <a:uFillTx/>
                <a:latin typeface="Aptos"/>
                <a:ea typeface="Aptos"/>
              </a:rPr>
              <a:t> de </a:t>
            </a:r>
            <a:r>
              <a:rPr lang="en-US" sz="1200" b="1" u="none" strike="noStrike" dirty="0" err="1">
                <a:solidFill>
                  <a:srgbClr val="5F2CCB"/>
                </a:solidFill>
                <a:effectLst/>
                <a:uFillTx/>
                <a:latin typeface="Aptos"/>
                <a:ea typeface="Aptos"/>
              </a:rPr>
              <a:t>campaña</a:t>
            </a:r>
            <a:endParaRPr lang="en-US" sz="1200" b="0" u="none" strike="noStrike" dirty="0">
              <a:solidFill>
                <a:srgbClr val="000000"/>
              </a:solidFill>
              <a:effectLst/>
              <a:uFillTx/>
              <a:latin typeface="Arial"/>
            </a:endParaRPr>
          </a:p>
        </p:txBody>
      </p:sp>
      <p:sp>
        <p:nvSpPr>
          <p:cNvPr id="461" name="Shape 21"/>
          <p:cNvSpPr/>
          <p:nvPr/>
        </p:nvSpPr>
        <p:spPr>
          <a:xfrm>
            <a:off x="3919885" y="5673778"/>
            <a:ext cx="1919880" cy="347040"/>
          </a:xfrm>
          <a:prstGeom prst="roundRect">
            <a:avLst>
              <a:gd name="adj" fmla="val 21053"/>
            </a:avLst>
          </a:prstGeom>
          <a:solidFill>
            <a:srgbClr val="F1EBFF"/>
          </a:solidFill>
          <a:ln w="12700">
            <a:solidFill>
              <a:srgbClr val="F1EB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200" b="0" u="none" strike="noStrike">
              <a:solidFill>
                <a:srgbClr val="000000"/>
              </a:solidFill>
              <a:effectLst/>
              <a:uFillTx/>
              <a:latin typeface="Arial"/>
            </a:endParaRPr>
          </a:p>
        </p:txBody>
      </p:sp>
      <p:sp>
        <p:nvSpPr>
          <p:cNvPr id="462" name="Text 22"/>
          <p:cNvSpPr/>
          <p:nvPr/>
        </p:nvSpPr>
        <p:spPr>
          <a:xfrm>
            <a:off x="3965605" y="5728858"/>
            <a:ext cx="18284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dirty="0" err="1">
                <a:solidFill>
                  <a:srgbClr val="5F2CCB"/>
                </a:solidFill>
                <a:effectLst/>
                <a:uFillTx/>
                <a:latin typeface="Aptos"/>
                <a:ea typeface="Aptos"/>
              </a:rPr>
              <a:t>Portafolio</a:t>
            </a:r>
            <a:r>
              <a:rPr lang="en-US" sz="1200" b="1" u="none" strike="noStrike" dirty="0">
                <a:solidFill>
                  <a:srgbClr val="5F2CCB"/>
                </a:solidFill>
                <a:effectLst/>
                <a:uFillTx/>
                <a:latin typeface="Aptos"/>
                <a:ea typeface="Aptos"/>
              </a:rPr>
              <a:t> de </a:t>
            </a:r>
            <a:r>
              <a:rPr lang="en-US" sz="1200" b="1" u="none" strike="noStrike" dirty="0" err="1">
                <a:solidFill>
                  <a:srgbClr val="5F2CCB"/>
                </a:solidFill>
                <a:effectLst/>
                <a:uFillTx/>
                <a:latin typeface="Aptos"/>
                <a:ea typeface="Aptos"/>
              </a:rPr>
              <a:t>Prospectos</a:t>
            </a:r>
            <a:endParaRPr lang="en-US" sz="1200" b="0" u="none" strike="noStrike" dirty="0">
              <a:solidFill>
                <a:srgbClr val="000000"/>
              </a:solidFill>
              <a:effectLst/>
              <a:uFillTx/>
              <a:latin typeface="Arial"/>
            </a:endParaRPr>
          </a:p>
        </p:txBody>
      </p:sp>
      <p:sp>
        <p:nvSpPr>
          <p:cNvPr id="463" name="Shape 23"/>
          <p:cNvSpPr/>
          <p:nvPr/>
        </p:nvSpPr>
        <p:spPr>
          <a:xfrm>
            <a:off x="6131289" y="5673778"/>
            <a:ext cx="2131636" cy="347040"/>
          </a:xfrm>
          <a:prstGeom prst="roundRect">
            <a:avLst>
              <a:gd name="adj" fmla="val 21053"/>
            </a:avLst>
          </a:prstGeom>
          <a:solidFill>
            <a:srgbClr val="F1EBFF"/>
          </a:solidFill>
          <a:ln w="12700">
            <a:solidFill>
              <a:srgbClr val="F1EB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200" b="0" u="none" strike="noStrike">
              <a:solidFill>
                <a:srgbClr val="000000"/>
              </a:solidFill>
              <a:effectLst/>
              <a:uFillTx/>
              <a:latin typeface="Arial"/>
            </a:endParaRPr>
          </a:p>
        </p:txBody>
      </p:sp>
      <p:sp>
        <p:nvSpPr>
          <p:cNvPr id="464" name="Text 24"/>
          <p:cNvSpPr/>
          <p:nvPr/>
        </p:nvSpPr>
        <p:spPr>
          <a:xfrm>
            <a:off x="6249200" y="5728858"/>
            <a:ext cx="191988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dirty="0" err="1">
                <a:solidFill>
                  <a:srgbClr val="5F2CCB"/>
                </a:solidFill>
                <a:effectLst/>
                <a:uFillTx/>
                <a:latin typeface="Aptos"/>
                <a:ea typeface="Aptos"/>
              </a:rPr>
              <a:t>Incorporación</a:t>
            </a:r>
            <a:r>
              <a:rPr lang="en-US" sz="1200" b="1" u="none" strike="noStrike" dirty="0">
                <a:solidFill>
                  <a:srgbClr val="5F2CCB"/>
                </a:solidFill>
                <a:effectLst/>
                <a:uFillTx/>
                <a:latin typeface="Aptos"/>
                <a:ea typeface="Aptos"/>
              </a:rPr>
              <a:t> de </a:t>
            </a:r>
            <a:r>
              <a:rPr lang="en-US" sz="1200" b="1" u="none" strike="noStrike" dirty="0" err="1">
                <a:solidFill>
                  <a:srgbClr val="5F2CCB"/>
                </a:solidFill>
                <a:effectLst/>
                <a:uFillTx/>
                <a:latin typeface="Aptos"/>
                <a:ea typeface="Aptos"/>
              </a:rPr>
              <a:t>propiedad</a:t>
            </a:r>
            <a:endParaRPr lang="en-US" sz="1200" b="0" u="none" strike="noStrike" dirty="0">
              <a:solidFill>
                <a:srgbClr val="000000"/>
              </a:solidFill>
              <a:effectLst/>
              <a:uFillTx/>
              <a:latin typeface="Arial"/>
            </a:endParaRPr>
          </a:p>
        </p:txBody>
      </p:sp>
      <p:sp>
        <p:nvSpPr>
          <p:cNvPr id="465" name="Shape 25"/>
          <p:cNvSpPr/>
          <p:nvPr/>
        </p:nvSpPr>
        <p:spPr>
          <a:xfrm>
            <a:off x="8736708" y="5673778"/>
            <a:ext cx="2131635" cy="347040"/>
          </a:xfrm>
          <a:prstGeom prst="roundRect">
            <a:avLst>
              <a:gd name="adj" fmla="val 21053"/>
            </a:avLst>
          </a:prstGeom>
          <a:solidFill>
            <a:srgbClr val="F1EBFF"/>
          </a:solidFill>
          <a:ln w="12700">
            <a:solidFill>
              <a:srgbClr val="F1EB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200" b="0" u="none" strike="noStrike">
              <a:solidFill>
                <a:srgbClr val="000000"/>
              </a:solidFill>
              <a:effectLst/>
              <a:uFillTx/>
              <a:latin typeface="Arial"/>
            </a:endParaRPr>
          </a:p>
        </p:txBody>
      </p:sp>
      <p:sp>
        <p:nvSpPr>
          <p:cNvPr id="466" name="Text 26"/>
          <p:cNvSpPr/>
          <p:nvPr/>
        </p:nvSpPr>
        <p:spPr>
          <a:xfrm>
            <a:off x="8890582" y="5728858"/>
            <a:ext cx="18284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tabLst>
                <a:tab pos="0" algn="l"/>
              </a:tabLst>
            </a:pPr>
            <a:r>
              <a:rPr lang="en-US" sz="1200" b="1" u="none" strike="noStrike" dirty="0" err="1">
                <a:solidFill>
                  <a:srgbClr val="5F2CCB"/>
                </a:solidFill>
                <a:effectLst/>
                <a:uFillTx/>
                <a:latin typeface="Aptos"/>
                <a:ea typeface="Aptos"/>
              </a:rPr>
              <a:t>Contexto</a:t>
            </a:r>
            <a:r>
              <a:rPr lang="en-US" sz="1200" b="1" u="none" strike="noStrike" dirty="0">
                <a:solidFill>
                  <a:srgbClr val="5F2CCB"/>
                </a:solidFill>
                <a:effectLst/>
                <a:uFillTx/>
                <a:latin typeface="Aptos"/>
                <a:ea typeface="Aptos"/>
              </a:rPr>
              <a:t> para </a:t>
            </a:r>
            <a:r>
              <a:rPr lang="en-US" sz="1200" b="1" u="none" strike="noStrike" dirty="0" err="1">
                <a:solidFill>
                  <a:srgbClr val="5F2CCB"/>
                </a:solidFill>
                <a:effectLst/>
                <a:uFillTx/>
                <a:latin typeface="Aptos"/>
                <a:ea typeface="Aptos"/>
              </a:rPr>
              <a:t>decisión</a:t>
            </a:r>
            <a:endParaRPr lang="en-US" sz="1200" b="0" u="none" strike="noStrike" dirty="0">
              <a:solidFill>
                <a:srgbClr val="000000"/>
              </a:solidFill>
              <a:effectLst/>
              <a:uFillTx/>
              <a:latin typeface="Arial"/>
            </a:endParaRPr>
          </a:p>
        </p:txBody>
      </p:sp>
      <p:pic>
        <p:nvPicPr>
          <p:cNvPr id="3" name="Image 0" descr="/mnt/data/ungga_logo_purple.png">
            <a:extLst>
              <a:ext uri="{FF2B5EF4-FFF2-40B4-BE49-F238E27FC236}">
                <a16:creationId xmlns:a16="http://schemas.microsoft.com/office/drawing/2014/main" id="{5484DEAE-59FC-FB13-E9EF-40FEB81F5608}"/>
              </a:ext>
            </a:extLst>
          </p:cNvPr>
          <p:cNvPicPr>
            <a:picLocks noChangeAspect="1"/>
          </p:cNvPicPr>
          <p:nvPr/>
        </p:nvPicPr>
        <p:blipFill>
          <a:blip r:embed="rId3"/>
          <a:stretch>
            <a:fillRect/>
          </a:stretch>
        </p:blipFill>
        <p:spPr>
          <a:xfrm>
            <a:off x="11109960" y="449715"/>
            <a:ext cx="566928" cy="47217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467" name="Shape 0"/>
          <p:cNvSpPr/>
          <p:nvPr/>
        </p:nvSpPr>
        <p:spPr>
          <a:xfrm>
            <a:off x="0" y="0"/>
            <a:ext cx="12191400" cy="63720"/>
          </a:xfrm>
          <a:prstGeom prst="rect">
            <a:avLst/>
          </a:prstGeom>
          <a:solidFill>
            <a:srgbClr val="5F2CCB"/>
          </a:solidFill>
          <a:ln w="12700">
            <a:solidFill>
              <a:srgbClr val="5F2CCB">
                <a:alpha val="0"/>
              </a:srgbClr>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FFFFFF"/>
              </a:solidFill>
              <a:effectLst/>
              <a:uFillTx/>
              <a:latin typeface="Arial"/>
            </a:endParaRPr>
          </a:p>
        </p:txBody>
      </p:sp>
      <p:sp>
        <p:nvSpPr>
          <p:cNvPr id="468" name="Text 1"/>
          <p:cNvSpPr/>
          <p:nvPr/>
        </p:nvSpPr>
        <p:spPr>
          <a:xfrm>
            <a:off x="567000" y="438840"/>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dirty="0">
                <a:solidFill>
                  <a:srgbClr val="5F2CCB"/>
                </a:solidFill>
                <a:effectLst/>
                <a:uFillTx/>
                <a:latin typeface="Aptos"/>
                <a:ea typeface="Aptos"/>
              </a:rPr>
              <a:t>POSEER VS ORQUESTAR</a:t>
            </a:r>
            <a:endParaRPr lang="en-US" sz="1200" b="0" u="none" strike="noStrike" dirty="0">
              <a:solidFill>
                <a:srgbClr val="000000"/>
              </a:solidFill>
              <a:effectLst/>
              <a:uFillTx/>
              <a:latin typeface="Arial"/>
            </a:endParaRPr>
          </a:p>
        </p:txBody>
      </p:sp>
      <p:sp>
        <p:nvSpPr>
          <p:cNvPr id="469" name="Text 2"/>
          <p:cNvSpPr/>
          <p:nvPr/>
        </p:nvSpPr>
        <p:spPr>
          <a:xfrm>
            <a:off x="535101" y="942127"/>
            <a:ext cx="10426941" cy="685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s-ES" sz="2600" b="1" u="none" strike="noStrike" dirty="0">
                <a:solidFill>
                  <a:srgbClr val="151327"/>
                </a:solidFill>
                <a:effectLst/>
                <a:uFillTx/>
                <a:latin typeface="Aptos Display"/>
                <a:ea typeface="Aptos Display"/>
              </a:rPr>
              <a:t>Debemos poseer las capacidades que construyen nuestra diferenciación y orquestar las que pueden permanecer externas y sustituibles.</a:t>
            </a:r>
            <a:endParaRPr lang="en-US" sz="2600" b="0" u="none" strike="noStrike" dirty="0">
              <a:solidFill>
                <a:srgbClr val="000000"/>
              </a:solidFill>
              <a:effectLst/>
              <a:uFillTx/>
              <a:latin typeface="Arial"/>
            </a:endParaRPr>
          </a:p>
        </p:txBody>
      </p:sp>
      <p:sp>
        <p:nvSpPr>
          <p:cNvPr id="470" name="Text 3"/>
          <p:cNvSpPr/>
          <p:nvPr/>
        </p:nvSpPr>
        <p:spPr>
          <a:xfrm>
            <a:off x="566999" y="1816086"/>
            <a:ext cx="10542961" cy="639105"/>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s-ES" u="none" strike="noStrike" dirty="0" err="1">
                <a:solidFill>
                  <a:srgbClr val="6F6888"/>
                </a:solidFill>
                <a:effectLst/>
                <a:uFillTx/>
                <a:latin typeface="Aptos"/>
                <a:ea typeface="Aptos"/>
              </a:rPr>
              <a:t>Gu</a:t>
            </a:r>
            <a:r>
              <a:rPr lang="es-ES" u="none" strike="noStrike" dirty="0">
                <a:solidFill>
                  <a:srgbClr val="6F6888"/>
                </a:solidFill>
                <a:effectLst/>
                <a:uFillTx/>
                <a:latin typeface="Aptos"/>
                <a:ea typeface="Aptos"/>
              </a:rPr>
              <a:t> conserva la responsabilidad y continuidad del trabajo en ambos casos. La frontera está en qué capacidades deben vivir y evolucionar dentro de </a:t>
            </a:r>
            <a:r>
              <a:rPr lang="es-ES" u="none" strike="noStrike" dirty="0" err="1">
                <a:solidFill>
                  <a:srgbClr val="6F6888"/>
                </a:solidFill>
                <a:effectLst/>
                <a:uFillTx/>
                <a:latin typeface="Aptos"/>
                <a:ea typeface="Aptos"/>
              </a:rPr>
              <a:t>Gu</a:t>
            </a:r>
            <a:r>
              <a:rPr lang="es-ES" u="none" strike="noStrike" dirty="0">
                <a:solidFill>
                  <a:srgbClr val="6F6888"/>
                </a:solidFill>
                <a:effectLst/>
                <a:uFillTx/>
                <a:latin typeface="Aptos"/>
                <a:ea typeface="Aptos"/>
              </a:rPr>
              <a:t> OS</a:t>
            </a:r>
            <a:r>
              <a:rPr lang="en-US" u="none" strike="noStrike" dirty="0">
                <a:solidFill>
                  <a:srgbClr val="6F6888"/>
                </a:solidFill>
                <a:effectLst/>
                <a:uFillTx/>
                <a:latin typeface="Aptos"/>
                <a:ea typeface="Aptos"/>
              </a:rPr>
              <a:t>.</a:t>
            </a:r>
            <a:endParaRPr lang="en-US" u="none" strike="noStrike" dirty="0">
              <a:solidFill>
                <a:srgbClr val="000000"/>
              </a:solidFill>
              <a:effectLst/>
              <a:uFillTx/>
              <a:latin typeface="Arial"/>
            </a:endParaRPr>
          </a:p>
        </p:txBody>
      </p:sp>
      <p:sp>
        <p:nvSpPr>
          <p:cNvPr id="472" name="Text 5"/>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u="none" strike="noStrike">
                <a:solidFill>
                  <a:srgbClr val="7E7798"/>
                </a:solidFill>
                <a:effectLst/>
                <a:uFillTx/>
                <a:latin typeface="Aptos"/>
                <a:ea typeface="Aptos"/>
              </a:rPr>
              <a:t>CONFIDENTIAL</a:t>
            </a:r>
            <a:endParaRPr lang="en-US" sz="650" b="0" u="none" strike="noStrike">
              <a:solidFill>
                <a:srgbClr val="000000"/>
              </a:solidFill>
              <a:effectLst/>
              <a:uFillTx/>
              <a:latin typeface="Arial"/>
            </a:endParaRPr>
          </a:p>
        </p:txBody>
      </p:sp>
      <p:sp>
        <p:nvSpPr>
          <p:cNvPr id="473" name="Text 6"/>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650" b="0" u="none" strike="noStrike">
                <a:solidFill>
                  <a:srgbClr val="7E7798"/>
                </a:solidFill>
                <a:effectLst/>
                <a:uFillTx/>
                <a:latin typeface="Aptos"/>
                <a:ea typeface="Aptos"/>
              </a:rPr>
              <a:t>ungga.com</a:t>
            </a:r>
            <a:endParaRPr lang="en-US" sz="650" b="0" u="none" strike="noStrike">
              <a:solidFill>
                <a:srgbClr val="000000"/>
              </a:solidFill>
              <a:effectLst/>
              <a:uFillTx/>
              <a:latin typeface="Arial"/>
            </a:endParaRPr>
          </a:p>
        </p:txBody>
      </p:sp>
      <p:sp>
        <p:nvSpPr>
          <p:cNvPr id="474" name="Text 7"/>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00" b="0" u="none" strike="noStrike" dirty="0">
                <a:solidFill>
                  <a:srgbClr val="7E7798"/>
                </a:solidFill>
                <a:effectLst/>
                <a:uFillTx/>
                <a:latin typeface="Aptos"/>
                <a:ea typeface="Aptos"/>
              </a:rPr>
              <a:t>20</a:t>
            </a:r>
            <a:endParaRPr lang="en-US" sz="700" b="0" u="none" strike="noStrike" dirty="0">
              <a:solidFill>
                <a:srgbClr val="000000"/>
              </a:solidFill>
              <a:effectLst/>
              <a:uFillTx/>
              <a:latin typeface="Arial"/>
            </a:endParaRPr>
          </a:p>
        </p:txBody>
      </p:sp>
      <p:sp>
        <p:nvSpPr>
          <p:cNvPr id="475" name="Shape 8"/>
          <p:cNvSpPr/>
          <p:nvPr/>
        </p:nvSpPr>
        <p:spPr>
          <a:xfrm>
            <a:off x="685800" y="2793020"/>
            <a:ext cx="5211720" cy="2788560"/>
          </a:xfrm>
          <a:prstGeom prst="roundRect">
            <a:avLst>
              <a:gd name="adj" fmla="val 3279"/>
            </a:avLst>
          </a:prstGeom>
          <a:solidFill>
            <a:srgbClr val="FFFFFF"/>
          </a:solidFill>
          <a:ln w="12700">
            <a:solidFill>
              <a:srgbClr val="DED2F6"/>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76" name="Text 9"/>
          <p:cNvSpPr/>
          <p:nvPr/>
        </p:nvSpPr>
        <p:spPr>
          <a:xfrm>
            <a:off x="822960" y="2939180"/>
            <a:ext cx="4937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00" b="1" u="none" strike="noStrike" dirty="0">
                <a:solidFill>
                  <a:srgbClr val="5F2CCB"/>
                </a:solidFill>
                <a:effectLst/>
                <a:uFillTx/>
                <a:latin typeface="Aptos"/>
                <a:ea typeface="Aptos"/>
              </a:rPr>
              <a:t>POSEER</a:t>
            </a:r>
            <a:endParaRPr lang="en-US" sz="1200" b="0" u="none" strike="noStrike" dirty="0">
              <a:solidFill>
                <a:srgbClr val="000000"/>
              </a:solidFill>
              <a:effectLst/>
              <a:uFillTx/>
              <a:latin typeface="Arial"/>
            </a:endParaRPr>
          </a:p>
        </p:txBody>
      </p:sp>
      <p:sp>
        <p:nvSpPr>
          <p:cNvPr id="477" name="Text 10"/>
          <p:cNvSpPr/>
          <p:nvPr/>
        </p:nvSpPr>
        <p:spPr>
          <a:xfrm>
            <a:off x="867162" y="3288458"/>
            <a:ext cx="480924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b="1" u="none" strike="noStrike" dirty="0">
                <a:solidFill>
                  <a:srgbClr val="151327"/>
                </a:solidFill>
                <a:effectLst/>
                <a:uFillTx/>
                <a:latin typeface="Aptos Display"/>
                <a:ea typeface="Aptos Display"/>
              </a:rPr>
              <a:t>Ungga </a:t>
            </a:r>
            <a:r>
              <a:rPr lang="en-US" b="1" u="none" strike="noStrike" dirty="0" err="1">
                <a:solidFill>
                  <a:srgbClr val="151327"/>
                </a:solidFill>
                <a:effectLst/>
                <a:uFillTx/>
                <a:latin typeface="Aptos Display"/>
                <a:ea typeface="Aptos Display"/>
              </a:rPr>
              <a:t>debería</a:t>
            </a:r>
            <a:r>
              <a:rPr lang="en-US" b="1" u="none" strike="noStrike" dirty="0">
                <a:solidFill>
                  <a:srgbClr val="151327"/>
                </a:solidFill>
                <a:effectLst/>
                <a:uFillTx/>
                <a:latin typeface="Aptos Display"/>
                <a:ea typeface="Aptos Display"/>
              </a:rPr>
              <a:t> </a:t>
            </a:r>
            <a:r>
              <a:rPr lang="en-US" b="1" u="none" strike="noStrike" dirty="0" err="1">
                <a:solidFill>
                  <a:srgbClr val="151327"/>
                </a:solidFill>
                <a:effectLst/>
                <a:uFillTx/>
                <a:latin typeface="Aptos Display"/>
                <a:ea typeface="Aptos Display"/>
              </a:rPr>
              <a:t>poseer</a:t>
            </a:r>
            <a:r>
              <a:rPr lang="en-US" b="1" u="none" strike="noStrike" dirty="0">
                <a:solidFill>
                  <a:srgbClr val="151327"/>
                </a:solidFill>
                <a:effectLst/>
                <a:uFillTx/>
                <a:latin typeface="Aptos Display"/>
                <a:ea typeface="Aptos Display"/>
              </a:rPr>
              <a:t>:</a:t>
            </a:r>
            <a:endParaRPr lang="en-US" b="0" u="none" strike="noStrike" dirty="0">
              <a:solidFill>
                <a:srgbClr val="000000"/>
              </a:solidFill>
              <a:effectLst/>
              <a:uFillTx/>
              <a:latin typeface="Arial"/>
            </a:endParaRPr>
          </a:p>
        </p:txBody>
      </p:sp>
      <p:sp>
        <p:nvSpPr>
          <p:cNvPr id="478" name="Text 11"/>
          <p:cNvSpPr/>
          <p:nvPr/>
        </p:nvSpPr>
        <p:spPr>
          <a:xfrm>
            <a:off x="941760" y="3780500"/>
            <a:ext cx="4809240" cy="1636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marL="285750" indent="-285750" defTabSz="914400">
              <a:lnSpc>
                <a:spcPct val="100000"/>
              </a:lnSpc>
              <a:buFont typeface="Arial" panose="020B0604020202020204" pitchFamily="34" charset="0"/>
              <a:buChar char="•"/>
              <a:tabLst>
                <a:tab pos="0" algn="l"/>
              </a:tabLst>
            </a:pPr>
            <a:r>
              <a:rPr lang="es-ES" sz="1400" b="0" u="none" strike="noStrike" dirty="0">
                <a:solidFill>
                  <a:srgbClr val="6F6888"/>
                </a:solidFill>
                <a:effectLst/>
                <a:uFillTx/>
                <a:latin typeface="Aptos"/>
                <a:ea typeface="Aptos"/>
              </a:rPr>
              <a:t>Operación para avanzar relaciones y oportunidades</a:t>
            </a:r>
          </a:p>
          <a:p>
            <a:pPr marL="285750" indent="-285750" defTabSz="914400">
              <a:lnSpc>
                <a:spcPct val="100000"/>
              </a:lnSpc>
              <a:buFont typeface="Arial" panose="020B0604020202020204" pitchFamily="34" charset="0"/>
              <a:buChar char="•"/>
              <a:tabLst>
                <a:tab pos="0" algn="l"/>
              </a:tabLst>
            </a:pPr>
            <a:r>
              <a:rPr lang="es-ES" sz="1400" b="0" u="none" strike="noStrike" dirty="0">
                <a:solidFill>
                  <a:srgbClr val="6F6888"/>
                </a:solidFill>
                <a:effectLst/>
                <a:uFillTx/>
                <a:latin typeface="Aptos"/>
                <a:ea typeface="Aptos"/>
              </a:rPr>
              <a:t>Verdad operacional</a:t>
            </a:r>
          </a:p>
          <a:p>
            <a:pPr marL="285750" indent="-285750" defTabSz="914400">
              <a:lnSpc>
                <a:spcPct val="100000"/>
              </a:lnSpc>
              <a:buFont typeface="Arial" panose="020B0604020202020204" pitchFamily="34" charset="0"/>
              <a:buChar char="•"/>
              <a:tabLst>
                <a:tab pos="0" algn="l"/>
              </a:tabLst>
            </a:pPr>
            <a:r>
              <a:rPr lang="es-ES" sz="1400" b="0" u="none" strike="noStrike" dirty="0">
                <a:solidFill>
                  <a:srgbClr val="6F6888"/>
                </a:solidFill>
                <a:effectLst/>
                <a:uFillTx/>
                <a:latin typeface="Aptos"/>
                <a:ea typeface="Aptos"/>
              </a:rPr>
              <a:t>Continuidad operacional entre dominios</a:t>
            </a:r>
          </a:p>
          <a:p>
            <a:pPr marL="285750" indent="-285750" defTabSz="914400">
              <a:lnSpc>
                <a:spcPct val="100000"/>
              </a:lnSpc>
              <a:buFont typeface="Arial" panose="020B0604020202020204" pitchFamily="34" charset="0"/>
              <a:buChar char="•"/>
              <a:tabLst>
                <a:tab pos="0" algn="l"/>
              </a:tabLst>
            </a:pPr>
            <a:r>
              <a:rPr lang="es-ES" sz="1400" b="0" u="none" strike="noStrike" dirty="0">
                <a:solidFill>
                  <a:srgbClr val="6F6888"/>
                </a:solidFill>
                <a:effectLst/>
                <a:uFillTx/>
                <a:latin typeface="Aptos"/>
                <a:ea typeface="Aptos"/>
              </a:rPr>
              <a:t>Gobernanza y límites de autonomía</a:t>
            </a:r>
          </a:p>
          <a:p>
            <a:pPr marL="285750" indent="-285750" defTabSz="914400">
              <a:lnSpc>
                <a:spcPct val="100000"/>
              </a:lnSpc>
              <a:buFont typeface="Arial" panose="020B0604020202020204" pitchFamily="34" charset="0"/>
              <a:buChar char="•"/>
              <a:tabLst>
                <a:tab pos="0" algn="l"/>
              </a:tabLst>
            </a:pPr>
            <a:r>
              <a:rPr lang="es-ES" sz="1400" b="0" u="none" strike="noStrike" dirty="0">
                <a:solidFill>
                  <a:srgbClr val="6F6888"/>
                </a:solidFill>
                <a:effectLst/>
                <a:uFillTx/>
                <a:latin typeface="Aptos"/>
                <a:ea typeface="Aptos"/>
              </a:rPr>
              <a:t>Retroalimentación de resultados</a:t>
            </a:r>
          </a:p>
          <a:p>
            <a:pPr marL="285750" indent="-285750" defTabSz="914400">
              <a:lnSpc>
                <a:spcPct val="100000"/>
              </a:lnSpc>
              <a:buFont typeface="Arial" panose="020B0604020202020204" pitchFamily="34" charset="0"/>
              <a:buChar char="•"/>
              <a:tabLst>
                <a:tab pos="0" algn="l"/>
              </a:tabLst>
            </a:pPr>
            <a:r>
              <a:rPr lang="es-ES" sz="1400" b="0" u="none" strike="noStrike" dirty="0">
                <a:solidFill>
                  <a:srgbClr val="6F6888"/>
                </a:solidFill>
                <a:effectLst/>
                <a:uFillTx/>
                <a:latin typeface="Aptos"/>
                <a:ea typeface="Aptos"/>
              </a:rPr>
              <a:t>Inteligencia organizacional acumulativa</a:t>
            </a:r>
          </a:p>
          <a:p>
            <a:pPr marL="285750" indent="-285750" defTabSz="914400">
              <a:lnSpc>
                <a:spcPct val="100000"/>
              </a:lnSpc>
              <a:buFont typeface="Arial" panose="020B0604020202020204" pitchFamily="34" charset="0"/>
              <a:buChar char="•"/>
              <a:tabLst>
                <a:tab pos="0" algn="l"/>
              </a:tabLst>
            </a:pPr>
            <a:r>
              <a:rPr lang="es-ES" sz="1400" b="0" u="none" strike="noStrike" dirty="0">
                <a:solidFill>
                  <a:srgbClr val="6F6888"/>
                </a:solidFill>
                <a:effectLst/>
                <a:uFillTx/>
                <a:latin typeface="Aptos"/>
                <a:ea typeface="Aptos"/>
              </a:rPr>
              <a:t>Puntos de control críticos de red y ecosistema</a:t>
            </a:r>
            <a:endParaRPr lang="en-US" sz="1400" b="0" u="none" strike="noStrike" dirty="0">
              <a:solidFill>
                <a:srgbClr val="000000"/>
              </a:solidFill>
              <a:effectLst/>
              <a:uFillTx/>
              <a:latin typeface="Arial"/>
            </a:endParaRPr>
          </a:p>
        </p:txBody>
      </p:sp>
      <p:sp>
        <p:nvSpPr>
          <p:cNvPr id="479" name="Shape 12"/>
          <p:cNvSpPr/>
          <p:nvPr/>
        </p:nvSpPr>
        <p:spPr>
          <a:xfrm>
            <a:off x="6153480" y="2793020"/>
            <a:ext cx="5367600" cy="2788560"/>
          </a:xfrm>
          <a:prstGeom prst="roundRect">
            <a:avLst>
              <a:gd name="adj" fmla="val 3279"/>
            </a:avLst>
          </a:prstGeom>
          <a:solidFill>
            <a:srgbClr val="FFFFFF"/>
          </a:solidFill>
          <a:ln w="12700">
            <a:solidFill>
              <a:srgbClr val="DED2F6"/>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80" name="Text 13"/>
          <p:cNvSpPr/>
          <p:nvPr/>
        </p:nvSpPr>
        <p:spPr>
          <a:xfrm>
            <a:off x="6446520" y="2939180"/>
            <a:ext cx="4937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00" b="1" u="none" strike="noStrike" dirty="0">
                <a:solidFill>
                  <a:srgbClr val="078C53"/>
                </a:solidFill>
                <a:effectLst/>
                <a:uFillTx/>
                <a:latin typeface="Aptos"/>
                <a:ea typeface="Aptos"/>
              </a:rPr>
              <a:t>ORQUESTAR</a:t>
            </a:r>
            <a:endParaRPr lang="en-US" sz="1200" b="0" u="none" strike="noStrike" dirty="0">
              <a:solidFill>
                <a:srgbClr val="000000"/>
              </a:solidFill>
              <a:effectLst/>
              <a:uFillTx/>
              <a:latin typeface="Arial"/>
            </a:endParaRPr>
          </a:p>
        </p:txBody>
      </p:sp>
      <p:sp>
        <p:nvSpPr>
          <p:cNvPr id="481" name="Text 14"/>
          <p:cNvSpPr/>
          <p:nvPr/>
        </p:nvSpPr>
        <p:spPr>
          <a:xfrm>
            <a:off x="6441027" y="3268580"/>
            <a:ext cx="49374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tabLst>
                <a:tab pos="0" algn="l"/>
              </a:tabLst>
            </a:pPr>
            <a:r>
              <a:rPr lang="en-US" b="1" u="none" strike="noStrike" dirty="0">
                <a:solidFill>
                  <a:srgbClr val="151327"/>
                </a:solidFill>
                <a:effectLst/>
                <a:uFillTx/>
                <a:latin typeface="Aptos Display"/>
                <a:ea typeface="Aptos Display"/>
              </a:rPr>
              <a:t>Ungga </a:t>
            </a:r>
            <a:r>
              <a:rPr lang="en-US" b="1" dirty="0" err="1">
                <a:solidFill>
                  <a:srgbClr val="151327"/>
                </a:solidFill>
                <a:latin typeface="Aptos Display"/>
                <a:ea typeface="Aptos Display"/>
              </a:rPr>
              <a:t>debería</a:t>
            </a:r>
            <a:r>
              <a:rPr lang="en-US" b="1" dirty="0">
                <a:solidFill>
                  <a:srgbClr val="151327"/>
                </a:solidFill>
                <a:latin typeface="Aptos Display"/>
                <a:ea typeface="Aptos Display"/>
              </a:rPr>
              <a:t> </a:t>
            </a:r>
            <a:r>
              <a:rPr lang="en-US" b="1" u="none" strike="noStrike" dirty="0" err="1">
                <a:solidFill>
                  <a:srgbClr val="151327"/>
                </a:solidFill>
                <a:effectLst/>
                <a:uFillTx/>
                <a:latin typeface="Aptos Display"/>
                <a:ea typeface="Aptos Display"/>
              </a:rPr>
              <a:t>orquestar</a:t>
            </a:r>
            <a:r>
              <a:rPr lang="en-US" b="1" u="none" strike="noStrike" dirty="0">
                <a:solidFill>
                  <a:srgbClr val="151327"/>
                </a:solidFill>
                <a:effectLst/>
                <a:uFillTx/>
                <a:latin typeface="Aptos Display"/>
                <a:ea typeface="Aptos Display"/>
              </a:rPr>
              <a:t>:</a:t>
            </a:r>
            <a:endParaRPr lang="en-US" b="0" u="none" strike="noStrike" dirty="0">
              <a:solidFill>
                <a:srgbClr val="000000"/>
              </a:solidFill>
              <a:effectLst/>
              <a:uFillTx/>
              <a:latin typeface="Arial"/>
            </a:endParaRPr>
          </a:p>
        </p:txBody>
      </p:sp>
      <p:sp>
        <p:nvSpPr>
          <p:cNvPr id="482" name="Text 15"/>
          <p:cNvSpPr/>
          <p:nvPr/>
        </p:nvSpPr>
        <p:spPr>
          <a:xfrm>
            <a:off x="6565320" y="3780500"/>
            <a:ext cx="4261565" cy="1636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marL="285750" indent="-285750">
              <a:buFont typeface="Arial" panose="020B0604020202020204" pitchFamily="34" charset="0"/>
              <a:buChar char="•"/>
              <a:tabLst>
                <a:tab pos="0" algn="l"/>
              </a:tabLst>
            </a:pPr>
            <a:r>
              <a:rPr lang="en-US" sz="1400" dirty="0" err="1">
                <a:solidFill>
                  <a:srgbClr val="6F6888"/>
                </a:solidFill>
                <a:ea typeface="Aptos"/>
              </a:rPr>
              <a:t>Modelos</a:t>
            </a:r>
            <a:r>
              <a:rPr lang="en-US" sz="1400" dirty="0">
                <a:solidFill>
                  <a:srgbClr val="6F6888"/>
                </a:solidFill>
                <a:ea typeface="Aptos"/>
              </a:rPr>
              <a:t> </a:t>
            </a:r>
            <a:r>
              <a:rPr lang="en-US" sz="1400" dirty="0" err="1">
                <a:solidFill>
                  <a:srgbClr val="6F6888"/>
                </a:solidFill>
                <a:ea typeface="Aptos"/>
              </a:rPr>
              <a:t>fundacionales</a:t>
            </a:r>
            <a:endParaRPr lang="en-US" sz="1400" dirty="0">
              <a:solidFill>
                <a:srgbClr val="6F6888"/>
              </a:solidFill>
              <a:ea typeface="Aptos"/>
            </a:endParaRPr>
          </a:p>
          <a:p>
            <a:pPr marL="285750" indent="-285750">
              <a:buFont typeface="Arial" panose="020B0604020202020204" pitchFamily="34" charset="0"/>
              <a:buChar char="•"/>
              <a:tabLst>
                <a:tab pos="0" algn="l"/>
              </a:tabLst>
            </a:pPr>
            <a:r>
              <a:rPr lang="en-US" sz="1400" dirty="0" err="1">
                <a:solidFill>
                  <a:srgbClr val="6F6888"/>
                </a:solidFill>
                <a:ea typeface="Aptos"/>
              </a:rPr>
              <a:t>Infraestructura</a:t>
            </a:r>
            <a:r>
              <a:rPr lang="en-US" sz="1400" dirty="0">
                <a:solidFill>
                  <a:srgbClr val="6F6888"/>
                </a:solidFill>
                <a:ea typeface="Aptos"/>
              </a:rPr>
              <a:t> de </a:t>
            </a:r>
            <a:r>
              <a:rPr lang="en-US" sz="1400" dirty="0" err="1">
                <a:solidFill>
                  <a:srgbClr val="6F6888"/>
                </a:solidFill>
                <a:ea typeface="Aptos"/>
              </a:rPr>
              <a:t>mensajería</a:t>
            </a:r>
            <a:endParaRPr lang="en-US" sz="1400" dirty="0">
              <a:solidFill>
                <a:srgbClr val="6F6888"/>
              </a:solidFill>
              <a:ea typeface="Aptos"/>
            </a:endParaRPr>
          </a:p>
          <a:p>
            <a:pPr marL="285750" indent="-285750">
              <a:buFont typeface="Arial" panose="020B0604020202020204" pitchFamily="34" charset="0"/>
              <a:buChar char="•"/>
              <a:tabLst>
                <a:tab pos="0" algn="l"/>
              </a:tabLst>
            </a:pPr>
            <a:r>
              <a:rPr lang="en-US" sz="1400" dirty="0">
                <a:solidFill>
                  <a:srgbClr val="6F6888"/>
                </a:solidFill>
                <a:ea typeface="Aptos"/>
              </a:rPr>
              <a:t>Motores y </a:t>
            </a:r>
            <a:r>
              <a:rPr lang="en-US" sz="1400" dirty="0" err="1">
                <a:solidFill>
                  <a:srgbClr val="6F6888"/>
                </a:solidFill>
                <a:ea typeface="Aptos"/>
              </a:rPr>
              <a:t>servicios</a:t>
            </a:r>
            <a:r>
              <a:rPr lang="en-US" sz="1400" dirty="0">
                <a:solidFill>
                  <a:srgbClr val="6F6888"/>
                </a:solidFill>
                <a:ea typeface="Aptos"/>
              </a:rPr>
              <a:t> </a:t>
            </a:r>
            <a:r>
              <a:rPr lang="en-US" sz="1400" dirty="0" err="1">
                <a:solidFill>
                  <a:srgbClr val="6F6888"/>
                </a:solidFill>
                <a:ea typeface="Aptos"/>
              </a:rPr>
              <a:t>especializados</a:t>
            </a:r>
            <a:endParaRPr lang="en-US" sz="1400" dirty="0">
              <a:solidFill>
                <a:srgbClr val="6F6888"/>
              </a:solidFill>
              <a:ea typeface="Aptos"/>
            </a:endParaRPr>
          </a:p>
          <a:p>
            <a:pPr marL="285750" indent="-285750">
              <a:buFont typeface="Arial" panose="020B0604020202020204" pitchFamily="34" charset="0"/>
              <a:buChar char="•"/>
              <a:tabLst>
                <a:tab pos="0" algn="l"/>
              </a:tabLst>
            </a:pPr>
            <a:r>
              <a:rPr lang="en-US" sz="1400" dirty="0" err="1">
                <a:solidFill>
                  <a:srgbClr val="6F6888"/>
                </a:solidFill>
                <a:ea typeface="Aptos"/>
              </a:rPr>
              <a:t>Infraestructura</a:t>
            </a:r>
            <a:r>
              <a:rPr lang="en-US" sz="1400" dirty="0">
                <a:solidFill>
                  <a:srgbClr val="6F6888"/>
                </a:solidFill>
                <a:ea typeface="Aptos"/>
              </a:rPr>
              <a:t> </a:t>
            </a:r>
            <a:r>
              <a:rPr lang="en-US" sz="1400" dirty="0" err="1">
                <a:solidFill>
                  <a:srgbClr val="6F6888"/>
                </a:solidFill>
                <a:ea typeface="Aptos"/>
              </a:rPr>
              <a:t>estandarizada</a:t>
            </a:r>
            <a:endParaRPr lang="en-US" sz="1400" dirty="0">
              <a:solidFill>
                <a:srgbClr val="6F6888"/>
              </a:solidFill>
              <a:ea typeface="Aptos"/>
            </a:endParaRPr>
          </a:p>
          <a:p>
            <a:pPr marL="285750" indent="-285750">
              <a:buFont typeface="Arial" panose="020B0604020202020204" pitchFamily="34" charset="0"/>
              <a:buChar char="•"/>
              <a:tabLst>
                <a:tab pos="0" algn="l"/>
              </a:tabLst>
            </a:pPr>
            <a:r>
              <a:rPr lang="en-US" sz="1400" dirty="0">
                <a:solidFill>
                  <a:srgbClr val="6F6888"/>
                </a:solidFill>
                <a:ea typeface="Aptos"/>
              </a:rPr>
              <a:t>Portales / </a:t>
            </a:r>
            <a:r>
              <a:rPr lang="en-US" sz="1400" dirty="0" err="1">
                <a:solidFill>
                  <a:srgbClr val="6F6888"/>
                </a:solidFill>
                <a:ea typeface="Aptos"/>
              </a:rPr>
              <a:t>plataformas</a:t>
            </a:r>
            <a:r>
              <a:rPr lang="en-US" sz="1400" dirty="0">
                <a:solidFill>
                  <a:srgbClr val="6F6888"/>
                </a:solidFill>
                <a:ea typeface="Aptos"/>
              </a:rPr>
              <a:t> de </a:t>
            </a:r>
            <a:r>
              <a:rPr lang="en-US" sz="1400" dirty="0" err="1">
                <a:solidFill>
                  <a:srgbClr val="6F6888"/>
                </a:solidFill>
                <a:ea typeface="Aptos"/>
              </a:rPr>
              <a:t>medios</a:t>
            </a:r>
            <a:endParaRPr lang="en-US" sz="1400" dirty="0">
              <a:solidFill>
                <a:srgbClr val="6F6888"/>
              </a:solidFill>
              <a:ea typeface="Aptos"/>
            </a:endParaRPr>
          </a:p>
          <a:p>
            <a:pPr marL="285750" indent="-285750">
              <a:buFont typeface="Arial" panose="020B0604020202020204" pitchFamily="34" charset="0"/>
              <a:buChar char="•"/>
              <a:tabLst>
                <a:tab pos="0" algn="l"/>
              </a:tabLst>
            </a:pPr>
            <a:r>
              <a:rPr lang="en-US" sz="1400" dirty="0">
                <a:solidFill>
                  <a:srgbClr val="6F6888"/>
                </a:solidFill>
                <a:ea typeface="Aptos"/>
              </a:rPr>
              <a:t>Sistemas </a:t>
            </a:r>
            <a:r>
              <a:rPr lang="en-US" sz="1400" dirty="0" err="1">
                <a:solidFill>
                  <a:srgbClr val="6F6888"/>
                </a:solidFill>
                <a:ea typeface="Aptos"/>
              </a:rPr>
              <a:t>externos</a:t>
            </a:r>
            <a:r>
              <a:rPr lang="en-US" sz="1400" dirty="0">
                <a:solidFill>
                  <a:srgbClr val="6F6888"/>
                </a:solidFill>
                <a:ea typeface="Aptos"/>
              </a:rPr>
              <a:t> de </a:t>
            </a:r>
            <a:r>
              <a:rPr lang="en-US" sz="1400" dirty="0" err="1">
                <a:solidFill>
                  <a:srgbClr val="6F6888"/>
                </a:solidFill>
                <a:ea typeface="Aptos"/>
              </a:rPr>
              <a:t>registro</a:t>
            </a:r>
            <a:r>
              <a:rPr lang="en-US" sz="1400" dirty="0">
                <a:solidFill>
                  <a:srgbClr val="6F6888"/>
                </a:solidFill>
                <a:ea typeface="Aptos"/>
              </a:rPr>
              <a:t> (</a:t>
            </a:r>
            <a:r>
              <a:rPr lang="en-US" sz="1400" dirty="0" err="1">
                <a:solidFill>
                  <a:srgbClr val="6F6888"/>
                </a:solidFill>
                <a:ea typeface="Aptos"/>
              </a:rPr>
              <a:t>cuando</a:t>
            </a:r>
            <a:r>
              <a:rPr lang="en-US" sz="1400" dirty="0">
                <a:solidFill>
                  <a:srgbClr val="6F6888"/>
                </a:solidFill>
                <a:ea typeface="Aptos"/>
              </a:rPr>
              <a:t> </a:t>
            </a:r>
            <a:r>
              <a:rPr lang="en-US" sz="1400" dirty="0" err="1">
                <a:solidFill>
                  <a:srgbClr val="6F6888"/>
                </a:solidFill>
                <a:ea typeface="Aptos"/>
              </a:rPr>
              <a:t>resulten</a:t>
            </a:r>
            <a:r>
              <a:rPr lang="en-US" sz="1400" dirty="0">
                <a:solidFill>
                  <a:srgbClr val="6F6888"/>
                </a:solidFill>
                <a:ea typeface="Aptos"/>
              </a:rPr>
              <a:t> </a:t>
            </a:r>
            <a:r>
              <a:rPr lang="en-US" sz="1400" dirty="0" err="1">
                <a:solidFill>
                  <a:srgbClr val="6F6888"/>
                </a:solidFill>
                <a:ea typeface="Aptos"/>
              </a:rPr>
              <a:t>útiles</a:t>
            </a:r>
            <a:r>
              <a:rPr lang="en-US" sz="1400" dirty="0">
                <a:solidFill>
                  <a:srgbClr val="6F6888"/>
                </a:solidFill>
                <a:ea typeface="Aptos"/>
              </a:rPr>
              <a:t>, </a:t>
            </a:r>
            <a:r>
              <a:rPr lang="en-US" sz="1400" dirty="0" err="1">
                <a:solidFill>
                  <a:srgbClr val="6F6888"/>
                </a:solidFill>
                <a:ea typeface="Aptos"/>
              </a:rPr>
              <a:t>ej</a:t>
            </a:r>
            <a:r>
              <a:rPr lang="en-US" sz="1400" dirty="0">
                <a:solidFill>
                  <a:srgbClr val="6F6888"/>
                </a:solidFill>
                <a:ea typeface="Aptos"/>
              </a:rPr>
              <a:t>. CRMs </a:t>
            </a:r>
            <a:r>
              <a:rPr lang="en-US" sz="1400" dirty="0" err="1">
                <a:solidFill>
                  <a:srgbClr val="6F6888"/>
                </a:solidFill>
                <a:ea typeface="Aptos"/>
              </a:rPr>
              <a:t>inmobiliarios</a:t>
            </a:r>
            <a:r>
              <a:rPr lang="en-US" sz="1400" dirty="0">
                <a:solidFill>
                  <a:srgbClr val="6F6888"/>
                </a:solidFill>
                <a:ea typeface="Aptos"/>
              </a:rPr>
              <a:t>)</a:t>
            </a:r>
            <a:endParaRPr lang="en-US" sz="1400" b="0" u="none" strike="noStrike" dirty="0">
              <a:solidFill>
                <a:srgbClr val="000000"/>
              </a:solidFill>
              <a:effectLst/>
              <a:uFillTx/>
            </a:endParaRPr>
          </a:p>
        </p:txBody>
      </p:sp>
      <p:pic>
        <p:nvPicPr>
          <p:cNvPr id="3" name="Image 0" descr="/mnt/data/ungga_logo_purple.png">
            <a:extLst>
              <a:ext uri="{FF2B5EF4-FFF2-40B4-BE49-F238E27FC236}">
                <a16:creationId xmlns:a16="http://schemas.microsoft.com/office/drawing/2014/main" id="{448B38ED-3346-3292-CAEE-B434C6984439}"/>
              </a:ext>
            </a:extLst>
          </p:cNvPr>
          <p:cNvPicPr>
            <a:picLocks noChangeAspect="1"/>
          </p:cNvPicPr>
          <p:nvPr/>
        </p:nvPicPr>
        <p:blipFill>
          <a:blip r:embed="rId3"/>
          <a:stretch>
            <a:fillRect/>
          </a:stretch>
        </p:blipFill>
        <p:spPr>
          <a:xfrm>
            <a:off x="11109960" y="449715"/>
            <a:ext cx="566928" cy="47217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485" name="Shape 0"/>
          <p:cNvSpPr/>
          <p:nvPr/>
        </p:nvSpPr>
        <p:spPr>
          <a:xfrm>
            <a:off x="0" y="0"/>
            <a:ext cx="12191400" cy="63720"/>
          </a:xfrm>
          <a:prstGeom prst="rect">
            <a:avLst/>
          </a:prstGeom>
          <a:solidFill>
            <a:srgbClr val="5F2CCB"/>
          </a:solidFill>
          <a:ln w="12700">
            <a:solidFill>
              <a:srgbClr val="5F2CCB">
                <a:alpha val="0"/>
              </a:srgbClr>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FFFFFF"/>
              </a:solidFill>
              <a:effectLst/>
              <a:uFillTx/>
              <a:latin typeface="Arial"/>
            </a:endParaRPr>
          </a:p>
        </p:txBody>
      </p:sp>
      <p:sp>
        <p:nvSpPr>
          <p:cNvPr id="486" name="Text 1"/>
          <p:cNvSpPr/>
          <p:nvPr/>
        </p:nvSpPr>
        <p:spPr>
          <a:xfrm>
            <a:off x="567000" y="438840"/>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dirty="0">
                <a:solidFill>
                  <a:srgbClr val="5F2CCB"/>
                </a:solidFill>
                <a:effectLst/>
                <a:uFillTx/>
                <a:latin typeface="Aptos"/>
                <a:ea typeface="Aptos"/>
              </a:rPr>
              <a:t>ESTRATEGIA CRM</a:t>
            </a:r>
            <a:endParaRPr lang="en-US" sz="1200" b="0" u="none" strike="noStrike" dirty="0">
              <a:solidFill>
                <a:srgbClr val="000000"/>
              </a:solidFill>
              <a:effectLst/>
              <a:uFillTx/>
              <a:latin typeface="Arial"/>
            </a:endParaRPr>
          </a:p>
        </p:txBody>
      </p:sp>
      <p:sp>
        <p:nvSpPr>
          <p:cNvPr id="487" name="Text 2"/>
          <p:cNvSpPr/>
          <p:nvPr/>
        </p:nvSpPr>
        <p:spPr>
          <a:xfrm>
            <a:off x="567000" y="804600"/>
            <a:ext cx="10195200" cy="731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n-US" sz="2600" b="1" u="none" strike="noStrike" dirty="0">
                <a:solidFill>
                  <a:srgbClr val="151327"/>
                </a:solidFill>
                <a:effectLst/>
                <a:uFillTx/>
                <a:latin typeface="Aptos Display"/>
                <a:ea typeface="Aptos Display"/>
              </a:rPr>
              <a:t>La </a:t>
            </a:r>
            <a:r>
              <a:rPr lang="en-US" sz="2600" b="1" u="none" strike="noStrike" dirty="0" err="1">
                <a:solidFill>
                  <a:srgbClr val="151327"/>
                </a:solidFill>
                <a:effectLst/>
                <a:uFillTx/>
                <a:latin typeface="Aptos Display"/>
                <a:ea typeface="Aptos Display"/>
              </a:rPr>
              <a:t>pregunta</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correcta</a:t>
            </a:r>
            <a:r>
              <a:rPr lang="en-US" sz="2600" b="1" u="none" strike="noStrike" dirty="0">
                <a:solidFill>
                  <a:srgbClr val="151327"/>
                </a:solidFill>
                <a:effectLst/>
                <a:uFillTx/>
                <a:latin typeface="Aptos Display"/>
                <a:ea typeface="Aptos Display"/>
              </a:rPr>
              <a:t> no es “</a:t>
            </a:r>
            <a:r>
              <a:rPr lang="en-US" sz="2600" b="1" u="none" strike="noStrike" dirty="0" err="1">
                <a:solidFill>
                  <a:srgbClr val="151327"/>
                </a:solidFill>
                <a:effectLst/>
                <a:uFillTx/>
                <a:latin typeface="Aptos Display"/>
                <a:ea typeface="Aptos Display"/>
              </a:rPr>
              <a:t>reemplazar</a:t>
            </a:r>
            <a:r>
              <a:rPr lang="en-US" sz="2600" b="1" u="none" strike="noStrike" dirty="0">
                <a:solidFill>
                  <a:srgbClr val="151327"/>
                </a:solidFill>
                <a:effectLst/>
                <a:uFillTx/>
                <a:latin typeface="Aptos Display"/>
                <a:ea typeface="Aptos Display"/>
              </a:rPr>
              <a:t> o </a:t>
            </a:r>
            <a:r>
              <a:rPr lang="en-US" sz="2600" b="1" u="none" strike="noStrike" dirty="0" err="1">
                <a:solidFill>
                  <a:srgbClr val="151327"/>
                </a:solidFill>
                <a:effectLst/>
                <a:uFillTx/>
                <a:latin typeface="Aptos Display"/>
                <a:ea typeface="Aptos Display"/>
              </a:rPr>
              <a:t>integrar</a:t>
            </a:r>
            <a:r>
              <a:rPr lang="en-US" sz="2600" b="1" u="none" strike="noStrike" dirty="0">
                <a:solidFill>
                  <a:srgbClr val="151327"/>
                </a:solidFill>
                <a:effectLst/>
                <a:uFillTx/>
                <a:latin typeface="Aptos Display"/>
                <a:ea typeface="Aptos Display"/>
              </a:rPr>
              <a:t>”. Es </a:t>
            </a:r>
            <a:r>
              <a:rPr lang="en-US" sz="2600" b="1" u="none" strike="noStrike" dirty="0" err="1">
                <a:solidFill>
                  <a:srgbClr val="151327"/>
                </a:solidFill>
                <a:effectLst/>
                <a:uFillTx/>
                <a:latin typeface="Aptos Display"/>
                <a:ea typeface="Aptos Display"/>
              </a:rPr>
              <a:t>descomponer</a:t>
            </a:r>
            <a:r>
              <a:rPr lang="en-US" sz="2600" b="1" u="none" strike="noStrike" dirty="0">
                <a:solidFill>
                  <a:srgbClr val="151327"/>
                </a:solidFill>
                <a:effectLst/>
                <a:uFillTx/>
                <a:latin typeface="Aptos Display"/>
                <a:ea typeface="Aptos Display"/>
              </a:rPr>
              <a:t> el </a:t>
            </a:r>
            <a:r>
              <a:rPr lang="en-US" sz="2600" b="1" u="none" strike="noStrike" dirty="0" err="1">
                <a:solidFill>
                  <a:srgbClr val="151327"/>
                </a:solidFill>
                <a:effectLst/>
                <a:uFillTx/>
                <a:latin typeface="Aptos Display"/>
                <a:ea typeface="Aptos Display"/>
              </a:rPr>
              <a:t>problema</a:t>
            </a:r>
            <a:r>
              <a:rPr lang="en-US" sz="2600" b="1" u="none" strike="noStrike" dirty="0">
                <a:solidFill>
                  <a:srgbClr val="151327"/>
                </a:solidFill>
                <a:effectLst/>
                <a:uFillTx/>
                <a:latin typeface="Aptos Display"/>
                <a:ea typeface="Aptos Display"/>
              </a:rPr>
              <a:t>.</a:t>
            </a:r>
            <a:endParaRPr lang="en-US" sz="2600" b="0" u="none" strike="noStrike" dirty="0">
              <a:solidFill>
                <a:srgbClr val="000000"/>
              </a:solidFill>
              <a:effectLst/>
              <a:uFillTx/>
              <a:latin typeface="Arial"/>
            </a:endParaRPr>
          </a:p>
        </p:txBody>
      </p:sp>
      <p:sp>
        <p:nvSpPr>
          <p:cNvPr id="488" name="Text 3"/>
          <p:cNvSpPr/>
          <p:nvPr/>
        </p:nvSpPr>
        <p:spPr>
          <a:xfrm>
            <a:off x="567000" y="1591200"/>
            <a:ext cx="10288842" cy="731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tabLst>
                <a:tab pos="0" algn="l"/>
              </a:tabLst>
            </a:pPr>
            <a:r>
              <a:rPr lang="en-US" b="0" u="none" strike="noStrike" dirty="0">
                <a:solidFill>
                  <a:srgbClr val="6F6888"/>
                </a:solidFill>
                <a:effectLst/>
                <a:uFillTx/>
                <a:latin typeface="Aptos"/>
                <a:ea typeface="Aptos"/>
              </a:rPr>
              <a:t>En México/</a:t>
            </a:r>
            <a:r>
              <a:rPr lang="en-US" b="0" u="none" strike="noStrike" dirty="0" err="1">
                <a:solidFill>
                  <a:srgbClr val="6F6888"/>
                </a:solidFill>
                <a:effectLst/>
                <a:uFillTx/>
                <a:latin typeface="Aptos"/>
                <a:ea typeface="Aptos"/>
              </a:rPr>
              <a:t>LatAm</a:t>
            </a:r>
            <a:r>
              <a:rPr lang="en-US" b="0" u="none" strike="noStrike" dirty="0">
                <a:solidFill>
                  <a:srgbClr val="6F6888"/>
                </a:solidFill>
                <a:effectLst/>
                <a:uFillTx/>
                <a:latin typeface="Aptos"/>
                <a:ea typeface="Aptos"/>
              </a:rPr>
              <a:t>, el CRM </a:t>
            </a:r>
            <a:r>
              <a:rPr lang="en-US" b="0" u="none" strike="noStrike" dirty="0" err="1">
                <a:solidFill>
                  <a:srgbClr val="6F6888"/>
                </a:solidFill>
                <a:effectLst/>
                <a:uFillTx/>
                <a:latin typeface="Aptos"/>
                <a:ea typeface="Aptos"/>
              </a:rPr>
              <a:t>inmobiliario</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agrupa</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inventario</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publicación</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bolsa</a:t>
            </a:r>
            <a:r>
              <a:rPr lang="en-US" b="0" u="none" strike="noStrike" dirty="0">
                <a:solidFill>
                  <a:srgbClr val="6F6888"/>
                </a:solidFill>
                <a:effectLst/>
                <a:uFillTx/>
                <a:latin typeface="Aptos"/>
                <a:ea typeface="Aptos"/>
              </a:rPr>
              <a:t> y </a:t>
            </a:r>
            <a:r>
              <a:rPr lang="en-US" dirty="0" err="1">
                <a:solidFill>
                  <a:srgbClr val="6F6888"/>
                </a:solidFill>
                <a:ea typeface="Aptos"/>
              </a:rPr>
              <a:t>gestión</a:t>
            </a:r>
            <a:r>
              <a:rPr lang="en-US" dirty="0">
                <a:solidFill>
                  <a:srgbClr val="6F6888"/>
                </a:solidFill>
                <a:ea typeface="Aptos"/>
              </a:rPr>
              <a:t> de </a:t>
            </a:r>
            <a:r>
              <a:rPr lang="en-US" b="0" u="none" strike="noStrike" dirty="0" err="1">
                <a:solidFill>
                  <a:srgbClr val="6F6888"/>
                </a:solidFill>
                <a:effectLst/>
                <a:uFillTx/>
                <a:latin typeface="Aptos"/>
                <a:ea typeface="Aptos"/>
              </a:rPr>
              <a:t>relación</a:t>
            </a:r>
            <a:r>
              <a:rPr lang="en-US" b="0" u="none" strike="noStrike" dirty="0">
                <a:solidFill>
                  <a:srgbClr val="6F6888"/>
                </a:solidFill>
                <a:effectLst/>
                <a:uFillTx/>
                <a:latin typeface="Aptos"/>
                <a:ea typeface="Aptos"/>
              </a:rPr>
              <a:t>. Son </a:t>
            </a:r>
            <a:r>
              <a:rPr lang="en-US" b="0" u="none" strike="noStrike" dirty="0" err="1">
                <a:solidFill>
                  <a:srgbClr val="6F6888"/>
                </a:solidFill>
                <a:effectLst/>
                <a:uFillTx/>
                <a:latin typeface="Aptos"/>
                <a:ea typeface="Aptos"/>
              </a:rPr>
              <a:t>decisiones</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distintas</a:t>
            </a:r>
            <a:r>
              <a:rPr lang="en-US" b="0" u="none" strike="noStrike" dirty="0">
                <a:solidFill>
                  <a:srgbClr val="6F6888"/>
                </a:solidFill>
                <a:effectLst/>
                <a:uFillTx/>
                <a:latin typeface="Aptos"/>
                <a:ea typeface="Aptos"/>
              </a:rPr>
              <a:t>.</a:t>
            </a:r>
            <a:endParaRPr lang="en-US" b="0" u="none" strike="noStrike" dirty="0">
              <a:solidFill>
                <a:srgbClr val="000000"/>
              </a:solidFill>
              <a:effectLst/>
              <a:uFillTx/>
              <a:latin typeface="Arial"/>
            </a:endParaRPr>
          </a:p>
        </p:txBody>
      </p:sp>
      <p:sp>
        <p:nvSpPr>
          <p:cNvPr id="490" name="Text 5"/>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u="none" strike="noStrike">
                <a:solidFill>
                  <a:srgbClr val="7E7798"/>
                </a:solidFill>
                <a:effectLst/>
                <a:uFillTx/>
                <a:latin typeface="Aptos"/>
                <a:ea typeface="Aptos"/>
              </a:rPr>
              <a:t>CONFIDENTIAL</a:t>
            </a:r>
            <a:endParaRPr lang="en-US" sz="650" b="0" u="none" strike="noStrike">
              <a:solidFill>
                <a:srgbClr val="000000"/>
              </a:solidFill>
              <a:effectLst/>
              <a:uFillTx/>
              <a:latin typeface="Arial"/>
            </a:endParaRPr>
          </a:p>
        </p:txBody>
      </p:sp>
      <p:sp>
        <p:nvSpPr>
          <p:cNvPr id="491" name="Text 6"/>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650" b="0" u="none" strike="noStrike">
                <a:solidFill>
                  <a:srgbClr val="7E7798"/>
                </a:solidFill>
                <a:effectLst/>
                <a:uFillTx/>
                <a:latin typeface="Aptos"/>
                <a:ea typeface="Aptos"/>
              </a:rPr>
              <a:t>ungga.com</a:t>
            </a:r>
            <a:endParaRPr lang="en-US" sz="650" b="0" u="none" strike="noStrike">
              <a:solidFill>
                <a:srgbClr val="000000"/>
              </a:solidFill>
              <a:effectLst/>
              <a:uFillTx/>
              <a:latin typeface="Arial"/>
            </a:endParaRPr>
          </a:p>
        </p:txBody>
      </p:sp>
      <p:sp>
        <p:nvSpPr>
          <p:cNvPr id="492" name="Text 7"/>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00" b="0" u="none" strike="noStrike" dirty="0">
                <a:solidFill>
                  <a:srgbClr val="7E7798"/>
                </a:solidFill>
                <a:effectLst/>
                <a:uFillTx/>
                <a:latin typeface="Aptos"/>
                <a:ea typeface="Aptos"/>
              </a:rPr>
              <a:t>21</a:t>
            </a:r>
            <a:endParaRPr lang="en-US" sz="700" b="0" u="none" strike="noStrike" dirty="0">
              <a:solidFill>
                <a:srgbClr val="000000"/>
              </a:solidFill>
              <a:effectLst/>
              <a:uFillTx/>
              <a:latin typeface="Arial"/>
            </a:endParaRPr>
          </a:p>
        </p:txBody>
      </p:sp>
      <p:sp>
        <p:nvSpPr>
          <p:cNvPr id="493" name="Shape 8"/>
          <p:cNvSpPr/>
          <p:nvPr/>
        </p:nvSpPr>
        <p:spPr>
          <a:xfrm>
            <a:off x="594360" y="2539059"/>
            <a:ext cx="2057040" cy="2102760"/>
          </a:xfrm>
          <a:prstGeom prst="roundRect">
            <a:avLst>
              <a:gd name="adj" fmla="val 4444"/>
            </a:avLst>
          </a:prstGeom>
          <a:solidFill>
            <a:srgbClr val="FFFFFF"/>
          </a:solidFill>
          <a:ln w="12700">
            <a:solidFill>
              <a:srgbClr val="078C53"/>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94" name="Text 9"/>
          <p:cNvSpPr/>
          <p:nvPr/>
        </p:nvSpPr>
        <p:spPr>
          <a:xfrm>
            <a:off x="795600" y="2742619"/>
            <a:ext cx="1654560" cy="43238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dirty="0" err="1">
                <a:solidFill>
                  <a:srgbClr val="151327"/>
                </a:solidFill>
                <a:effectLst/>
                <a:uFillTx/>
                <a:latin typeface="Aptos Display"/>
                <a:ea typeface="Aptos Display"/>
              </a:rPr>
              <a:t>Relación</a:t>
            </a:r>
            <a:r>
              <a:rPr lang="en-US" sz="1600" b="1" u="none" strike="noStrike" dirty="0">
                <a:solidFill>
                  <a:srgbClr val="151327"/>
                </a:solidFill>
                <a:effectLst/>
                <a:uFillTx/>
                <a:latin typeface="Aptos Display"/>
                <a:ea typeface="Aptos Display"/>
              </a:rPr>
              <a:t> / Avance de </a:t>
            </a:r>
            <a:r>
              <a:rPr lang="en-US" sz="1600" b="1" u="none" strike="noStrike" dirty="0" err="1">
                <a:solidFill>
                  <a:srgbClr val="151327"/>
                </a:solidFill>
                <a:effectLst/>
                <a:uFillTx/>
                <a:latin typeface="Aptos Display"/>
                <a:ea typeface="Aptos Display"/>
              </a:rPr>
              <a:t>oportunidades</a:t>
            </a:r>
            <a:endParaRPr lang="en-US" sz="1600" b="0" i="1" u="none" strike="noStrike" dirty="0">
              <a:solidFill>
                <a:srgbClr val="000000"/>
              </a:solidFill>
              <a:effectLst/>
              <a:uFillTx/>
              <a:latin typeface="Arial"/>
            </a:endParaRPr>
          </a:p>
        </p:txBody>
      </p:sp>
      <p:sp>
        <p:nvSpPr>
          <p:cNvPr id="495" name="Text 10"/>
          <p:cNvSpPr/>
          <p:nvPr/>
        </p:nvSpPr>
        <p:spPr>
          <a:xfrm>
            <a:off x="850320" y="3407739"/>
            <a:ext cx="1545120" cy="1069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dirty="0">
                <a:solidFill>
                  <a:srgbClr val="6F6888"/>
                </a:solidFill>
                <a:effectLst/>
                <a:uFillTx/>
                <a:latin typeface="Aptos"/>
                <a:ea typeface="Aptos"/>
              </a:rPr>
              <a:t>POSEER</a:t>
            </a:r>
            <a:r>
              <a:rPr lang="en-US" sz="1400" b="0" u="none" strike="noStrike" dirty="0">
                <a:solidFill>
                  <a:srgbClr val="6F6888"/>
                </a:solidFill>
                <a:effectLst/>
                <a:uFillTx/>
                <a:latin typeface="Aptos"/>
                <a:ea typeface="Aptos"/>
              </a:rPr>
              <a:t> </a:t>
            </a:r>
          </a:p>
          <a:p>
            <a:pPr algn="ctr" defTabSz="914400">
              <a:lnSpc>
                <a:spcPct val="100000"/>
              </a:lnSpc>
              <a:tabLst>
                <a:tab pos="0" algn="l"/>
              </a:tabLst>
            </a:pPr>
            <a:r>
              <a:rPr lang="en-US" sz="1400" b="0" u="none" strike="noStrike" dirty="0" err="1">
                <a:solidFill>
                  <a:srgbClr val="6F6888"/>
                </a:solidFill>
                <a:effectLst/>
                <a:uFillTx/>
                <a:latin typeface="Aptos"/>
                <a:ea typeface="Aptos"/>
              </a:rPr>
              <a:t>vía</a:t>
            </a:r>
            <a:r>
              <a:rPr lang="en-US" sz="1400" b="0" u="none" strike="noStrike" dirty="0">
                <a:solidFill>
                  <a:srgbClr val="6F6888"/>
                </a:solidFill>
                <a:effectLst/>
                <a:uFillTx/>
                <a:latin typeface="Aptos"/>
                <a:ea typeface="Aptos"/>
              </a:rPr>
              <a:t> </a:t>
            </a:r>
            <a:r>
              <a:rPr lang="en-US" sz="1400" b="0" i="1" u="none" strike="noStrike" dirty="0">
                <a:solidFill>
                  <a:srgbClr val="6F6888"/>
                </a:solidFill>
                <a:effectLst/>
                <a:uFillTx/>
                <a:latin typeface="Aptos"/>
                <a:ea typeface="Aptos"/>
              </a:rPr>
              <a:t>Relationship Ops</a:t>
            </a:r>
            <a:endParaRPr lang="en-US" sz="1400" b="0" i="1" u="none" strike="noStrike" dirty="0">
              <a:solidFill>
                <a:srgbClr val="000000"/>
              </a:solidFill>
              <a:effectLst/>
              <a:uFillTx/>
              <a:latin typeface="Arial"/>
            </a:endParaRPr>
          </a:p>
        </p:txBody>
      </p:sp>
      <p:sp>
        <p:nvSpPr>
          <p:cNvPr id="496" name="Shape 11"/>
          <p:cNvSpPr/>
          <p:nvPr/>
        </p:nvSpPr>
        <p:spPr>
          <a:xfrm>
            <a:off x="2898720" y="2539059"/>
            <a:ext cx="2057040" cy="2102760"/>
          </a:xfrm>
          <a:prstGeom prst="roundRect">
            <a:avLst>
              <a:gd name="adj" fmla="val 4444"/>
            </a:avLst>
          </a:prstGeom>
          <a:solidFill>
            <a:srgbClr val="FFFFFF"/>
          </a:solidFill>
          <a:ln w="12700">
            <a:solidFill>
              <a:srgbClr val="5F2CCB"/>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97" name="Text 12"/>
          <p:cNvSpPr/>
          <p:nvPr/>
        </p:nvSpPr>
        <p:spPr>
          <a:xfrm>
            <a:off x="3099960" y="2745457"/>
            <a:ext cx="16545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dirty="0" err="1">
                <a:solidFill>
                  <a:srgbClr val="151327"/>
                </a:solidFill>
                <a:effectLst/>
                <a:uFillTx/>
                <a:latin typeface="Aptos Display"/>
                <a:ea typeface="Aptos Display"/>
              </a:rPr>
              <a:t>Inventario</a:t>
            </a:r>
            <a:r>
              <a:rPr lang="en-US" sz="1600" b="1" u="none" strike="noStrike" dirty="0">
                <a:solidFill>
                  <a:srgbClr val="151327"/>
                </a:solidFill>
                <a:effectLst/>
                <a:uFillTx/>
                <a:latin typeface="Aptos Display"/>
                <a:ea typeface="Aptos Display"/>
              </a:rPr>
              <a:t> de </a:t>
            </a:r>
            <a:r>
              <a:rPr lang="en-US" sz="1600" b="1" u="none" strike="noStrike" dirty="0" err="1">
                <a:solidFill>
                  <a:srgbClr val="151327"/>
                </a:solidFill>
                <a:effectLst/>
                <a:uFillTx/>
                <a:latin typeface="Aptos Display"/>
                <a:ea typeface="Aptos Display"/>
              </a:rPr>
              <a:t>propiedades</a:t>
            </a:r>
            <a:endParaRPr lang="en-US" sz="1600" b="0" u="none" strike="noStrike" dirty="0">
              <a:solidFill>
                <a:srgbClr val="000000"/>
              </a:solidFill>
              <a:effectLst/>
              <a:uFillTx/>
              <a:latin typeface="Arial"/>
            </a:endParaRPr>
          </a:p>
        </p:txBody>
      </p:sp>
      <p:sp>
        <p:nvSpPr>
          <p:cNvPr id="498" name="Text 13"/>
          <p:cNvSpPr/>
          <p:nvPr/>
        </p:nvSpPr>
        <p:spPr>
          <a:xfrm>
            <a:off x="3035080" y="3478859"/>
            <a:ext cx="1790920" cy="9009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dirty="0">
                <a:solidFill>
                  <a:srgbClr val="6F6888"/>
                </a:solidFill>
                <a:effectLst/>
                <a:uFillTx/>
                <a:latin typeface="Aptos"/>
                <a:ea typeface="Aptos"/>
              </a:rPr>
              <a:t>ORQUESTAR hoy</a:t>
            </a:r>
          </a:p>
          <a:p>
            <a:pPr algn="ctr" defTabSz="914400">
              <a:lnSpc>
                <a:spcPct val="100000"/>
              </a:lnSpc>
              <a:tabLst>
                <a:tab pos="0" algn="l"/>
              </a:tabLst>
            </a:pPr>
            <a:r>
              <a:rPr lang="en-US" sz="1400" b="0" u="none" strike="noStrike" dirty="0" err="1">
                <a:solidFill>
                  <a:srgbClr val="6F6888"/>
                </a:solidFill>
                <a:effectLst/>
                <a:uFillTx/>
                <a:latin typeface="Aptos"/>
                <a:ea typeface="Aptos"/>
              </a:rPr>
              <a:t>Integrar</a:t>
            </a:r>
            <a:r>
              <a:rPr lang="en-US" sz="1400" b="0" u="none" strike="noStrike" dirty="0">
                <a:solidFill>
                  <a:srgbClr val="6F6888"/>
                </a:solidFill>
                <a:effectLst/>
                <a:uFillTx/>
                <a:latin typeface="Aptos"/>
                <a:ea typeface="Aptos"/>
              </a:rPr>
              <a:t> + </a:t>
            </a:r>
            <a:r>
              <a:rPr lang="en-US" sz="1400" b="0" u="none" strike="noStrike" dirty="0" err="1">
                <a:solidFill>
                  <a:srgbClr val="6F6888"/>
                </a:solidFill>
                <a:effectLst/>
                <a:uFillTx/>
                <a:latin typeface="Aptos"/>
                <a:ea typeface="Aptos"/>
              </a:rPr>
              <a:t>sincronizar</a:t>
            </a:r>
            <a:r>
              <a:rPr lang="en-US" sz="1400" b="0" u="none" strike="noStrike" dirty="0">
                <a:solidFill>
                  <a:srgbClr val="6F6888"/>
                </a:solidFill>
                <a:effectLst/>
                <a:uFillTx/>
                <a:latin typeface="Aptos"/>
                <a:ea typeface="Aptos"/>
              </a:rPr>
              <a:t> + </a:t>
            </a:r>
            <a:r>
              <a:rPr lang="en-US" sz="1400" b="0" u="none" strike="noStrike" dirty="0" err="1">
                <a:solidFill>
                  <a:srgbClr val="6F6888"/>
                </a:solidFill>
                <a:effectLst/>
                <a:uFillTx/>
                <a:latin typeface="Aptos"/>
                <a:ea typeface="Aptos"/>
              </a:rPr>
              <a:t>normalizar</a:t>
            </a:r>
            <a:endParaRPr lang="en-US" sz="1400" b="0" u="none" strike="noStrike" dirty="0">
              <a:solidFill>
                <a:srgbClr val="000000"/>
              </a:solidFill>
              <a:effectLst/>
              <a:uFillTx/>
              <a:latin typeface="Arial"/>
            </a:endParaRPr>
          </a:p>
        </p:txBody>
      </p:sp>
      <p:sp>
        <p:nvSpPr>
          <p:cNvPr id="499" name="Shape 14"/>
          <p:cNvSpPr/>
          <p:nvPr/>
        </p:nvSpPr>
        <p:spPr>
          <a:xfrm>
            <a:off x="5203080" y="2539059"/>
            <a:ext cx="2057040" cy="2102760"/>
          </a:xfrm>
          <a:prstGeom prst="roundRect">
            <a:avLst>
              <a:gd name="adj" fmla="val 4444"/>
            </a:avLst>
          </a:prstGeom>
          <a:solidFill>
            <a:srgbClr val="FFFFFF"/>
          </a:solidFill>
          <a:ln w="12700">
            <a:solidFill>
              <a:srgbClr val="F39A2B"/>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00" name="Text 15"/>
          <p:cNvSpPr/>
          <p:nvPr/>
        </p:nvSpPr>
        <p:spPr>
          <a:xfrm>
            <a:off x="5403960" y="2662408"/>
            <a:ext cx="1654560" cy="84577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tabLst>
                <a:tab pos="0" algn="l"/>
              </a:tabLst>
            </a:pPr>
            <a:r>
              <a:rPr sz="1600" b="1" dirty="0" err="1"/>
              <a:t>Sindicación</a:t>
            </a:r>
            <a:r>
              <a:rPr sz="1600" b="1" dirty="0"/>
              <a:t> de </a:t>
            </a:r>
            <a:r>
              <a:rPr sz="1600" b="1" dirty="0" err="1"/>
              <a:t>portales</a:t>
            </a:r>
            <a:r>
              <a:rPr sz="1600" b="1" dirty="0"/>
              <a:t> (</a:t>
            </a:r>
            <a:r>
              <a:rPr sz="1600" b="1" dirty="0" err="1"/>
              <a:t>envío</a:t>
            </a:r>
            <a:r>
              <a:rPr sz="1600" b="1" dirty="0"/>
              <a:t> de info </a:t>
            </a:r>
            <a:r>
              <a:rPr sz="1600" b="1" dirty="0" err="1"/>
              <a:t>desde</a:t>
            </a:r>
            <a:r>
              <a:rPr sz="1600" b="1" dirty="0"/>
              <a:t> CRM)</a:t>
            </a:r>
            <a:endParaRPr lang="en-US" sz="1600" b="1" u="none" strike="noStrike" dirty="0">
              <a:solidFill>
                <a:srgbClr val="000000"/>
              </a:solidFill>
              <a:effectLst/>
              <a:uFillTx/>
              <a:latin typeface="Arial"/>
            </a:endParaRPr>
          </a:p>
        </p:txBody>
      </p:sp>
      <p:sp>
        <p:nvSpPr>
          <p:cNvPr id="501" name="Text 16"/>
          <p:cNvSpPr/>
          <p:nvPr/>
        </p:nvSpPr>
        <p:spPr>
          <a:xfrm>
            <a:off x="5332395" y="3561741"/>
            <a:ext cx="1809549" cy="769627"/>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dirty="0">
                <a:solidFill>
                  <a:srgbClr val="6F6888"/>
                </a:solidFill>
                <a:effectLst/>
                <a:uFillTx/>
                <a:latin typeface="Aptos"/>
                <a:ea typeface="Aptos"/>
              </a:rPr>
              <a:t>ORQUESTAR hoy</a:t>
            </a:r>
          </a:p>
          <a:p>
            <a:pPr algn="ctr" defTabSz="914400">
              <a:lnSpc>
                <a:spcPct val="100000"/>
              </a:lnSpc>
              <a:tabLst>
                <a:tab pos="0" algn="l"/>
              </a:tabLst>
            </a:pPr>
            <a:r>
              <a:rPr lang="en-US" sz="1400" b="0" u="none" strike="noStrike" dirty="0" err="1">
                <a:solidFill>
                  <a:srgbClr val="6F6888"/>
                </a:solidFill>
                <a:effectLst/>
                <a:uFillTx/>
                <a:latin typeface="Aptos"/>
                <a:ea typeface="Aptos"/>
              </a:rPr>
              <a:t>Integrar</a:t>
            </a:r>
            <a:r>
              <a:rPr lang="en-US" sz="1400" b="0" u="none" strike="noStrike" dirty="0">
                <a:solidFill>
                  <a:srgbClr val="6F6888"/>
                </a:solidFill>
                <a:effectLst/>
                <a:uFillTx/>
                <a:latin typeface="Aptos"/>
                <a:ea typeface="Aptos"/>
              </a:rPr>
              <a:t> con CRMs / Portales</a:t>
            </a:r>
            <a:endParaRPr lang="en-US" sz="1400" b="0" u="none" strike="noStrike" dirty="0">
              <a:solidFill>
                <a:srgbClr val="000000"/>
              </a:solidFill>
              <a:effectLst/>
              <a:uFillTx/>
              <a:latin typeface="Arial"/>
            </a:endParaRPr>
          </a:p>
        </p:txBody>
      </p:sp>
      <p:sp>
        <p:nvSpPr>
          <p:cNvPr id="502" name="Shape 17"/>
          <p:cNvSpPr/>
          <p:nvPr/>
        </p:nvSpPr>
        <p:spPr>
          <a:xfrm>
            <a:off x="7507080" y="2539059"/>
            <a:ext cx="2057040" cy="2102760"/>
          </a:xfrm>
          <a:prstGeom prst="roundRect">
            <a:avLst>
              <a:gd name="adj" fmla="val 4444"/>
            </a:avLst>
          </a:prstGeom>
          <a:solidFill>
            <a:srgbClr val="FFFFFF"/>
          </a:solidFill>
          <a:ln w="12700">
            <a:solidFill>
              <a:srgbClr val="546080"/>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03" name="Text 18"/>
          <p:cNvSpPr/>
          <p:nvPr/>
        </p:nvSpPr>
        <p:spPr>
          <a:xfrm>
            <a:off x="7673684" y="2623909"/>
            <a:ext cx="1775637" cy="649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600" b="1" u="none" strike="noStrike" dirty="0" err="1">
                <a:solidFill>
                  <a:srgbClr val="151327"/>
                </a:solidFill>
                <a:effectLst/>
                <a:uFillTx/>
                <a:latin typeface="Aptos Display"/>
                <a:ea typeface="Aptos Display"/>
              </a:rPr>
              <a:t>Bolsas</a:t>
            </a:r>
            <a:r>
              <a:rPr lang="en-US" sz="1600" b="1" u="none" strike="noStrike" dirty="0">
                <a:solidFill>
                  <a:srgbClr val="151327"/>
                </a:solidFill>
                <a:effectLst/>
                <a:uFillTx/>
                <a:latin typeface="Aptos Display"/>
                <a:ea typeface="Aptos Display"/>
              </a:rPr>
              <a:t> </a:t>
            </a:r>
            <a:r>
              <a:rPr lang="en-US" sz="1600" b="1" u="none" strike="noStrike" dirty="0" err="1">
                <a:solidFill>
                  <a:srgbClr val="151327"/>
                </a:solidFill>
                <a:effectLst/>
                <a:uFillTx/>
                <a:latin typeface="Aptos Display"/>
                <a:ea typeface="Aptos Display"/>
              </a:rPr>
              <a:t>compartidas</a:t>
            </a:r>
            <a:r>
              <a:rPr lang="en-US" sz="1600" b="1" u="none" strike="noStrike" dirty="0">
                <a:solidFill>
                  <a:srgbClr val="151327"/>
                </a:solidFill>
                <a:effectLst/>
                <a:uFillTx/>
                <a:latin typeface="Aptos Display"/>
                <a:ea typeface="Aptos Display"/>
              </a:rPr>
              <a:t> </a:t>
            </a:r>
            <a:r>
              <a:rPr lang="en-US" sz="1600" b="1" u="none" strike="noStrike" dirty="0" err="1">
                <a:solidFill>
                  <a:srgbClr val="151327"/>
                </a:solidFill>
                <a:effectLst/>
                <a:uFillTx/>
                <a:latin typeface="Aptos Display"/>
                <a:ea typeface="Aptos Display"/>
              </a:rPr>
              <a:t>externas</a:t>
            </a:r>
            <a:endParaRPr lang="en-US" sz="1600" b="0" u="none" strike="noStrike" dirty="0">
              <a:solidFill>
                <a:srgbClr val="000000"/>
              </a:solidFill>
              <a:effectLst/>
              <a:uFillTx/>
              <a:latin typeface="Arial"/>
            </a:endParaRPr>
          </a:p>
        </p:txBody>
      </p:sp>
      <p:sp>
        <p:nvSpPr>
          <p:cNvPr id="504" name="Text 19"/>
          <p:cNvSpPr/>
          <p:nvPr/>
        </p:nvSpPr>
        <p:spPr>
          <a:xfrm>
            <a:off x="7644809" y="3585011"/>
            <a:ext cx="1775637" cy="892288"/>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dirty="0">
                <a:solidFill>
                  <a:srgbClr val="6F6888"/>
                </a:solidFill>
                <a:effectLst/>
                <a:uFillTx/>
                <a:latin typeface="Aptos"/>
                <a:ea typeface="Aptos"/>
              </a:rPr>
              <a:t>ORQUESTAR hoy</a:t>
            </a:r>
          </a:p>
          <a:p>
            <a:pPr algn="ctr" defTabSz="914400">
              <a:lnSpc>
                <a:spcPct val="100000"/>
              </a:lnSpc>
              <a:tabLst>
                <a:tab pos="0" algn="l"/>
              </a:tabLst>
            </a:pPr>
            <a:r>
              <a:rPr lang="en-US" sz="1400" b="0" u="none" strike="noStrike" dirty="0" err="1">
                <a:solidFill>
                  <a:srgbClr val="6F6888"/>
                </a:solidFill>
                <a:effectLst/>
                <a:uFillTx/>
                <a:latin typeface="Aptos"/>
                <a:ea typeface="Aptos"/>
              </a:rPr>
              <a:t>Integrar</a:t>
            </a:r>
            <a:r>
              <a:rPr lang="en-US" sz="1400" b="0" u="none" strike="noStrike" dirty="0">
                <a:solidFill>
                  <a:srgbClr val="6F6888"/>
                </a:solidFill>
                <a:effectLst/>
                <a:uFillTx/>
                <a:latin typeface="Aptos"/>
                <a:ea typeface="Aptos"/>
              </a:rPr>
              <a:t> </a:t>
            </a:r>
          </a:p>
          <a:p>
            <a:pPr algn="ctr" defTabSz="914400">
              <a:lnSpc>
                <a:spcPct val="100000"/>
              </a:lnSpc>
              <a:tabLst>
                <a:tab pos="0" algn="l"/>
              </a:tabLst>
            </a:pPr>
            <a:r>
              <a:rPr lang="en-US" sz="1400" b="0" u="none" strike="noStrike" dirty="0" err="1">
                <a:solidFill>
                  <a:srgbClr val="6F6888"/>
                </a:solidFill>
                <a:effectLst/>
                <a:uFillTx/>
                <a:latin typeface="Aptos"/>
                <a:ea typeface="Aptos"/>
              </a:rPr>
              <a:t>mientras</a:t>
            </a:r>
            <a:r>
              <a:rPr lang="en-US" sz="1400" b="0" u="none" strike="noStrike" dirty="0">
                <a:solidFill>
                  <a:srgbClr val="6F6888"/>
                </a:solidFill>
                <a:effectLst/>
                <a:uFillTx/>
                <a:latin typeface="Aptos"/>
                <a:ea typeface="Aptos"/>
              </a:rPr>
              <a:t> </a:t>
            </a:r>
            <a:r>
              <a:rPr lang="en-US" sz="1400" b="0" u="none" strike="noStrike" dirty="0" err="1">
                <a:solidFill>
                  <a:srgbClr val="6F6888"/>
                </a:solidFill>
                <a:effectLst/>
                <a:uFillTx/>
                <a:latin typeface="Aptos"/>
                <a:ea typeface="Aptos"/>
              </a:rPr>
              <a:t>aporten</a:t>
            </a:r>
            <a:r>
              <a:rPr lang="en-US" sz="1400" b="0" u="none" strike="noStrike" dirty="0">
                <a:solidFill>
                  <a:srgbClr val="6F6888"/>
                </a:solidFill>
                <a:effectLst/>
                <a:uFillTx/>
                <a:latin typeface="Aptos"/>
                <a:ea typeface="Aptos"/>
              </a:rPr>
              <a:t> </a:t>
            </a:r>
            <a:r>
              <a:rPr lang="en-US" sz="1400" b="0" u="none" strike="noStrike" dirty="0" err="1">
                <a:solidFill>
                  <a:srgbClr val="6F6888"/>
                </a:solidFill>
                <a:effectLst/>
                <a:uFillTx/>
                <a:latin typeface="Aptos"/>
                <a:ea typeface="Aptos"/>
              </a:rPr>
              <a:t>densidad</a:t>
            </a:r>
            <a:r>
              <a:rPr lang="en-US" sz="1400" b="0" u="none" strike="noStrike" dirty="0">
                <a:solidFill>
                  <a:srgbClr val="6F6888"/>
                </a:solidFill>
                <a:effectLst/>
                <a:uFillTx/>
                <a:latin typeface="Aptos"/>
                <a:ea typeface="Aptos"/>
              </a:rPr>
              <a:t> y </a:t>
            </a:r>
            <a:r>
              <a:rPr lang="en-US" sz="1400" b="0" u="none" strike="noStrike" dirty="0" err="1">
                <a:solidFill>
                  <a:srgbClr val="6F6888"/>
                </a:solidFill>
                <a:effectLst/>
                <a:uFillTx/>
                <a:latin typeface="Aptos"/>
                <a:ea typeface="Aptos"/>
              </a:rPr>
              <a:t>cobertura</a:t>
            </a:r>
            <a:endParaRPr lang="en-US" sz="1400" b="0" u="none" strike="noStrike" dirty="0">
              <a:solidFill>
                <a:srgbClr val="000000"/>
              </a:solidFill>
              <a:effectLst/>
              <a:uFillTx/>
              <a:latin typeface="Arial"/>
            </a:endParaRPr>
          </a:p>
        </p:txBody>
      </p:sp>
      <p:sp>
        <p:nvSpPr>
          <p:cNvPr id="505" name="Shape 20"/>
          <p:cNvSpPr/>
          <p:nvPr/>
        </p:nvSpPr>
        <p:spPr>
          <a:xfrm>
            <a:off x="9811440" y="2539059"/>
            <a:ext cx="2057040" cy="2102760"/>
          </a:xfrm>
          <a:prstGeom prst="roundRect">
            <a:avLst>
              <a:gd name="adj" fmla="val 4444"/>
            </a:avLst>
          </a:prstGeom>
          <a:solidFill>
            <a:srgbClr val="FFFFFF"/>
          </a:solidFill>
          <a:ln w="12700">
            <a:solidFill>
              <a:srgbClr val="A84A7A"/>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06" name="Text 21"/>
          <p:cNvSpPr/>
          <p:nvPr/>
        </p:nvSpPr>
        <p:spPr>
          <a:xfrm>
            <a:off x="9957959" y="2623908"/>
            <a:ext cx="1813737" cy="89894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dirty="0" err="1">
                <a:solidFill>
                  <a:srgbClr val="151327"/>
                </a:solidFill>
                <a:effectLst/>
                <a:uFillTx/>
                <a:latin typeface="Aptos Display"/>
                <a:ea typeface="Aptos Display"/>
              </a:rPr>
              <a:t>Inventario</a:t>
            </a:r>
            <a:r>
              <a:rPr lang="en-US" sz="1600" b="1" u="none" strike="noStrike" dirty="0">
                <a:solidFill>
                  <a:srgbClr val="151327"/>
                </a:solidFill>
                <a:effectLst/>
                <a:uFillTx/>
                <a:latin typeface="Aptos Display"/>
                <a:ea typeface="Aptos Display"/>
              </a:rPr>
              <a:t> </a:t>
            </a:r>
            <a:r>
              <a:rPr lang="en-US" sz="1600" b="1" dirty="0" err="1">
                <a:solidFill>
                  <a:srgbClr val="151327"/>
                </a:solidFill>
                <a:latin typeface="Aptos Display"/>
                <a:ea typeface="Aptos Display"/>
              </a:rPr>
              <a:t>c</a:t>
            </a:r>
            <a:r>
              <a:rPr lang="en-US" sz="1600" b="1" u="none" strike="noStrike" dirty="0" err="1">
                <a:solidFill>
                  <a:srgbClr val="151327"/>
                </a:solidFill>
                <a:effectLst/>
                <a:uFillTx/>
                <a:latin typeface="Aptos Display"/>
                <a:ea typeface="Aptos Display"/>
              </a:rPr>
              <a:t>ompartido</a:t>
            </a:r>
            <a:r>
              <a:rPr lang="en-US" sz="1600" b="1" u="none" strike="noStrike" dirty="0">
                <a:solidFill>
                  <a:srgbClr val="151327"/>
                </a:solidFill>
                <a:effectLst/>
                <a:uFillTx/>
                <a:latin typeface="Aptos Display"/>
                <a:ea typeface="Aptos Display"/>
              </a:rPr>
              <a:t> de Ungga</a:t>
            </a:r>
            <a:endParaRPr lang="en-US" sz="1600" b="0" u="none" strike="noStrike" dirty="0">
              <a:solidFill>
                <a:srgbClr val="000000"/>
              </a:solidFill>
              <a:effectLst/>
              <a:uFillTx/>
              <a:latin typeface="Arial"/>
            </a:endParaRPr>
          </a:p>
        </p:txBody>
      </p:sp>
      <p:sp>
        <p:nvSpPr>
          <p:cNvPr id="507" name="Text 22"/>
          <p:cNvSpPr/>
          <p:nvPr/>
        </p:nvSpPr>
        <p:spPr>
          <a:xfrm>
            <a:off x="9957959" y="3549946"/>
            <a:ext cx="1813737" cy="1062997"/>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algn="ctr" defTabSz="914400">
              <a:lnSpc>
                <a:spcPct val="100000"/>
              </a:lnSpc>
              <a:tabLst>
                <a:tab pos="0" algn="l"/>
              </a:tabLst>
            </a:pPr>
            <a:r>
              <a:rPr lang="en-US" sz="1400" b="1" u="none" strike="noStrike" dirty="0">
                <a:solidFill>
                  <a:srgbClr val="6F6888"/>
                </a:solidFill>
                <a:effectLst/>
                <a:uFillTx/>
                <a:latin typeface="Aptos"/>
                <a:ea typeface="Aptos"/>
              </a:rPr>
              <a:t>POSEER</a:t>
            </a:r>
          </a:p>
          <a:p>
            <a:pPr algn="ctr" defTabSz="914400">
              <a:lnSpc>
                <a:spcPct val="100000"/>
              </a:lnSpc>
              <a:tabLst>
                <a:tab pos="0" algn="l"/>
              </a:tabLst>
            </a:pPr>
            <a:r>
              <a:rPr lang="en-US" sz="1400" b="0" u="none" strike="noStrike" dirty="0" err="1">
                <a:solidFill>
                  <a:srgbClr val="6F6888"/>
                </a:solidFill>
                <a:effectLst/>
                <a:uFillTx/>
                <a:latin typeface="Aptos"/>
                <a:ea typeface="Aptos"/>
              </a:rPr>
              <a:t>Escalar</a:t>
            </a:r>
            <a:r>
              <a:rPr lang="en-US" sz="1400" b="0" u="none" strike="noStrike" dirty="0">
                <a:solidFill>
                  <a:srgbClr val="6F6888"/>
                </a:solidFill>
                <a:effectLst/>
                <a:uFillTx/>
                <a:latin typeface="Aptos"/>
                <a:ea typeface="Aptos"/>
              </a:rPr>
              <a:t> </a:t>
            </a:r>
            <a:r>
              <a:rPr lang="en-US" sz="1400" b="0" u="none" strike="noStrike" dirty="0" err="1">
                <a:solidFill>
                  <a:srgbClr val="6F6888"/>
                </a:solidFill>
                <a:effectLst/>
                <a:uFillTx/>
                <a:latin typeface="Aptos"/>
                <a:ea typeface="Aptos"/>
              </a:rPr>
              <a:t>densidad</a:t>
            </a:r>
            <a:r>
              <a:rPr lang="en-US" sz="1400" b="0" u="none" strike="noStrike" dirty="0">
                <a:solidFill>
                  <a:srgbClr val="6F6888"/>
                </a:solidFill>
                <a:effectLst/>
                <a:uFillTx/>
                <a:latin typeface="Aptos"/>
                <a:ea typeface="Aptos"/>
              </a:rPr>
              <a:t>, </a:t>
            </a:r>
            <a:r>
              <a:rPr lang="en-US" sz="1400" b="0" u="none" strike="noStrike" dirty="0" err="1">
                <a:solidFill>
                  <a:srgbClr val="6F6888"/>
                </a:solidFill>
                <a:effectLst/>
                <a:uFillTx/>
                <a:latin typeface="Aptos"/>
                <a:ea typeface="Aptos"/>
              </a:rPr>
              <a:t>cobertura</a:t>
            </a:r>
            <a:r>
              <a:rPr lang="en-US" sz="1400" b="0" u="none" strike="noStrike" dirty="0">
                <a:solidFill>
                  <a:srgbClr val="6F6888"/>
                </a:solidFill>
                <a:effectLst/>
                <a:uFillTx/>
                <a:latin typeface="Aptos"/>
                <a:ea typeface="Aptos"/>
              </a:rPr>
              <a:t> y </a:t>
            </a:r>
            <a:r>
              <a:rPr lang="en-US" sz="1400" b="0" u="none" strike="noStrike" dirty="0" err="1">
                <a:solidFill>
                  <a:srgbClr val="6F6888"/>
                </a:solidFill>
                <a:effectLst/>
                <a:uFillTx/>
                <a:latin typeface="Aptos"/>
                <a:ea typeface="Aptos"/>
              </a:rPr>
              <a:t>oportunidades</a:t>
            </a:r>
            <a:r>
              <a:rPr lang="en-US" sz="1400" b="0" u="none" strike="noStrike" dirty="0">
                <a:solidFill>
                  <a:srgbClr val="6F6888"/>
                </a:solidFill>
                <a:effectLst/>
                <a:uFillTx/>
                <a:latin typeface="Aptos"/>
                <a:ea typeface="Aptos"/>
              </a:rPr>
              <a:t> </a:t>
            </a:r>
            <a:r>
              <a:rPr lang="en-US" sz="1400" b="0" u="none" strike="noStrike" dirty="0" err="1">
                <a:solidFill>
                  <a:srgbClr val="6F6888"/>
                </a:solidFill>
                <a:effectLst/>
                <a:uFillTx/>
                <a:latin typeface="Aptos"/>
                <a:ea typeface="Aptos"/>
              </a:rPr>
              <a:t>compartidas</a:t>
            </a:r>
            <a:endParaRPr lang="en-US" sz="1400" b="0" u="none" strike="noStrike" dirty="0">
              <a:solidFill>
                <a:srgbClr val="000000"/>
              </a:solidFill>
              <a:effectLst/>
              <a:uFillTx/>
              <a:latin typeface="Arial"/>
            </a:endParaRPr>
          </a:p>
        </p:txBody>
      </p:sp>
      <p:sp>
        <p:nvSpPr>
          <p:cNvPr id="508" name="Shape 23"/>
          <p:cNvSpPr/>
          <p:nvPr/>
        </p:nvSpPr>
        <p:spPr>
          <a:xfrm>
            <a:off x="795600" y="5166359"/>
            <a:ext cx="10881287" cy="989891"/>
          </a:xfrm>
          <a:prstGeom prst="roundRect">
            <a:avLst>
              <a:gd name="adj" fmla="val 17021"/>
            </a:avLst>
          </a:prstGeom>
          <a:solidFill>
            <a:srgbClr val="F1EBFF"/>
          </a:solidFill>
          <a:ln w="12700">
            <a:solidFill>
              <a:srgbClr val="F1EB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09" name="Text 24"/>
          <p:cNvSpPr/>
          <p:nvPr/>
        </p:nvSpPr>
        <p:spPr>
          <a:xfrm>
            <a:off x="927321" y="5286050"/>
            <a:ext cx="10597680" cy="74087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b="1" u="none" strike="noStrike" dirty="0">
              <a:solidFill>
                <a:srgbClr val="5F2CCB"/>
              </a:solidFill>
              <a:effectLst/>
              <a:uFillTx/>
              <a:latin typeface="Aptos"/>
              <a:ea typeface="Aptos"/>
            </a:endParaRPr>
          </a:p>
          <a:p>
            <a:pPr algn="ctr" defTabSz="914400">
              <a:lnSpc>
                <a:spcPct val="100000"/>
              </a:lnSpc>
              <a:tabLst>
                <a:tab pos="0" algn="l"/>
              </a:tabLst>
            </a:pPr>
            <a:r>
              <a:rPr lang="es-ES" b="1" u="none" strike="noStrike" dirty="0">
                <a:solidFill>
                  <a:srgbClr val="5F2CCB"/>
                </a:solidFill>
                <a:effectLst/>
                <a:uFillTx/>
                <a:latin typeface="Aptos"/>
                <a:ea typeface="Aptos"/>
              </a:rPr>
              <a:t>El CRM engloba un conjunto de funciones o tareas. No reconstruimos el CRM como producto. Poseemos las capacidades que diferencian a </a:t>
            </a:r>
            <a:r>
              <a:rPr lang="es-ES" b="1" u="none" strike="noStrike" dirty="0" err="1">
                <a:solidFill>
                  <a:srgbClr val="5F2CCB"/>
                </a:solidFill>
                <a:effectLst/>
                <a:uFillTx/>
                <a:latin typeface="Aptos"/>
                <a:ea typeface="Aptos"/>
              </a:rPr>
              <a:t>Gu</a:t>
            </a:r>
            <a:r>
              <a:rPr lang="es-ES" b="1" u="none" strike="noStrike" dirty="0">
                <a:solidFill>
                  <a:srgbClr val="5F2CCB"/>
                </a:solidFill>
                <a:effectLst/>
                <a:uFillTx/>
                <a:latin typeface="Aptos"/>
                <a:ea typeface="Aptos"/>
              </a:rPr>
              <a:t> y orquestamos las que pueden permanecer externas</a:t>
            </a:r>
            <a:r>
              <a:rPr lang="en-US" b="1" u="none" strike="noStrike" dirty="0">
                <a:solidFill>
                  <a:srgbClr val="5F2CCB"/>
                </a:solidFill>
                <a:effectLst/>
                <a:uFillTx/>
                <a:latin typeface="Aptos"/>
                <a:ea typeface="Aptos"/>
              </a:rPr>
              <a:t>.</a:t>
            </a:r>
          </a:p>
          <a:p>
            <a:pPr algn="ctr" defTabSz="914400">
              <a:lnSpc>
                <a:spcPct val="100000"/>
              </a:lnSpc>
              <a:tabLst>
                <a:tab pos="0" algn="l"/>
              </a:tabLst>
            </a:pPr>
            <a:endParaRPr lang="en-US" b="0" u="none" strike="noStrike" dirty="0">
              <a:solidFill>
                <a:srgbClr val="000000"/>
              </a:solidFill>
              <a:effectLst/>
              <a:uFillTx/>
              <a:latin typeface="Arial"/>
            </a:endParaRPr>
          </a:p>
        </p:txBody>
      </p:sp>
      <p:pic>
        <p:nvPicPr>
          <p:cNvPr id="3" name="Image 0" descr="/mnt/data/ungga_logo_purple.png">
            <a:extLst>
              <a:ext uri="{FF2B5EF4-FFF2-40B4-BE49-F238E27FC236}">
                <a16:creationId xmlns:a16="http://schemas.microsoft.com/office/drawing/2014/main" id="{8FB39DA3-7DED-C967-61AB-6C784EAFFE64}"/>
              </a:ext>
            </a:extLst>
          </p:cNvPr>
          <p:cNvPicPr>
            <a:picLocks noChangeAspect="1"/>
          </p:cNvPicPr>
          <p:nvPr/>
        </p:nvPicPr>
        <p:blipFill>
          <a:blip r:embed="rId3"/>
          <a:stretch>
            <a:fillRect/>
          </a:stretch>
        </p:blipFill>
        <p:spPr>
          <a:xfrm>
            <a:off x="11109960" y="449715"/>
            <a:ext cx="566928" cy="47217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0"/>
          <p:cNvSpPr/>
          <p:nvPr/>
        </p:nvSpPr>
        <p:spPr>
          <a:xfrm>
            <a:off x="0" y="0"/>
            <a:ext cx="12191400" cy="59040"/>
          </a:xfrm>
          <a:prstGeom prst="rect">
            <a:avLst/>
          </a:prstGeom>
          <a:solidFill>
            <a:srgbClr val="5B2BD9"/>
          </a:solidFill>
          <a:ln w="12700">
            <a:solidFill>
              <a:srgbClr val="5B2BD9">
                <a:alpha val="0"/>
              </a:srgbClr>
            </a:solidFill>
            <a:round/>
          </a:ln>
        </p:spPr>
        <p:style>
          <a:lnRef idx="0">
            <a:scrgbClr r="0" g="0" b="0"/>
          </a:lnRef>
          <a:fillRef idx="0">
            <a:scrgbClr r="0" g="0" b="0"/>
          </a:fillRef>
          <a:effectRef idx="0">
            <a:scrgbClr r="0" g="0" b="0"/>
          </a:effectRef>
          <a:fontRef idx="minor"/>
        </p:style>
        <p:txBody>
          <a:bodyPr lIns="90000" tIns="14400" rIns="90000" bIns="14400" anchor="t">
            <a:noAutofit/>
          </a:bodyPr>
          <a:lstStyle/>
          <a:p>
            <a:endParaRPr lang="en-US" sz="1800" b="0" u="none" strike="noStrike">
              <a:solidFill>
                <a:srgbClr val="FFFFFF"/>
              </a:solidFill>
              <a:effectLst/>
              <a:uFillTx/>
              <a:latin typeface="Arial"/>
            </a:endParaRPr>
          </a:p>
        </p:txBody>
      </p:sp>
      <p:sp>
        <p:nvSpPr>
          <p:cNvPr id="8" name="Text 2"/>
          <p:cNvSpPr/>
          <p:nvPr/>
        </p:nvSpPr>
        <p:spPr>
          <a:xfrm>
            <a:off x="411480" y="6565320"/>
            <a:ext cx="91404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580" b="0" u="none" strike="noStrike">
                <a:solidFill>
                  <a:srgbClr val="6C6787"/>
                </a:solidFill>
                <a:effectLst/>
                <a:uFillTx/>
                <a:latin typeface="Aptos"/>
                <a:ea typeface="Aptos"/>
              </a:rPr>
              <a:t>CONFIDENTIAL</a:t>
            </a:r>
            <a:endParaRPr lang="en-US" sz="580" b="0" u="none" strike="noStrike">
              <a:solidFill>
                <a:srgbClr val="000000"/>
              </a:solidFill>
              <a:effectLst/>
              <a:uFillTx/>
              <a:latin typeface="Arial"/>
            </a:endParaRPr>
          </a:p>
        </p:txBody>
      </p:sp>
      <p:sp>
        <p:nvSpPr>
          <p:cNvPr id="9" name="Text 3"/>
          <p:cNvSpPr/>
          <p:nvPr/>
        </p:nvSpPr>
        <p:spPr>
          <a:xfrm>
            <a:off x="11018520" y="6565320"/>
            <a:ext cx="59400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580" b="0" u="none" strike="noStrike">
                <a:solidFill>
                  <a:srgbClr val="6C6787"/>
                </a:solidFill>
                <a:effectLst/>
                <a:uFillTx/>
                <a:latin typeface="Aptos"/>
                <a:ea typeface="Aptos"/>
              </a:rPr>
              <a:t>ungga.com</a:t>
            </a:r>
            <a:endParaRPr lang="en-US" sz="580" b="0" u="none" strike="noStrike">
              <a:solidFill>
                <a:srgbClr val="000000"/>
              </a:solidFill>
              <a:effectLst/>
              <a:uFillTx/>
              <a:latin typeface="Arial"/>
            </a:endParaRPr>
          </a:p>
        </p:txBody>
      </p:sp>
      <p:sp>
        <p:nvSpPr>
          <p:cNvPr id="10" name="Text 4"/>
          <p:cNvSpPr/>
          <p:nvPr/>
        </p:nvSpPr>
        <p:spPr>
          <a:xfrm>
            <a:off x="11731680" y="6565320"/>
            <a:ext cx="13680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b="0" u="none" strike="noStrike" dirty="0">
                <a:solidFill>
                  <a:srgbClr val="6C6787"/>
                </a:solidFill>
                <a:effectLst/>
                <a:uFillTx/>
                <a:latin typeface="Aptos"/>
                <a:ea typeface="Aptos"/>
              </a:rPr>
              <a:t>22</a:t>
            </a:r>
            <a:endParaRPr lang="en-US" sz="800" b="0" u="none" strike="noStrike" dirty="0">
              <a:solidFill>
                <a:srgbClr val="000000"/>
              </a:solidFill>
              <a:effectLst/>
              <a:uFillTx/>
              <a:latin typeface="Arial"/>
            </a:endParaRPr>
          </a:p>
        </p:txBody>
      </p:sp>
      <p:sp>
        <p:nvSpPr>
          <p:cNvPr id="11" name="Text 5"/>
          <p:cNvSpPr/>
          <p:nvPr/>
        </p:nvSpPr>
        <p:spPr>
          <a:xfrm>
            <a:off x="567000" y="457200"/>
            <a:ext cx="31086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5B2BD9"/>
                </a:solidFill>
                <a:effectLst/>
                <a:uFillTx/>
                <a:latin typeface="Aptos"/>
                <a:ea typeface="Aptos"/>
              </a:rPr>
              <a:t>INVENTARIO COMPARTIDO + B2B2C</a:t>
            </a:r>
            <a:endParaRPr lang="en-US" sz="1200" b="0" u="none" strike="noStrike">
              <a:solidFill>
                <a:srgbClr val="000000"/>
              </a:solidFill>
              <a:effectLst/>
              <a:uFillTx/>
              <a:latin typeface="Arial"/>
            </a:endParaRPr>
          </a:p>
        </p:txBody>
      </p:sp>
      <p:sp>
        <p:nvSpPr>
          <p:cNvPr id="12" name="Text 6"/>
          <p:cNvSpPr/>
          <p:nvPr/>
        </p:nvSpPr>
        <p:spPr>
          <a:xfrm>
            <a:off x="567000" y="941760"/>
            <a:ext cx="109267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85000" lnSpcReduction="9999"/>
          </a:bodyPr>
          <a:lstStyle/>
          <a:p>
            <a:pPr defTabSz="914400">
              <a:lnSpc>
                <a:spcPct val="100000"/>
              </a:lnSpc>
              <a:tabLst>
                <a:tab pos="0" algn="l"/>
              </a:tabLst>
            </a:pPr>
            <a:r>
              <a:rPr lang="en-US" sz="3100" b="1" u="none" strike="noStrike" dirty="0">
                <a:solidFill>
                  <a:srgbClr val="171528"/>
                </a:solidFill>
                <a:effectLst/>
                <a:uFillTx/>
                <a:latin typeface="Aptos Display"/>
                <a:ea typeface="Aptos Display"/>
              </a:rPr>
              <a:t>La red </a:t>
            </a:r>
            <a:r>
              <a:rPr lang="en-US" sz="3100" b="1" u="none" strike="noStrike" dirty="0" err="1">
                <a:solidFill>
                  <a:srgbClr val="171528"/>
                </a:solidFill>
                <a:effectLst/>
                <a:uFillTx/>
                <a:latin typeface="Aptos Display"/>
                <a:ea typeface="Aptos Display"/>
              </a:rPr>
              <a:t>ya</a:t>
            </a:r>
            <a:r>
              <a:rPr lang="en-US" sz="3100" b="1" u="none" strike="noStrike" dirty="0">
                <a:solidFill>
                  <a:srgbClr val="171528"/>
                </a:solidFill>
                <a:effectLst/>
                <a:uFillTx/>
                <a:latin typeface="Aptos Display"/>
                <a:ea typeface="Aptos Display"/>
              </a:rPr>
              <a:t> </a:t>
            </a:r>
            <a:r>
              <a:rPr lang="en-US" sz="3100" b="1" u="none" strike="noStrike" dirty="0" err="1">
                <a:solidFill>
                  <a:srgbClr val="171528"/>
                </a:solidFill>
                <a:effectLst/>
                <a:uFillTx/>
                <a:latin typeface="Aptos Display"/>
                <a:ea typeface="Aptos Display"/>
              </a:rPr>
              <a:t>existe</a:t>
            </a:r>
            <a:r>
              <a:rPr lang="en-US" sz="3100" b="1" u="none" strike="noStrike" dirty="0">
                <a:solidFill>
                  <a:srgbClr val="171528"/>
                </a:solidFill>
                <a:effectLst/>
                <a:uFillTx/>
                <a:latin typeface="Aptos Display"/>
                <a:ea typeface="Aptos Display"/>
              </a:rPr>
              <a:t>. El </a:t>
            </a:r>
            <a:r>
              <a:rPr lang="en-US" sz="3100" b="1" u="none" strike="noStrike" dirty="0" err="1">
                <a:solidFill>
                  <a:srgbClr val="171528"/>
                </a:solidFill>
                <a:effectLst/>
                <a:uFillTx/>
                <a:latin typeface="Aptos Display"/>
                <a:ea typeface="Aptos Display"/>
              </a:rPr>
              <a:t>reto</a:t>
            </a:r>
            <a:r>
              <a:rPr lang="en-US" sz="3100" b="1" u="none" strike="noStrike" dirty="0">
                <a:solidFill>
                  <a:srgbClr val="171528"/>
                </a:solidFill>
                <a:effectLst/>
                <a:uFillTx/>
                <a:latin typeface="Aptos Display"/>
                <a:ea typeface="Aptos Display"/>
              </a:rPr>
              <a:t> es </a:t>
            </a:r>
            <a:r>
              <a:rPr lang="en-US" sz="3100" b="1" u="none" strike="noStrike" dirty="0" err="1">
                <a:solidFill>
                  <a:srgbClr val="171528"/>
                </a:solidFill>
                <a:effectLst/>
                <a:uFillTx/>
                <a:latin typeface="Aptos Display"/>
                <a:ea typeface="Aptos Display"/>
              </a:rPr>
              <a:t>escalar</a:t>
            </a:r>
            <a:r>
              <a:rPr lang="en-US" sz="3100" b="1" u="none" strike="noStrike" dirty="0">
                <a:solidFill>
                  <a:srgbClr val="171528"/>
                </a:solidFill>
                <a:effectLst/>
                <a:uFillTx/>
                <a:latin typeface="Aptos Display"/>
                <a:ea typeface="Aptos Display"/>
              </a:rPr>
              <a:t> </a:t>
            </a:r>
            <a:r>
              <a:rPr lang="en-US" sz="3100" b="1" u="none" strike="noStrike" dirty="0" err="1">
                <a:solidFill>
                  <a:srgbClr val="171528"/>
                </a:solidFill>
                <a:effectLst/>
                <a:uFillTx/>
                <a:latin typeface="Aptos Display"/>
                <a:ea typeface="Aptos Display"/>
              </a:rPr>
              <a:t>su</a:t>
            </a:r>
            <a:r>
              <a:rPr lang="en-US" sz="3100" b="1" u="none" strike="noStrike" dirty="0">
                <a:solidFill>
                  <a:srgbClr val="171528"/>
                </a:solidFill>
                <a:effectLst/>
                <a:uFillTx/>
                <a:latin typeface="Aptos Display"/>
                <a:ea typeface="Aptos Display"/>
              </a:rPr>
              <a:t> </a:t>
            </a:r>
            <a:r>
              <a:rPr lang="en-US" sz="3100" b="1" u="none" strike="noStrike" dirty="0" err="1">
                <a:solidFill>
                  <a:srgbClr val="171528"/>
                </a:solidFill>
                <a:effectLst/>
                <a:uFillTx/>
                <a:latin typeface="Aptos Display"/>
                <a:ea typeface="Aptos Display"/>
              </a:rPr>
              <a:t>densidad</a:t>
            </a:r>
            <a:r>
              <a:rPr lang="en-US" sz="3100" b="1" u="none" strike="noStrike" dirty="0">
                <a:solidFill>
                  <a:srgbClr val="171528"/>
                </a:solidFill>
                <a:effectLst/>
                <a:uFillTx/>
                <a:latin typeface="Aptos Display"/>
                <a:ea typeface="Aptos Display"/>
              </a:rPr>
              <a:t> hasta </a:t>
            </a:r>
            <a:r>
              <a:rPr lang="en-US" sz="3100" b="1" u="none" strike="noStrike" dirty="0" err="1">
                <a:solidFill>
                  <a:srgbClr val="171528"/>
                </a:solidFill>
                <a:effectLst/>
                <a:uFillTx/>
                <a:latin typeface="Aptos Display"/>
                <a:ea typeface="Aptos Display"/>
              </a:rPr>
              <a:t>convertirla</a:t>
            </a:r>
            <a:r>
              <a:rPr lang="en-US" sz="3100" b="1" u="none" strike="noStrike" dirty="0">
                <a:solidFill>
                  <a:srgbClr val="171528"/>
                </a:solidFill>
                <a:effectLst/>
                <a:uFillTx/>
                <a:latin typeface="Aptos Display"/>
                <a:ea typeface="Aptos Display"/>
              </a:rPr>
              <a:t> en </a:t>
            </a:r>
            <a:r>
              <a:rPr lang="en-US" sz="3100" b="1" i="1" u="none" strike="noStrike" dirty="0">
                <a:solidFill>
                  <a:srgbClr val="171528"/>
                </a:solidFill>
                <a:effectLst/>
                <a:uFillTx/>
                <a:latin typeface="Aptos Display"/>
                <a:ea typeface="Aptos Display"/>
              </a:rPr>
              <a:t>flywheel</a:t>
            </a:r>
            <a:r>
              <a:rPr lang="en-US" sz="3100" b="1" u="none" strike="noStrike" dirty="0">
                <a:solidFill>
                  <a:srgbClr val="171528"/>
                </a:solidFill>
                <a:effectLst/>
                <a:uFillTx/>
                <a:latin typeface="Aptos Display"/>
                <a:ea typeface="Aptos Display"/>
              </a:rPr>
              <a:t>.</a:t>
            </a:r>
            <a:endParaRPr lang="en-US" sz="3100" b="0" u="none" strike="noStrike" dirty="0">
              <a:solidFill>
                <a:srgbClr val="000000"/>
              </a:solidFill>
              <a:effectLst/>
              <a:uFillTx/>
              <a:latin typeface="Arial"/>
            </a:endParaRPr>
          </a:p>
        </p:txBody>
      </p:sp>
      <p:sp>
        <p:nvSpPr>
          <p:cNvPr id="13" name="Text 7"/>
          <p:cNvSpPr/>
          <p:nvPr/>
        </p:nvSpPr>
        <p:spPr>
          <a:xfrm>
            <a:off x="567000" y="1401102"/>
            <a:ext cx="10926720" cy="52599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0" u="none" strike="noStrike" dirty="0">
                <a:solidFill>
                  <a:srgbClr val="6C6787"/>
                </a:solidFill>
                <a:effectLst/>
                <a:uFillTx/>
                <a:latin typeface="Aptos"/>
                <a:ea typeface="Aptos"/>
              </a:rPr>
              <a:t>Cada broker </a:t>
            </a:r>
            <a:r>
              <a:rPr lang="en-US" sz="1800" b="0" u="none" strike="noStrike" dirty="0" err="1">
                <a:solidFill>
                  <a:srgbClr val="6C6787"/>
                </a:solidFill>
                <a:effectLst/>
                <a:uFillTx/>
                <a:latin typeface="Aptos"/>
                <a:ea typeface="Aptos"/>
              </a:rPr>
              <a:t>puede</a:t>
            </a:r>
            <a:r>
              <a:rPr lang="en-US" sz="1800" b="0" u="none" strike="noStrike" dirty="0">
                <a:solidFill>
                  <a:srgbClr val="6C6787"/>
                </a:solidFill>
                <a:effectLst/>
                <a:uFillTx/>
                <a:latin typeface="Aptos"/>
                <a:ea typeface="Aptos"/>
              </a:rPr>
              <a:t> </a:t>
            </a:r>
            <a:r>
              <a:rPr lang="en-US" sz="1800" b="0" u="none" strike="noStrike" dirty="0" err="1">
                <a:solidFill>
                  <a:srgbClr val="6C6787"/>
                </a:solidFill>
                <a:effectLst/>
                <a:uFillTx/>
                <a:latin typeface="Aptos"/>
                <a:ea typeface="Aptos"/>
              </a:rPr>
              <a:t>aportar</a:t>
            </a:r>
            <a:r>
              <a:rPr lang="en-US" sz="1800" b="0" u="none" strike="noStrike" dirty="0">
                <a:solidFill>
                  <a:srgbClr val="6C6787"/>
                </a:solidFill>
                <a:effectLst/>
                <a:uFillTx/>
                <a:latin typeface="Aptos"/>
                <a:ea typeface="Aptos"/>
              </a:rPr>
              <a:t> </a:t>
            </a:r>
            <a:r>
              <a:rPr lang="en-US" sz="1800" b="0" u="none" strike="noStrike" dirty="0" err="1">
                <a:solidFill>
                  <a:srgbClr val="6C6787"/>
                </a:solidFill>
                <a:effectLst/>
                <a:uFillTx/>
                <a:latin typeface="Aptos"/>
                <a:ea typeface="Aptos"/>
              </a:rPr>
              <a:t>inventario</a:t>
            </a:r>
            <a:r>
              <a:rPr lang="en-US" sz="1800" b="0" u="none" strike="noStrike" dirty="0">
                <a:solidFill>
                  <a:srgbClr val="6C6787"/>
                </a:solidFill>
                <a:effectLst/>
                <a:uFillTx/>
                <a:latin typeface="Aptos"/>
                <a:ea typeface="Aptos"/>
              </a:rPr>
              <a:t>, </a:t>
            </a:r>
            <a:r>
              <a:rPr lang="en-US" sz="1800" b="0" u="none" strike="noStrike" dirty="0" err="1">
                <a:solidFill>
                  <a:srgbClr val="6C6787"/>
                </a:solidFill>
                <a:effectLst/>
                <a:uFillTx/>
                <a:latin typeface="Aptos"/>
                <a:ea typeface="Aptos"/>
              </a:rPr>
              <a:t>originar</a:t>
            </a:r>
            <a:r>
              <a:rPr lang="en-US" sz="1800" b="0" u="none" strike="noStrike" dirty="0">
                <a:solidFill>
                  <a:srgbClr val="6C6787"/>
                </a:solidFill>
                <a:effectLst/>
                <a:uFillTx/>
                <a:latin typeface="Aptos"/>
                <a:ea typeface="Aptos"/>
              </a:rPr>
              <a:t> </a:t>
            </a:r>
            <a:r>
              <a:rPr lang="en-US" sz="1800" b="0" u="none" strike="noStrike" dirty="0" err="1">
                <a:solidFill>
                  <a:srgbClr val="6C6787"/>
                </a:solidFill>
                <a:effectLst/>
                <a:uFillTx/>
                <a:latin typeface="Aptos"/>
                <a:ea typeface="Aptos"/>
              </a:rPr>
              <a:t>demanda</a:t>
            </a:r>
            <a:r>
              <a:rPr lang="en-US" sz="1800" b="0" u="none" strike="noStrike" dirty="0">
                <a:solidFill>
                  <a:srgbClr val="6C6787"/>
                </a:solidFill>
                <a:effectLst/>
                <a:uFillTx/>
                <a:latin typeface="Aptos"/>
                <a:ea typeface="Aptos"/>
              </a:rPr>
              <a:t> y </a:t>
            </a:r>
            <a:r>
              <a:rPr lang="en-US" sz="1800" b="0" u="none" strike="noStrike" dirty="0" err="1">
                <a:solidFill>
                  <a:srgbClr val="6C6787"/>
                </a:solidFill>
                <a:effectLst/>
                <a:uFillTx/>
                <a:latin typeface="Aptos"/>
                <a:ea typeface="Aptos"/>
              </a:rPr>
              <a:t>participar</a:t>
            </a:r>
            <a:r>
              <a:rPr lang="en-US" sz="1800" b="0" u="none" strike="noStrike" dirty="0">
                <a:solidFill>
                  <a:srgbClr val="6C6787"/>
                </a:solidFill>
                <a:effectLst/>
                <a:uFillTx/>
                <a:latin typeface="Aptos"/>
                <a:ea typeface="Aptos"/>
              </a:rPr>
              <a:t> en </a:t>
            </a:r>
            <a:r>
              <a:rPr lang="en-US" sz="1800" b="0" u="none" strike="noStrike" dirty="0" err="1">
                <a:solidFill>
                  <a:srgbClr val="6C6787"/>
                </a:solidFill>
                <a:effectLst/>
                <a:uFillTx/>
                <a:latin typeface="Aptos"/>
                <a:ea typeface="Aptos"/>
              </a:rPr>
              <a:t>oportunidades</a:t>
            </a:r>
            <a:r>
              <a:rPr lang="en-US" sz="1800" b="0" u="none" strike="noStrike" dirty="0">
                <a:solidFill>
                  <a:srgbClr val="6C6787"/>
                </a:solidFill>
                <a:effectLst/>
                <a:uFillTx/>
                <a:latin typeface="Aptos"/>
                <a:ea typeface="Aptos"/>
              </a:rPr>
              <a:t> de la red.</a:t>
            </a:r>
            <a:endParaRPr lang="en-US" sz="1800" b="0" u="none" strike="noStrike" dirty="0">
              <a:solidFill>
                <a:srgbClr val="000000"/>
              </a:solidFill>
              <a:effectLst/>
              <a:uFillTx/>
              <a:latin typeface="Arial"/>
            </a:endParaRPr>
          </a:p>
        </p:txBody>
      </p:sp>
      <p:sp>
        <p:nvSpPr>
          <p:cNvPr id="14" name="Text 8"/>
          <p:cNvSpPr/>
          <p:nvPr/>
        </p:nvSpPr>
        <p:spPr>
          <a:xfrm>
            <a:off x="854241" y="2296891"/>
            <a:ext cx="2239920" cy="1032840"/>
          </a:xfrm>
          <a:prstGeom prst="rect">
            <a:avLst/>
          </a:prstGeom>
          <a:solidFill>
            <a:srgbClr val="FFFFFF"/>
          </a:solidFill>
          <a:ln w="15240">
            <a:solidFill>
              <a:srgbClr val="5B2BD9"/>
            </a:solidFill>
            <a:round/>
          </a:ln>
          <a:effectLst>
            <a:outerShdw blurRad="12600" dist="50402" dir="2700000" algn="bl" rotWithShape="0">
              <a:srgbClr val="D9D7E0">
                <a:alpha val="30000"/>
              </a:srgbClr>
            </a:outerShdw>
          </a:effectLst>
        </p:spPr>
        <p:style>
          <a:lnRef idx="0">
            <a:scrgbClr r="0" g="0" b="0"/>
          </a:lnRef>
          <a:fillRef idx="0">
            <a:scrgbClr r="0" g="0" b="0"/>
          </a:fillRef>
          <a:effectRef idx="0">
            <a:scrgbClr r="0" g="0" b="0"/>
          </a:effectRef>
          <a:fontRef idx="minor"/>
        </p:style>
        <p:txBody>
          <a:bodyPr lIns="90000" tIns="45000" rIns="90000" bIns="45000" anchor="ctr">
            <a:normAutofit/>
          </a:bodyPr>
          <a:lstStyle/>
          <a:p>
            <a:pPr algn="ctr" defTabSz="914400">
              <a:lnSpc>
                <a:spcPct val="100000"/>
              </a:lnSpc>
              <a:tabLst>
                <a:tab pos="0" algn="l"/>
              </a:tabLst>
            </a:pPr>
            <a:r>
              <a:rPr lang="en-US" sz="1200" b="1" u="none" strike="noStrike" dirty="0">
                <a:solidFill>
                  <a:srgbClr val="171528"/>
                </a:solidFill>
                <a:effectLst/>
                <a:uFillTx/>
                <a:latin typeface="Aptos"/>
                <a:ea typeface="Aptos"/>
              </a:rPr>
              <a:t>Broker A</a:t>
            </a:r>
            <a:endParaRPr lang="en-US" sz="1200" b="0" u="none" strike="noStrike" dirty="0">
              <a:solidFill>
                <a:srgbClr val="000000"/>
              </a:solidFill>
              <a:effectLst/>
              <a:uFillTx/>
              <a:latin typeface="Arial"/>
            </a:endParaRPr>
          </a:p>
          <a:p>
            <a:pPr algn="ctr" defTabSz="914400">
              <a:lnSpc>
                <a:spcPct val="100000"/>
              </a:lnSpc>
              <a:tabLst>
                <a:tab pos="0" algn="l"/>
              </a:tabLst>
            </a:pPr>
            <a:endParaRPr lang="en-US" sz="1200" b="0" u="none" strike="noStrike" dirty="0">
              <a:solidFill>
                <a:srgbClr val="000000"/>
              </a:solidFill>
              <a:effectLst/>
              <a:uFillTx/>
              <a:latin typeface="Arial"/>
            </a:endParaRPr>
          </a:p>
          <a:p>
            <a:pPr algn="ctr" defTabSz="914400">
              <a:lnSpc>
                <a:spcPct val="100000"/>
              </a:lnSpc>
              <a:tabLst>
                <a:tab pos="0" algn="l"/>
              </a:tabLst>
            </a:pPr>
            <a:r>
              <a:rPr lang="en-US" sz="1200" b="0" u="none" strike="noStrike" dirty="0" err="1">
                <a:solidFill>
                  <a:srgbClr val="6C6787"/>
                </a:solidFill>
                <a:effectLst/>
                <a:uFillTx/>
                <a:latin typeface="Aptos"/>
                <a:ea typeface="Aptos"/>
              </a:rPr>
              <a:t>origina</a:t>
            </a:r>
            <a:r>
              <a:rPr lang="en-US" sz="1200" b="0" u="none" strike="noStrike" dirty="0">
                <a:solidFill>
                  <a:srgbClr val="6C6787"/>
                </a:solidFill>
                <a:effectLst/>
                <a:uFillTx/>
                <a:latin typeface="Aptos"/>
                <a:ea typeface="Aptos"/>
              </a:rPr>
              <a:t> </a:t>
            </a:r>
            <a:r>
              <a:rPr lang="en-US" sz="1200" b="0" u="none" strike="noStrike" dirty="0" err="1">
                <a:solidFill>
                  <a:srgbClr val="6C6787"/>
                </a:solidFill>
                <a:effectLst/>
                <a:uFillTx/>
                <a:latin typeface="Aptos"/>
                <a:ea typeface="Aptos"/>
              </a:rPr>
              <a:t>demanda</a:t>
            </a:r>
            <a:endParaRPr lang="en-US" sz="1200" b="0" u="none" strike="noStrike" dirty="0">
              <a:solidFill>
                <a:srgbClr val="000000"/>
              </a:solidFill>
              <a:effectLst/>
              <a:uFillTx/>
              <a:latin typeface="Arial"/>
            </a:endParaRPr>
          </a:p>
          <a:p>
            <a:pPr algn="ctr" defTabSz="914400">
              <a:lnSpc>
                <a:spcPct val="100000"/>
              </a:lnSpc>
              <a:tabLst>
                <a:tab pos="0" algn="l"/>
              </a:tabLst>
            </a:pPr>
            <a:r>
              <a:rPr lang="en-US" sz="1200" b="0" u="none" strike="noStrike" dirty="0">
                <a:solidFill>
                  <a:srgbClr val="6C6787"/>
                </a:solidFill>
                <a:effectLst/>
                <a:uFillTx/>
                <a:latin typeface="Aptos"/>
                <a:ea typeface="Aptos"/>
              </a:rPr>
              <a:t>Website · WhatsApp · QR</a:t>
            </a:r>
            <a:endParaRPr lang="en-US" sz="1200" b="0" u="none" strike="noStrike" dirty="0">
              <a:solidFill>
                <a:srgbClr val="000000"/>
              </a:solidFill>
              <a:effectLst/>
              <a:uFillTx/>
              <a:latin typeface="Arial"/>
            </a:endParaRPr>
          </a:p>
          <a:p>
            <a:pPr algn="ctr" defTabSz="914400">
              <a:lnSpc>
                <a:spcPct val="100000"/>
              </a:lnSpc>
              <a:tabLst>
                <a:tab pos="0" algn="l"/>
              </a:tabLst>
            </a:pPr>
            <a:r>
              <a:rPr lang="en-US" sz="1200" dirty="0">
                <a:solidFill>
                  <a:srgbClr val="6C6787"/>
                </a:solidFill>
                <a:latin typeface="Aptos"/>
                <a:ea typeface="Aptos"/>
              </a:rPr>
              <a:t>r</a:t>
            </a:r>
            <a:r>
              <a:rPr lang="en-US" sz="1200" b="0" u="none" strike="noStrike" dirty="0">
                <a:solidFill>
                  <a:srgbClr val="6C6787"/>
                </a:solidFill>
                <a:effectLst/>
                <a:uFillTx/>
                <a:latin typeface="Aptos"/>
                <a:ea typeface="Aptos"/>
              </a:rPr>
              <a:t>ed social · </a:t>
            </a:r>
            <a:r>
              <a:rPr lang="en-US" sz="1200" b="0" u="none" strike="noStrike" dirty="0" err="1">
                <a:solidFill>
                  <a:srgbClr val="6C6787"/>
                </a:solidFill>
                <a:effectLst/>
                <a:uFillTx/>
                <a:latin typeface="Aptos"/>
                <a:ea typeface="Aptos"/>
              </a:rPr>
              <a:t>referencia</a:t>
            </a:r>
            <a:endParaRPr lang="en-US" sz="1200" b="0" u="none" strike="noStrike" dirty="0">
              <a:solidFill>
                <a:srgbClr val="000000"/>
              </a:solidFill>
              <a:effectLst/>
              <a:uFillTx/>
              <a:latin typeface="Arial"/>
            </a:endParaRPr>
          </a:p>
        </p:txBody>
      </p:sp>
      <p:sp>
        <p:nvSpPr>
          <p:cNvPr id="15" name="Text 9"/>
          <p:cNvSpPr/>
          <p:nvPr/>
        </p:nvSpPr>
        <p:spPr>
          <a:xfrm>
            <a:off x="3857325" y="2269531"/>
            <a:ext cx="2057040" cy="1078560"/>
          </a:xfrm>
          <a:prstGeom prst="rect">
            <a:avLst/>
          </a:prstGeom>
          <a:solidFill>
            <a:srgbClr val="24163F"/>
          </a:solidFill>
          <a:ln w="15240">
            <a:solidFill>
              <a:srgbClr val="24163F"/>
            </a:solidFill>
            <a:round/>
          </a:ln>
          <a:effectLst>
            <a:outerShdw blurRad="12600" dist="50402" dir="2700000" algn="bl" rotWithShape="0">
              <a:srgbClr val="D9D7E0">
                <a:alpha val="30000"/>
              </a:srgbClr>
            </a:outerShdw>
          </a:effectLst>
        </p:spPr>
        <p:style>
          <a:lnRef idx="0">
            <a:scrgbClr r="0" g="0" b="0"/>
          </a:lnRef>
          <a:fillRef idx="0">
            <a:scrgbClr r="0" g="0" b="0"/>
          </a:fillRef>
          <a:effectRef idx="0">
            <a:scrgbClr r="0" g="0" b="0"/>
          </a:effectRef>
          <a:fontRef idx="minor"/>
        </p:style>
        <p:txBody>
          <a:bodyPr lIns="90000" tIns="45000" rIns="90000" bIns="45000" anchor="ctr">
            <a:normAutofit/>
          </a:bodyPr>
          <a:lstStyle/>
          <a:p>
            <a:pPr algn="ctr" defTabSz="914400">
              <a:lnSpc>
                <a:spcPct val="100000"/>
              </a:lnSpc>
              <a:tabLst>
                <a:tab pos="0" algn="l"/>
              </a:tabLst>
            </a:pPr>
            <a:r>
              <a:rPr lang="en-US" sz="1200" b="1" u="none" strike="noStrike">
                <a:solidFill>
                  <a:srgbClr val="FFFFFF"/>
                </a:solidFill>
                <a:effectLst/>
                <a:uFillTx/>
                <a:latin typeface="Aptos"/>
                <a:ea typeface="Aptos"/>
              </a:rPr>
              <a:t>Gu</a:t>
            </a:r>
            <a:endParaRPr lang="en-US" sz="1200" b="0" u="none" strike="noStrike">
              <a:solidFill>
                <a:srgbClr val="FFFFFF"/>
              </a:solidFill>
              <a:effectLst/>
              <a:uFillTx/>
              <a:latin typeface="Arial"/>
            </a:endParaRPr>
          </a:p>
          <a:p>
            <a:pPr algn="ctr" defTabSz="914400">
              <a:lnSpc>
                <a:spcPct val="100000"/>
              </a:lnSpc>
              <a:tabLst>
                <a:tab pos="0" algn="l"/>
              </a:tabLst>
            </a:pPr>
            <a:endParaRPr lang="en-US" sz="1200" b="0" u="none" strike="noStrike">
              <a:solidFill>
                <a:srgbClr val="FFFFFF"/>
              </a:solidFill>
              <a:effectLst/>
              <a:uFillTx/>
              <a:latin typeface="Arial"/>
            </a:endParaRPr>
          </a:p>
          <a:p>
            <a:pPr algn="ctr" defTabSz="914400">
              <a:lnSpc>
                <a:spcPct val="100000"/>
              </a:lnSpc>
              <a:tabLst>
                <a:tab pos="0" algn="l"/>
              </a:tabLst>
            </a:pPr>
            <a:r>
              <a:rPr lang="en-US" sz="1200" b="0" u="none" strike="noStrike">
                <a:solidFill>
                  <a:srgbClr val="DCD5EF"/>
                </a:solidFill>
                <a:effectLst/>
                <a:uFillTx/>
                <a:latin typeface="Aptos"/>
                <a:ea typeface="Aptos"/>
              </a:rPr>
              <a:t>comprende intención</a:t>
            </a:r>
            <a:endParaRPr lang="en-US" sz="1200" b="0" u="none" strike="noStrike">
              <a:solidFill>
                <a:srgbClr val="FFFFFF"/>
              </a:solidFill>
              <a:effectLst/>
              <a:uFillTx/>
              <a:latin typeface="Arial"/>
            </a:endParaRPr>
          </a:p>
          <a:p>
            <a:pPr algn="ctr" defTabSz="914400">
              <a:lnSpc>
                <a:spcPct val="100000"/>
              </a:lnSpc>
              <a:tabLst>
                <a:tab pos="0" algn="l"/>
              </a:tabLst>
            </a:pPr>
            <a:r>
              <a:rPr lang="en-US" sz="1200" b="0" u="none" strike="noStrike">
                <a:solidFill>
                  <a:srgbClr val="DCD5EF"/>
                </a:solidFill>
                <a:effectLst/>
                <a:uFillTx/>
                <a:latin typeface="Aptos"/>
                <a:ea typeface="Aptos"/>
              </a:rPr>
              <a:t>y busca el mejor match</a:t>
            </a:r>
            <a:endParaRPr lang="en-US" sz="1200" b="0" u="none" strike="noStrike">
              <a:solidFill>
                <a:srgbClr val="FFFFFF"/>
              </a:solidFill>
              <a:effectLst/>
              <a:uFillTx/>
              <a:latin typeface="Arial"/>
            </a:endParaRPr>
          </a:p>
        </p:txBody>
      </p:sp>
      <p:sp>
        <p:nvSpPr>
          <p:cNvPr id="16" name="Text 10"/>
          <p:cNvSpPr/>
          <p:nvPr/>
        </p:nvSpPr>
        <p:spPr>
          <a:xfrm>
            <a:off x="6619775" y="2296891"/>
            <a:ext cx="2331360" cy="1032840"/>
          </a:xfrm>
          <a:prstGeom prst="rect">
            <a:avLst/>
          </a:prstGeom>
          <a:solidFill>
            <a:srgbClr val="FFFFFF"/>
          </a:solidFill>
          <a:ln w="15240">
            <a:solidFill>
              <a:srgbClr val="008E57"/>
            </a:solidFill>
            <a:round/>
          </a:ln>
          <a:effectLst>
            <a:outerShdw blurRad="12600" dist="50402" dir="2700000" algn="bl" rotWithShape="0">
              <a:srgbClr val="D9D7E0">
                <a:alpha val="30000"/>
              </a:srgbClr>
            </a:outerShdw>
          </a:effectLst>
        </p:spPr>
        <p:style>
          <a:lnRef idx="0">
            <a:scrgbClr r="0" g="0" b="0"/>
          </a:lnRef>
          <a:fillRef idx="0">
            <a:scrgbClr r="0" g="0" b="0"/>
          </a:fillRef>
          <a:effectRef idx="0">
            <a:scrgbClr r="0" g="0" b="0"/>
          </a:effectRef>
          <a:fontRef idx="minor"/>
        </p:style>
        <p:txBody>
          <a:bodyPr lIns="90000" tIns="45000" rIns="90000" bIns="45000" anchor="ctr">
            <a:normAutofit/>
          </a:bodyPr>
          <a:lstStyle/>
          <a:p>
            <a:pPr algn="ctr" defTabSz="914400">
              <a:lnSpc>
                <a:spcPct val="100000"/>
              </a:lnSpc>
              <a:tabLst>
                <a:tab pos="0" algn="l"/>
              </a:tabLst>
            </a:pPr>
            <a:r>
              <a:rPr lang="en-US" sz="1200" b="1" u="none" strike="noStrike">
                <a:solidFill>
                  <a:srgbClr val="171528"/>
                </a:solidFill>
                <a:effectLst/>
                <a:uFillTx/>
                <a:latin typeface="Aptos"/>
                <a:ea typeface="Aptos"/>
              </a:rPr>
              <a:t>Inventario Broker A</a:t>
            </a:r>
            <a:endParaRPr lang="en-US" sz="1200" b="0" u="none" strike="noStrike">
              <a:solidFill>
                <a:srgbClr val="000000"/>
              </a:solidFill>
              <a:effectLst/>
              <a:uFillTx/>
              <a:latin typeface="Arial"/>
            </a:endParaRPr>
          </a:p>
          <a:p>
            <a:pPr algn="ctr" defTabSz="914400">
              <a:lnSpc>
                <a:spcPct val="100000"/>
              </a:lnSpc>
              <a:tabLst>
                <a:tab pos="0" algn="l"/>
              </a:tabLst>
            </a:pPr>
            <a:endParaRPr lang="en-US" sz="1200" b="0" u="none" strike="noStrike">
              <a:solidFill>
                <a:srgbClr val="000000"/>
              </a:solidFill>
              <a:effectLst/>
              <a:uFillTx/>
              <a:latin typeface="Arial"/>
            </a:endParaRPr>
          </a:p>
          <a:p>
            <a:pPr algn="ctr" defTabSz="914400">
              <a:lnSpc>
                <a:spcPct val="100000"/>
              </a:lnSpc>
              <a:tabLst>
                <a:tab pos="0" algn="l"/>
              </a:tabLst>
            </a:pPr>
            <a:r>
              <a:rPr lang="en-US" sz="1200" b="0" u="none" strike="noStrike">
                <a:solidFill>
                  <a:srgbClr val="6C6787"/>
                </a:solidFill>
                <a:effectLst/>
                <a:uFillTx/>
                <a:latin typeface="Aptos"/>
                <a:ea typeface="Aptos"/>
              </a:rPr>
              <a:t>primera búsqueda</a:t>
            </a:r>
            <a:endParaRPr lang="en-US" sz="1200" b="0" u="none" strike="noStrike">
              <a:solidFill>
                <a:srgbClr val="000000"/>
              </a:solidFill>
              <a:effectLst/>
              <a:uFillTx/>
              <a:latin typeface="Arial"/>
            </a:endParaRPr>
          </a:p>
        </p:txBody>
      </p:sp>
      <p:sp>
        <p:nvSpPr>
          <p:cNvPr id="17" name="Text 11"/>
          <p:cNvSpPr/>
          <p:nvPr/>
        </p:nvSpPr>
        <p:spPr>
          <a:xfrm>
            <a:off x="6600525" y="3916341"/>
            <a:ext cx="2514240" cy="1005480"/>
          </a:xfrm>
          <a:prstGeom prst="rect">
            <a:avLst/>
          </a:prstGeom>
          <a:solidFill>
            <a:srgbClr val="FFFFFF"/>
          </a:solidFill>
          <a:ln w="15240">
            <a:solidFill>
              <a:srgbClr val="F7931E"/>
            </a:solidFill>
            <a:round/>
          </a:ln>
          <a:effectLst>
            <a:outerShdw blurRad="12600" dist="50402" dir="2700000" algn="bl" rotWithShape="0">
              <a:srgbClr val="D9D7E0">
                <a:alpha val="30000"/>
              </a:srgbClr>
            </a:outerShdw>
          </a:effectLst>
        </p:spPr>
        <p:style>
          <a:lnRef idx="0">
            <a:scrgbClr r="0" g="0" b="0"/>
          </a:lnRef>
          <a:fillRef idx="0">
            <a:scrgbClr r="0" g="0" b="0"/>
          </a:fillRef>
          <a:effectRef idx="0">
            <a:scrgbClr r="0" g="0" b="0"/>
          </a:effectRef>
          <a:fontRef idx="minor"/>
        </p:style>
        <p:txBody>
          <a:bodyPr lIns="90000" tIns="45000" rIns="90000" bIns="45000" anchor="ctr">
            <a:normAutofit/>
          </a:bodyPr>
          <a:lstStyle/>
          <a:p>
            <a:pPr algn="ctr" defTabSz="914400">
              <a:lnSpc>
                <a:spcPct val="100000"/>
              </a:lnSpc>
              <a:tabLst>
                <a:tab pos="0" algn="l"/>
              </a:tabLst>
            </a:pPr>
            <a:r>
              <a:rPr lang="en-US" sz="1200" b="1" u="none" strike="noStrike">
                <a:solidFill>
                  <a:srgbClr val="171528"/>
                </a:solidFill>
                <a:effectLst/>
                <a:uFillTx/>
                <a:latin typeface="Aptos"/>
                <a:ea typeface="Aptos"/>
              </a:rPr>
              <a:t>Inventario compartido</a:t>
            </a:r>
            <a:endParaRPr lang="en-US" sz="1200" b="0" u="none" strike="noStrike">
              <a:solidFill>
                <a:srgbClr val="000000"/>
              </a:solidFill>
              <a:effectLst/>
              <a:uFillTx/>
              <a:latin typeface="Arial"/>
            </a:endParaRPr>
          </a:p>
          <a:p>
            <a:pPr algn="ctr" defTabSz="914400">
              <a:lnSpc>
                <a:spcPct val="100000"/>
              </a:lnSpc>
              <a:tabLst>
                <a:tab pos="0" algn="l"/>
              </a:tabLst>
            </a:pPr>
            <a:endParaRPr lang="en-US" sz="1200" b="0" u="none" strike="noStrike">
              <a:solidFill>
                <a:srgbClr val="000000"/>
              </a:solidFill>
              <a:effectLst/>
              <a:uFillTx/>
              <a:latin typeface="Arial"/>
            </a:endParaRPr>
          </a:p>
          <a:p>
            <a:pPr algn="ctr" defTabSz="914400">
              <a:lnSpc>
                <a:spcPct val="100000"/>
              </a:lnSpc>
              <a:tabLst>
                <a:tab pos="0" algn="l"/>
              </a:tabLst>
            </a:pPr>
            <a:r>
              <a:rPr lang="en-US" sz="1200" b="0" u="none" strike="noStrike">
                <a:solidFill>
                  <a:srgbClr val="6C6787"/>
                </a:solidFill>
                <a:effectLst/>
                <a:uFillTx/>
                <a:latin typeface="Aptos"/>
                <a:ea typeface="Aptos"/>
              </a:rPr>
              <a:t>propiedades de participantes</a:t>
            </a:r>
            <a:endParaRPr lang="en-US" sz="1200" b="0" u="none" strike="noStrike">
              <a:solidFill>
                <a:srgbClr val="000000"/>
              </a:solidFill>
              <a:effectLst/>
              <a:uFillTx/>
              <a:latin typeface="Arial"/>
            </a:endParaRPr>
          </a:p>
          <a:p>
            <a:pPr algn="ctr" defTabSz="914400">
              <a:lnSpc>
                <a:spcPct val="100000"/>
              </a:lnSpc>
              <a:tabLst>
                <a:tab pos="0" algn="l"/>
              </a:tabLst>
            </a:pPr>
            <a:r>
              <a:rPr lang="en-US" sz="1200" b="0" u="none" strike="noStrike">
                <a:solidFill>
                  <a:srgbClr val="6C6787"/>
                </a:solidFill>
                <a:effectLst/>
                <a:uFillTx/>
                <a:latin typeface="Aptos"/>
                <a:ea typeface="Aptos"/>
              </a:rPr>
              <a:t>con comisión compartida</a:t>
            </a:r>
            <a:endParaRPr lang="en-US" sz="1200" b="0" u="none" strike="noStrike">
              <a:solidFill>
                <a:srgbClr val="000000"/>
              </a:solidFill>
              <a:effectLst/>
              <a:uFillTx/>
              <a:latin typeface="Arial"/>
            </a:endParaRPr>
          </a:p>
        </p:txBody>
      </p:sp>
      <p:sp>
        <p:nvSpPr>
          <p:cNvPr id="18" name="Text 12"/>
          <p:cNvSpPr/>
          <p:nvPr/>
        </p:nvSpPr>
        <p:spPr>
          <a:xfrm>
            <a:off x="9823785" y="3431013"/>
            <a:ext cx="1788734" cy="852462"/>
          </a:xfrm>
          <a:prstGeom prst="rect">
            <a:avLst/>
          </a:prstGeom>
          <a:solidFill>
            <a:srgbClr val="FFFFFF"/>
          </a:solidFill>
          <a:ln w="15240">
            <a:solidFill>
              <a:srgbClr val="B04174"/>
            </a:solidFill>
            <a:round/>
          </a:ln>
          <a:effectLst>
            <a:outerShdw blurRad="12600" dist="50402" dir="2700000" algn="bl" rotWithShape="0">
              <a:srgbClr val="D9D7E0">
                <a:alpha val="30000"/>
              </a:srgbClr>
            </a:outerShdw>
          </a:effectLst>
        </p:spPr>
        <p:style>
          <a:lnRef idx="0">
            <a:scrgbClr r="0" g="0" b="0"/>
          </a:lnRef>
          <a:fillRef idx="0">
            <a:scrgbClr r="0" g="0" b="0"/>
          </a:fillRef>
          <a:effectRef idx="0">
            <a:scrgbClr r="0" g="0" b="0"/>
          </a:effectRef>
          <a:fontRef idx="minor"/>
        </p:style>
        <p:txBody>
          <a:bodyPr lIns="90000" tIns="45000" rIns="90000" bIns="45000" anchor="ctr">
            <a:normAutofit/>
          </a:bodyPr>
          <a:lstStyle/>
          <a:p>
            <a:pPr algn="ctr" defTabSz="914400">
              <a:lnSpc>
                <a:spcPct val="100000"/>
              </a:lnSpc>
              <a:tabLst>
                <a:tab pos="0" algn="l"/>
              </a:tabLst>
            </a:pPr>
            <a:r>
              <a:rPr lang="en-US" sz="1200" b="1" u="none" strike="noStrike">
                <a:solidFill>
                  <a:srgbClr val="171528"/>
                </a:solidFill>
                <a:effectLst/>
                <a:uFillTx/>
                <a:latin typeface="Aptos"/>
                <a:ea typeface="Aptos"/>
              </a:rPr>
              <a:t>Broker B</a:t>
            </a:r>
            <a:endParaRPr lang="en-US" sz="1200" b="0" u="none" strike="noStrike">
              <a:solidFill>
                <a:srgbClr val="000000"/>
              </a:solidFill>
              <a:effectLst/>
              <a:uFillTx/>
              <a:latin typeface="Arial"/>
            </a:endParaRPr>
          </a:p>
          <a:p>
            <a:pPr algn="ctr" defTabSz="914400">
              <a:lnSpc>
                <a:spcPct val="100000"/>
              </a:lnSpc>
              <a:tabLst>
                <a:tab pos="0" algn="l"/>
              </a:tabLst>
            </a:pPr>
            <a:endParaRPr lang="en-US" sz="1200" b="0" u="none" strike="noStrike">
              <a:solidFill>
                <a:srgbClr val="000000"/>
              </a:solidFill>
              <a:effectLst/>
              <a:uFillTx/>
              <a:latin typeface="Arial"/>
            </a:endParaRPr>
          </a:p>
          <a:p>
            <a:pPr algn="ctr" defTabSz="914400">
              <a:lnSpc>
                <a:spcPct val="100000"/>
              </a:lnSpc>
              <a:tabLst>
                <a:tab pos="0" algn="l"/>
              </a:tabLst>
            </a:pPr>
            <a:r>
              <a:rPr lang="en-US" sz="1200" b="0" u="none" strike="noStrike">
                <a:solidFill>
                  <a:srgbClr val="6C6787"/>
                </a:solidFill>
                <a:effectLst/>
                <a:uFillTx/>
                <a:latin typeface="Aptos"/>
                <a:ea typeface="Aptos"/>
              </a:rPr>
              <a:t>aporta propiedad</a:t>
            </a:r>
            <a:endParaRPr lang="en-US" sz="1200" b="0" u="none" strike="noStrike">
              <a:solidFill>
                <a:srgbClr val="000000"/>
              </a:solidFill>
              <a:effectLst/>
              <a:uFillTx/>
              <a:latin typeface="Arial"/>
            </a:endParaRPr>
          </a:p>
        </p:txBody>
      </p:sp>
      <p:sp>
        <p:nvSpPr>
          <p:cNvPr id="19" name="Text 13"/>
          <p:cNvSpPr/>
          <p:nvPr/>
        </p:nvSpPr>
        <p:spPr>
          <a:xfrm>
            <a:off x="9773564" y="4610876"/>
            <a:ext cx="1838955" cy="1012902"/>
          </a:xfrm>
          <a:prstGeom prst="rect">
            <a:avLst/>
          </a:prstGeom>
          <a:solidFill>
            <a:srgbClr val="FFFFFF"/>
          </a:solidFill>
          <a:ln w="15240">
            <a:solidFill>
              <a:srgbClr val="008E57"/>
            </a:solidFill>
            <a:round/>
          </a:ln>
          <a:effectLst>
            <a:outerShdw blurRad="12600" dist="50402" dir="2700000" algn="bl" rotWithShape="0">
              <a:srgbClr val="D9D7E0">
                <a:alpha val="30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dirty="0" err="1">
                <a:solidFill>
                  <a:srgbClr val="171528"/>
                </a:solidFill>
                <a:effectLst/>
                <a:uFillTx/>
                <a:latin typeface="Aptos"/>
                <a:ea typeface="Aptos"/>
              </a:rPr>
              <a:t>Oportunidad</a:t>
            </a:r>
            <a:endParaRPr lang="en-US" sz="1200" b="0" u="none" strike="noStrike" dirty="0">
              <a:solidFill>
                <a:srgbClr val="000000"/>
              </a:solidFill>
              <a:effectLst/>
              <a:uFillTx/>
              <a:latin typeface="Arial"/>
            </a:endParaRPr>
          </a:p>
          <a:p>
            <a:pPr algn="ctr" defTabSz="914400">
              <a:lnSpc>
                <a:spcPct val="100000"/>
              </a:lnSpc>
              <a:tabLst>
                <a:tab pos="0" algn="l"/>
              </a:tabLst>
            </a:pPr>
            <a:r>
              <a:rPr lang="en-US" sz="1200" b="1" u="none" strike="noStrike" dirty="0" err="1">
                <a:solidFill>
                  <a:srgbClr val="171528"/>
                </a:solidFill>
                <a:effectLst/>
                <a:uFillTx/>
                <a:latin typeface="Aptos"/>
                <a:ea typeface="Aptos"/>
              </a:rPr>
              <a:t>compartida</a:t>
            </a:r>
            <a:endParaRPr lang="en-US" sz="1200" b="0" u="none" strike="noStrike" dirty="0">
              <a:solidFill>
                <a:srgbClr val="000000"/>
              </a:solidFill>
              <a:effectLst/>
              <a:uFillTx/>
              <a:latin typeface="Arial"/>
            </a:endParaRPr>
          </a:p>
          <a:p>
            <a:pPr algn="ctr" defTabSz="914400">
              <a:lnSpc>
                <a:spcPct val="100000"/>
              </a:lnSpc>
              <a:tabLst>
                <a:tab pos="0" algn="l"/>
              </a:tabLst>
            </a:pPr>
            <a:endParaRPr lang="en-US" sz="1200" b="0" u="none" strike="noStrike" dirty="0">
              <a:solidFill>
                <a:srgbClr val="000000"/>
              </a:solidFill>
              <a:effectLst/>
              <a:uFillTx/>
              <a:latin typeface="Arial"/>
            </a:endParaRPr>
          </a:p>
          <a:p>
            <a:pPr defTabSz="914400">
              <a:lnSpc>
                <a:spcPct val="100000"/>
              </a:lnSpc>
              <a:tabLst>
                <a:tab pos="0" algn="l"/>
              </a:tabLst>
            </a:pPr>
            <a:r>
              <a:rPr lang="en-US" sz="1200" b="0" u="none" strike="noStrike" dirty="0">
                <a:solidFill>
                  <a:srgbClr val="6C6787"/>
                </a:solidFill>
                <a:effectLst/>
                <a:uFillTx/>
                <a:latin typeface="Aptos"/>
                <a:ea typeface="Aptos"/>
              </a:rPr>
              <a:t>A </a:t>
            </a:r>
            <a:r>
              <a:rPr lang="en-US" sz="1200" b="0" u="none" strike="noStrike" dirty="0" err="1">
                <a:solidFill>
                  <a:srgbClr val="6C6787"/>
                </a:solidFill>
                <a:effectLst/>
                <a:uFillTx/>
                <a:latin typeface="Aptos"/>
                <a:ea typeface="Aptos"/>
              </a:rPr>
              <a:t>representa</a:t>
            </a:r>
            <a:r>
              <a:rPr lang="en-US" sz="1200" b="0" u="none" strike="noStrike" dirty="0">
                <a:solidFill>
                  <a:srgbClr val="6C6787"/>
                </a:solidFill>
                <a:effectLst/>
                <a:uFillTx/>
                <a:latin typeface="Aptos"/>
                <a:ea typeface="Aptos"/>
              </a:rPr>
              <a:t> </a:t>
            </a:r>
            <a:r>
              <a:rPr lang="en-US" sz="1200" b="0" u="none" strike="noStrike" dirty="0" err="1">
                <a:solidFill>
                  <a:srgbClr val="6C6787"/>
                </a:solidFill>
                <a:effectLst/>
                <a:uFillTx/>
                <a:latin typeface="Aptos"/>
                <a:ea typeface="Aptos"/>
              </a:rPr>
              <a:t>demanda</a:t>
            </a:r>
            <a:r>
              <a:rPr lang="en-US" sz="1200" b="0" u="none" strike="noStrike" dirty="0">
                <a:solidFill>
                  <a:srgbClr val="6C6787"/>
                </a:solidFill>
                <a:effectLst/>
                <a:uFillTx/>
                <a:latin typeface="Aptos"/>
                <a:ea typeface="Aptos"/>
              </a:rPr>
              <a:t> · </a:t>
            </a:r>
          </a:p>
          <a:p>
            <a:pPr defTabSz="914400">
              <a:lnSpc>
                <a:spcPct val="100000"/>
              </a:lnSpc>
              <a:tabLst>
                <a:tab pos="0" algn="l"/>
              </a:tabLst>
            </a:pPr>
            <a:r>
              <a:rPr lang="en-US" sz="1200" b="0" u="none" strike="noStrike" dirty="0">
                <a:solidFill>
                  <a:srgbClr val="6C6787"/>
                </a:solidFill>
                <a:effectLst/>
                <a:uFillTx/>
                <a:latin typeface="Aptos"/>
                <a:ea typeface="Aptos"/>
              </a:rPr>
              <a:t>B </a:t>
            </a:r>
            <a:r>
              <a:rPr lang="en-US" sz="1200" b="0" u="none" strike="noStrike" dirty="0" err="1">
                <a:solidFill>
                  <a:srgbClr val="6C6787"/>
                </a:solidFill>
                <a:effectLst/>
                <a:uFillTx/>
                <a:latin typeface="Aptos"/>
                <a:ea typeface="Aptos"/>
              </a:rPr>
              <a:t>representa</a:t>
            </a:r>
            <a:r>
              <a:rPr lang="en-US" sz="1200" b="0" u="none" strike="noStrike" dirty="0">
                <a:solidFill>
                  <a:srgbClr val="6C6787"/>
                </a:solidFill>
                <a:effectLst/>
                <a:uFillTx/>
                <a:latin typeface="Aptos"/>
                <a:ea typeface="Aptos"/>
              </a:rPr>
              <a:t> </a:t>
            </a:r>
            <a:r>
              <a:rPr lang="en-US" sz="1200" b="0" u="none" strike="noStrike" dirty="0" err="1">
                <a:solidFill>
                  <a:srgbClr val="6C6787"/>
                </a:solidFill>
                <a:effectLst/>
                <a:uFillTx/>
                <a:latin typeface="Aptos"/>
                <a:ea typeface="Aptos"/>
              </a:rPr>
              <a:t>propiedad</a:t>
            </a:r>
            <a:endParaRPr lang="en-US" sz="1200" b="0" u="none" strike="noStrike" dirty="0">
              <a:solidFill>
                <a:srgbClr val="000000"/>
              </a:solidFill>
              <a:effectLst/>
              <a:uFillTx/>
              <a:latin typeface="Arial"/>
            </a:endParaRPr>
          </a:p>
        </p:txBody>
      </p:sp>
      <p:sp>
        <p:nvSpPr>
          <p:cNvPr id="20" name="Shape 14"/>
          <p:cNvSpPr/>
          <p:nvPr/>
        </p:nvSpPr>
        <p:spPr>
          <a:xfrm>
            <a:off x="3151915" y="2808811"/>
            <a:ext cx="613970" cy="360"/>
          </a:xfrm>
          <a:prstGeom prst="line">
            <a:avLst/>
          </a:prstGeom>
          <a:ln w="21590">
            <a:solidFill>
              <a:srgbClr val="5B2BD9"/>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200" b="0" u="none" strike="noStrike">
              <a:solidFill>
                <a:srgbClr val="000000"/>
              </a:solidFill>
              <a:effectLst/>
              <a:uFillTx/>
              <a:latin typeface="Arial"/>
            </a:endParaRPr>
          </a:p>
        </p:txBody>
      </p:sp>
      <p:sp>
        <p:nvSpPr>
          <p:cNvPr id="21" name="Shape 15"/>
          <p:cNvSpPr/>
          <p:nvPr/>
        </p:nvSpPr>
        <p:spPr>
          <a:xfrm>
            <a:off x="6006165" y="2808811"/>
            <a:ext cx="594360" cy="0"/>
          </a:xfrm>
          <a:prstGeom prst="line">
            <a:avLst/>
          </a:prstGeom>
          <a:ln w="21590">
            <a:solidFill>
              <a:srgbClr val="5B2BD9"/>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200" b="0" u="none" strike="noStrike">
              <a:solidFill>
                <a:srgbClr val="000000"/>
              </a:solidFill>
              <a:effectLst/>
              <a:uFillTx/>
              <a:latin typeface="Arial"/>
            </a:endParaRPr>
          </a:p>
        </p:txBody>
      </p:sp>
      <p:sp>
        <p:nvSpPr>
          <p:cNvPr id="22" name="Shape 16"/>
          <p:cNvSpPr/>
          <p:nvPr/>
        </p:nvSpPr>
        <p:spPr>
          <a:xfrm>
            <a:off x="7860943" y="3392342"/>
            <a:ext cx="360" cy="237600"/>
          </a:xfrm>
          <a:prstGeom prst="line">
            <a:avLst/>
          </a:prstGeom>
          <a:ln w="19050">
            <a:solidFill>
              <a:srgbClr val="00B05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200" b="0" u="none" strike="noStrike">
              <a:solidFill>
                <a:srgbClr val="000000"/>
              </a:solidFill>
              <a:effectLst/>
              <a:uFillTx/>
              <a:latin typeface="Arial"/>
            </a:endParaRPr>
          </a:p>
        </p:txBody>
      </p:sp>
      <p:sp>
        <p:nvSpPr>
          <p:cNvPr id="23" name="Shape 17"/>
          <p:cNvSpPr/>
          <p:nvPr/>
        </p:nvSpPr>
        <p:spPr>
          <a:xfrm flipH="1">
            <a:off x="9188205" y="3779181"/>
            <a:ext cx="539280" cy="548640"/>
          </a:xfrm>
          <a:prstGeom prst="line">
            <a:avLst/>
          </a:prstGeom>
          <a:ln w="19050">
            <a:solidFill>
              <a:srgbClr val="F7931E"/>
            </a:solidFill>
            <a:prstDash val="sysDash"/>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200" b="0" u="none" strike="noStrike">
              <a:solidFill>
                <a:srgbClr val="000000"/>
              </a:solidFill>
              <a:effectLst/>
              <a:uFillTx/>
              <a:latin typeface="Arial"/>
            </a:endParaRPr>
          </a:p>
        </p:txBody>
      </p:sp>
      <p:sp>
        <p:nvSpPr>
          <p:cNvPr id="24" name="Shape 18"/>
          <p:cNvSpPr/>
          <p:nvPr/>
        </p:nvSpPr>
        <p:spPr>
          <a:xfrm>
            <a:off x="9188205" y="4483341"/>
            <a:ext cx="511920" cy="548640"/>
          </a:xfrm>
          <a:prstGeom prst="line">
            <a:avLst/>
          </a:prstGeom>
          <a:ln w="19050">
            <a:solidFill>
              <a:srgbClr val="008E57"/>
            </a:solidFill>
            <a:prstDash val="sysDash"/>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200" b="0" u="none" strike="noStrike">
              <a:solidFill>
                <a:srgbClr val="000000"/>
              </a:solidFill>
              <a:effectLst/>
              <a:uFillTx/>
              <a:latin typeface="Arial"/>
            </a:endParaRPr>
          </a:p>
        </p:txBody>
      </p:sp>
      <p:sp>
        <p:nvSpPr>
          <p:cNvPr id="25" name="Text 19"/>
          <p:cNvSpPr/>
          <p:nvPr/>
        </p:nvSpPr>
        <p:spPr>
          <a:xfrm>
            <a:off x="6749570" y="3632226"/>
            <a:ext cx="2216150" cy="204802"/>
          </a:xfrm>
          <a:prstGeom prst="rect">
            <a:avLst/>
          </a:prstGeom>
          <a:solidFill>
            <a:srgbClr val="F2ECFF"/>
          </a:solidFill>
          <a:ln w="0">
            <a:solidFill>
              <a:srgbClr val="F2ECFF">
                <a:alpha val="0"/>
              </a:srgbClr>
            </a:solid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200" b="1" u="none" strike="noStrike" dirty="0" err="1">
                <a:solidFill>
                  <a:srgbClr val="5B2BD9"/>
                </a:solidFill>
                <a:effectLst/>
                <a:uFillTx/>
                <a:latin typeface="Aptos"/>
                <a:ea typeface="Aptos"/>
              </a:rPr>
              <a:t>si</a:t>
            </a:r>
            <a:r>
              <a:rPr lang="en-US" sz="1200" b="1" u="none" strike="noStrike" dirty="0">
                <a:solidFill>
                  <a:srgbClr val="5B2BD9"/>
                </a:solidFill>
                <a:effectLst/>
                <a:uFillTx/>
                <a:latin typeface="Aptos"/>
                <a:ea typeface="Aptos"/>
              </a:rPr>
              <a:t> no hay match </a:t>
            </a:r>
            <a:r>
              <a:rPr lang="en-US" sz="1200" b="1" u="none" strike="noStrike" dirty="0" err="1">
                <a:solidFill>
                  <a:srgbClr val="5B2BD9"/>
                </a:solidFill>
                <a:effectLst/>
                <a:uFillTx/>
                <a:latin typeface="Aptos"/>
                <a:ea typeface="Aptos"/>
              </a:rPr>
              <a:t>suficiente</a:t>
            </a:r>
            <a:endParaRPr lang="en-US" sz="1200" b="0" u="none" strike="noStrike" dirty="0">
              <a:solidFill>
                <a:srgbClr val="000000"/>
              </a:solidFill>
              <a:effectLst/>
              <a:uFillTx/>
              <a:latin typeface="Arial"/>
            </a:endParaRPr>
          </a:p>
        </p:txBody>
      </p:sp>
      <p:sp>
        <p:nvSpPr>
          <p:cNvPr id="26" name="Text 20"/>
          <p:cNvSpPr/>
          <p:nvPr/>
        </p:nvSpPr>
        <p:spPr>
          <a:xfrm>
            <a:off x="567001" y="5788298"/>
            <a:ext cx="11045518" cy="612502"/>
          </a:xfrm>
          <a:prstGeom prst="rect">
            <a:avLst/>
          </a:prstGeom>
          <a:solidFill>
            <a:srgbClr val="EEE8FF"/>
          </a:solidFill>
          <a:ln w="0">
            <a:solidFill>
              <a:srgbClr val="EEE8FF">
                <a:alpha val="0"/>
              </a:srgbClr>
            </a:solid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dirty="0">
                <a:solidFill>
                  <a:srgbClr val="5B2BD9"/>
                </a:solidFill>
                <a:effectLst/>
                <a:uFillTx/>
                <a:latin typeface="Aptos"/>
                <a:ea typeface="Aptos"/>
              </a:rPr>
              <a:t>Más </a:t>
            </a:r>
            <a:r>
              <a:rPr lang="en-US" sz="1500" b="1" u="none" strike="noStrike" dirty="0" err="1">
                <a:solidFill>
                  <a:srgbClr val="5B2BD9"/>
                </a:solidFill>
                <a:effectLst/>
                <a:uFillTx/>
                <a:latin typeface="Aptos"/>
                <a:ea typeface="Aptos"/>
              </a:rPr>
              <a:t>participantes</a:t>
            </a:r>
            <a:r>
              <a:rPr lang="en-US" sz="1500" b="1" u="none" strike="noStrike" dirty="0">
                <a:solidFill>
                  <a:srgbClr val="5B2BD9"/>
                </a:solidFill>
                <a:effectLst/>
                <a:uFillTx/>
                <a:latin typeface="Aptos"/>
                <a:ea typeface="Aptos"/>
              </a:rPr>
              <a:t> → más </a:t>
            </a:r>
            <a:r>
              <a:rPr lang="en-US" sz="1500" b="1" u="none" strike="noStrike" dirty="0" err="1">
                <a:solidFill>
                  <a:srgbClr val="5B2BD9"/>
                </a:solidFill>
                <a:effectLst/>
                <a:uFillTx/>
                <a:latin typeface="Aptos"/>
                <a:ea typeface="Aptos"/>
              </a:rPr>
              <a:t>inventario</a:t>
            </a:r>
            <a:r>
              <a:rPr lang="en-US" sz="1500" b="1" u="none" strike="noStrike" dirty="0">
                <a:solidFill>
                  <a:srgbClr val="5B2BD9"/>
                </a:solidFill>
                <a:effectLst/>
                <a:uFillTx/>
                <a:latin typeface="Aptos"/>
                <a:ea typeface="Aptos"/>
              </a:rPr>
              <a:t> + </a:t>
            </a:r>
            <a:r>
              <a:rPr lang="en-US" sz="1500" b="1" u="none" strike="noStrike" dirty="0" err="1">
                <a:solidFill>
                  <a:srgbClr val="5B2BD9"/>
                </a:solidFill>
                <a:effectLst/>
                <a:uFillTx/>
                <a:latin typeface="Aptos"/>
                <a:ea typeface="Aptos"/>
              </a:rPr>
              <a:t>demanda</a:t>
            </a:r>
            <a:r>
              <a:rPr lang="en-US" sz="1500" b="1" u="none" strike="noStrike" dirty="0">
                <a:solidFill>
                  <a:srgbClr val="5B2BD9"/>
                </a:solidFill>
                <a:effectLst/>
                <a:uFillTx/>
                <a:latin typeface="Aptos"/>
                <a:ea typeface="Aptos"/>
              </a:rPr>
              <a:t> → </a:t>
            </a:r>
            <a:r>
              <a:rPr lang="en-US" sz="1500" b="1" u="none" strike="noStrike" dirty="0" err="1">
                <a:solidFill>
                  <a:srgbClr val="5B2BD9"/>
                </a:solidFill>
                <a:effectLst/>
                <a:uFillTx/>
                <a:latin typeface="Aptos"/>
                <a:ea typeface="Aptos"/>
              </a:rPr>
              <a:t>mejores</a:t>
            </a:r>
            <a:r>
              <a:rPr lang="en-US" sz="1500" b="1" u="none" strike="noStrike" dirty="0">
                <a:solidFill>
                  <a:srgbClr val="5B2BD9"/>
                </a:solidFill>
                <a:effectLst/>
                <a:uFillTx/>
                <a:latin typeface="Aptos"/>
                <a:ea typeface="Aptos"/>
              </a:rPr>
              <a:t> matches → más </a:t>
            </a:r>
            <a:r>
              <a:rPr lang="en-US" sz="1500" b="1" u="none" strike="noStrike" dirty="0" err="1">
                <a:solidFill>
                  <a:srgbClr val="5B2BD9"/>
                </a:solidFill>
                <a:effectLst/>
                <a:uFillTx/>
                <a:latin typeface="Aptos"/>
                <a:ea typeface="Aptos"/>
              </a:rPr>
              <a:t>oportunidades</a:t>
            </a:r>
            <a:r>
              <a:rPr lang="en-US" sz="1500" b="1" u="none" strike="noStrike" dirty="0">
                <a:solidFill>
                  <a:srgbClr val="5B2BD9"/>
                </a:solidFill>
                <a:effectLst/>
                <a:uFillTx/>
                <a:latin typeface="Aptos"/>
                <a:ea typeface="Aptos"/>
              </a:rPr>
              <a:t> </a:t>
            </a:r>
            <a:r>
              <a:rPr lang="en-US" sz="1500" b="1" u="none" strike="noStrike" dirty="0" err="1">
                <a:solidFill>
                  <a:srgbClr val="5B2BD9"/>
                </a:solidFill>
                <a:effectLst/>
                <a:uFillTx/>
                <a:latin typeface="Aptos"/>
                <a:ea typeface="Aptos"/>
              </a:rPr>
              <a:t>compartidas</a:t>
            </a:r>
            <a:r>
              <a:rPr lang="en-US" sz="1500" b="1" u="none" strike="noStrike" dirty="0">
                <a:solidFill>
                  <a:srgbClr val="5B2BD9"/>
                </a:solidFill>
                <a:effectLst/>
                <a:uFillTx/>
                <a:latin typeface="Aptos"/>
                <a:ea typeface="Aptos"/>
              </a:rPr>
              <a:t> → más valor </a:t>
            </a:r>
            <a:r>
              <a:rPr lang="en-US" sz="1500" b="1" u="none" strike="noStrike" dirty="0" err="1">
                <a:solidFill>
                  <a:srgbClr val="5B2BD9"/>
                </a:solidFill>
                <a:effectLst/>
                <a:uFillTx/>
                <a:latin typeface="Aptos"/>
                <a:ea typeface="Aptos"/>
              </a:rPr>
              <a:t>por</a:t>
            </a:r>
            <a:r>
              <a:rPr lang="en-US" sz="1500" b="1" u="none" strike="noStrike" dirty="0">
                <a:solidFill>
                  <a:srgbClr val="5B2BD9"/>
                </a:solidFill>
                <a:effectLst/>
                <a:uFillTx/>
                <a:latin typeface="Aptos"/>
                <a:ea typeface="Aptos"/>
              </a:rPr>
              <a:t> </a:t>
            </a:r>
            <a:r>
              <a:rPr lang="en-US" sz="1500" b="1" u="none" strike="noStrike" dirty="0" err="1">
                <a:solidFill>
                  <a:srgbClr val="5B2BD9"/>
                </a:solidFill>
                <a:effectLst/>
                <a:uFillTx/>
                <a:latin typeface="Aptos"/>
                <a:ea typeface="Aptos"/>
              </a:rPr>
              <a:t>participar</a:t>
            </a:r>
            <a:r>
              <a:rPr lang="en-US" sz="1500" b="1" u="none" strike="noStrike" dirty="0">
                <a:solidFill>
                  <a:srgbClr val="5B2BD9"/>
                </a:solidFill>
                <a:effectLst/>
                <a:uFillTx/>
                <a:latin typeface="Aptos"/>
                <a:ea typeface="Aptos"/>
              </a:rPr>
              <a:t>  </a:t>
            </a:r>
            <a:endParaRPr lang="en-US" sz="1500" b="0" u="none" strike="noStrike" dirty="0">
              <a:solidFill>
                <a:srgbClr val="000000"/>
              </a:solidFill>
              <a:effectLst/>
              <a:uFillTx/>
              <a:latin typeface="Arial"/>
            </a:endParaRPr>
          </a:p>
        </p:txBody>
      </p:sp>
      <p:pic>
        <p:nvPicPr>
          <p:cNvPr id="3" name="Image 0" descr="/mnt/data/ungga_logo_purple.png">
            <a:extLst>
              <a:ext uri="{FF2B5EF4-FFF2-40B4-BE49-F238E27FC236}">
                <a16:creationId xmlns:a16="http://schemas.microsoft.com/office/drawing/2014/main" id="{FE53B8F7-DEBA-1DA4-351F-BE4FA30494BE}"/>
              </a:ext>
            </a:extLst>
          </p:cNvPr>
          <p:cNvPicPr>
            <a:picLocks noChangeAspect="1"/>
          </p:cNvPicPr>
          <p:nvPr/>
        </p:nvPicPr>
        <p:blipFill>
          <a:blip r:embed="rId3"/>
          <a:stretch>
            <a:fillRect/>
          </a:stretch>
        </p:blipFill>
        <p:spPr>
          <a:xfrm>
            <a:off x="11109960" y="449715"/>
            <a:ext cx="566928" cy="47217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539" name="Shape 0"/>
          <p:cNvSpPr/>
          <p:nvPr/>
        </p:nvSpPr>
        <p:spPr>
          <a:xfrm>
            <a:off x="0" y="0"/>
            <a:ext cx="12191400" cy="63720"/>
          </a:xfrm>
          <a:prstGeom prst="rect">
            <a:avLst/>
          </a:prstGeom>
          <a:solidFill>
            <a:srgbClr val="5F2CCB"/>
          </a:solidFill>
          <a:ln w="12700">
            <a:solidFill>
              <a:srgbClr val="5F2CCB">
                <a:alpha val="0"/>
              </a:srgbClr>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FFFFFF"/>
              </a:solidFill>
              <a:effectLst/>
              <a:uFillTx/>
              <a:latin typeface="Arial"/>
            </a:endParaRPr>
          </a:p>
        </p:txBody>
      </p:sp>
      <p:sp>
        <p:nvSpPr>
          <p:cNvPr id="540" name="Text 1"/>
          <p:cNvSpPr/>
          <p:nvPr/>
        </p:nvSpPr>
        <p:spPr>
          <a:xfrm>
            <a:off x="567000" y="381090"/>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dirty="0">
                <a:solidFill>
                  <a:srgbClr val="5F2CCB"/>
                </a:solidFill>
                <a:effectLst/>
                <a:uFillTx/>
                <a:latin typeface="Aptos"/>
                <a:ea typeface="Aptos"/>
              </a:rPr>
              <a:t>ACTUAL → SIGUIENTE → VISIÓN</a:t>
            </a:r>
            <a:endParaRPr lang="en-US" sz="1200" b="0" u="none" strike="noStrike" dirty="0">
              <a:solidFill>
                <a:srgbClr val="000000"/>
              </a:solidFill>
              <a:effectLst/>
              <a:uFillTx/>
              <a:latin typeface="Arial"/>
            </a:endParaRPr>
          </a:p>
        </p:txBody>
      </p:sp>
      <p:sp>
        <p:nvSpPr>
          <p:cNvPr id="541" name="Text 2"/>
          <p:cNvSpPr/>
          <p:nvPr/>
        </p:nvSpPr>
        <p:spPr>
          <a:xfrm>
            <a:off x="567000" y="650597"/>
            <a:ext cx="10195200" cy="521937"/>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2600" b="1" u="none" strike="noStrike" dirty="0">
                <a:solidFill>
                  <a:srgbClr val="151327"/>
                </a:solidFill>
                <a:effectLst/>
                <a:uFillTx/>
                <a:latin typeface="Aptos Display"/>
                <a:ea typeface="Aptos Display"/>
              </a:rPr>
              <a:t>No </a:t>
            </a:r>
            <a:r>
              <a:rPr lang="en-US" sz="2600" b="1" u="none" strike="noStrike" dirty="0" err="1">
                <a:solidFill>
                  <a:srgbClr val="151327"/>
                </a:solidFill>
                <a:effectLst/>
                <a:uFillTx/>
                <a:latin typeface="Aptos Display"/>
                <a:ea typeface="Aptos Display"/>
              </a:rPr>
              <a:t>mezclemos</a:t>
            </a:r>
            <a:r>
              <a:rPr lang="en-US" sz="2600" b="1" u="none" strike="noStrike" dirty="0">
                <a:solidFill>
                  <a:srgbClr val="151327"/>
                </a:solidFill>
                <a:effectLst/>
                <a:uFillTx/>
                <a:latin typeface="Aptos Display"/>
                <a:ea typeface="Aptos Display"/>
              </a:rPr>
              <a:t> lo </a:t>
            </a:r>
            <a:r>
              <a:rPr lang="en-US" sz="2600" b="1" u="none" strike="noStrike" dirty="0" err="1">
                <a:solidFill>
                  <a:srgbClr val="151327"/>
                </a:solidFill>
                <a:effectLst/>
                <a:uFillTx/>
                <a:latin typeface="Aptos Display"/>
                <a:ea typeface="Aptos Display"/>
              </a:rPr>
              <a:t>que</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existe</a:t>
            </a:r>
            <a:r>
              <a:rPr lang="en-US" sz="2600" b="1" u="none" strike="noStrike" dirty="0">
                <a:solidFill>
                  <a:srgbClr val="151327"/>
                </a:solidFill>
                <a:effectLst/>
                <a:uFillTx/>
                <a:latin typeface="Aptos Display"/>
                <a:ea typeface="Aptos Display"/>
              </a:rPr>
              <a:t> con lo </a:t>
            </a:r>
            <a:r>
              <a:rPr lang="en-US" sz="2600" b="1" u="none" strike="noStrike" dirty="0" err="1">
                <a:solidFill>
                  <a:srgbClr val="151327"/>
                </a:solidFill>
                <a:effectLst/>
                <a:uFillTx/>
                <a:latin typeface="Aptos Display"/>
                <a:ea typeface="Aptos Display"/>
              </a:rPr>
              <a:t>que</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estamos</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proponiendo</a:t>
            </a:r>
            <a:r>
              <a:rPr lang="en-US" sz="2600" b="1" u="none" strike="noStrike" dirty="0">
                <a:solidFill>
                  <a:srgbClr val="151327"/>
                </a:solidFill>
                <a:effectLst/>
                <a:uFillTx/>
                <a:latin typeface="Aptos Display"/>
                <a:ea typeface="Aptos Display"/>
              </a:rPr>
              <a:t>.</a:t>
            </a:r>
            <a:endParaRPr lang="en-US" sz="2600" b="0" u="none" strike="noStrike" dirty="0">
              <a:solidFill>
                <a:srgbClr val="000000"/>
              </a:solidFill>
              <a:effectLst/>
              <a:uFillTx/>
              <a:latin typeface="Arial"/>
            </a:endParaRPr>
          </a:p>
        </p:txBody>
      </p:sp>
      <p:sp>
        <p:nvSpPr>
          <p:cNvPr id="542" name="Text 3"/>
          <p:cNvSpPr/>
          <p:nvPr/>
        </p:nvSpPr>
        <p:spPr>
          <a:xfrm>
            <a:off x="567000" y="1219952"/>
            <a:ext cx="1069812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b="0" u="none" strike="noStrike" dirty="0">
                <a:solidFill>
                  <a:srgbClr val="6F6888"/>
                </a:solidFill>
                <a:effectLst/>
                <a:uFillTx/>
                <a:latin typeface="Aptos"/>
                <a:ea typeface="Aptos"/>
              </a:rPr>
              <a:t>La </a:t>
            </a:r>
            <a:r>
              <a:rPr lang="en-US" b="0" u="none" strike="noStrike" dirty="0" err="1">
                <a:solidFill>
                  <a:srgbClr val="6F6888"/>
                </a:solidFill>
                <a:effectLst/>
                <a:uFillTx/>
                <a:latin typeface="Aptos"/>
                <a:ea typeface="Aptos"/>
              </a:rPr>
              <a:t>ambición</a:t>
            </a:r>
            <a:r>
              <a:rPr lang="en-US" b="0" u="none" strike="noStrike" dirty="0">
                <a:solidFill>
                  <a:srgbClr val="6F6888"/>
                </a:solidFill>
                <a:effectLst/>
                <a:uFillTx/>
                <a:latin typeface="Aptos"/>
                <a:ea typeface="Aptos"/>
              </a:rPr>
              <a:t> es </a:t>
            </a:r>
            <a:r>
              <a:rPr lang="en-US" b="0" u="none" strike="noStrike" dirty="0" err="1">
                <a:solidFill>
                  <a:srgbClr val="6F6888"/>
                </a:solidFill>
                <a:effectLst/>
                <a:uFillTx/>
                <a:latin typeface="Aptos"/>
                <a:ea typeface="Aptos"/>
              </a:rPr>
              <a:t>útil</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sólo</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si</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somos</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precisos</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sobre</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qué</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está</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validado</a:t>
            </a:r>
            <a:r>
              <a:rPr lang="en-US" b="0" u="none" strike="noStrike" dirty="0">
                <a:solidFill>
                  <a:srgbClr val="6F6888"/>
                </a:solidFill>
                <a:effectLst/>
                <a:uFillTx/>
                <a:latin typeface="Aptos"/>
                <a:ea typeface="Aptos"/>
              </a:rPr>
              <a:t> y </a:t>
            </a:r>
            <a:r>
              <a:rPr lang="en-US" b="0" u="none" strike="noStrike" dirty="0" err="1">
                <a:solidFill>
                  <a:srgbClr val="6F6888"/>
                </a:solidFill>
                <a:effectLst/>
                <a:uFillTx/>
                <a:latin typeface="Aptos"/>
                <a:ea typeface="Aptos"/>
              </a:rPr>
              <a:t>qué</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falta</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diseñar</a:t>
            </a:r>
            <a:r>
              <a:rPr lang="en-US" b="0" u="none" strike="noStrike" dirty="0">
                <a:solidFill>
                  <a:srgbClr val="6F6888"/>
                </a:solidFill>
                <a:effectLst/>
                <a:uFillTx/>
                <a:latin typeface="Aptos"/>
                <a:ea typeface="Aptos"/>
              </a:rPr>
              <a:t> o </a:t>
            </a:r>
            <a:r>
              <a:rPr lang="en-US" b="0" u="none" strike="noStrike" dirty="0" err="1">
                <a:solidFill>
                  <a:srgbClr val="6F6888"/>
                </a:solidFill>
                <a:effectLst/>
                <a:uFillTx/>
                <a:latin typeface="Aptos"/>
                <a:ea typeface="Aptos"/>
              </a:rPr>
              <a:t>probar</a:t>
            </a:r>
            <a:r>
              <a:rPr lang="en-US" b="0" u="none" strike="noStrike" dirty="0">
                <a:solidFill>
                  <a:srgbClr val="6F6888"/>
                </a:solidFill>
                <a:effectLst/>
                <a:uFillTx/>
                <a:latin typeface="Aptos"/>
                <a:ea typeface="Aptos"/>
              </a:rPr>
              <a:t>.</a:t>
            </a:r>
            <a:endParaRPr lang="en-US" b="0" u="none" strike="noStrike" dirty="0">
              <a:solidFill>
                <a:srgbClr val="000000"/>
              </a:solidFill>
              <a:effectLst/>
              <a:uFillTx/>
              <a:latin typeface="Arial"/>
            </a:endParaRPr>
          </a:p>
        </p:txBody>
      </p:sp>
      <p:sp>
        <p:nvSpPr>
          <p:cNvPr id="544" name="Text 5"/>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u="none" strike="noStrike">
                <a:solidFill>
                  <a:srgbClr val="7E7798"/>
                </a:solidFill>
                <a:effectLst/>
                <a:uFillTx/>
                <a:latin typeface="Aptos"/>
                <a:ea typeface="Aptos"/>
              </a:rPr>
              <a:t>CONFIDENTIAL</a:t>
            </a:r>
            <a:endParaRPr lang="en-US" sz="650" b="0" u="none" strike="noStrike">
              <a:solidFill>
                <a:srgbClr val="000000"/>
              </a:solidFill>
              <a:effectLst/>
              <a:uFillTx/>
              <a:latin typeface="Arial"/>
            </a:endParaRPr>
          </a:p>
        </p:txBody>
      </p:sp>
      <p:sp>
        <p:nvSpPr>
          <p:cNvPr id="545" name="Text 6"/>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650" b="0" u="none" strike="noStrike">
                <a:solidFill>
                  <a:srgbClr val="7E7798"/>
                </a:solidFill>
                <a:effectLst/>
                <a:uFillTx/>
                <a:latin typeface="Aptos"/>
                <a:ea typeface="Aptos"/>
              </a:rPr>
              <a:t>ungga.com</a:t>
            </a:r>
            <a:endParaRPr lang="en-US" sz="650" b="0" u="none" strike="noStrike">
              <a:solidFill>
                <a:srgbClr val="000000"/>
              </a:solidFill>
              <a:effectLst/>
              <a:uFillTx/>
              <a:latin typeface="Arial"/>
            </a:endParaRPr>
          </a:p>
        </p:txBody>
      </p:sp>
      <p:sp>
        <p:nvSpPr>
          <p:cNvPr id="546" name="Text 7"/>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b="0" u="none" strike="noStrike" dirty="0">
                <a:solidFill>
                  <a:srgbClr val="7E7798"/>
                </a:solidFill>
                <a:effectLst/>
                <a:uFillTx/>
                <a:latin typeface="Aptos"/>
                <a:ea typeface="Aptos"/>
              </a:rPr>
              <a:t>23</a:t>
            </a:r>
            <a:endParaRPr lang="en-US" sz="800" b="0" u="none" strike="noStrike" dirty="0">
              <a:solidFill>
                <a:srgbClr val="000000"/>
              </a:solidFill>
              <a:effectLst/>
              <a:uFillTx/>
              <a:latin typeface="Arial"/>
            </a:endParaRPr>
          </a:p>
        </p:txBody>
      </p:sp>
      <p:sp>
        <p:nvSpPr>
          <p:cNvPr id="547" name="Shape 8"/>
          <p:cNvSpPr/>
          <p:nvPr/>
        </p:nvSpPr>
        <p:spPr>
          <a:xfrm>
            <a:off x="594360" y="1674567"/>
            <a:ext cx="1892520" cy="347040"/>
          </a:xfrm>
          <a:prstGeom prst="roundRect">
            <a:avLst>
              <a:gd name="adj" fmla="val 21053"/>
            </a:avLst>
          </a:prstGeom>
          <a:solidFill>
            <a:srgbClr val="E8E3F7"/>
          </a:solidFill>
          <a:ln w="12700">
            <a:solidFill>
              <a:srgbClr val="E8E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000000"/>
              </a:solidFill>
              <a:effectLst/>
              <a:uFillTx/>
              <a:latin typeface="Arial"/>
            </a:endParaRPr>
          </a:p>
        </p:txBody>
      </p:sp>
      <p:sp>
        <p:nvSpPr>
          <p:cNvPr id="548" name="Text 9"/>
          <p:cNvSpPr/>
          <p:nvPr/>
        </p:nvSpPr>
        <p:spPr>
          <a:xfrm>
            <a:off x="640080" y="1729647"/>
            <a:ext cx="180108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5F2CCB"/>
                </a:solidFill>
                <a:effectLst/>
                <a:uFillTx/>
                <a:latin typeface="Aptos"/>
                <a:ea typeface="Aptos"/>
              </a:rPr>
              <a:t>Área</a:t>
            </a:r>
            <a:endParaRPr lang="en-US" sz="1400" b="0" u="none" strike="noStrike">
              <a:solidFill>
                <a:srgbClr val="000000"/>
              </a:solidFill>
              <a:effectLst/>
              <a:uFillTx/>
              <a:latin typeface="Arial"/>
            </a:endParaRPr>
          </a:p>
        </p:txBody>
      </p:sp>
      <p:sp>
        <p:nvSpPr>
          <p:cNvPr id="549" name="Shape 10"/>
          <p:cNvSpPr/>
          <p:nvPr/>
        </p:nvSpPr>
        <p:spPr>
          <a:xfrm>
            <a:off x="2560320" y="1674567"/>
            <a:ext cx="2761200" cy="347040"/>
          </a:xfrm>
          <a:prstGeom prst="roundRect">
            <a:avLst>
              <a:gd name="adj" fmla="val 21053"/>
            </a:avLst>
          </a:prstGeom>
          <a:solidFill>
            <a:srgbClr val="20143D"/>
          </a:solidFill>
          <a:ln w="12700">
            <a:solidFill>
              <a:srgbClr val="20143D">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FFFFFF"/>
              </a:solidFill>
              <a:effectLst/>
              <a:uFillTx/>
              <a:latin typeface="Arial"/>
            </a:endParaRPr>
          </a:p>
        </p:txBody>
      </p:sp>
      <p:sp>
        <p:nvSpPr>
          <p:cNvPr id="550" name="Text 11"/>
          <p:cNvSpPr/>
          <p:nvPr/>
        </p:nvSpPr>
        <p:spPr>
          <a:xfrm>
            <a:off x="2606040" y="1729647"/>
            <a:ext cx="266976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dirty="0">
                <a:solidFill>
                  <a:srgbClr val="FFFFFF"/>
                </a:solidFill>
                <a:latin typeface="Aptos"/>
              </a:rPr>
              <a:t>ACTUAL</a:t>
            </a:r>
            <a:endParaRPr lang="en-US" sz="1400" b="0" u="none" strike="noStrike" dirty="0">
              <a:solidFill>
                <a:srgbClr val="000000"/>
              </a:solidFill>
              <a:effectLst/>
              <a:uFillTx/>
              <a:latin typeface="Arial"/>
            </a:endParaRPr>
          </a:p>
        </p:txBody>
      </p:sp>
      <p:sp>
        <p:nvSpPr>
          <p:cNvPr id="551" name="Shape 12"/>
          <p:cNvSpPr/>
          <p:nvPr/>
        </p:nvSpPr>
        <p:spPr>
          <a:xfrm>
            <a:off x="5394960" y="1674567"/>
            <a:ext cx="3081240" cy="347040"/>
          </a:xfrm>
          <a:prstGeom prst="roundRect">
            <a:avLst>
              <a:gd name="adj" fmla="val 21053"/>
            </a:avLst>
          </a:prstGeom>
          <a:solidFill>
            <a:srgbClr val="20143D"/>
          </a:solidFill>
          <a:ln w="12700">
            <a:solidFill>
              <a:srgbClr val="20143D">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FFFFFF"/>
              </a:solidFill>
              <a:effectLst/>
              <a:uFillTx/>
              <a:latin typeface="Arial"/>
            </a:endParaRPr>
          </a:p>
        </p:txBody>
      </p:sp>
      <p:sp>
        <p:nvSpPr>
          <p:cNvPr id="552" name="Text 13"/>
          <p:cNvSpPr/>
          <p:nvPr/>
        </p:nvSpPr>
        <p:spPr>
          <a:xfrm>
            <a:off x="5440680" y="1729647"/>
            <a:ext cx="29898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dirty="0">
                <a:solidFill>
                  <a:srgbClr val="FFFFFF"/>
                </a:solidFill>
                <a:effectLst/>
                <a:uFillTx/>
                <a:latin typeface="Aptos"/>
                <a:ea typeface="Aptos"/>
              </a:rPr>
              <a:t>SIGUIENTE</a:t>
            </a:r>
            <a:endParaRPr lang="en-US" sz="1400" b="0" u="none" strike="noStrike" dirty="0">
              <a:solidFill>
                <a:srgbClr val="000000"/>
              </a:solidFill>
              <a:effectLst/>
              <a:uFillTx/>
              <a:latin typeface="Arial"/>
            </a:endParaRPr>
          </a:p>
        </p:txBody>
      </p:sp>
      <p:sp>
        <p:nvSpPr>
          <p:cNvPr id="553" name="Shape 14"/>
          <p:cNvSpPr/>
          <p:nvPr/>
        </p:nvSpPr>
        <p:spPr>
          <a:xfrm>
            <a:off x="8549640" y="1674567"/>
            <a:ext cx="3081240" cy="347040"/>
          </a:xfrm>
          <a:prstGeom prst="roundRect">
            <a:avLst>
              <a:gd name="adj" fmla="val 21053"/>
            </a:avLst>
          </a:prstGeom>
          <a:solidFill>
            <a:srgbClr val="20143D"/>
          </a:solidFill>
          <a:ln w="12700">
            <a:solidFill>
              <a:srgbClr val="20143D">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FFFFFF"/>
              </a:solidFill>
              <a:effectLst/>
              <a:uFillTx/>
              <a:latin typeface="Arial"/>
            </a:endParaRPr>
          </a:p>
        </p:txBody>
      </p:sp>
      <p:sp>
        <p:nvSpPr>
          <p:cNvPr id="554" name="Text 15"/>
          <p:cNvSpPr/>
          <p:nvPr/>
        </p:nvSpPr>
        <p:spPr>
          <a:xfrm>
            <a:off x="8595360" y="1729647"/>
            <a:ext cx="29898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dirty="0">
                <a:solidFill>
                  <a:srgbClr val="FFFFFF"/>
                </a:solidFill>
                <a:effectLst/>
                <a:uFillTx/>
                <a:latin typeface="Aptos"/>
                <a:ea typeface="Aptos"/>
              </a:rPr>
              <a:t>VISIÓN</a:t>
            </a:r>
            <a:endParaRPr lang="en-US" sz="1400" b="0" u="none" strike="noStrike" dirty="0">
              <a:solidFill>
                <a:srgbClr val="000000"/>
              </a:solidFill>
              <a:effectLst/>
              <a:uFillTx/>
              <a:latin typeface="Arial"/>
            </a:endParaRPr>
          </a:p>
        </p:txBody>
      </p:sp>
      <p:sp>
        <p:nvSpPr>
          <p:cNvPr id="555" name="Shape 16"/>
          <p:cNvSpPr/>
          <p:nvPr/>
        </p:nvSpPr>
        <p:spPr>
          <a:xfrm>
            <a:off x="594360" y="2122321"/>
            <a:ext cx="1892520" cy="429480"/>
          </a:xfrm>
          <a:prstGeom prst="roundRect">
            <a:avLst>
              <a:gd name="adj" fmla="val 12766"/>
            </a:avLst>
          </a:prstGeom>
          <a:solidFill>
            <a:srgbClr val="FFFFFF"/>
          </a:solidFill>
          <a:ln w="8890">
            <a:solidFill>
              <a:srgbClr val="DED2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000000"/>
              </a:solidFill>
              <a:effectLst/>
              <a:uFillTx/>
              <a:latin typeface="Arial"/>
            </a:endParaRPr>
          </a:p>
        </p:txBody>
      </p:sp>
      <p:sp>
        <p:nvSpPr>
          <p:cNvPr id="556" name="Text 17"/>
          <p:cNvSpPr/>
          <p:nvPr/>
        </p:nvSpPr>
        <p:spPr>
          <a:xfrm>
            <a:off x="667440" y="2195401"/>
            <a:ext cx="17460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151327"/>
                </a:solidFill>
                <a:effectLst/>
                <a:uFillTx/>
                <a:latin typeface="Aptos"/>
                <a:ea typeface="Aptos"/>
              </a:rPr>
              <a:t>Gu</a:t>
            </a:r>
            <a:endParaRPr lang="en-US" sz="1400" b="0" u="none" strike="noStrike">
              <a:solidFill>
                <a:srgbClr val="000000"/>
              </a:solidFill>
              <a:effectLst/>
              <a:uFillTx/>
              <a:latin typeface="Arial"/>
            </a:endParaRPr>
          </a:p>
        </p:txBody>
      </p:sp>
      <p:sp>
        <p:nvSpPr>
          <p:cNvPr id="557" name="Shape 18"/>
          <p:cNvSpPr/>
          <p:nvPr/>
        </p:nvSpPr>
        <p:spPr>
          <a:xfrm>
            <a:off x="2560320" y="2122321"/>
            <a:ext cx="2761200" cy="429480"/>
          </a:xfrm>
          <a:prstGeom prst="roundRect">
            <a:avLst>
              <a:gd name="adj" fmla="val 12766"/>
            </a:avLst>
          </a:prstGeom>
          <a:solidFill>
            <a:srgbClr val="FFFFFF"/>
          </a:solidFill>
          <a:ln w="8890">
            <a:solidFill>
              <a:srgbClr val="DED2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000000"/>
              </a:solidFill>
              <a:effectLst/>
              <a:uFillTx/>
              <a:latin typeface="Arial"/>
            </a:endParaRPr>
          </a:p>
        </p:txBody>
      </p:sp>
      <p:sp>
        <p:nvSpPr>
          <p:cNvPr id="558" name="Text 19"/>
          <p:cNvSpPr/>
          <p:nvPr/>
        </p:nvSpPr>
        <p:spPr>
          <a:xfrm>
            <a:off x="2633400" y="2216667"/>
            <a:ext cx="26146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s-ES" sz="1300" b="0" u="none" strike="noStrike" dirty="0">
                <a:solidFill>
                  <a:srgbClr val="6F6888"/>
                </a:solidFill>
                <a:effectLst/>
                <a:uFillTx/>
                <a:latin typeface="Aptos"/>
                <a:ea typeface="Aptos"/>
              </a:rPr>
              <a:t>Conversión de leads · seguimiento limitado por reglas/temporizadores</a:t>
            </a:r>
            <a:endParaRPr lang="en-US" sz="1300" b="0" u="none" strike="noStrike" dirty="0">
              <a:solidFill>
                <a:srgbClr val="000000"/>
              </a:solidFill>
              <a:effectLst/>
              <a:uFillTx/>
              <a:latin typeface="Arial"/>
            </a:endParaRPr>
          </a:p>
        </p:txBody>
      </p:sp>
      <p:sp>
        <p:nvSpPr>
          <p:cNvPr id="559" name="Shape 20"/>
          <p:cNvSpPr/>
          <p:nvPr/>
        </p:nvSpPr>
        <p:spPr>
          <a:xfrm>
            <a:off x="5394960" y="2122321"/>
            <a:ext cx="3081240" cy="429480"/>
          </a:xfrm>
          <a:prstGeom prst="roundRect">
            <a:avLst>
              <a:gd name="adj" fmla="val 12766"/>
            </a:avLst>
          </a:prstGeom>
          <a:solidFill>
            <a:srgbClr val="FFFFFF"/>
          </a:solidFill>
          <a:ln w="8890">
            <a:solidFill>
              <a:srgbClr val="DED2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000000"/>
              </a:solidFill>
              <a:effectLst/>
              <a:uFillTx/>
              <a:latin typeface="Arial"/>
            </a:endParaRPr>
          </a:p>
        </p:txBody>
      </p:sp>
      <p:sp>
        <p:nvSpPr>
          <p:cNvPr id="560" name="Text 21"/>
          <p:cNvSpPr/>
          <p:nvPr/>
        </p:nvSpPr>
        <p:spPr>
          <a:xfrm>
            <a:off x="5468040" y="2156901"/>
            <a:ext cx="293472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s-ES" sz="1300" b="0" u="none" strike="noStrike" dirty="0">
                <a:solidFill>
                  <a:srgbClr val="6F6888"/>
                </a:solidFill>
                <a:effectLst/>
                <a:uFillTx/>
                <a:latin typeface="Aptos"/>
                <a:ea typeface="Aptos"/>
              </a:rPr>
              <a:t>Delegación de trabajo a través de múltiples dominios + vistas contextuales</a:t>
            </a:r>
            <a:endParaRPr lang="en-US" sz="1300" b="0" u="none" strike="noStrike" dirty="0">
              <a:solidFill>
                <a:srgbClr val="000000"/>
              </a:solidFill>
              <a:effectLst/>
              <a:uFillTx/>
              <a:latin typeface="Arial"/>
            </a:endParaRPr>
          </a:p>
        </p:txBody>
      </p:sp>
      <p:sp>
        <p:nvSpPr>
          <p:cNvPr id="561" name="Shape 22"/>
          <p:cNvSpPr/>
          <p:nvPr/>
        </p:nvSpPr>
        <p:spPr>
          <a:xfrm>
            <a:off x="8549640" y="2122321"/>
            <a:ext cx="3081240" cy="429480"/>
          </a:xfrm>
          <a:prstGeom prst="roundRect">
            <a:avLst>
              <a:gd name="adj" fmla="val 12766"/>
            </a:avLst>
          </a:prstGeom>
          <a:solidFill>
            <a:srgbClr val="FFFFFF"/>
          </a:solidFill>
          <a:ln w="8890">
            <a:solidFill>
              <a:srgbClr val="DED2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000000"/>
              </a:solidFill>
              <a:effectLst/>
              <a:uFillTx/>
              <a:latin typeface="Arial"/>
            </a:endParaRPr>
          </a:p>
        </p:txBody>
      </p:sp>
      <p:sp>
        <p:nvSpPr>
          <p:cNvPr id="562" name="Text 23"/>
          <p:cNvSpPr/>
          <p:nvPr/>
        </p:nvSpPr>
        <p:spPr>
          <a:xfrm>
            <a:off x="8622720" y="2166526"/>
            <a:ext cx="2934720" cy="3179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s-ES" sz="1300" b="0" u="none" strike="noStrike" dirty="0">
                <a:solidFill>
                  <a:srgbClr val="6F6888"/>
                </a:solidFill>
                <a:effectLst/>
                <a:uFillTx/>
                <a:latin typeface="Aptos"/>
                <a:ea typeface="Aptos"/>
              </a:rPr>
              <a:t>Un </a:t>
            </a:r>
            <a:r>
              <a:rPr lang="es-ES" sz="1300" b="0" u="none" strike="noStrike" dirty="0" err="1">
                <a:solidFill>
                  <a:srgbClr val="6F6888"/>
                </a:solidFill>
                <a:effectLst/>
                <a:uFillTx/>
                <a:latin typeface="Aptos"/>
                <a:ea typeface="Aptos"/>
              </a:rPr>
              <a:t>coworker</a:t>
            </a:r>
            <a:r>
              <a:rPr lang="es-ES" sz="1300" b="0" u="none" strike="noStrike" dirty="0">
                <a:solidFill>
                  <a:srgbClr val="6F6888"/>
                </a:solidFill>
                <a:effectLst/>
                <a:uFillTx/>
                <a:latin typeface="Aptos"/>
                <a:ea typeface="Aptos"/>
              </a:rPr>
              <a:t> persistente a través de la operación</a:t>
            </a:r>
            <a:endParaRPr lang="en-US" sz="1300" b="0" u="none" strike="noStrike" dirty="0">
              <a:solidFill>
                <a:srgbClr val="000000"/>
              </a:solidFill>
              <a:effectLst/>
              <a:uFillTx/>
              <a:latin typeface="Arial"/>
            </a:endParaRPr>
          </a:p>
        </p:txBody>
      </p:sp>
      <p:sp>
        <p:nvSpPr>
          <p:cNvPr id="563" name="Shape 24"/>
          <p:cNvSpPr/>
          <p:nvPr/>
        </p:nvSpPr>
        <p:spPr>
          <a:xfrm>
            <a:off x="594360" y="2689321"/>
            <a:ext cx="1892520" cy="429480"/>
          </a:xfrm>
          <a:prstGeom prst="roundRect">
            <a:avLst>
              <a:gd name="adj" fmla="val 12766"/>
            </a:avLst>
          </a:prstGeom>
          <a:solidFill>
            <a:srgbClr val="FFFFFF"/>
          </a:solidFill>
          <a:ln w="8890">
            <a:solidFill>
              <a:srgbClr val="DED2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000000"/>
              </a:solidFill>
              <a:effectLst/>
              <a:uFillTx/>
              <a:latin typeface="Arial"/>
            </a:endParaRPr>
          </a:p>
        </p:txBody>
      </p:sp>
      <p:sp>
        <p:nvSpPr>
          <p:cNvPr id="564" name="Text 25"/>
          <p:cNvSpPr/>
          <p:nvPr/>
        </p:nvSpPr>
        <p:spPr>
          <a:xfrm>
            <a:off x="667440" y="2762401"/>
            <a:ext cx="17460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dirty="0" err="1">
                <a:solidFill>
                  <a:srgbClr val="151327"/>
                </a:solidFill>
                <a:effectLst/>
                <a:uFillTx/>
                <a:latin typeface="Aptos"/>
                <a:ea typeface="Aptos"/>
              </a:rPr>
              <a:t>Núcleo</a:t>
            </a:r>
            <a:r>
              <a:rPr lang="en-US" sz="1400" b="1" u="none" strike="noStrike" dirty="0">
                <a:solidFill>
                  <a:srgbClr val="151327"/>
                </a:solidFill>
                <a:effectLst/>
                <a:uFillTx/>
                <a:latin typeface="Aptos"/>
                <a:ea typeface="Aptos"/>
              </a:rPr>
              <a:t> </a:t>
            </a:r>
            <a:r>
              <a:rPr lang="en-US" sz="1400" b="1" u="none" strike="noStrike" dirty="0" err="1">
                <a:solidFill>
                  <a:srgbClr val="151327"/>
                </a:solidFill>
                <a:effectLst/>
                <a:uFillTx/>
                <a:latin typeface="Aptos"/>
                <a:ea typeface="Aptos"/>
              </a:rPr>
              <a:t>Operativo</a:t>
            </a:r>
            <a:endParaRPr lang="en-US" sz="1400" b="0" u="none" strike="noStrike" dirty="0">
              <a:solidFill>
                <a:srgbClr val="000000"/>
              </a:solidFill>
              <a:effectLst/>
              <a:uFillTx/>
              <a:latin typeface="Arial"/>
            </a:endParaRPr>
          </a:p>
        </p:txBody>
      </p:sp>
      <p:sp>
        <p:nvSpPr>
          <p:cNvPr id="565" name="Shape 26"/>
          <p:cNvSpPr/>
          <p:nvPr/>
        </p:nvSpPr>
        <p:spPr>
          <a:xfrm>
            <a:off x="2560320" y="2689321"/>
            <a:ext cx="2761200" cy="429480"/>
          </a:xfrm>
          <a:prstGeom prst="roundRect">
            <a:avLst>
              <a:gd name="adj" fmla="val 12766"/>
            </a:avLst>
          </a:prstGeom>
          <a:solidFill>
            <a:srgbClr val="FFFFFF"/>
          </a:solidFill>
          <a:ln w="8890">
            <a:solidFill>
              <a:srgbClr val="DED2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000000"/>
              </a:solidFill>
              <a:effectLst/>
              <a:uFillTx/>
              <a:latin typeface="Arial"/>
            </a:endParaRPr>
          </a:p>
        </p:txBody>
      </p:sp>
      <p:sp>
        <p:nvSpPr>
          <p:cNvPr id="566" name="Text 27"/>
          <p:cNvSpPr/>
          <p:nvPr/>
        </p:nvSpPr>
        <p:spPr>
          <a:xfrm>
            <a:off x="2633400" y="2775049"/>
            <a:ext cx="2642400" cy="295627"/>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tabLst>
                <a:tab pos="0" algn="l"/>
              </a:tabLst>
            </a:pPr>
            <a:r>
              <a:rPr lang="en-US" sz="1300" b="0" u="none" strike="noStrike" dirty="0" err="1">
                <a:solidFill>
                  <a:srgbClr val="6F6888"/>
                </a:solidFill>
                <a:effectLst/>
                <a:uFillTx/>
                <a:latin typeface="Aptos"/>
                <a:ea typeface="Aptos"/>
              </a:rPr>
              <a:t>LangGraph</a:t>
            </a:r>
            <a:r>
              <a:rPr lang="en-US" sz="1300" b="0" u="none" strike="noStrike" dirty="0">
                <a:solidFill>
                  <a:srgbClr val="6F6888"/>
                </a:solidFill>
                <a:effectLst/>
                <a:uFillTx/>
                <a:latin typeface="Aptos"/>
                <a:ea typeface="Aptos"/>
              </a:rPr>
              <a:t> · Cases durables · Work Items · </a:t>
            </a:r>
            <a:r>
              <a:rPr lang="en-US" sz="1300" b="0" u="none" strike="noStrike" dirty="0" err="1">
                <a:solidFill>
                  <a:srgbClr val="6F6888"/>
                </a:solidFill>
                <a:effectLst/>
                <a:uFillTx/>
                <a:latin typeface="Aptos"/>
                <a:ea typeface="Aptos"/>
              </a:rPr>
              <a:t>gobernanza</a:t>
            </a:r>
            <a:r>
              <a:rPr lang="en-US" sz="1300" dirty="0">
                <a:solidFill>
                  <a:srgbClr val="6F6888"/>
                </a:solidFill>
                <a:latin typeface="Aptos"/>
                <a:ea typeface="Aptos"/>
              </a:rPr>
              <a:t>/</a:t>
            </a:r>
            <a:r>
              <a:rPr lang="en-US" sz="1200" dirty="0">
                <a:solidFill>
                  <a:srgbClr val="6F6888"/>
                </a:solidFill>
                <a:ea typeface="Aptos"/>
              </a:rPr>
              <a:t>HITL</a:t>
            </a:r>
            <a:r>
              <a:rPr lang="en-US" sz="1300" dirty="0">
                <a:solidFill>
                  <a:srgbClr val="6F6888"/>
                </a:solidFill>
                <a:ea typeface="Aptos"/>
              </a:rPr>
              <a:t> · </a:t>
            </a:r>
            <a:r>
              <a:rPr lang="en-US" sz="1300" b="0" u="none" strike="noStrike" dirty="0">
                <a:solidFill>
                  <a:srgbClr val="6F6888"/>
                </a:solidFill>
                <a:effectLst/>
                <a:uFillTx/>
                <a:latin typeface="Aptos"/>
                <a:ea typeface="Aptos"/>
              </a:rPr>
              <a:t>Skills/tools</a:t>
            </a:r>
            <a:endParaRPr lang="en-US" sz="1300" b="0" u="none" strike="noStrike" dirty="0">
              <a:solidFill>
                <a:srgbClr val="000000"/>
              </a:solidFill>
              <a:effectLst/>
              <a:uFillTx/>
              <a:latin typeface="Arial"/>
            </a:endParaRPr>
          </a:p>
        </p:txBody>
      </p:sp>
      <p:sp>
        <p:nvSpPr>
          <p:cNvPr id="567" name="Shape 28"/>
          <p:cNvSpPr/>
          <p:nvPr/>
        </p:nvSpPr>
        <p:spPr>
          <a:xfrm>
            <a:off x="5394960" y="2689321"/>
            <a:ext cx="3081240" cy="429480"/>
          </a:xfrm>
          <a:prstGeom prst="roundRect">
            <a:avLst>
              <a:gd name="adj" fmla="val 12766"/>
            </a:avLst>
          </a:prstGeom>
          <a:solidFill>
            <a:srgbClr val="FFFFFF"/>
          </a:solidFill>
          <a:ln w="8890">
            <a:solidFill>
              <a:srgbClr val="DED2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000000"/>
              </a:solidFill>
              <a:effectLst/>
              <a:uFillTx/>
              <a:latin typeface="Arial"/>
            </a:endParaRPr>
          </a:p>
        </p:txBody>
      </p:sp>
      <p:sp>
        <p:nvSpPr>
          <p:cNvPr id="568" name="Text 29"/>
          <p:cNvSpPr/>
          <p:nvPr/>
        </p:nvSpPr>
        <p:spPr>
          <a:xfrm>
            <a:off x="5468039" y="2714276"/>
            <a:ext cx="3007005"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tabLst>
                <a:tab pos="0" algn="l"/>
              </a:tabLst>
            </a:pPr>
            <a:r>
              <a:rPr lang="en-US" sz="1250" b="0" u="none" strike="noStrike" dirty="0">
                <a:solidFill>
                  <a:srgbClr val="6F6888"/>
                </a:solidFill>
                <a:effectLst/>
                <a:uFillTx/>
                <a:latin typeface="Aptos"/>
                <a:ea typeface="Aptos"/>
              </a:rPr>
              <a:t>Supervisor de Caso · </a:t>
            </a:r>
            <a:r>
              <a:rPr lang="en-US" sz="1250" b="0" u="none" strike="noStrike" dirty="0" err="1">
                <a:solidFill>
                  <a:srgbClr val="6F6888"/>
                </a:solidFill>
                <a:effectLst/>
                <a:uFillTx/>
                <a:latin typeface="Aptos"/>
                <a:ea typeface="Aptos"/>
              </a:rPr>
              <a:t>grafos</a:t>
            </a:r>
            <a:r>
              <a:rPr lang="en-US" sz="1250" b="0" u="none" strike="noStrike" dirty="0">
                <a:solidFill>
                  <a:srgbClr val="6F6888"/>
                </a:solidFill>
                <a:effectLst/>
                <a:uFillTx/>
                <a:latin typeface="Aptos"/>
                <a:ea typeface="Aptos"/>
              </a:rPr>
              <a:t> de </a:t>
            </a:r>
            <a:r>
              <a:rPr lang="en-US" sz="1250" b="0" u="none" strike="noStrike" dirty="0" err="1">
                <a:solidFill>
                  <a:srgbClr val="6F6888"/>
                </a:solidFill>
                <a:effectLst/>
                <a:uFillTx/>
                <a:latin typeface="Aptos"/>
                <a:ea typeface="Aptos"/>
              </a:rPr>
              <a:t>trabajo</a:t>
            </a:r>
            <a:r>
              <a:rPr lang="en-US" sz="1250" b="0" u="none" strike="noStrike" dirty="0">
                <a:solidFill>
                  <a:srgbClr val="6F6888"/>
                </a:solidFill>
                <a:effectLst/>
                <a:uFillTx/>
                <a:latin typeface="Aptos"/>
                <a:ea typeface="Aptos"/>
              </a:rPr>
              <a:t> </a:t>
            </a:r>
            <a:r>
              <a:rPr lang="en-US" sz="1250" b="0" u="none" strike="noStrike" dirty="0" err="1">
                <a:solidFill>
                  <a:srgbClr val="6F6888"/>
                </a:solidFill>
                <a:effectLst/>
                <a:uFillTx/>
                <a:latin typeface="Aptos"/>
                <a:ea typeface="Aptos"/>
              </a:rPr>
              <a:t>dinámicos</a:t>
            </a:r>
            <a:r>
              <a:rPr lang="en-US" sz="1250" dirty="0">
                <a:solidFill>
                  <a:srgbClr val="6F6888"/>
                </a:solidFill>
                <a:ea typeface="Aptos"/>
              </a:rPr>
              <a:t> · </a:t>
            </a:r>
            <a:r>
              <a:rPr lang="en-US" sz="1250" dirty="0" err="1">
                <a:solidFill>
                  <a:srgbClr val="6F6888"/>
                </a:solidFill>
                <a:ea typeface="Aptos"/>
              </a:rPr>
              <a:t>particip</a:t>
            </a:r>
            <a:r>
              <a:rPr lang="en-US" sz="1250" dirty="0">
                <a:solidFill>
                  <a:srgbClr val="6F6888"/>
                </a:solidFill>
                <a:ea typeface="Aptos"/>
              </a:rPr>
              <a:t>. </a:t>
            </a:r>
            <a:r>
              <a:rPr lang="en-US" sz="1250" b="0" u="none" strike="noStrike" dirty="0">
                <a:solidFill>
                  <a:srgbClr val="6F6888"/>
                </a:solidFill>
                <a:effectLst/>
                <a:uFillTx/>
                <a:latin typeface="Aptos"/>
                <a:ea typeface="Aptos"/>
              </a:rPr>
              <a:t>humana </a:t>
            </a:r>
            <a:r>
              <a:rPr lang="en-US" sz="1250" b="0" u="none" strike="noStrike" dirty="0" err="1">
                <a:solidFill>
                  <a:srgbClr val="6F6888"/>
                </a:solidFill>
                <a:effectLst/>
                <a:uFillTx/>
                <a:latin typeface="Aptos"/>
                <a:ea typeface="Aptos"/>
              </a:rPr>
              <a:t>generalizada</a:t>
            </a:r>
            <a:endParaRPr lang="en-US" sz="1250" b="0" u="none" strike="noStrike" dirty="0">
              <a:solidFill>
                <a:srgbClr val="000000"/>
              </a:solidFill>
              <a:effectLst/>
              <a:uFillTx/>
              <a:latin typeface="Arial"/>
            </a:endParaRPr>
          </a:p>
        </p:txBody>
      </p:sp>
      <p:sp>
        <p:nvSpPr>
          <p:cNvPr id="569" name="Shape 30"/>
          <p:cNvSpPr/>
          <p:nvPr/>
        </p:nvSpPr>
        <p:spPr>
          <a:xfrm>
            <a:off x="8549640" y="2689321"/>
            <a:ext cx="3081240" cy="429480"/>
          </a:xfrm>
          <a:prstGeom prst="roundRect">
            <a:avLst>
              <a:gd name="adj" fmla="val 12766"/>
            </a:avLst>
          </a:prstGeom>
          <a:solidFill>
            <a:srgbClr val="FFFFFF"/>
          </a:solidFill>
          <a:ln w="8890">
            <a:solidFill>
              <a:srgbClr val="DED2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000000"/>
              </a:solidFill>
              <a:effectLst/>
              <a:uFillTx/>
              <a:latin typeface="Arial"/>
            </a:endParaRPr>
          </a:p>
        </p:txBody>
      </p:sp>
      <p:sp>
        <p:nvSpPr>
          <p:cNvPr id="570" name="Text 31"/>
          <p:cNvSpPr/>
          <p:nvPr/>
        </p:nvSpPr>
        <p:spPr>
          <a:xfrm>
            <a:off x="8622720" y="2744102"/>
            <a:ext cx="2934720" cy="32657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s-ES" sz="1300" b="0" u="none" strike="noStrike" dirty="0">
                <a:solidFill>
                  <a:srgbClr val="6F6888"/>
                </a:solidFill>
                <a:effectLst/>
                <a:uFillTx/>
                <a:latin typeface="Aptos"/>
                <a:ea typeface="Aptos"/>
              </a:rPr>
              <a:t>Núcleo operativo reusable a través de múltiples dominios</a:t>
            </a:r>
            <a:endParaRPr lang="en-US" sz="1300" b="0" u="none" strike="noStrike" dirty="0">
              <a:solidFill>
                <a:srgbClr val="000000"/>
              </a:solidFill>
              <a:effectLst/>
              <a:uFillTx/>
              <a:latin typeface="Arial"/>
            </a:endParaRPr>
          </a:p>
        </p:txBody>
      </p:sp>
      <p:sp>
        <p:nvSpPr>
          <p:cNvPr id="571" name="Shape 32"/>
          <p:cNvSpPr/>
          <p:nvPr/>
        </p:nvSpPr>
        <p:spPr>
          <a:xfrm>
            <a:off x="594360" y="3256321"/>
            <a:ext cx="1892520" cy="429480"/>
          </a:xfrm>
          <a:prstGeom prst="roundRect">
            <a:avLst>
              <a:gd name="adj" fmla="val 12766"/>
            </a:avLst>
          </a:prstGeom>
          <a:solidFill>
            <a:srgbClr val="FFFFFF"/>
          </a:solidFill>
          <a:ln w="8890">
            <a:solidFill>
              <a:srgbClr val="DED2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000000"/>
              </a:solidFill>
              <a:effectLst/>
              <a:uFillTx/>
              <a:latin typeface="Arial"/>
            </a:endParaRPr>
          </a:p>
        </p:txBody>
      </p:sp>
      <p:sp>
        <p:nvSpPr>
          <p:cNvPr id="572" name="Text 33"/>
          <p:cNvSpPr/>
          <p:nvPr/>
        </p:nvSpPr>
        <p:spPr>
          <a:xfrm>
            <a:off x="667440" y="3329401"/>
            <a:ext cx="17460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i="1" u="none" strike="noStrike" dirty="0">
                <a:solidFill>
                  <a:srgbClr val="151327"/>
                </a:solidFill>
                <a:effectLst/>
                <a:uFillTx/>
                <a:latin typeface="Aptos"/>
                <a:ea typeface="Aptos"/>
              </a:rPr>
              <a:t>Property Ops</a:t>
            </a:r>
            <a:endParaRPr lang="en-US" sz="1400" b="0" i="1" u="none" strike="noStrike" dirty="0">
              <a:solidFill>
                <a:srgbClr val="000000"/>
              </a:solidFill>
              <a:effectLst/>
              <a:uFillTx/>
              <a:latin typeface="Arial"/>
            </a:endParaRPr>
          </a:p>
        </p:txBody>
      </p:sp>
      <p:sp>
        <p:nvSpPr>
          <p:cNvPr id="573" name="Shape 34"/>
          <p:cNvSpPr/>
          <p:nvPr/>
        </p:nvSpPr>
        <p:spPr>
          <a:xfrm>
            <a:off x="2560320" y="3256321"/>
            <a:ext cx="2761200" cy="429480"/>
          </a:xfrm>
          <a:prstGeom prst="roundRect">
            <a:avLst>
              <a:gd name="adj" fmla="val 12766"/>
            </a:avLst>
          </a:prstGeom>
          <a:solidFill>
            <a:srgbClr val="FFFFFF"/>
          </a:solidFill>
          <a:ln w="8890">
            <a:solidFill>
              <a:srgbClr val="DED2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000000"/>
              </a:solidFill>
              <a:effectLst/>
              <a:uFillTx/>
              <a:latin typeface="Arial"/>
            </a:endParaRPr>
          </a:p>
        </p:txBody>
      </p:sp>
      <p:sp>
        <p:nvSpPr>
          <p:cNvPr id="574" name="Text 35"/>
          <p:cNvSpPr/>
          <p:nvPr/>
        </p:nvSpPr>
        <p:spPr>
          <a:xfrm>
            <a:off x="2633400" y="3281276"/>
            <a:ext cx="2506491" cy="356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s-ES" sz="1300" b="0" u="none" strike="noStrike" dirty="0" err="1">
                <a:solidFill>
                  <a:srgbClr val="6F6888"/>
                </a:solidFill>
                <a:effectLst/>
                <a:uFillTx/>
                <a:latin typeface="Aptos"/>
                <a:ea typeface="Aptos"/>
              </a:rPr>
              <a:t>Property</a:t>
            </a:r>
            <a:r>
              <a:rPr lang="es-ES" sz="1300" b="0" u="none" strike="noStrike" dirty="0">
                <a:solidFill>
                  <a:srgbClr val="6F6888"/>
                </a:solidFill>
                <a:effectLst/>
                <a:uFillTx/>
                <a:latin typeface="Aptos"/>
                <a:ea typeface="Aptos"/>
              </a:rPr>
              <a:t> </a:t>
            </a:r>
            <a:r>
              <a:rPr lang="es-ES" sz="1300" b="0" u="none" strike="noStrike" dirty="0" err="1">
                <a:solidFill>
                  <a:srgbClr val="6F6888"/>
                </a:solidFill>
                <a:effectLst/>
                <a:uFillTx/>
                <a:latin typeface="Aptos"/>
                <a:ea typeface="Aptos"/>
              </a:rPr>
              <a:t>Optioning</a:t>
            </a:r>
            <a:r>
              <a:rPr lang="es-ES" sz="1300" b="0" u="none" strike="noStrike" dirty="0">
                <a:solidFill>
                  <a:srgbClr val="6F6888"/>
                </a:solidFill>
                <a:effectLst/>
                <a:uFillTx/>
                <a:latin typeface="Aptos"/>
                <a:ea typeface="Aptos"/>
              </a:rPr>
              <a:t> · </a:t>
            </a:r>
            <a:r>
              <a:rPr lang="es-ES" sz="1300" b="0" u="none" strike="noStrike" dirty="0" err="1">
                <a:solidFill>
                  <a:srgbClr val="6F6888"/>
                </a:solidFill>
                <a:effectLst/>
                <a:uFillTx/>
                <a:latin typeface="Aptos"/>
                <a:ea typeface="Aptos"/>
              </a:rPr>
              <a:t>early</a:t>
            </a:r>
            <a:r>
              <a:rPr lang="es-ES" sz="1300" b="0" u="none" strike="noStrike" dirty="0">
                <a:solidFill>
                  <a:srgbClr val="6F6888"/>
                </a:solidFill>
                <a:effectLst/>
                <a:uFillTx/>
                <a:latin typeface="Aptos"/>
                <a:ea typeface="Aptos"/>
              </a:rPr>
              <a:t>/beta</a:t>
            </a:r>
            <a:endParaRPr lang="en-US" sz="1300" b="0" u="none" strike="noStrike" dirty="0">
              <a:solidFill>
                <a:srgbClr val="000000"/>
              </a:solidFill>
              <a:effectLst/>
              <a:uFillTx/>
              <a:latin typeface="Arial"/>
            </a:endParaRPr>
          </a:p>
        </p:txBody>
      </p:sp>
      <p:sp>
        <p:nvSpPr>
          <p:cNvPr id="575" name="Shape 36"/>
          <p:cNvSpPr/>
          <p:nvPr/>
        </p:nvSpPr>
        <p:spPr>
          <a:xfrm>
            <a:off x="5394960" y="3256321"/>
            <a:ext cx="3081240" cy="429480"/>
          </a:xfrm>
          <a:prstGeom prst="roundRect">
            <a:avLst>
              <a:gd name="adj" fmla="val 12766"/>
            </a:avLst>
          </a:prstGeom>
          <a:solidFill>
            <a:srgbClr val="FFFFFF"/>
          </a:solidFill>
          <a:ln w="8890">
            <a:solidFill>
              <a:srgbClr val="DED2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000000"/>
              </a:solidFill>
              <a:effectLst/>
              <a:uFillTx/>
              <a:latin typeface="Arial"/>
            </a:endParaRPr>
          </a:p>
        </p:txBody>
      </p:sp>
      <p:sp>
        <p:nvSpPr>
          <p:cNvPr id="576" name="Text 37"/>
          <p:cNvSpPr/>
          <p:nvPr/>
        </p:nvSpPr>
        <p:spPr>
          <a:xfrm>
            <a:off x="5468040" y="3300525"/>
            <a:ext cx="2934720" cy="35604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s-ES" sz="1300" b="0" u="none" strike="noStrike" dirty="0">
                <a:solidFill>
                  <a:srgbClr val="6F6888"/>
                </a:solidFill>
                <a:effectLst/>
                <a:uFillTx/>
                <a:latin typeface="Aptos"/>
                <a:ea typeface="Aptos"/>
              </a:rPr>
              <a:t>Incorporación de propiedad reusable · reparación · publicación</a:t>
            </a:r>
            <a:endParaRPr lang="en-US" sz="1300" b="0" u="none" strike="noStrike" dirty="0">
              <a:solidFill>
                <a:srgbClr val="000000"/>
              </a:solidFill>
              <a:effectLst/>
              <a:uFillTx/>
              <a:latin typeface="Arial"/>
            </a:endParaRPr>
          </a:p>
        </p:txBody>
      </p:sp>
      <p:sp>
        <p:nvSpPr>
          <p:cNvPr id="577" name="Shape 38"/>
          <p:cNvSpPr/>
          <p:nvPr/>
        </p:nvSpPr>
        <p:spPr>
          <a:xfrm>
            <a:off x="8549640" y="3256321"/>
            <a:ext cx="3081240" cy="429480"/>
          </a:xfrm>
          <a:prstGeom prst="roundRect">
            <a:avLst>
              <a:gd name="adj" fmla="val 12766"/>
            </a:avLst>
          </a:prstGeom>
          <a:solidFill>
            <a:srgbClr val="FFFFFF"/>
          </a:solidFill>
          <a:ln w="8890">
            <a:solidFill>
              <a:srgbClr val="DED2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000000"/>
              </a:solidFill>
              <a:effectLst/>
              <a:uFillTx/>
              <a:latin typeface="Arial"/>
            </a:endParaRPr>
          </a:p>
        </p:txBody>
      </p:sp>
      <p:sp>
        <p:nvSpPr>
          <p:cNvPr id="578" name="Text 39"/>
          <p:cNvSpPr/>
          <p:nvPr/>
        </p:nvSpPr>
        <p:spPr>
          <a:xfrm>
            <a:off x="8622720" y="3291750"/>
            <a:ext cx="2934720" cy="36481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s-ES" sz="1300" b="0" u="none" strike="noStrike" dirty="0">
                <a:solidFill>
                  <a:srgbClr val="6F6888"/>
                </a:solidFill>
                <a:effectLst/>
                <a:uFillTx/>
                <a:latin typeface="Aptos"/>
                <a:ea typeface="Aptos"/>
              </a:rPr>
              <a:t>Operación continua del ciclo de vida de la propiedad</a:t>
            </a:r>
            <a:endParaRPr lang="en-US" sz="1300" b="0" u="none" strike="noStrike" dirty="0">
              <a:solidFill>
                <a:srgbClr val="000000"/>
              </a:solidFill>
              <a:effectLst/>
              <a:uFillTx/>
              <a:latin typeface="Arial"/>
            </a:endParaRPr>
          </a:p>
        </p:txBody>
      </p:sp>
      <p:sp>
        <p:nvSpPr>
          <p:cNvPr id="579" name="Shape 40"/>
          <p:cNvSpPr/>
          <p:nvPr/>
        </p:nvSpPr>
        <p:spPr>
          <a:xfrm>
            <a:off x="594360" y="3822961"/>
            <a:ext cx="1892520" cy="429480"/>
          </a:xfrm>
          <a:prstGeom prst="roundRect">
            <a:avLst>
              <a:gd name="adj" fmla="val 12766"/>
            </a:avLst>
          </a:prstGeom>
          <a:solidFill>
            <a:srgbClr val="FFFFFF"/>
          </a:solidFill>
          <a:ln w="8890">
            <a:solidFill>
              <a:srgbClr val="DED2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000000"/>
              </a:solidFill>
              <a:effectLst/>
              <a:uFillTx/>
              <a:latin typeface="Arial"/>
            </a:endParaRPr>
          </a:p>
        </p:txBody>
      </p:sp>
      <p:sp>
        <p:nvSpPr>
          <p:cNvPr id="580" name="Text 41"/>
          <p:cNvSpPr/>
          <p:nvPr/>
        </p:nvSpPr>
        <p:spPr>
          <a:xfrm>
            <a:off x="667440" y="3896401"/>
            <a:ext cx="17460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i="1" u="none" strike="noStrike" dirty="0">
                <a:solidFill>
                  <a:srgbClr val="151327"/>
                </a:solidFill>
                <a:effectLst/>
                <a:uFillTx/>
                <a:latin typeface="Aptos"/>
                <a:ea typeface="Aptos"/>
              </a:rPr>
              <a:t>Demand Ops</a:t>
            </a:r>
            <a:endParaRPr lang="en-US" sz="1400" b="0" i="1" u="none" strike="noStrike" dirty="0">
              <a:solidFill>
                <a:srgbClr val="000000"/>
              </a:solidFill>
              <a:effectLst/>
              <a:uFillTx/>
              <a:latin typeface="Arial"/>
            </a:endParaRPr>
          </a:p>
        </p:txBody>
      </p:sp>
      <p:sp>
        <p:nvSpPr>
          <p:cNvPr id="581" name="Shape 42"/>
          <p:cNvSpPr/>
          <p:nvPr/>
        </p:nvSpPr>
        <p:spPr>
          <a:xfrm>
            <a:off x="2560320" y="3822961"/>
            <a:ext cx="2761200" cy="429480"/>
          </a:xfrm>
          <a:prstGeom prst="roundRect">
            <a:avLst>
              <a:gd name="adj" fmla="val 12766"/>
            </a:avLst>
          </a:prstGeom>
          <a:solidFill>
            <a:srgbClr val="FFFFFF"/>
          </a:solidFill>
          <a:ln w="8890">
            <a:solidFill>
              <a:srgbClr val="DED2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000000"/>
              </a:solidFill>
              <a:effectLst/>
              <a:uFillTx/>
              <a:latin typeface="Arial"/>
            </a:endParaRPr>
          </a:p>
        </p:txBody>
      </p:sp>
      <p:sp>
        <p:nvSpPr>
          <p:cNvPr id="582" name="Text 43"/>
          <p:cNvSpPr/>
          <p:nvPr/>
        </p:nvSpPr>
        <p:spPr>
          <a:xfrm>
            <a:off x="2633400" y="3838651"/>
            <a:ext cx="2614680" cy="37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s-ES" sz="1300" b="0" u="none" strike="noStrike" dirty="0">
                <a:solidFill>
                  <a:srgbClr val="6F6888"/>
                </a:solidFill>
                <a:effectLst/>
                <a:uFillTx/>
                <a:latin typeface="Aptos"/>
                <a:ea typeface="Aptos"/>
              </a:rPr>
              <a:t>Datos parciales de fuente de lead · sin operación cerrada de campañas</a:t>
            </a:r>
            <a:endParaRPr lang="en-US" sz="1300" b="0" u="none" strike="noStrike" dirty="0">
              <a:solidFill>
                <a:srgbClr val="000000"/>
              </a:solidFill>
              <a:effectLst/>
              <a:uFillTx/>
              <a:latin typeface="Arial"/>
            </a:endParaRPr>
          </a:p>
        </p:txBody>
      </p:sp>
      <p:sp>
        <p:nvSpPr>
          <p:cNvPr id="583" name="Shape 44"/>
          <p:cNvSpPr/>
          <p:nvPr/>
        </p:nvSpPr>
        <p:spPr>
          <a:xfrm>
            <a:off x="5394960" y="3822961"/>
            <a:ext cx="3081240" cy="429480"/>
          </a:xfrm>
          <a:prstGeom prst="roundRect">
            <a:avLst>
              <a:gd name="adj" fmla="val 12766"/>
            </a:avLst>
          </a:prstGeom>
          <a:solidFill>
            <a:srgbClr val="FFFFFF"/>
          </a:solidFill>
          <a:ln w="8890">
            <a:solidFill>
              <a:srgbClr val="DED2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000000"/>
              </a:solidFill>
              <a:effectLst/>
              <a:uFillTx/>
              <a:latin typeface="Arial"/>
            </a:endParaRPr>
          </a:p>
        </p:txBody>
      </p:sp>
      <p:sp>
        <p:nvSpPr>
          <p:cNvPr id="584" name="Text 45"/>
          <p:cNvSpPr/>
          <p:nvPr/>
        </p:nvSpPr>
        <p:spPr>
          <a:xfrm>
            <a:off x="5468040" y="3857901"/>
            <a:ext cx="2934720" cy="37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dirty="0">
                <a:solidFill>
                  <a:srgbClr val="6F6888"/>
                </a:solidFill>
                <a:latin typeface="Aptos"/>
                <a:ea typeface="Aptos"/>
              </a:rPr>
              <a:t>Casos de </a:t>
            </a:r>
            <a:r>
              <a:rPr lang="en-US" sz="1300" dirty="0" err="1">
                <a:solidFill>
                  <a:srgbClr val="6F6888"/>
                </a:solidFill>
                <a:latin typeface="Aptos"/>
                <a:ea typeface="Aptos"/>
              </a:rPr>
              <a:t>campañas</a:t>
            </a:r>
            <a:r>
              <a:rPr lang="en-US" sz="1300" b="0" u="none" strike="noStrike" dirty="0">
                <a:solidFill>
                  <a:srgbClr val="6F6888"/>
                </a:solidFill>
                <a:effectLst/>
                <a:uFillTx/>
                <a:latin typeface="Aptos"/>
                <a:ea typeface="Aptos"/>
              </a:rPr>
              <a:t> · </a:t>
            </a:r>
            <a:r>
              <a:rPr lang="en-US" sz="1300" b="0" u="none" strike="noStrike" dirty="0" err="1">
                <a:solidFill>
                  <a:srgbClr val="6F6888"/>
                </a:solidFill>
                <a:effectLst/>
                <a:uFillTx/>
                <a:latin typeface="Aptos"/>
                <a:ea typeface="Aptos"/>
              </a:rPr>
              <a:t>atribución</a:t>
            </a:r>
            <a:r>
              <a:rPr lang="en-US" sz="1300" b="0" u="none" strike="noStrike" dirty="0">
                <a:solidFill>
                  <a:srgbClr val="6F6888"/>
                </a:solidFill>
                <a:effectLst/>
                <a:uFillTx/>
                <a:latin typeface="Aptos"/>
                <a:ea typeface="Aptos"/>
              </a:rPr>
              <a:t> hasta </a:t>
            </a:r>
            <a:r>
              <a:rPr lang="en-US" sz="1300" b="0" u="none" strike="noStrike" dirty="0" err="1">
                <a:solidFill>
                  <a:srgbClr val="6F6888"/>
                </a:solidFill>
                <a:effectLst/>
                <a:uFillTx/>
                <a:latin typeface="Aptos"/>
                <a:ea typeface="Aptos"/>
              </a:rPr>
              <a:t>resultados</a:t>
            </a:r>
            <a:r>
              <a:rPr lang="en-US" sz="1300" b="0" u="none" strike="noStrike" dirty="0">
                <a:solidFill>
                  <a:srgbClr val="6F6888"/>
                </a:solidFill>
                <a:effectLst/>
                <a:uFillTx/>
                <a:latin typeface="Aptos"/>
                <a:ea typeface="Aptos"/>
              </a:rPr>
              <a:t> (downstream) · feedback</a:t>
            </a:r>
            <a:endParaRPr lang="en-US" sz="1300" b="0" u="none" strike="noStrike" dirty="0">
              <a:solidFill>
                <a:srgbClr val="000000"/>
              </a:solidFill>
              <a:effectLst/>
              <a:uFillTx/>
              <a:latin typeface="Arial"/>
            </a:endParaRPr>
          </a:p>
        </p:txBody>
      </p:sp>
      <p:sp>
        <p:nvSpPr>
          <p:cNvPr id="585" name="Shape 46"/>
          <p:cNvSpPr/>
          <p:nvPr/>
        </p:nvSpPr>
        <p:spPr>
          <a:xfrm>
            <a:off x="8549640" y="3822961"/>
            <a:ext cx="3081240" cy="429480"/>
          </a:xfrm>
          <a:prstGeom prst="roundRect">
            <a:avLst>
              <a:gd name="adj" fmla="val 12766"/>
            </a:avLst>
          </a:prstGeom>
          <a:solidFill>
            <a:srgbClr val="FFFFFF"/>
          </a:solidFill>
          <a:ln w="8890">
            <a:solidFill>
              <a:srgbClr val="DED2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000000"/>
              </a:solidFill>
              <a:effectLst/>
              <a:uFillTx/>
              <a:latin typeface="Arial"/>
            </a:endParaRPr>
          </a:p>
        </p:txBody>
      </p:sp>
      <p:sp>
        <p:nvSpPr>
          <p:cNvPr id="586" name="Text 47"/>
          <p:cNvSpPr/>
          <p:nvPr/>
        </p:nvSpPr>
        <p:spPr>
          <a:xfrm>
            <a:off x="8622720" y="3896401"/>
            <a:ext cx="2934720" cy="31665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s-ES" sz="1300" b="0" u="none" strike="noStrike" dirty="0">
                <a:solidFill>
                  <a:srgbClr val="6F6888"/>
                </a:solidFill>
                <a:effectLst/>
                <a:uFillTx/>
                <a:latin typeface="Aptos"/>
                <a:ea typeface="Aptos"/>
              </a:rPr>
              <a:t>Optimización continua de demanda basada en resultados</a:t>
            </a:r>
            <a:endParaRPr lang="en-US" sz="1300" b="0" u="none" strike="noStrike" dirty="0">
              <a:solidFill>
                <a:srgbClr val="000000"/>
              </a:solidFill>
              <a:effectLst/>
              <a:uFillTx/>
              <a:latin typeface="Arial"/>
            </a:endParaRPr>
          </a:p>
        </p:txBody>
      </p:sp>
      <p:sp>
        <p:nvSpPr>
          <p:cNvPr id="587" name="Shape 48"/>
          <p:cNvSpPr/>
          <p:nvPr/>
        </p:nvSpPr>
        <p:spPr>
          <a:xfrm>
            <a:off x="594360" y="4967472"/>
            <a:ext cx="1892520" cy="429480"/>
          </a:xfrm>
          <a:prstGeom prst="roundRect">
            <a:avLst>
              <a:gd name="adj" fmla="val 12766"/>
            </a:avLst>
          </a:prstGeom>
          <a:solidFill>
            <a:srgbClr val="FFFFFF"/>
          </a:solidFill>
          <a:ln w="8890">
            <a:solidFill>
              <a:srgbClr val="DED2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000000"/>
              </a:solidFill>
              <a:effectLst/>
              <a:uFillTx/>
              <a:latin typeface="Arial"/>
            </a:endParaRPr>
          </a:p>
        </p:txBody>
      </p:sp>
      <p:sp>
        <p:nvSpPr>
          <p:cNvPr id="588" name="Text 49"/>
          <p:cNvSpPr/>
          <p:nvPr/>
        </p:nvSpPr>
        <p:spPr>
          <a:xfrm>
            <a:off x="667440" y="5040552"/>
            <a:ext cx="1773720" cy="279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dirty="0">
                <a:solidFill>
                  <a:srgbClr val="151327"/>
                </a:solidFill>
                <a:effectLst/>
                <a:uFillTx/>
                <a:latin typeface="Aptos"/>
                <a:ea typeface="Aptos"/>
              </a:rPr>
              <a:t>Red y </a:t>
            </a:r>
            <a:r>
              <a:rPr lang="en-US" sz="1400" b="1" dirty="0" err="1">
                <a:solidFill>
                  <a:srgbClr val="151327"/>
                </a:solidFill>
                <a:latin typeface="Aptos"/>
                <a:ea typeface="Aptos"/>
              </a:rPr>
              <a:t>E</a:t>
            </a:r>
            <a:r>
              <a:rPr lang="en-US" sz="1400" b="1" u="none" strike="noStrike" dirty="0" err="1">
                <a:solidFill>
                  <a:srgbClr val="151327"/>
                </a:solidFill>
                <a:effectLst/>
                <a:uFillTx/>
                <a:latin typeface="Aptos"/>
                <a:ea typeface="Aptos"/>
              </a:rPr>
              <a:t>cosistema</a:t>
            </a:r>
            <a:endParaRPr lang="en-US" sz="1400" b="0" u="none" strike="noStrike" dirty="0">
              <a:solidFill>
                <a:srgbClr val="000000"/>
              </a:solidFill>
              <a:effectLst/>
              <a:uFillTx/>
              <a:latin typeface="Arial"/>
            </a:endParaRPr>
          </a:p>
        </p:txBody>
      </p:sp>
      <p:sp>
        <p:nvSpPr>
          <p:cNvPr id="589" name="Shape 50"/>
          <p:cNvSpPr/>
          <p:nvPr/>
        </p:nvSpPr>
        <p:spPr>
          <a:xfrm>
            <a:off x="2560320" y="4967472"/>
            <a:ext cx="2761200" cy="429480"/>
          </a:xfrm>
          <a:prstGeom prst="roundRect">
            <a:avLst>
              <a:gd name="adj" fmla="val 12766"/>
            </a:avLst>
          </a:prstGeom>
          <a:solidFill>
            <a:srgbClr val="FFFFFF"/>
          </a:solidFill>
          <a:ln w="8890">
            <a:solidFill>
              <a:srgbClr val="DED2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000000"/>
              </a:solidFill>
              <a:effectLst/>
              <a:uFillTx/>
              <a:latin typeface="Arial"/>
            </a:endParaRPr>
          </a:p>
        </p:txBody>
      </p:sp>
      <p:sp>
        <p:nvSpPr>
          <p:cNvPr id="590" name="Text 51"/>
          <p:cNvSpPr/>
          <p:nvPr/>
        </p:nvSpPr>
        <p:spPr>
          <a:xfrm>
            <a:off x="2633400" y="5021302"/>
            <a:ext cx="2614680" cy="3179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20000"/>
          </a:bodyPr>
          <a:lstStyle/>
          <a:p>
            <a:pPr defTabSz="914400">
              <a:lnSpc>
                <a:spcPct val="100000"/>
              </a:lnSpc>
              <a:tabLst>
                <a:tab pos="0" algn="l"/>
              </a:tabLst>
            </a:pPr>
            <a:r>
              <a:rPr lang="en-US" sz="1300" b="0" u="none" strike="noStrike" dirty="0" err="1">
                <a:solidFill>
                  <a:srgbClr val="6F6888"/>
                </a:solidFill>
                <a:effectLst/>
                <a:uFillTx/>
                <a:latin typeface="Aptos"/>
                <a:ea typeface="Aptos"/>
              </a:rPr>
              <a:t>Inventario</a:t>
            </a:r>
            <a:r>
              <a:rPr lang="en-US" sz="1300" b="0" u="none" strike="noStrike" dirty="0">
                <a:solidFill>
                  <a:srgbClr val="6F6888"/>
                </a:solidFill>
                <a:effectLst/>
                <a:uFillTx/>
                <a:latin typeface="Aptos"/>
                <a:ea typeface="Aptos"/>
              </a:rPr>
              <a:t> </a:t>
            </a:r>
            <a:r>
              <a:rPr lang="en-US" sz="1300" b="0" u="none" strike="noStrike" dirty="0" err="1">
                <a:solidFill>
                  <a:srgbClr val="6F6888"/>
                </a:solidFill>
                <a:effectLst/>
                <a:uFillTx/>
                <a:latin typeface="Aptos"/>
                <a:ea typeface="Aptos"/>
              </a:rPr>
              <a:t>compartido</a:t>
            </a:r>
            <a:r>
              <a:rPr lang="en-US" sz="1300" b="0" u="none" strike="noStrike" dirty="0">
                <a:solidFill>
                  <a:srgbClr val="6F6888"/>
                </a:solidFill>
                <a:effectLst/>
                <a:uFillTx/>
                <a:latin typeface="Aptos"/>
                <a:ea typeface="Aptos"/>
              </a:rPr>
              <a:t> </a:t>
            </a:r>
            <a:r>
              <a:rPr lang="en-US" sz="1300" b="0" u="none" strike="noStrike" dirty="0" err="1">
                <a:solidFill>
                  <a:srgbClr val="6F6888"/>
                </a:solidFill>
                <a:effectLst/>
                <a:uFillTx/>
                <a:latin typeface="Aptos"/>
                <a:ea typeface="Aptos"/>
              </a:rPr>
              <a:t>ya</a:t>
            </a:r>
            <a:r>
              <a:rPr lang="en-US" sz="1300" b="0" u="none" strike="noStrike" dirty="0">
                <a:solidFill>
                  <a:srgbClr val="6F6888"/>
                </a:solidFill>
                <a:effectLst/>
                <a:uFillTx/>
                <a:latin typeface="Aptos"/>
                <a:ea typeface="Aptos"/>
              </a:rPr>
              <a:t> </a:t>
            </a:r>
            <a:r>
              <a:rPr lang="en-US" sz="1300" b="0" u="none" strike="noStrike" dirty="0" err="1">
                <a:solidFill>
                  <a:srgbClr val="6F6888"/>
                </a:solidFill>
                <a:effectLst/>
                <a:uFillTx/>
                <a:latin typeface="Aptos"/>
                <a:ea typeface="Aptos"/>
              </a:rPr>
              <a:t>existe</a:t>
            </a:r>
            <a:r>
              <a:rPr lang="en-US" sz="1300" b="0" u="none" strike="noStrike" dirty="0">
                <a:solidFill>
                  <a:srgbClr val="6F6888"/>
                </a:solidFill>
                <a:effectLst/>
                <a:uFillTx/>
                <a:latin typeface="Aptos"/>
                <a:ea typeface="Aptos"/>
              </a:rPr>
              <a:t>, y el primer </a:t>
            </a:r>
            <a:r>
              <a:rPr lang="en-US" sz="1300" b="0" u="none" strike="noStrike" dirty="0" err="1">
                <a:solidFill>
                  <a:srgbClr val="6F6888"/>
                </a:solidFill>
                <a:effectLst/>
                <a:uFillTx/>
                <a:latin typeface="Aptos"/>
                <a:ea typeface="Aptos"/>
              </a:rPr>
              <a:t>servicio</a:t>
            </a:r>
            <a:r>
              <a:rPr lang="en-US" sz="1300" b="0" u="none" strike="noStrike" dirty="0">
                <a:solidFill>
                  <a:srgbClr val="6F6888"/>
                </a:solidFill>
                <a:effectLst/>
                <a:uFillTx/>
                <a:latin typeface="Aptos"/>
                <a:ea typeface="Aptos"/>
              </a:rPr>
              <a:t> </a:t>
            </a:r>
            <a:r>
              <a:rPr lang="en-US" sz="1300" b="0" u="none" strike="noStrike" dirty="0" err="1">
                <a:solidFill>
                  <a:srgbClr val="6F6888"/>
                </a:solidFill>
                <a:effectLst/>
                <a:uFillTx/>
                <a:latin typeface="Aptos"/>
                <a:ea typeface="Aptos"/>
              </a:rPr>
              <a:t>integrado</a:t>
            </a:r>
            <a:r>
              <a:rPr lang="en-US" sz="1300" b="0" u="none" strike="noStrike" dirty="0">
                <a:solidFill>
                  <a:srgbClr val="6F6888"/>
                </a:solidFill>
                <a:effectLst/>
                <a:uFillTx/>
                <a:latin typeface="Aptos"/>
                <a:ea typeface="Aptos"/>
              </a:rPr>
              <a:t> (MICA)</a:t>
            </a:r>
            <a:endParaRPr lang="en-US" sz="1300" b="0" u="none" strike="noStrike" dirty="0">
              <a:solidFill>
                <a:srgbClr val="000000"/>
              </a:solidFill>
              <a:effectLst/>
              <a:uFillTx/>
              <a:latin typeface="Arial"/>
            </a:endParaRPr>
          </a:p>
        </p:txBody>
      </p:sp>
      <p:sp>
        <p:nvSpPr>
          <p:cNvPr id="591" name="Shape 52"/>
          <p:cNvSpPr/>
          <p:nvPr/>
        </p:nvSpPr>
        <p:spPr>
          <a:xfrm>
            <a:off x="5394960" y="4967472"/>
            <a:ext cx="3081240" cy="429480"/>
          </a:xfrm>
          <a:prstGeom prst="roundRect">
            <a:avLst>
              <a:gd name="adj" fmla="val 12766"/>
            </a:avLst>
          </a:prstGeom>
          <a:solidFill>
            <a:srgbClr val="FFFFFF"/>
          </a:solidFill>
          <a:ln w="8890">
            <a:solidFill>
              <a:srgbClr val="DED2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000000"/>
              </a:solidFill>
              <a:effectLst/>
              <a:uFillTx/>
              <a:latin typeface="Arial"/>
            </a:endParaRPr>
          </a:p>
        </p:txBody>
      </p:sp>
      <p:sp>
        <p:nvSpPr>
          <p:cNvPr id="592" name="Text 53"/>
          <p:cNvSpPr/>
          <p:nvPr/>
        </p:nvSpPr>
        <p:spPr>
          <a:xfrm>
            <a:off x="5468040" y="5002052"/>
            <a:ext cx="293472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s-ES" sz="1300" b="0" u="none" strike="noStrike" dirty="0">
                <a:solidFill>
                  <a:srgbClr val="6F6888"/>
                </a:solidFill>
                <a:effectLst/>
                <a:uFillTx/>
                <a:latin typeface="Aptos"/>
                <a:ea typeface="Aptos"/>
              </a:rPr>
              <a:t>Más densidad · gobernanza · enrutamiento de oportunidades</a:t>
            </a:r>
            <a:endParaRPr lang="en-US" sz="1300" b="0" u="none" strike="noStrike" dirty="0">
              <a:solidFill>
                <a:srgbClr val="000000"/>
              </a:solidFill>
              <a:effectLst/>
              <a:uFillTx/>
              <a:latin typeface="Arial"/>
            </a:endParaRPr>
          </a:p>
        </p:txBody>
      </p:sp>
      <p:sp>
        <p:nvSpPr>
          <p:cNvPr id="593" name="Shape 54"/>
          <p:cNvSpPr/>
          <p:nvPr/>
        </p:nvSpPr>
        <p:spPr>
          <a:xfrm>
            <a:off x="8549640" y="4967472"/>
            <a:ext cx="3081240" cy="429480"/>
          </a:xfrm>
          <a:prstGeom prst="roundRect">
            <a:avLst>
              <a:gd name="adj" fmla="val 12766"/>
            </a:avLst>
          </a:prstGeom>
          <a:solidFill>
            <a:srgbClr val="FFFFFF"/>
          </a:solidFill>
          <a:ln w="8890">
            <a:solidFill>
              <a:srgbClr val="DED2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000000"/>
              </a:solidFill>
              <a:effectLst/>
              <a:uFillTx/>
              <a:latin typeface="Arial"/>
            </a:endParaRPr>
          </a:p>
        </p:txBody>
      </p:sp>
      <p:sp>
        <p:nvSpPr>
          <p:cNvPr id="594" name="Text 55"/>
          <p:cNvSpPr/>
          <p:nvPr/>
        </p:nvSpPr>
        <p:spPr>
          <a:xfrm>
            <a:off x="8622720" y="5021302"/>
            <a:ext cx="2934720" cy="29865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u="none" strike="noStrike" dirty="0" err="1">
                <a:solidFill>
                  <a:srgbClr val="6F6888"/>
                </a:solidFill>
                <a:effectLst/>
                <a:uFillTx/>
                <a:latin typeface="Aptos"/>
                <a:ea typeface="Aptos"/>
              </a:rPr>
              <a:t>Crecer</a:t>
            </a:r>
            <a:r>
              <a:rPr lang="en-US" sz="1300" dirty="0">
                <a:solidFill>
                  <a:srgbClr val="6F6888"/>
                </a:solidFill>
                <a:latin typeface="Aptos"/>
                <a:ea typeface="Aptos"/>
              </a:rPr>
              <a:t> r</a:t>
            </a:r>
            <a:r>
              <a:rPr lang="en-US" sz="1300" b="0" u="none" strike="noStrike" dirty="0">
                <a:solidFill>
                  <a:srgbClr val="6F6888"/>
                </a:solidFill>
                <a:effectLst/>
                <a:uFillTx/>
                <a:latin typeface="Aptos"/>
                <a:ea typeface="Aptos"/>
              </a:rPr>
              <a:t>ed </a:t>
            </a:r>
            <a:r>
              <a:rPr lang="en-US" sz="1300" b="0" u="none" strike="noStrike" dirty="0" err="1">
                <a:solidFill>
                  <a:srgbClr val="6F6888"/>
                </a:solidFill>
                <a:effectLst/>
                <a:uFillTx/>
                <a:latin typeface="Aptos"/>
                <a:ea typeface="Aptos"/>
              </a:rPr>
              <a:t>operativa</a:t>
            </a:r>
            <a:r>
              <a:rPr lang="en-US" sz="1300" b="0" u="none" strike="noStrike" dirty="0">
                <a:solidFill>
                  <a:srgbClr val="6F6888"/>
                </a:solidFill>
                <a:effectLst/>
                <a:uFillTx/>
                <a:latin typeface="Aptos"/>
                <a:ea typeface="Aptos"/>
              </a:rPr>
              <a:t> B2B2C + </a:t>
            </a:r>
            <a:r>
              <a:rPr lang="en-US" sz="1300" b="0" u="none" strike="noStrike" dirty="0" err="1">
                <a:solidFill>
                  <a:srgbClr val="6F6888"/>
                </a:solidFill>
                <a:effectLst/>
                <a:uFillTx/>
                <a:latin typeface="Aptos"/>
                <a:ea typeface="Aptos"/>
              </a:rPr>
              <a:t>ecosistema</a:t>
            </a:r>
            <a:r>
              <a:rPr lang="en-US" sz="1300" b="0" u="none" strike="noStrike" dirty="0">
                <a:solidFill>
                  <a:srgbClr val="6F6888"/>
                </a:solidFill>
                <a:effectLst/>
                <a:uFillTx/>
                <a:latin typeface="Aptos"/>
                <a:ea typeface="Aptos"/>
              </a:rPr>
              <a:t> de </a:t>
            </a:r>
            <a:r>
              <a:rPr lang="en-US" sz="1300" b="0" u="none" strike="noStrike" dirty="0" err="1">
                <a:solidFill>
                  <a:srgbClr val="6F6888"/>
                </a:solidFill>
                <a:effectLst/>
                <a:uFillTx/>
                <a:latin typeface="Aptos"/>
                <a:ea typeface="Aptos"/>
              </a:rPr>
              <a:t>servicios</a:t>
            </a:r>
            <a:endParaRPr lang="en-US" sz="1300" b="0" u="none" strike="noStrike" dirty="0">
              <a:solidFill>
                <a:srgbClr val="000000"/>
              </a:solidFill>
              <a:effectLst/>
              <a:uFillTx/>
              <a:latin typeface="Arial"/>
            </a:endParaRPr>
          </a:p>
        </p:txBody>
      </p:sp>
      <p:sp>
        <p:nvSpPr>
          <p:cNvPr id="595" name="Shape 56"/>
          <p:cNvSpPr/>
          <p:nvPr/>
        </p:nvSpPr>
        <p:spPr>
          <a:xfrm>
            <a:off x="749881" y="6047070"/>
            <a:ext cx="10698120" cy="467980"/>
          </a:xfrm>
          <a:prstGeom prst="roundRect">
            <a:avLst>
              <a:gd name="adj" fmla="val 19048"/>
            </a:avLst>
          </a:prstGeom>
          <a:solidFill>
            <a:srgbClr val="F1EBFF"/>
          </a:solidFill>
          <a:ln w="12700">
            <a:solidFill>
              <a:srgbClr val="F1EB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96" name="Text 57"/>
          <p:cNvSpPr/>
          <p:nvPr/>
        </p:nvSpPr>
        <p:spPr>
          <a:xfrm>
            <a:off x="904775" y="6120775"/>
            <a:ext cx="10433785" cy="340422"/>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tabLst>
                <a:tab pos="0" algn="l"/>
              </a:tabLst>
            </a:pPr>
            <a:r>
              <a:rPr lang="es-ES" sz="1400" b="1" u="none" strike="noStrike" dirty="0">
                <a:solidFill>
                  <a:srgbClr val="5F2CCB"/>
                </a:solidFill>
                <a:effectLst/>
                <a:uFillTx/>
                <a:latin typeface="Aptos"/>
                <a:ea typeface="Aptos"/>
              </a:rPr>
              <a:t>La hoja de ruta (</a:t>
            </a:r>
            <a:r>
              <a:rPr lang="es-ES" sz="1400" b="1" u="none" strike="noStrike" dirty="0" err="1">
                <a:solidFill>
                  <a:srgbClr val="5F2CCB"/>
                </a:solidFill>
                <a:effectLst/>
                <a:uFillTx/>
                <a:latin typeface="Aptos"/>
                <a:ea typeface="Aptos"/>
              </a:rPr>
              <a:t>roadmap</a:t>
            </a:r>
            <a:r>
              <a:rPr lang="es-ES" sz="1400" b="1" u="none" strike="noStrike" dirty="0">
                <a:solidFill>
                  <a:srgbClr val="5F2CCB"/>
                </a:solidFill>
                <a:effectLst/>
                <a:uFillTx/>
                <a:latin typeface="Aptos"/>
                <a:ea typeface="Aptos"/>
              </a:rPr>
              <a:t>) debe convertir la visión </a:t>
            </a:r>
            <a:r>
              <a:rPr lang="es-ES" sz="1400" b="1" dirty="0">
                <a:solidFill>
                  <a:srgbClr val="5F2CCB"/>
                </a:solidFill>
                <a:ea typeface="Aptos"/>
              </a:rPr>
              <a:t>en arquitectura y capacidades de producto desplegables</a:t>
            </a:r>
            <a:r>
              <a:rPr lang="es-ES" sz="1400" b="1" u="none" strike="noStrike" dirty="0">
                <a:solidFill>
                  <a:srgbClr val="5F2CCB"/>
                </a:solidFill>
                <a:effectLst/>
                <a:uFillTx/>
                <a:latin typeface="Aptos"/>
                <a:ea typeface="Aptos"/>
              </a:rPr>
              <a:t>, medibles y validadas.</a:t>
            </a:r>
            <a:endParaRPr lang="en-US" sz="1400" b="0" u="none" strike="noStrike" dirty="0">
              <a:solidFill>
                <a:srgbClr val="000000"/>
              </a:solidFill>
              <a:effectLst/>
              <a:uFillTx/>
              <a:latin typeface="Arial"/>
            </a:endParaRPr>
          </a:p>
        </p:txBody>
      </p:sp>
      <p:pic>
        <p:nvPicPr>
          <p:cNvPr id="3" name="Image 0" descr="/mnt/data/ungga_logo_purple.png">
            <a:extLst>
              <a:ext uri="{FF2B5EF4-FFF2-40B4-BE49-F238E27FC236}">
                <a16:creationId xmlns:a16="http://schemas.microsoft.com/office/drawing/2014/main" id="{98F9DC0D-F0A8-B42F-F484-D0A68EE3B7CE}"/>
              </a:ext>
            </a:extLst>
          </p:cNvPr>
          <p:cNvPicPr>
            <a:picLocks noChangeAspect="1"/>
          </p:cNvPicPr>
          <p:nvPr/>
        </p:nvPicPr>
        <p:blipFill>
          <a:blip r:embed="rId3"/>
          <a:stretch>
            <a:fillRect/>
          </a:stretch>
        </p:blipFill>
        <p:spPr>
          <a:xfrm>
            <a:off x="11109960" y="449715"/>
            <a:ext cx="566928" cy="472170"/>
          </a:xfrm>
          <a:prstGeom prst="rect">
            <a:avLst/>
          </a:prstGeom>
        </p:spPr>
      </p:pic>
      <p:sp>
        <p:nvSpPr>
          <p:cNvPr id="4" name="Shape 32">
            <a:extLst>
              <a:ext uri="{FF2B5EF4-FFF2-40B4-BE49-F238E27FC236}">
                <a16:creationId xmlns:a16="http://schemas.microsoft.com/office/drawing/2014/main" id="{6CDD65E2-D57C-2940-19CE-840EAF8ED1D2}"/>
              </a:ext>
            </a:extLst>
          </p:cNvPr>
          <p:cNvSpPr/>
          <p:nvPr/>
        </p:nvSpPr>
        <p:spPr>
          <a:xfrm>
            <a:off x="593205" y="4383388"/>
            <a:ext cx="1892520" cy="429480"/>
          </a:xfrm>
          <a:prstGeom prst="roundRect">
            <a:avLst>
              <a:gd name="adj" fmla="val 12766"/>
            </a:avLst>
          </a:prstGeom>
          <a:solidFill>
            <a:srgbClr val="FFFFFF"/>
          </a:solidFill>
          <a:ln w="8890">
            <a:solidFill>
              <a:srgbClr val="DED2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000000"/>
              </a:solidFill>
              <a:effectLst/>
              <a:uFillTx/>
              <a:latin typeface="Arial"/>
            </a:endParaRPr>
          </a:p>
        </p:txBody>
      </p:sp>
      <p:sp>
        <p:nvSpPr>
          <p:cNvPr id="6" name="Text 33">
            <a:extLst>
              <a:ext uri="{FF2B5EF4-FFF2-40B4-BE49-F238E27FC236}">
                <a16:creationId xmlns:a16="http://schemas.microsoft.com/office/drawing/2014/main" id="{47C1A929-D052-8CB2-F735-84A7665A369F}"/>
              </a:ext>
            </a:extLst>
          </p:cNvPr>
          <p:cNvSpPr/>
          <p:nvPr/>
        </p:nvSpPr>
        <p:spPr>
          <a:xfrm>
            <a:off x="666285" y="4456468"/>
            <a:ext cx="17460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i="1" u="none" strike="noStrike" dirty="0">
                <a:solidFill>
                  <a:srgbClr val="151327"/>
                </a:solidFill>
                <a:effectLst/>
                <a:uFillTx/>
                <a:latin typeface="Aptos"/>
                <a:ea typeface="Aptos"/>
              </a:rPr>
              <a:t>Relationship Ops</a:t>
            </a:r>
            <a:endParaRPr lang="en-US" sz="1400" b="0" i="1" u="none" strike="noStrike" dirty="0">
              <a:solidFill>
                <a:srgbClr val="000000"/>
              </a:solidFill>
              <a:effectLst/>
              <a:uFillTx/>
              <a:latin typeface="Arial"/>
            </a:endParaRPr>
          </a:p>
        </p:txBody>
      </p:sp>
      <p:sp>
        <p:nvSpPr>
          <p:cNvPr id="8" name="Shape 34">
            <a:extLst>
              <a:ext uri="{FF2B5EF4-FFF2-40B4-BE49-F238E27FC236}">
                <a16:creationId xmlns:a16="http://schemas.microsoft.com/office/drawing/2014/main" id="{FA83087B-39B5-79CE-FD09-A69FA233008B}"/>
              </a:ext>
            </a:extLst>
          </p:cNvPr>
          <p:cNvSpPr/>
          <p:nvPr/>
        </p:nvSpPr>
        <p:spPr>
          <a:xfrm>
            <a:off x="2559165" y="4383388"/>
            <a:ext cx="2761200" cy="429480"/>
          </a:xfrm>
          <a:prstGeom prst="roundRect">
            <a:avLst>
              <a:gd name="adj" fmla="val 12766"/>
            </a:avLst>
          </a:prstGeom>
          <a:solidFill>
            <a:srgbClr val="FFFFFF"/>
          </a:solidFill>
          <a:ln w="8890">
            <a:solidFill>
              <a:srgbClr val="DED2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000000"/>
              </a:solidFill>
              <a:effectLst/>
              <a:uFillTx/>
              <a:latin typeface="Arial"/>
            </a:endParaRPr>
          </a:p>
        </p:txBody>
      </p:sp>
      <p:sp>
        <p:nvSpPr>
          <p:cNvPr id="10" name="Text 35">
            <a:extLst>
              <a:ext uri="{FF2B5EF4-FFF2-40B4-BE49-F238E27FC236}">
                <a16:creationId xmlns:a16="http://schemas.microsoft.com/office/drawing/2014/main" id="{ED8B8A4B-FE37-187B-C07F-641FC5763B86}"/>
              </a:ext>
            </a:extLst>
          </p:cNvPr>
          <p:cNvSpPr/>
          <p:nvPr/>
        </p:nvSpPr>
        <p:spPr>
          <a:xfrm>
            <a:off x="2632245" y="4456468"/>
            <a:ext cx="2506491" cy="356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s-ES" sz="1300" b="0" u="none" strike="noStrike" dirty="0">
                <a:solidFill>
                  <a:srgbClr val="6F6888"/>
                </a:solidFill>
                <a:effectLst/>
                <a:uFillTx/>
                <a:latin typeface="Aptos"/>
                <a:ea typeface="Aptos"/>
              </a:rPr>
              <a:t>Motor actual de conversión de leads de </a:t>
            </a:r>
            <a:r>
              <a:rPr lang="es-ES" sz="1300" b="0" u="none" strike="noStrike" dirty="0" err="1">
                <a:solidFill>
                  <a:srgbClr val="6F6888"/>
                </a:solidFill>
                <a:effectLst/>
                <a:uFillTx/>
                <a:latin typeface="Aptos"/>
                <a:ea typeface="Aptos"/>
              </a:rPr>
              <a:t>Gu</a:t>
            </a:r>
            <a:endParaRPr lang="en-US" sz="1300" b="0" u="none" strike="noStrike" dirty="0">
              <a:solidFill>
                <a:srgbClr val="000000"/>
              </a:solidFill>
              <a:effectLst/>
              <a:uFillTx/>
              <a:latin typeface="Arial"/>
            </a:endParaRPr>
          </a:p>
        </p:txBody>
      </p:sp>
      <p:sp>
        <p:nvSpPr>
          <p:cNvPr id="12" name="Shape 36">
            <a:extLst>
              <a:ext uri="{FF2B5EF4-FFF2-40B4-BE49-F238E27FC236}">
                <a16:creationId xmlns:a16="http://schemas.microsoft.com/office/drawing/2014/main" id="{675C81C6-8213-95D3-5C96-314EC4340ECF}"/>
              </a:ext>
            </a:extLst>
          </p:cNvPr>
          <p:cNvSpPr/>
          <p:nvPr/>
        </p:nvSpPr>
        <p:spPr>
          <a:xfrm>
            <a:off x="5393805" y="4383388"/>
            <a:ext cx="3081240" cy="429480"/>
          </a:xfrm>
          <a:prstGeom prst="roundRect">
            <a:avLst>
              <a:gd name="adj" fmla="val 12766"/>
            </a:avLst>
          </a:prstGeom>
          <a:solidFill>
            <a:srgbClr val="FFFFFF"/>
          </a:solidFill>
          <a:ln w="8890">
            <a:solidFill>
              <a:srgbClr val="DED2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000000"/>
              </a:solidFill>
              <a:effectLst/>
              <a:uFillTx/>
              <a:latin typeface="Arial"/>
            </a:endParaRPr>
          </a:p>
        </p:txBody>
      </p:sp>
      <p:sp>
        <p:nvSpPr>
          <p:cNvPr id="14" name="Text 37">
            <a:extLst>
              <a:ext uri="{FF2B5EF4-FFF2-40B4-BE49-F238E27FC236}">
                <a16:creationId xmlns:a16="http://schemas.microsoft.com/office/drawing/2014/main" id="{A8AAB8DA-E110-8BED-70B5-3EC8832149E1}"/>
              </a:ext>
            </a:extLst>
          </p:cNvPr>
          <p:cNvSpPr/>
          <p:nvPr/>
        </p:nvSpPr>
        <p:spPr>
          <a:xfrm>
            <a:off x="5466885" y="4427592"/>
            <a:ext cx="2934720" cy="35604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u="none" strike="noStrike" dirty="0">
                <a:solidFill>
                  <a:srgbClr val="6F6888"/>
                </a:solidFill>
                <a:effectLst/>
                <a:uFillTx/>
                <a:latin typeface="Aptos"/>
                <a:ea typeface="Aptos"/>
              </a:rPr>
              <a:t>Lead Opportunity Cases · </a:t>
            </a:r>
            <a:r>
              <a:rPr lang="en-US" sz="1300" b="0" u="none" strike="noStrike" dirty="0" err="1">
                <a:solidFill>
                  <a:srgbClr val="6F6888"/>
                </a:solidFill>
                <a:effectLst/>
                <a:uFillTx/>
                <a:latin typeface="Aptos"/>
                <a:ea typeface="Aptos"/>
              </a:rPr>
              <a:t>seguimiento</a:t>
            </a:r>
            <a:r>
              <a:rPr lang="en-US" sz="1300" b="0" u="none" strike="noStrike" dirty="0">
                <a:solidFill>
                  <a:srgbClr val="6F6888"/>
                </a:solidFill>
                <a:effectLst/>
                <a:uFillTx/>
                <a:latin typeface="Aptos"/>
                <a:ea typeface="Aptos"/>
              </a:rPr>
              <a:t> </a:t>
            </a:r>
            <a:r>
              <a:rPr lang="en-US" sz="1300" b="0" u="none" strike="noStrike" dirty="0" err="1">
                <a:solidFill>
                  <a:srgbClr val="6F6888"/>
                </a:solidFill>
                <a:effectLst/>
                <a:uFillTx/>
                <a:latin typeface="Aptos"/>
                <a:ea typeface="Aptos"/>
              </a:rPr>
              <a:t>situacional</a:t>
            </a:r>
            <a:endParaRPr lang="en-US" sz="1300" b="0" u="none" strike="noStrike" dirty="0">
              <a:solidFill>
                <a:srgbClr val="000000"/>
              </a:solidFill>
              <a:effectLst/>
              <a:uFillTx/>
              <a:latin typeface="Arial"/>
            </a:endParaRPr>
          </a:p>
        </p:txBody>
      </p:sp>
      <p:sp>
        <p:nvSpPr>
          <p:cNvPr id="16" name="Shape 38">
            <a:extLst>
              <a:ext uri="{FF2B5EF4-FFF2-40B4-BE49-F238E27FC236}">
                <a16:creationId xmlns:a16="http://schemas.microsoft.com/office/drawing/2014/main" id="{0C50F44A-B478-4A45-0729-02EB4FE0DC6B}"/>
              </a:ext>
            </a:extLst>
          </p:cNvPr>
          <p:cNvSpPr/>
          <p:nvPr/>
        </p:nvSpPr>
        <p:spPr>
          <a:xfrm>
            <a:off x="8548485" y="4383388"/>
            <a:ext cx="3081240" cy="429480"/>
          </a:xfrm>
          <a:prstGeom prst="roundRect">
            <a:avLst>
              <a:gd name="adj" fmla="val 12766"/>
            </a:avLst>
          </a:prstGeom>
          <a:solidFill>
            <a:srgbClr val="FFFFFF"/>
          </a:solidFill>
          <a:ln w="8890">
            <a:solidFill>
              <a:srgbClr val="DED2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000000"/>
              </a:solidFill>
              <a:effectLst/>
              <a:uFillTx/>
              <a:latin typeface="Arial"/>
            </a:endParaRPr>
          </a:p>
        </p:txBody>
      </p:sp>
      <p:sp>
        <p:nvSpPr>
          <p:cNvPr id="18" name="Text 39">
            <a:extLst>
              <a:ext uri="{FF2B5EF4-FFF2-40B4-BE49-F238E27FC236}">
                <a16:creationId xmlns:a16="http://schemas.microsoft.com/office/drawing/2014/main" id="{8435773F-923F-DB57-B244-59932C6AC154}"/>
              </a:ext>
            </a:extLst>
          </p:cNvPr>
          <p:cNvSpPr/>
          <p:nvPr/>
        </p:nvSpPr>
        <p:spPr>
          <a:xfrm>
            <a:off x="8621565" y="4418817"/>
            <a:ext cx="2934720" cy="36481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s-ES" sz="1300" b="0" u="none" strike="noStrike" dirty="0">
                <a:solidFill>
                  <a:srgbClr val="6F6888"/>
                </a:solidFill>
                <a:effectLst/>
                <a:uFillTx/>
                <a:latin typeface="Aptos"/>
                <a:ea typeface="Aptos"/>
              </a:rPr>
              <a:t>Operación continua de relaciones y oportunidades</a:t>
            </a:r>
            <a:endParaRPr lang="en-US" sz="1300" b="0" u="none" strike="noStrike" dirty="0">
              <a:solidFill>
                <a:srgbClr val="000000"/>
              </a:solidFill>
              <a:effectLst/>
              <a:uFillTx/>
              <a:latin typeface="Arial"/>
            </a:endParaRPr>
          </a:p>
        </p:txBody>
      </p:sp>
      <p:sp>
        <p:nvSpPr>
          <p:cNvPr id="20" name="Shape 48">
            <a:extLst>
              <a:ext uri="{FF2B5EF4-FFF2-40B4-BE49-F238E27FC236}">
                <a16:creationId xmlns:a16="http://schemas.microsoft.com/office/drawing/2014/main" id="{676ABF06-2372-0EA0-8A46-65414BA12BC3}"/>
              </a:ext>
            </a:extLst>
          </p:cNvPr>
          <p:cNvSpPr/>
          <p:nvPr/>
        </p:nvSpPr>
        <p:spPr>
          <a:xfrm>
            <a:off x="593205" y="5535362"/>
            <a:ext cx="1892520" cy="429480"/>
          </a:xfrm>
          <a:prstGeom prst="roundRect">
            <a:avLst>
              <a:gd name="adj" fmla="val 12766"/>
            </a:avLst>
          </a:prstGeom>
          <a:solidFill>
            <a:srgbClr val="FFFFFF"/>
          </a:solidFill>
          <a:ln w="8890">
            <a:solidFill>
              <a:srgbClr val="DED2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000000"/>
              </a:solidFill>
              <a:effectLst/>
              <a:uFillTx/>
              <a:latin typeface="Arial"/>
            </a:endParaRPr>
          </a:p>
        </p:txBody>
      </p:sp>
      <p:sp>
        <p:nvSpPr>
          <p:cNvPr id="22" name="Text 49">
            <a:extLst>
              <a:ext uri="{FF2B5EF4-FFF2-40B4-BE49-F238E27FC236}">
                <a16:creationId xmlns:a16="http://schemas.microsoft.com/office/drawing/2014/main" id="{A981233E-689F-7D2B-A549-89F66BF724A6}"/>
              </a:ext>
            </a:extLst>
          </p:cNvPr>
          <p:cNvSpPr/>
          <p:nvPr/>
        </p:nvSpPr>
        <p:spPr>
          <a:xfrm>
            <a:off x="666285" y="5608442"/>
            <a:ext cx="1773720" cy="275003"/>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i="1" u="none" strike="noStrike" dirty="0">
                <a:solidFill>
                  <a:srgbClr val="151327"/>
                </a:solidFill>
                <a:effectLst/>
                <a:uFillTx/>
                <a:latin typeface="Aptos"/>
                <a:ea typeface="Aptos"/>
              </a:rPr>
              <a:t>Business Brain</a:t>
            </a:r>
            <a:endParaRPr lang="en-US" sz="1400" b="0" i="1" u="none" strike="noStrike" dirty="0">
              <a:solidFill>
                <a:srgbClr val="000000"/>
              </a:solidFill>
              <a:effectLst/>
              <a:uFillTx/>
              <a:latin typeface="Arial"/>
            </a:endParaRPr>
          </a:p>
        </p:txBody>
      </p:sp>
      <p:sp>
        <p:nvSpPr>
          <p:cNvPr id="24" name="Shape 50">
            <a:extLst>
              <a:ext uri="{FF2B5EF4-FFF2-40B4-BE49-F238E27FC236}">
                <a16:creationId xmlns:a16="http://schemas.microsoft.com/office/drawing/2014/main" id="{302A7A4C-6BEA-886B-3467-2B587EC7CAB0}"/>
              </a:ext>
            </a:extLst>
          </p:cNvPr>
          <p:cNvSpPr/>
          <p:nvPr/>
        </p:nvSpPr>
        <p:spPr>
          <a:xfrm>
            <a:off x="2559165" y="5535362"/>
            <a:ext cx="2761200" cy="429480"/>
          </a:xfrm>
          <a:prstGeom prst="roundRect">
            <a:avLst>
              <a:gd name="adj" fmla="val 12766"/>
            </a:avLst>
          </a:prstGeom>
          <a:solidFill>
            <a:srgbClr val="FFFFFF"/>
          </a:solidFill>
          <a:ln w="8890">
            <a:solidFill>
              <a:srgbClr val="DED2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000000"/>
              </a:solidFill>
              <a:effectLst/>
              <a:uFillTx/>
              <a:latin typeface="Arial"/>
            </a:endParaRPr>
          </a:p>
        </p:txBody>
      </p:sp>
      <p:sp>
        <p:nvSpPr>
          <p:cNvPr id="26" name="Text 51">
            <a:extLst>
              <a:ext uri="{FF2B5EF4-FFF2-40B4-BE49-F238E27FC236}">
                <a16:creationId xmlns:a16="http://schemas.microsoft.com/office/drawing/2014/main" id="{FA9CB9FD-3FBA-0E32-D061-97B6D373357F}"/>
              </a:ext>
            </a:extLst>
          </p:cNvPr>
          <p:cNvSpPr/>
          <p:nvPr/>
        </p:nvSpPr>
        <p:spPr>
          <a:xfrm>
            <a:off x="2632245" y="5589192"/>
            <a:ext cx="2614680" cy="3179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20000"/>
          </a:bodyPr>
          <a:lstStyle/>
          <a:p>
            <a:pPr defTabSz="914400">
              <a:lnSpc>
                <a:spcPct val="100000"/>
              </a:lnSpc>
              <a:tabLst>
                <a:tab pos="0" algn="l"/>
              </a:tabLst>
            </a:pPr>
            <a:r>
              <a:rPr lang="en-US" sz="1300" b="0" u="none" strike="noStrike" dirty="0" err="1">
                <a:solidFill>
                  <a:srgbClr val="6F6888"/>
                </a:solidFill>
                <a:effectLst/>
                <a:uFillTx/>
                <a:latin typeface="Aptos"/>
                <a:ea typeface="Aptos"/>
              </a:rPr>
              <a:t>Contexto</a:t>
            </a:r>
            <a:r>
              <a:rPr lang="en-US" sz="1300" b="0" u="none" strike="noStrike" dirty="0">
                <a:solidFill>
                  <a:srgbClr val="6F6888"/>
                </a:solidFill>
                <a:effectLst/>
                <a:uFillTx/>
                <a:latin typeface="Aptos"/>
                <a:ea typeface="Aptos"/>
              </a:rPr>
              <a:t>/memoria </a:t>
            </a:r>
            <a:r>
              <a:rPr lang="en-US" sz="1300" b="0" u="none" strike="noStrike" dirty="0" err="1">
                <a:solidFill>
                  <a:srgbClr val="6F6888"/>
                </a:solidFill>
                <a:effectLst/>
                <a:uFillTx/>
                <a:latin typeface="Aptos"/>
                <a:ea typeface="Aptos"/>
              </a:rPr>
              <a:t>existentes</a:t>
            </a:r>
            <a:r>
              <a:rPr lang="en-US" sz="1300" b="0" u="none" strike="noStrike" dirty="0">
                <a:solidFill>
                  <a:srgbClr val="6F6888"/>
                </a:solidFill>
                <a:effectLst/>
                <a:uFillTx/>
                <a:latin typeface="Aptos"/>
                <a:ea typeface="Aptos"/>
              </a:rPr>
              <a:t> </a:t>
            </a:r>
            <a:r>
              <a:rPr lang="en-US" sz="1300" b="0" u="none" strike="noStrike" dirty="0" err="1">
                <a:solidFill>
                  <a:srgbClr val="6F6888"/>
                </a:solidFill>
                <a:effectLst/>
                <a:uFillTx/>
                <a:latin typeface="Aptos"/>
                <a:ea typeface="Aptos"/>
              </a:rPr>
              <a:t>pero</a:t>
            </a:r>
            <a:r>
              <a:rPr lang="en-US" sz="1300" b="0" u="none" strike="noStrike" dirty="0">
                <a:solidFill>
                  <a:srgbClr val="6F6888"/>
                </a:solidFill>
                <a:effectLst/>
                <a:uFillTx/>
                <a:latin typeface="Aptos"/>
                <a:ea typeface="Aptos"/>
              </a:rPr>
              <a:t> </a:t>
            </a:r>
            <a:r>
              <a:rPr lang="en-US" sz="1300" b="0" u="none" strike="noStrike" dirty="0" err="1">
                <a:solidFill>
                  <a:srgbClr val="6F6888"/>
                </a:solidFill>
                <a:effectLst/>
                <a:uFillTx/>
                <a:latin typeface="Aptos"/>
                <a:ea typeface="Aptos"/>
              </a:rPr>
              <a:t>limitados</a:t>
            </a:r>
            <a:r>
              <a:rPr lang="en-US" sz="1300" b="0" u="none" strike="noStrike" dirty="0">
                <a:solidFill>
                  <a:srgbClr val="6F6888"/>
                </a:solidFill>
                <a:effectLst/>
                <a:uFillTx/>
                <a:latin typeface="Aptos"/>
                <a:ea typeface="Aptos"/>
              </a:rPr>
              <a:t> (no hay Brain layer </a:t>
            </a:r>
            <a:r>
              <a:rPr lang="en-US" sz="1300" b="0" u="none" strike="noStrike" dirty="0" err="1">
                <a:solidFill>
                  <a:srgbClr val="6F6888"/>
                </a:solidFill>
                <a:effectLst/>
                <a:uFillTx/>
                <a:latin typeface="Aptos"/>
                <a:ea typeface="Aptos"/>
              </a:rPr>
              <a:t>aún</a:t>
            </a:r>
            <a:r>
              <a:rPr lang="en-US" sz="1300" b="0" u="none" strike="noStrike" dirty="0">
                <a:solidFill>
                  <a:srgbClr val="6F6888"/>
                </a:solidFill>
                <a:effectLst/>
                <a:uFillTx/>
                <a:latin typeface="Aptos"/>
                <a:ea typeface="Aptos"/>
              </a:rPr>
              <a:t>)</a:t>
            </a:r>
            <a:endParaRPr lang="en-US" sz="1300" b="0" u="none" strike="noStrike" dirty="0">
              <a:solidFill>
                <a:srgbClr val="000000"/>
              </a:solidFill>
              <a:effectLst/>
              <a:uFillTx/>
              <a:latin typeface="Arial"/>
            </a:endParaRPr>
          </a:p>
        </p:txBody>
      </p:sp>
      <p:sp>
        <p:nvSpPr>
          <p:cNvPr id="28" name="Shape 52">
            <a:extLst>
              <a:ext uri="{FF2B5EF4-FFF2-40B4-BE49-F238E27FC236}">
                <a16:creationId xmlns:a16="http://schemas.microsoft.com/office/drawing/2014/main" id="{3C1B59BB-05BF-ED2D-5988-973645E7CC31}"/>
              </a:ext>
            </a:extLst>
          </p:cNvPr>
          <p:cNvSpPr/>
          <p:nvPr/>
        </p:nvSpPr>
        <p:spPr>
          <a:xfrm>
            <a:off x="5393805" y="5535362"/>
            <a:ext cx="3081240" cy="429480"/>
          </a:xfrm>
          <a:prstGeom prst="roundRect">
            <a:avLst>
              <a:gd name="adj" fmla="val 12766"/>
            </a:avLst>
          </a:prstGeom>
          <a:solidFill>
            <a:srgbClr val="FFFFFF"/>
          </a:solidFill>
          <a:ln w="8890">
            <a:solidFill>
              <a:srgbClr val="DED2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000000"/>
              </a:solidFill>
              <a:effectLst/>
              <a:uFillTx/>
              <a:latin typeface="Arial"/>
            </a:endParaRPr>
          </a:p>
        </p:txBody>
      </p:sp>
      <p:sp>
        <p:nvSpPr>
          <p:cNvPr id="30" name="Text 53">
            <a:extLst>
              <a:ext uri="{FF2B5EF4-FFF2-40B4-BE49-F238E27FC236}">
                <a16:creationId xmlns:a16="http://schemas.microsoft.com/office/drawing/2014/main" id="{1B29F206-F3C4-5AC2-A781-9F3CE5EEF86A}"/>
              </a:ext>
            </a:extLst>
          </p:cNvPr>
          <p:cNvSpPr/>
          <p:nvPr/>
        </p:nvSpPr>
        <p:spPr>
          <a:xfrm>
            <a:off x="5466885" y="5569942"/>
            <a:ext cx="293472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s-ES" sz="1300" b="0" u="none" strike="noStrike" dirty="0">
                <a:solidFill>
                  <a:srgbClr val="6F6888"/>
                </a:solidFill>
                <a:effectLst/>
                <a:uFillTx/>
                <a:latin typeface="Aptos"/>
                <a:ea typeface="Aptos"/>
              </a:rPr>
              <a:t>Brain Layer · conocimiento </a:t>
            </a:r>
            <a:r>
              <a:rPr lang="es-ES" sz="1300" b="0" u="none" strike="noStrike" dirty="0" err="1">
                <a:solidFill>
                  <a:srgbClr val="6F6888"/>
                </a:solidFill>
                <a:effectLst/>
                <a:uFillTx/>
                <a:latin typeface="Aptos"/>
                <a:ea typeface="Aptos"/>
              </a:rPr>
              <a:t>cross</a:t>
            </a:r>
            <a:r>
              <a:rPr lang="es-ES" sz="1300" b="0" u="none" strike="noStrike" dirty="0">
                <a:solidFill>
                  <a:srgbClr val="6F6888"/>
                </a:solidFill>
                <a:effectLst/>
                <a:uFillTx/>
                <a:latin typeface="Aptos"/>
                <a:ea typeface="Aptos"/>
              </a:rPr>
              <a:t>-Case · relaciones · señales</a:t>
            </a:r>
            <a:endParaRPr lang="en-US" sz="1300" b="0" u="none" strike="noStrike" dirty="0">
              <a:solidFill>
                <a:srgbClr val="000000"/>
              </a:solidFill>
              <a:effectLst/>
              <a:uFillTx/>
              <a:latin typeface="Arial"/>
            </a:endParaRPr>
          </a:p>
        </p:txBody>
      </p:sp>
      <p:sp>
        <p:nvSpPr>
          <p:cNvPr id="32" name="Shape 54">
            <a:extLst>
              <a:ext uri="{FF2B5EF4-FFF2-40B4-BE49-F238E27FC236}">
                <a16:creationId xmlns:a16="http://schemas.microsoft.com/office/drawing/2014/main" id="{149BB92A-CBEE-0B8A-91F5-CDD4CED12FA2}"/>
              </a:ext>
            </a:extLst>
          </p:cNvPr>
          <p:cNvSpPr/>
          <p:nvPr/>
        </p:nvSpPr>
        <p:spPr>
          <a:xfrm>
            <a:off x="8548485" y="5535362"/>
            <a:ext cx="3081240" cy="429480"/>
          </a:xfrm>
          <a:prstGeom prst="roundRect">
            <a:avLst>
              <a:gd name="adj" fmla="val 12766"/>
            </a:avLst>
          </a:prstGeom>
          <a:solidFill>
            <a:srgbClr val="FFFFFF"/>
          </a:solidFill>
          <a:ln w="8890">
            <a:solidFill>
              <a:srgbClr val="DED2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400" b="0" u="none" strike="noStrike">
              <a:solidFill>
                <a:srgbClr val="000000"/>
              </a:solidFill>
              <a:effectLst/>
              <a:uFillTx/>
              <a:latin typeface="Arial"/>
            </a:endParaRPr>
          </a:p>
        </p:txBody>
      </p:sp>
      <p:sp>
        <p:nvSpPr>
          <p:cNvPr id="34" name="Text 55">
            <a:extLst>
              <a:ext uri="{FF2B5EF4-FFF2-40B4-BE49-F238E27FC236}">
                <a16:creationId xmlns:a16="http://schemas.microsoft.com/office/drawing/2014/main" id="{4C06AB27-26DB-5BBF-1B7B-E7DBEA234548}"/>
              </a:ext>
            </a:extLst>
          </p:cNvPr>
          <p:cNvSpPr/>
          <p:nvPr/>
        </p:nvSpPr>
        <p:spPr>
          <a:xfrm>
            <a:off x="8621565" y="5589192"/>
            <a:ext cx="2934720" cy="29865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u="none" strike="noStrike" dirty="0" err="1">
                <a:solidFill>
                  <a:srgbClr val="6F6888"/>
                </a:solidFill>
                <a:effectLst/>
                <a:uFillTx/>
                <a:latin typeface="Aptos"/>
                <a:ea typeface="Aptos"/>
              </a:rPr>
              <a:t>Inteligencia</a:t>
            </a:r>
            <a:r>
              <a:rPr lang="en-US" sz="1300" b="0" u="none" strike="noStrike" dirty="0">
                <a:solidFill>
                  <a:srgbClr val="6F6888"/>
                </a:solidFill>
                <a:effectLst/>
                <a:uFillTx/>
                <a:latin typeface="Aptos"/>
                <a:ea typeface="Aptos"/>
              </a:rPr>
              <a:t> </a:t>
            </a:r>
            <a:r>
              <a:rPr lang="en-US" sz="1300" b="0" u="none" strike="noStrike" dirty="0" err="1">
                <a:solidFill>
                  <a:srgbClr val="6F6888"/>
                </a:solidFill>
                <a:effectLst/>
                <a:uFillTx/>
                <a:latin typeface="Aptos"/>
                <a:ea typeface="Aptos"/>
              </a:rPr>
              <a:t>organizacional</a:t>
            </a:r>
            <a:r>
              <a:rPr lang="en-US" sz="1300" b="0" u="none" strike="noStrike" dirty="0">
                <a:solidFill>
                  <a:srgbClr val="6F6888"/>
                </a:solidFill>
                <a:effectLst/>
                <a:uFillTx/>
                <a:latin typeface="Aptos"/>
                <a:ea typeface="Aptos"/>
              </a:rPr>
              <a:t> </a:t>
            </a:r>
            <a:r>
              <a:rPr lang="en-US" sz="1300" b="0" u="none" strike="noStrike" dirty="0" err="1">
                <a:solidFill>
                  <a:srgbClr val="6F6888"/>
                </a:solidFill>
                <a:effectLst/>
                <a:uFillTx/>
                <a:latin typeface="Aptos"/>
                <a:ea typeface="Aptos"/>
              </a:rPr>
              <a:t>acumulativa</a:t>
            </a:r>
            <a:endParaRPr lang="en-US" sz="1300" b="0" u="none" strike="noStrike" dirty="0">
              <a:solidFill>
                <a:srgbClr val="000000"/>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597" name="Shape 0"/>
          <p:cNvSpPr/>
          <p:nvPr/>
        </p:nvSpPr>
        <p:spPr>
          <a:xfrm>
            <a:off x="0" y="0"/>
            <a:ext cx="12191400" cy="63720"/>
          </a:xfrm>
          <a:prstGeom prst="rect">
            <a:avLst/>
          </a:prstGeom>
          <a:solidFill>
            <a:srgbClr val="5F2CCB"/>
          </a:solidFill>
          <a:ln w="12700">
            <a:solidFill>
              <a:srgbClr val="5F2CCB">
                <a:alpha val="0"/>
              </a:srgbClr>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FFFFFF"/>
              </a:solidFill>
              <a:effectLst/>
              <a:uFillTx/>
              <a:latin typeface="Arial"/>
            </a:endParaRPr>
          </a:p>
        </p:txBody>
      </p:sp>
      <p:sp>
        <p:nvSpPr>
          <p:cNvPr id="598" name="Text 1"/>
          <p:cNvSpPr/>
          <p:nvPr/>
        </p:nvSpPr>
        <p:spPr>
          <a:xfrm>
            <a:off x="567000" y="438840"/>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dirty="0">
                <a:solidFill>
                  <a:srgbClr val="5F2CCB"/>
                </a:solidFill>
                <a:effectLst/>
                <a:uFillTx/>
                <a:latin typeface="Aptos"/>
                <a:ea typeface="Aptos"/>
              </a:rPr>
              <a:t>CÓMO DEBEMOS CONSTRUIR</a:t>
            </a:r>
            <a:endParaRPr lang="en-US" sz="1200" b="0" u="none" strike="noStrike" dirty="0">
              <a:solidFill>
                <a:srgbClr val="000000"/>
              </a:solidFill>
              <a:effectLst/>
              <a:uFillTx/>
              <a:latin typeface="Arial"/>
            </a:endParaRPr>
          </a:p>
        </p:txBody>
      </p:sp>
      <p:sp>
        <p:nvSpPr>
          <p:cNvPr id="599" name="Text 2"/>
          <p:cNvSpPr/>
          <p:nvPr/>
        </p:nvSpPr>
        <p:spPr>
          <a:xfrm>
            <a:off x="567000" y="804600"/>
            <a:ext cx="10195200" cy="685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2600" b="1" u="none" strike="noStrike" dirty="0">
                <a:solidFill>
                  <a:srgbClr val="151327"/>
                </a:solidFill>
                <a:effectLst/>
                <a:uFillTx/>
                <a:latin typeface="Aptos Display"/>
                <a:ea typeface="Aptos Display"/>
              </a:rPr>
              <a:t>Diez </a:t>
            </a:r>
            <a:r>
              <a:rPr lang="en-US" sz="2600" b="1" u="none" strike="noStrike" dirty="0" err="1">
                <a:solidFill>
                  <a:srgbClr val="151327"/>
                </a:solidFill>
                <a:effectLst/>
                <a:uFillTx/>
                <a:latin typeface="Aptos Display"/>
                <a:ea typeface="Aptos Display"/>
              </a:rPr>
              <a:t>principios</a:t>
            </a:r>
            <a:r>
              <a:rPr lang="en-US" sz="2600" b="1" u="none" strike="noStrike" dirty="0">
                <a:solidFill>
                  <a:srgbClr val="151327"/>
                </a:solidFill>
                <a:effectLst/>
                <a:uFillTx/>
                <a:latin typeface="Aptos Display"/>
                <a:ea typeface="Aptos Display"/>
              </a:rPr>
              <a:t> para </a:t>
            </a:r>
            <a:r>
              <a:rPr lang="en-US" sz="2600" b="1" u="none" strike="noStrike" dirty="0" err="1">
                <a:solidFill>
                  <a:srgbClr val="151327"/>
                </a:solidFill>
                <a:effectLst/>
                <a:uFillTx/>
                <a:latin typeface="Aptos Display"/>
                <a:ea typeface="Aptos Display"/>
              </a:rPr>
              <a:t>evitar</a:t>
            </a:r>
            <a:r>
              <a:rPr lang="en-US" sz="2600" b="1" u="none" strike="noStrike" dirty="0">
                <a:solidFill>
                  <a:srgbClr val="151327"/>
                </a:solidFill>
                <a:effectLst/>
                <a:uFillTx/>
                <a:latin typeface="Aptos Display"/>
                <a:ea typeface="Aptos Display"/>
              </a:rPr>
              <a:t> </a:t>
            </a:r>
            <a:r>
              <a:rPr lang="en-US" sz="2600" b="1" u="none" strike="noStrike" dirty="0" err="1">
                <a:solidFill>
                  <a:srgbClr val="151327"/>
                </a:solidFill>
                <a:effectLst/>
                <a:uFillTx/>
                <a:latin typeface="Aptos Display"/>
                <a:ea typeface="Aptos Display"/>
              </a:rPr>
              <a:t>regresar</a:t>
            </a:r>
            <a:r>
              <a:rPr lang="en-US" sz="2600" b="1" u="none" strike="noStrike" dirty="0">
                <a:solidFill>
                  <a:srgbClr val="151327"/>
                </a:solidFill>
                <a:effectLst/>
                <a:uFillTx/>
                <a:latin typeface="Aptos Display"/>
                <a:ea typeface="Aptos Display"/>
              </a:rPr>
              <a:t> al SaaS </a:t>
            </a:r>
            <a:r>
              <a:rPr lang="en-US" sz="2600" b="1" u="none" strike="noStrike" dirty="0" err="1">
                <a:solidFill>
                  <a:srgbClr val="151327"/>
                </a:solidFill>
                <a:effectLst/>
                <a:uFillTx/>
                <a:latin typeface="Aptos Display"/>
                <a:ea typeface="Aptos Display"/>
              </a:rPr>
              <a:t>fragmentado</a:t>
            </a:r>
            <a:r>
              <a:rPr lang="en-US" sz="2600" b="1" u="none" strike="noStrike" dirty="0">
                <a:solidFill>
                  <a:srgbClr val="151327"/>
                </a:solidFill>
                <a:effectLst/>
                <a:uFillTx/>
                <a:latin typeface="Aptos Display"/>
                <a:ea typeface="Aptos Display"/>
              </a:rPr>
              <a:t>.</a:t>
            </a:r>
            <a:endParaRPr lang="en-US" sz="2600" b="0" u="none" strike="noStrike" dirty="0">
              <a:solidFill>
                <a:srgbClr val="000000"/>
              </a:solidFill>
              <a:effectLst/>
              <a:uFillTx/>
              <a:latin typeface="Arial"/>
            </a:endParaRPr>
          </a:p>
        </p:txBody>
      </p:sp>
      <p:sp>
        <p:nvSpPr>
          <p:cNvPr id="600" name="Text 3"/>
          <p:cNvSpPr/>
          <p:nvPr/>
        </p:nvSpPr>
        <p:spPr>
          <a:xfrm>
            <a:off x="567000" y="1552734"/>
            <a:ext cx="9682786" cy="507504"/>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n-US" b="0" u="none" strike="noStrike" dirty="0">
                <a:solidFill>
                  <a:srgbClr val="6F6888"/>
                </a:solidFill>
                <a:effectLst/>
                <a:uFillTx/>
                <a:latin typeface="Aptos"/>
                <a:ea typeface="Aptos"/>
              </a:rPr>
              <a:t>El </a:t>
            </a:r>
            <a:r>
              <a:rPr lang="en-US" b="0" i="1" u="none" strike="noStrike" dirty="0">
                <a:solidFill>
                  <a:srgbClr val="6F6888"/>
                </a:solidFill>
                <a:effectLst/>
                <a:uFillTx/>
                <a:latin typeface="Aptos"/>
                <a:ea typeface="Aptos"/>
              </a:rPr>
              <a:t>roadmap</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debe</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empezar</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por</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responsabilidades</a:t>
            </a:r>
            <a:r>
              <a:rPr lang="en-US" b="0" u="none" strike="noStrike" dirty="0">
                <a:solidFill>
                  <a:srgbClr val="6F6888"/>
                </a:solidFill>
                <a:effectLst/>
                <a:uFillTx/>
                <a:latin typeface="Aptos"/>
                <a:ea typeface="Aptos"/>
              </a:rPr>
              <a:t> de </a:t>
            </a:r>
            <a:r>
              <a:rPr lang="en-US" b="0" u="none" strike="noStrike" dirty="0" err="1">
                <a:solidFill>
                  <a:srgbClr val="6F6888"/>
                </a:solidFill>
                <a:effectLst/>
                <a:uFillTx/>
                <a:latin typeface="Aptos"/>
                <a:ea typeface="Aptos"/>
              </a:rPr>
              <a:t>negocio</a:t>
            </a:r>
            <a:r>
              <a:rPr lang="en-US" b="0" u="none" strike="noStrike" dirty="0">
                <a:solidFill>
                  <a:srgbClr val="6F6888"/>
                </a:solidFill>
                <a:effectLst/>
                <a:uFillTx/>
                <a:latin typeface="Aptos"/>
                <a:ea typeface="Aptos"/>
              </a:rPr>
              <a:t> y </a:t>
            </a:r>
            <a:r>
              <a:rPr lang="en-US" b="0" u="none" strike="noStrike" dirty="0" err="1">
                <a:solidFill>
                  <a:srgbClr val="6F6888"/>
                </a:solidFill>
                <a:effectLst/>
                <a:uFillTx/>
                <a:latin typeface="Aptos"/>
                <a:ea typeface="Aptos"/>
              </a:rPr>
              <a:t>terminar</a:t>
            </a:r>
            <a:r>
              <a:rPr lang="en-US" b="0" u="none" strike="noStrike" dirty="0">
                <a:solidFill>
                  <a:srgbClr val="6F6888"/>
                </a:solidFill>
                <a:effectLst/>
                <a:uFillTx/>
                <a:latin typeface="Aptos"/>
                <a:ea typeface="Aptos"/>
              </a:rPr>
              <a:t> en </a:t>
            </a:r>
            <a:r>
              <a:rPr lang="en-US" b="0" u="none" strike="noStrike" dirty="0" err="1">
                <a:solidFill>
                  <a:srgbClr val="6F6888"/>
                </a:solidFill>
                <a:effectLst/>
                <a:uFillTx/>
                <a:latin typeface="Aptos"/>
                <a:ea typeface="Aptos"/>
              </a:rPr>
              <a:t>capacidades</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técnicas</a:t>
            </a:r>
            <a:r>
              <a:rPr lang="en-US" b="0" u="none" strike="noStrike" dirty="0">
                <a:solidFill>
                  <a:srgbClr val="6F6888"/>
                </a:solidFill>
                <a:effectLst/>
                <a:uFillTx/>
                <a:latin typeface="Aptos"/>
                <a:ea typeface="Aptos"/>
              </a:rPr>
              <a:t>, no al </a:t>
            </a:r>
            <a:r>
              <a:rPr lang="en-US" b="0" u="none" strike="noStrike" dirty="0" err="1">
                <a:solidFill>
                  <a:srgbClr val="6F6888"/>
                </a:solidFill>
                <a:effectLst/>
                <a:uFillTx/>
                <a:latin typeface="Aptos"/>
                <a:ea typeface="Aptos"/>
              </a:rPr>
              <a:t>revés</a:t>
            </a:r>
            <a:r>
              <a:rPr lang="en-US" b="0" u="none" strike="noStrike" dirty="0">
                <a:solidFill>
                  <a:srgbClr val="6F6888"/>
                </a:solidFill>
                <a:effectLst/>
                <a:uFillTx/>
                <a:latin typeface="Aptos"/>
                <a:ea typeface="Aptos"/>
              </a:rPr>
              <a:t>.</a:t>
            </a:r>
            <a:endParaRPr lang="en-US" b="0" u="none" strike="noStrike" dirty="0">
              <a:solidFill>
                <a:srgbClr val="000000"/>
              </a:solidFill>
              <a:effectLst/>
              <a:uFillTx/>
              <a:latin typeface="Arial"/>
            </a:endParaRPr>
          </a:p>
        </p:txBody>
      </p:sp>
      <p:sp>
        <p:nvSpPr>
          <p:cNvPr id="602" name="Text 5"/>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u="none" strike="noStrike">
                <a:solidFill>
                  <a:srgbClr val="7E7798"/>
                </a:solidFill>
                <a:effectLst/>
                <a:uFillTx/>
                <a:latin typeface="Aptos"/>
                <a:ea typeface="Aptos"/>
              </a:rPr>
              <a:t>CONFIDENTIAL</a:t>
            </a:r>
            <a:endParaRPr lang="en-US" sz="650" b="0" u="none" strike="noStrike">
              <a:solidFill>
                <a:srgbClr val="000000"/>
              </a:solidFill>
              <a:effectLst/>
              <a:uFillTx/>
              <a:latin typeface="Arial"/>
            </a:endParaRPr>
          </a:p>
        </p:txBody>
      </p:sp>
      <p:sp>
        <p:nvSpPr>
          <p:cNvPr id="603" name="Text 6"/>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650" b="0" u="none" strike="noStrike">
                <a:solidFill>
                  <a:srgbClr val="7E7798"/>
                </a:solidFill>
                <a:effectLst/>
                <a:uFillTx/>
                <a:latin typeface="Aptos"/>
                <a:ea typeface="Aptos"/>
              </a:rPr>
              <a:t>ungga.com</a:t>
            </a:r>
            <a:endParaRPr lang="en-US" sz="650" b="0" u="none" strike="noStrike">
              <a:solidFill>
                <a:srgbClr val="000000"/>
              </a:solidFill>
              <a:effectLst/>
              <a:uFillTx/>
              <a:latin typeface="Arial"/>
            </a:endParaRPr>
          </a:p>
        </p:txBody>
      </p:sp>
      <p:sp>
        <p:nvSpPr>
          <p:cNvPr id="604" name="Text 7"/>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b="0" u="none" strike="noStrike" dirty="0">
                <a:solidFill>
                  <a:srgbClr val="7E7798"/>
                </a:solidFill>
                <a:effectLst/>
                <a:uFillTx/>
                <a:latin typeface="Aptos"/>
                <a:ea typeface="Aptos"/>
              </a:rPr>
              <a:t>24</a:t>
            </a:r>
            <a:endParaRPr lang="en-US" sz="800" b="0" u="none" strike="noStrike" dirty="0">
              <a:solidFill>
                <a:srgbClr val="000000"/>
              </a:solidFill>
              <a:effectLst/>
              <a:uFillTx/>
              <a:latin typeface="Arial"/>
            </a:endParaRPr>
          </a:p>
        </p:txBody>
      </p:sp>
      <p:sp>
        <p:nvSpPr>
          <p:cNvPr id="605" name="Shape 8"/>
          <p:cNvSpPr/>
          <p:nvPr/>
        </p:nvSpPr>
        <p:spPr>
          <a:xfrm>
            <a:off x="649647" y="2553946"/>
            <a:ext cx="292320" cy="292320"/>
          </a:xfrm>
          <a:prstGeom prst="ellipse">
            <a:avLst/>
          </a:prstGeom>
          <a:solidFill>
            <a:srgbClr val="5F2CCB"/>
          </a:solidFill>
          <a:ln w="12700">
            <a:solidFill>
              <a:srgbClr val="5F2CC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600" b="0" u="none" strike="noStrike">
              <a:solidFill>
                <a:srgbClr val="FFFFFF"/>
              </a:solidFill>
              <a:effectLst/>
              <a:uFillTx/>
              <a:latin typeface="Arial"/>
            </a:endParaRPr>
          </a:p>
        </p:txBody>
      </p:sp>
      <p:sp>
        <p:nvSpPr>
          <p:cNvPr id="606" name="Text 9"/>
          <p:cNvSpPr/>
          <p:nvPr/>
        </p:nvSpPr>
        <p:spPr>
          <a:xfrm>
            <a:off x="649647" y="2618026"/>
            <a:ext cx="2923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Aptos"/>
                <a:ea typeface="Aptos"/>
              </a:rPr>
              <a:t>1</a:t>
            </a:r>
            <a:endParaRPr lang="en-US" sz="1600" b="0" u="none" strike="noStrike">
              <a:solidFill>
                <a:srgbClr val="000000"/>
              </a:solidFill>
              <a:effectLst/>
              <a:uFillTx/>
              <a:latin typeface="Arial"/>
            </a:endParaRPr>
          </a:p>
        </p:txBody>
      </p:sp>
      <p:sp>
        <p:nvSpPr>
          <p:cNvPr id="607" name="Text 10"/>
          <p:cNvSpPr/>
          <p:nvPr/>
        </p:nvSpPr>
        <p:spPr>
          <a:xfrm>
            <a:off x="1061127" y="2517226"/>
            <a:ext cx="46173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b="0" u="none" strike="noStrike" dirty="0" err="1">
                <a:solidFill>
                  <a:srgbClr val="151327"/>
                </a:solidFill>
                <a:effectLst/>
                <a:uFillTx/>
                <a:latin typeface="Aptos"/>
                <a:ea typeface="Aptos"/>
              </a:rPr>
              <a:t>Empezar</a:t>
            </a:r>
            <a:r>
              <a:rPr lang="en-US" b="0" u="none" strike="noStrike" dirty="0">
                <a:solidFill>
                  <a:srgbClr val="151327"/>
                </a:solidFill>
                <a:effectLst/>
                <a:uFillTx/>
                <a:latin typeface="Aptos"/>
                <a:ea typeface="Aptos"/>
              </a:rPr>
              <a:t> </a:t>
            </a:r>
            <a:r>
              <a:rPr lang="en-US" b="0" u="none" strike="noStrike" dirty="0" err="1">
                <a:solidFill>
                  <a:srgbClr val="151327"/>
                </a:solidFill>
                <a:effectLst/>
                <a:uFillTx/>
                <a:latin typeface="Aptos"/>
                <a:ea typeface="Aptos"/>
              </a:rPr>
              <a:t>por</a:t>
            </a:r>
            <a:r>
              <a:rPr lang="en-US" b="0" u="none" strike="noStrike" dirty="0">
                <a:solidFill>
                  <a:srgbClr val="151327"/>
                </a:solidFill>
                <a:effectLst/>
                <a:uFillTx/>
                <a:latin typeface="Aptos"/>
                <a:ea typeface="Aptos"/>
              </a:rPr>
              <a:t> </a:t>
            </a:r>
            <a:r>
              <a:rPr lang="en-US" b="0" u="none" strike="noStrike" dirty="0" err="1">
                <a:solidFill>
                  <a:srgbClr val="151327"/>
                </a:solidFill>
                <a:effectLst/>
                <a:uFillTx/>
                <a:latin typeface="Aptos"/>
                <a:ea typeface="Aptos"/>
              </a:rPr>
              <a:t>responsabilidad</a:t>
            </a:r>
            <a:r>
              <a:rPr lang="en-US" b="0" u="none" strike="noStrike" dirty="0">
                <a:solidFill>
                  <a:srgbClr val="151327"/>
                </a:solidFill>
                <a:effectLst/>
                <a:uFillTx/>
                <a:latin typeface="Aptos"/>
                <a:ea typeface="Aptos"/>
              </a:rPr>
              <a:t> y </a:t>
            </a:r>
            <a:r>
              <a:rPr lang="en-US" b="0" u="none" strike="noStrike" dirty="0" err="1">
                <a:solidFill>
                  <a:srgbClr val="151327"/>
                </a:solidFill>
                <a:effectLst/>
                <a:uFillTx/>
                <a:latin typeface="Aptos"/>
                <a:ea typeface="Aptos"/>
              </a:rPr>
              <a:t>resultado</a:t>
            </a:r>
            <a:r>
              <a:rPr lang="en-US" b="0" u="none" strike="noStrike" dirty="0">
                <a:solidFill>
                  <a:srgbClr val="151327"/>
                </a:solidFill>
                <a:effectLst/>
                <a:uFillTx/>
                <a:latin typeface="Aptos"/>
                <a:ea typeface="Aptos"/>
              </a:rPr>
              <a:t>.</a:t>
            </a:r>
            <a:endParaRPr lang="en-US" b="0" u="none" strike="noStrike" dirty="0">
              <a:solidFill>
                <a:srgbClr val="000000"/>
              </a:solidFill>
              <a:effectLst/>
              <a:uFillTx/>
              <a:latin typeface="Arial"/>
            </a:endParaRPr>
          </a:p>
        </p:txBody>
      </p:sp>
      <p:sp>
        <p:nvSpPr>
          <p:cNvPr id="608" name="Shape 11"/>
          <p:cNvSpPr/>
          <p:nvPr/>
        </p:nvSpPr>
        <p:spPr>
          <a:xfrm>
            <a:off x="649647" y="3239746"/>
            <a:ext cx="292320" cy="292320"/>
          </a:xfrm>
          <a:prstGeom prst="ellipse">
            <a:avLst/>
          </a:prstGeom>
          <a:solidFill>
            <a:srgbClr val="5F2CCB"/>
          </a:solidFill>
          <a:ln w="12700">
            <a:solidFill>
              <a:srgbClr val="5F2CC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600" b="0" u="none" strike="noStrike">
              <a:solidFill>
                <a:srgbClr val="FFFFFF"/>
              </a:solidFill>
              <a:effectLst/>
              <a:uFillTx/>
              <a:latin typeface="Arial"/>
            </a:endParaRPr>
          </a:p>
        </p:txBody>
      </p:sp>
      <p:sp>
        <p:nvSpPr>
          <p:cNvPr id="609" name="Text 12"/>
          <p:cNvSpPr/>
          <p:nvPr/>
        </p:nvSpPr>
        <p:spPr>
          <a:xfrm>
            <a:off x="649647" y="3303826"/>
            <a:ext cx="2923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Aptos"/>
                <a:ea typeface="Aptos"/>
              </a:rPr>
              <a:t>2</a:t>
            </a:r>
            <a:endParaRPr lang="en-US" sz="1600" b="0" u="none" strike="noStrike">
              <a:solidFill>
                <a:srgbClr val="000000"/>
              </a:solidFill>
              <a:effectLst/>
              <a:uFillTx/>
              <a:latin typeface="Arial"/>
            </a:endParaRPr>
          </a:p>
        </p:txBody>
      </p:sp>
      <p:sp>
        <p:nvSpPr>
          <p:cNvPr id="610" name="Text 13"/>
          <p:cNvSpPr/>
          <p:nvPr/>
        </p:nvSpPr>
        <p:spPr>
          <a:xfrm>
            <a:off x="1061127" y="3203026"/>
            <a:ext cx="46173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b="0" u="none" strike="noStrike" dirty="0" err="1">
                <a:solidFill>
                  <a:srgbClr val="151327"/>
                </a:solidFill>
                <a:effectLst/>
                <a:uFillTx/>
                <a:latin typeface="Aptos"/>
                <a:ea typeface="Aptos"/>
              </a:rPr>
              <a:t>Definir</a:t>
            </a:r>
            <a:r>
              <a:rPr lang="en-US" b="0" u="none" strike="noStrike" dirty="0">
                <a:solidFill>
                  <a:srgbClr val="151327"/>
                </a:solidFill>
                <a:effectLst/>
                <a:uFillTx/>
                <a:latin typeface="Aptos"/>
                <a:ea typeface="Aptos"/>
              </a:rPr>
              <a:t> </a:t>
            </a:r>
            <a:r>
              <a:rPr lang="en-US" dirty="0" err="1">
                <a:solidFill>
                  <a:srgbClr val="151327"/>
                </a:solidFill>
                <a:latin typeface="Aptos"/>
                <a:ea typeface="Aptos"/>
              </a:rPr>
              <a:t>v</a:t>
            </a:r>
            <a:r>
              <a:rPr lang="en-US" b="0" u="none" strike="noStrike" dirty="0" err="1">
                <a:solidFill>
                  <a:srgbClr val="151327"/>
                </a:solidFill>
                <a:effectLst/>
                <a:uFillTx/>
                <a:latin typeface="Aptos"/>
                <a:ea typeface="Aptos"/>
              </a:rPr>
              <a:t>erdad</a:t>
            </a:r>
            <a:r>
              <a:rPr lang="en-US" b="0" u="none" strike="noStrike" dirty="0">
                <a:solidFill>
                  <a:srgbClr val="151327"/>
                </a:solidFill>
                <a:effectLst/>
                <a:uFillTx/>
                <a:latin typeface="Aptos"/>
                <a:ea typeface="Aptos"/>
              </a:rPr>
              <a:t> </a:t>
            </a:r>
            <a:r>
              <a:rPr lang="en-US" b="0" u="none" strike="noStrike" dirty="0" err="1">
                <a:solidFill>
                  <a:srgbClr val="151327"/>
                </a:solidFill>
                <a:effectLst/>
                <a:uFillTx/>
                <a:latin typeface="Aptos"/>
                <a:ea typeface="Aptos"/>
              </a:rPr>
              <a:t>operacional</a:t>
            </a:r>
            <a:r>
              <a:rPr lang="en-US" b="0" u="none" strike="noStrike" dirty="0">
                <a:solidFill>
                  <a:srgbClr val="151327"/>
                </a:solidFill>
                <a:effectLst/>
                <a:uFillTx/>
                <a:latin typeface="Aptos"/>
                <a:ea typeface="Aptos"/>
              </a:rPr>
              <a:t> antes del </a:t>
            </a:r>
            <a:r>
              <a:rPr lang="en-US" b="0" i="1" u="none" strike="noStrike" dirty="0">
                <a:solidFill>
                  <a:srgbClr val="151327"/>
                </a:solidFill>
                <a:effectLst/>
                <a:uFillTx/>
                <a:latin typeface="Aptos"/>
                <a:ea typeface="Aptos"/>
              </a:rPr>
              <a:t>prompt</a:t>
            </a:r>
            <a:r>
              <a:rPr lang="en-US" b="0" u="none" strike="noStrike" dirty="0">
                <a:solidFill>
                  <a:srgbClr val="151327"/>
                </a:solidFill>
                <a:effectLst/>
                <a:uFillTx/>
                <a:latin typeface="Aptos"/>
                <a:ea typeface="Aptos"/>
              </a:rPr>
              <a:t>.</a:t>
            </a:r>
            <a:endParaRPr lang="en-US" b="0" u="none" strike="noStrike" dirty="0">
              <a:solidFill>
                <a:srgbClr val="000000"/>
              </a:solidFill>
              <a:effectLst/>
              <a:uFillTx/>
              <a:latin typeface="Arial"/>
            </a:endParaRPr>
          </a:p>
        </p:txBody>
      </p:sp>
      <p:sp>
        <p:nvSpPr>
          <p:cNvPr id="611" name="Shape 14"/>
          <p:cNvSpPr/>
          <p:nvPr/>
        </p:nvSpPr>
        <p:spPr>
          <a:xfrm>
            <a:off x="649647" y="3925546"/>
            <a:ext cx="292320" cy="292320"/>
          </a:xfrm>
          <a:prstGeom prst="ellipse">
            <a:avLst/>
          </a:prstGeom>
          <a:solidFill>
            <a:srgbClr val="5F2CCB"/>
          </a:solidFill>
          <a:ln w="12700">
            <a:solidFill>
              <a:srgbClr val="5F2CC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600" b="0" u="none" strike="noStrike">
              <a:solidFill>
                <a:srgbClr val="FFFFFF"/>
              </a:solidFill>
              <a:effectLst/>
              <a:uFillTx/>
              <a:latin typeface="Arial"/>
            </a:endParaRPr>
          </a:p>
        </p:txBody>
      </p:sp>
      <p:sp>
        <p:nvSpPr>
          <p:cNvPr id="612" name="Text 15"/>
          <p:cNvSpPr/>
          <p:nvPr/>
        </p:nvSpPr>
        <p:spPr>
          <a:xfrm>
            <a:off x="649647" y="3989626"/>
            <a:ext cx="2923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Aptos"/>
                <a:ea typeface="Aptos"/>
              </a:rPr>
              <a:t>3</a:t>
            </a:r>
            <a:endParaRPr lang="en-US" sz="1600" b="0" u="none" strike="noStrike">
              <a:solidFill>
                <a:srgbClr val="000000"/>
              </a:solidFill>
              <a:effectLst/>
              <a:uFillTx/>
              <a:latin typeface="Arial"/>
            </a:endParaRPr>
          </a:p>
        </p:txBody>
      </p:sp>
      <p:sp>
        <p:nvSpPr>
          <p:cNvPr id="613" name="Text 16"/>
          <p:cNvSpPr/>
          <p:nvPr/>
        </p:nvSpPr>
        <p:spPr>
          <a:xfrm>
            <a:off x="1061127" y="3888826"/>
            <a:ext cx="46173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t>Reutilizar el núcleo operativo de Gu OS.</a:t>
            </a:r>
            <a:endParaRPr lang="en-US" b="0" u="none" strike="noStrike" dirty="0">
              <a:solidFill>
                <a:srgbClr val="000000"/>
              </a:solidFill>
              <a:effectLst/>
              <a:uFillTx/>
              <a:latin typeface="Arial"/>
            </a:endParaRPr>
          </a:p>
        </p:txBody>
      </p:sp>
      <p:sp>
        <p:nvSpPr>
          <p:cNvPr id="614" name="Shape 17"/>
          <p:cNvSpPr/>
          <p:nvPr/>
        </p:nvSpPr>
        <p:spPr>
          <a:xfrm>
            <a:off x="649647" y="4611346"/>
            <a:ext cx="292320" cy="292320"/>
          </a:xfrm>
          <a:prstGeom prst="ellipse">
            <a:avLst/>
          </a:prstGeom>
          <a:solidFill>
            <a:srgbClr val="5F2CCB"/>
          </a:solidFill>
          <a:ln w="12700">
            <a:solidFill>
              <a:srgbClr val="5F2CC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600" b="0" u="none" strike="noStrike">
              <a:solidFill>
                <a:srgbClr val="FFFFFF"/>
              </a:solidFill>
              <a:effectLst/>
              <a:uFillTx/>
              <a:latin typeface="Arial"/>
            </a:endParaRPr>
          </a:p>
        </p:txBody>
      </p:sp>
      <p:sp>
        <p:nvSpPr>
          <p:cNvPr id="615" name="Text 18"/>
          <p:cNvSpPr/>
          <p:nvPr/>
        </p:nvSpPr>
        <p:spPr>
          <a:xfrm>
            <a:off x="649647" y="4675426"/>
            <a:ext cx="2923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Aptos"/>
                <a:ea typeface="Aptos"/>
              </a:rPr>
              <a:t>4</a:t>
            </a:r>
            <a:endParaRPr lang="en-US" sz="1600" b="0" u="none" strike="noStrike">
              <a:solidFill>
                <a:srgbClr val="000000"/>
              </a:solidFill>
              <a:effectLst/>
              <a:uFillTx/>
              <a:latin typeface="Arial"/>
            </a:endParaRPr>
          </a:p>
        </p:txBody>
      </p:sp>
      <p:sp>
        <p:nvSpPr>
          <p:cNvPr id="616" name="Text 19"/>
          <p:cNvSpPr/>
          <p:nvPr/>
        </p:nvSpPr>
        <p:spPr>
          <a:xfrm>
            <a:off x="1061127" y="4574626"/>
            <a:ext cx="46173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s-ES" b="0" u="none" strike="noStrike" dirty="0">
                <a:solidFill>
                  <a:srgbClr val="151327"/>
                </a:solidFill>
                <a:effectLst/>
                <a:uFillTx/>
                <a:latin typeface="Aptos"/>
                <a:ea typeface="Aptos"/>
              </a:rPr>
              <a:t>Potencia del modelo, autoridad acotada</a:t>
            </a:r>
            <a:r>
              <a:rPr lang="en-US" b="0" u="none" strike="noStrike" dirty="0">
                <a:solidFill>
                  <a:srgbClr val="151327"/>
                </a:solidFill>
                <a:effectLst/>
                <a:uFillTx/>
                <a:latin typeface="Aptos"/>
                <a:ea typeface="Aptos"/>
              </a:rPr>
              <a:t>.</a:t>
            </a:r>
            <a:endParaRPr lang="en-US" b="0" u="none" strike="noStrike" dirty="0">
              <a:solidFill>
                <a:srgbClr val="000000"/>
              </a:solidFill>
              <a:effectLst/>
              <a:uFillTx/>
              <a:latin typeface="Arial"/>
            </a:endParaRPr>
          </a:p>
        </p:txBody>
      </p:sp>
      <p:sp>
        <p:nvSpPr>
          <p:cNvPr id="617" name="Shape 20"/>
          <p:cNvSpPr/>
          <p:nvPr/>
        </p:nvSpPr>
        <p:spPr>
          <a:xfrm>
            <a:off x="649647" y="5297146"/>
            <a:ext cx="292320" cy="292320"/>
          </a:xfrm>
          <a:prstGeom prst="ellipse">
            <a:avLst/>
          </a:prstGeom>
          <a:solidFill>
            <a:srgbClr val="5F2CCB"/>
          </a:solidFill>
          <a:ln w="12700">
            <a:solidFill>
              <a:srgbClr val="5F2CC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600" b="0" u="none" strike="noStrike">
              <a:solidFill>
                <a:srgbClr val="FFFFFF"/>
              </a:solidFill>
              <a:effectLst/>
              <a:uFillTx/>
              <a:latin typeface="Arial"/>
            </a:endParaRPr>
          </a:p>
        </p:txBody>
      </p:sp>
      <p:sp>
        <p:nvSpPr>
          <p:cNvPr id="618" name="Text 21"/>
          <p:cNvSpPr/>
          <p:nvPr/>
        </p:nvSpPr>
        <p:spPr>
          <a:xfrm>
            <a:off x="649647" y="5361226"/>
            <a:ext cx="2923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Aptos"/>
                <a:ea typeface="Aptos"/>
              </a:rPr>
              <a:t>5</a:t>
            </a:r>
            <a:endParaRPr lang="en-US" sz="1600" b="0" u="none" strike="noStrike">
              <a:solidFill>
                <a:srgbClr val="000000"/>
              </a:solidFill>
              <a:effectLst/>
              <a:uFillTx/>
              <a:latin typeface="Arial"/>
            </a:endParaRPr>
          </a:p>
        </p:txBody>
      </p:sp>
      <p:sp>
        <p:nvSpPr>
          <p:cNvPr id="619" name="Text 22"/>
          <p:cNvSpPr/>
          <p:nvPr/>
        </p:nvSpPr>
        <p:spPr>
          <a:xfrm>
            <a:off x="1061127" y="5370154"/>
            <a:ext cx="46173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s-ES" b="0" u="none" strike="noStrike" dirty="0">
                <a:solidFill>
                  <a:srgbClr val="151327"/>
                </a:solidFill>
                <a:effectLst/>
                <a:uFillTx/>
                <a:latin typeface="Aptos"/>
                <a:ea typeface="Aptos"/>
              </a:rPr>
              <a:t>Tratar la UI como superficie del mismo contexto de trabajo</a:t>
            </a:r>
            <a:r>
              <a:rPr lang="en-US" b="0" u="none" strike="noStrike" dirty="0">
                <a:solidFill>
                  <a:srgbClr val="151327"/>
                </a:solidFill>
                <a:effectLst/>
                <a:uFillTx/>
                <a:latin typeface="Aptos"/>
                <a:ea typeface="Aptos"/>
              </a:rPr>
              <a:t>.</a:t>
            </a:r>
            <a:endParaRPr lang="en-US" b="0" u="none" strike="noStrike" dirty="0">
              <a:solidFill>
                <a:srgbClr val="000000"/>
              </a:solidFill>
              <a:effectLst/>
              <a:uFillTx/>
              <a:latin typeface="Arial"/>
            </a:endParaRPr>
          </a:p>
        </p:txBody>
      </p:sp>
      <p:sp>
        <p:nvSpPr>
          <p:cNvPr id="620" name="Shape 23"/>
          <p:cNvSpPr/>
          <p:nvPr/>
        </p:nvSpPr>
        <p:spPr>
          <a:xfrm>
            <a:off x="6273207" y="2553946"/>
            <a:ext cx="292320" cy="292320"/>
          </a:xfrm>
          <a:prstGeom prst="ellipse">
            <a:avLst/>
          </a:prstGeom>
          <a:solidFill>
            <a:srgbClr val="078C53"/>
          </a:solidFill>
          <a:ln w="12700">
            <a:solidFill>
              <a:srgbClr val="078C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600" b="0" u="none" strike="noStrike">
              <a:solidFill>
                <a:srgbClr val="FFFFFF"/>
              </a:solidFill>
              <a:effectLst/>
              <a:uFillTx/>
              <a:latin typeface="Arial"/>
            </a:endParaRPr>
          </a:p>
        </p:txBody>
      </p:sp>
      <p:sp>
        <p:nvSpPr>
          <p:cNvPr id="621" name="Text 24"/>
          <p:cNvSpPr/>
          <p:nvPr/>
        </p:nvSpPr>
        <p:spPr>
          <a:xfrm>
            <a:off x="6273207" y="2618026"/>
            <a:ext cx="2923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Aptos"/>
                <a:ea typeface="Aptos"/>
              </a:rPr>
              <a:t>6</a:t>
            </a:r>
            <a:endParaRPr lang="en-US" sz="1600" b="0" u="none" strike="noStrike">
              <a:solidFill>
                <a:srgbClr val="000000"/>
              </a:solidFill>
              <a:effectLst/>
              <a:uFillTx/>
              <a:latin typeface="Arial"/>
            </a:endParaRPr>
          </a:p>
        </p:txBody>
      </p:sp>
      <p:sp>
        <p:nvSpPr>
          <p:cNvPr id="622" name="Text 25"/>
          <p:cNvSpPr/>
          <p:nvPr/>
        </p:nvSpPr>
        <p:spPr>
          <a:xfrm>
            <a:off x="6684687" y="2644819"/>
            <a:ext cx="46173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s-ES" b="0" u="none" strike="noStrike" dirty="0">
                <a:solidFill>
                  <a:srgbClr val="151327"/>
                </a:solidFill>
                <a:effectLst/>
                <a:uFillTx/>
                <a:latin typeface="Aptos"/>
                <a:ea typeface="Aptos"/>
              </a:rPr>
              <a:t>Orquestar capacidades sustituibles, poseer las que construyen diferenciación</a:t>
            </a:r>
            <a:r>
              <a:rPr lang="en-US" b="0" u="none" strike="noStrike" dirty="0">
                <a:solidFill>
                  <a:srgbClr val="151327"/>
                </a:solidFill>
                <a:effectLst/>
                <a:uFillTx/>
                <a:latin typeface="Aptos"/>
                <a:ea typeface="Aptos"/>
              </a:rPr>
              <a:t>.</a:t>
            </a:r>
            <a:endParaRPr lang="en-US" b="0" u="none" strike="noStrike" dirty="0">
              <a:solidFill>
                <a:srgbClr val="000000"/>
              </a:solidFill>
              <a:effectLst/>
              <a:uFillTx/>
              <a:latin typeface="Arial"/>
            </a:endParaRPr>
          </a:p>
        </p:txBody>
      </p:sp>
      <p:sp>
        <p:nvSpPr>
          <p:cNvPr id="623" name="Shape 26"/>
          <p:cNvSpPr/>
          <p:nvPr/>
        </p:nvSpPr>
        <p:spPr>
          <a:xfrm>
            <a:off x="6273207" y="3239746"/>
            <a:ext cx="292320" cy="292320"/>
          </a:xfrm>
          <a:prstGeom prst="ellipse">
            <a:avLst/>
          </a:prstGeom>
          <a:solidFill>
            <a:srgbClr val="078C53"/>
          </a:solidFill>
          <a:ln w="12700">
            <a:solidFill>
              <a:srgbClr val="078C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600" b="0" u="none" strike="noStrike">
              <a:solidFill>
                <a:srgbClr val="FFFFFF"/>
              </a:solidFill>
              <a:effectLst/>
              <a:uFillTx/>
              <a:latin typeface="Arial"/>
            </a:endParaRPr>
          </a:p>
        </p:txBody>
      </p:sp>
      <p:sp>
        <p:nvSpPr>
          <p:cNvPr id="624" name="Text 27"/>
          <p:cNvSpPr/>
          <p:nvPr/>
        </p:nvSpPr>
        <p:spPr>
          <a:xfrm>
            <a:off x="6273207" y="3303826"/>
            <a:ext cx="2923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Aptos"/>
                <a:ea typeface="Aptos"/>
              </a:rPr>
              <a:t>7</a:t>
            </a:r>
            <a:endParaRPr lang="en-US" sz="1600" b="0" u="none" strike="noStrike">
              <a:solidFill>
                <a:srgbClr val="000000"/>
              </a:solidFill>
              <a:effectLst/>
              <a:uFillTx/>
              <a:latin typeface="Arial"/>
            </a:endParaRPr>
          </a:p>
        </p:txBody>
      </p:sp>
      <p:sp>
        <p:nvSpPr>
          <p:cNvPr id="625" name="Text 28"/>
          <p:cNvSpPr/>
          <p:nvPr/>
        </p:nvSpPr>
        <p:spPr>
          <a:xfrm>
            <a:off x="6684687" y="3203026"/>
            <a:ext cx="46173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b="0" u="none" strike="noStrike" dirty="0" err="1">
                <a:solidFill>
                  <a:srgbClr val="151327"/>
                </a:solidFill>
                <a:effectLst/>
                <a:uFillTx/>
                <a:latin typeface="Aptos"/>
                <a:ea typeface="Aptos"/>
              </a:rPr>
              <a:t>Diseñar</a:t>
            </a:r>
            <a:r>
              <a:rPr lang="en-US" b="0" u="none" strike="noStrike" dirty="0">
                <a:solidFill>
                  <a:srgbClr val="151327"/>
                </a:solidFill>
                <a:effectLst/>
                <a:uFillTx/>
                <a:latin typeface="Aptos"/>
                <a:ea typeface="Aptos"/>
              </a:rPr>
              <a:t> para </a:t>
            </a:r>
            <a:r>
              <a:rPr lang="en-US" b="0" u="none" strike="noStrike" dirty="0" err="1">
                <a:solidFill>
                  <a:srgbClr val="151327"/>
                </a:solidFill>
                <a:effectLst/>
                <a:uFillTx/>
                <a:latin typeface="Aptos"/>
                <a:ea typeface="Aptos"/>
              </a:rPr>
              <a:t>resultados</a:t>
            </a:r>
            <a:r>
              <a:rPr lang="en-US" b="0" u="none" strike="noStrike" dirty="0">
                <a:solidFill>
                  <a:srgbClr val="151327"/>
                </a:solidFill>
                <a:effectLst/>
                <a:uFillTx/>
                <a:latin typeface="Aptos"/>
                <a:ea typeface="Aptos"/>
              </a:rPr>
              <a:t>, no </a:t>
            </a:r>
            <a:r>
              <a:rPr lang="en-US" b="0" u="none" strike="noStrike" dirty="0" err="1">
                <a:solidFill>
                  <a:srgbClr val="151327"/>
                </a:solidFill>
                <a:effectLst/>
                <a:uFillTx/>
                <a:latin typeface="Aptos"/>
                <a:ea typeface="Aptos"/>
              </a:rPr>
              <a:t>actividad</a:t>
            </a:r>
            <a:r>
              <a:rPr lang="en-US" b="0" u="none" strike="noStrike" dirty="0">
                <a:solidFill>
                  <a:srgbClr val="151327"/>
                </a:solidFill>
                <a:effectLst/>
                <a:uFillTx/>
                <a:latin typeface="Aptos"/>
                <a:ea typeface="Aptos"/>
              </a:rPr>
              <a:t>.</a:t>
            </a:r>
            <a:endParaRPr lang="en-US" b="0" u="none" strike="noStrike" dirty="0">
              <a:solidFill>
                <a:srgbClr val="000000"/>
              </a:solidFill>
              <a:effectLst/>
              <a:uFillTx/>
              <a:latin typeface="Arial"/>
            </a:endParaRPr>
          </a:p>
        </p:txBody>
      </p:sp>
      <p:sp>
        <p:nvSpPr>
          <p:cNvPr id="626" name="Shape 29"/>
          <p:cNvSpPr/>
          <p:nvPr/>
        </p:nvSpPr>
        <p:spPr>
          <a:xfrm>
            <a:off x="6273207" y="3925546"/>
            <a:ext cx="292320" cy="292320"/>
          </a:xfrm>
          <a:prstGeom prst="ellipse">
            <a:avLst/>
          </a:prstGeom>
          <a:solidFill>
            <a:srgbClr val="078C53"/>
          </a:solidFill>
          <a:ln w="12700">
            <a:solidFill>
              <a:srgbClr val="078C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600" b="0" u="none" strike="noStrike">
              <a:solidFill>
                <a:srgbClr val="FFFFFF"/>
              </a:solidFill>
              <a:effectLst/>
              <a:uFillTx/>
              <a:latin typeface="Arial"/>
            </a:endParaRPr>
          </a:p>
        </p:txBody>
      </p:sp>
      <p:sp>
        <p:nvSpPr>
          <p:cNvPr id="627" name="Text 30"/>
          <p:cNvSpPr/>
          <p:nvPr/>
        </p:nvSpPr>
        <p:spPr>
          <a:xfrm>
            <a:off x="6273207" y="3989626"/>
            <a:ext cx="2923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Aptos"/>
                <a:ea typeface="Aptos"/>
              </a:rPr>
              <a:t>8</a:t>
            </a:r>
            <a:endParaRPr lang="en-US" sz="1600" b="0" u="none" strike="noStrike">
              <a:solidFill>
                <a:srgbClr val="000000"/>
              </a:solidFill>
              <a:effectLst/>
              <a:uFillTx/>
              <a:latin typeface="Arial"/>
            </a:endParaRPr>
          </a:p>
        </p:txBody>
      </p:sp>
      <p:sp>
        <p:nvSpPr>
          <p:cNvPr id="628" name="Text 31"/>
          <p:cNvSpPr/>
          <p:nvPr/>
        </p:nvSpPr>
        <p:spPr>
          <a:xfrm>
            <a:off x="6684687" y="4005786"/>
            <a:ext cx="46173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t-BR" b="0" u="none" strike="noStrike" dirty="0">
                <a:solidFill>
                  <a:srgbClr val="151327"/>
                </a:solidFill>
                <a:effectLst/>
                <a:uFillTx/>
                <a:latin typeface="Aptos"/>
                <a:ea typeface="Aptos"/>
              </a:rPr>
              <a:t>Compilar contexto relevante, no aumentar tokens por </a:t>
            </a:r>
            <a:r>
              <a:rPr lang="pt-BR" b="0" u="none" strike="noStrike" dirty="0" err="1">
                <a:solidFill>
                  <a:srgbClr val="151327"/>
                </a:solidFill>
                <a:effectLst/>
                <a:uFillTx/>
                <a:latin typeface="Aptos"/>
                <a:ea typeface="Aptos"/>
              </a:rPr>
              <a:t>defecto</a:t>
            </a:r>
            <a:r>
              <a:rPr lang="en-US" b="0" u="none" strike="noStrike" dirty="0">
                <a:solidFill>
                  <a:srgbClr val="151327"/>
                </a:solidFill>
                <a:effectLst/>
                <a:uFillTx/>
                <a:latin typeface="Aptos"/>
                <a:ea typeface="Aptos"/>
              </a:rPr>
              <a:t>.</a:t>
            </a:r>
            <a:endParaRPr lang="en-US" b="0" u="none" strike="noStrike" dirty="0">
              <a:solidFill>
                <a:srgbClr val="000000"/>
              </a:solidFill>
              <a:effectLst/>
              <a:uFillTx/>
              <a:latin typeface="Arial"/>
            </a:endParaRPr>
          </a:p>
        </p:txBody>
      </p:sp>
      <p:sp>
        <p:nvSpPr>
          <p:cNvPr id="629" name="Shape 32"/>
          <p:cNvSpPr/>
          <p:nvPr/>
        </p:nvSpPr>
        <p:spPr>
          <a:xfrm>
            <a:off x="6273207" y="4611346"/>
            <a:ext cx="292320" cy="292320"/>
          </a:xfrm>
          <a:prstGeom prst="ellipse">
            <a:avLst/>
          </a:prstGeom>
          <a:solidFill>
            <a:srgbClr val="078C53"/>
          </a:solidFill>
          <a:ln w="12700">
            <a:solidFill>
              <a:srgbClr val="078C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600" b="0" u="none" strike="noStrike">
              <a:solidFill>
                <a:srgbClr val="FFFFFF"/>
              </a:solidFill>
              <a:effectLst/>
              <a:uFillTx/>
              <a:latin typeface="Arial"/>
            </a:endParaRPr>
          </a:p>
        </p:txBody>
      </p:sp>
      <p:sp>
        <p:nvSpPr>
          <p:cNvPr id="630" name="Text 33"/>
          <p:cNvSpPr/>
          <p:nvPr/>
        </p:nvSpPr>
        <p:spPr>
          <a:xfrm>
            <a:off x="6273207" y="4675426"/>
            <a:ext cx="2923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Aptos"/>
                <a:ea typeface="Aptos"/>
              </a:rPr>
              <a:t>9</a:t>
            </a:r>
            <a:endParaRPr lang="en-US" sz="1600" b="0" u="none" strike="noStrike">
              <a:solidFill>
                <a:srgbClr val="000000"/>
              </a:solidFill>
              <a:effectLst/>
              <a:uFillTx/>
              <a:latin typeface="Arial"/>
            </a:endParaRPr>
          </a:p>
        </p:txBody>
      </p:sp>
      <p:sp>
        <p:nvSpPr>
          <p:cNvPr id="631" name="Text 34"/>
          <p:cNvSpPr/>
          <p:nvPr/>
        </p:nvSpPr>
        <p:spPr>
          <a:xfrm>
            <a:off x="6684687" y="4574626"/>
            <a:ext cx="46173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b="0" u="none" strike="noStrike">
                <a:solidFill>
                  <a:srgbClr val="151327"/>
                </a:solidFill>
                <a:effectLst/>
                <a:uFillTx/>
                <a:latin typeface="Aptos"/>
                <a:ea typeface="Aptos"/>
              </a:rPr>
              <a:t>Gobernar reglas de red explícitamente.</a:t>
            </a:r>
            <a:endParaRPr lang="en-US" b="0" u="none" strike="noStrike">
              <a:solidFill>
                <a:srgbClr val="000000"/>
              </a:solidFill>
              <a:effectLst/>
              <a:uFillTx/>
              <a:latin typeface="Arial"/>
            </a:endParaRPr>
          </a:p>
        </p:txBody>
      </p:sp>
      <p:sp>
        <p:nvSpPr>
          <p:cNvPr id="632" name="Shape 35"/>
          <p:cNvSpPr/>
          <p:nvPr/>
        </p:nvSpPr>
        <p:spPr>
          <a:xfrm>
            <a:off x="6273207" y="5297146"/>
            <a:ext cx="292320" cy="292320"/>
          </a:xfrm>
          <a:prstGeom prst="ellipse">
            <a:avLst/>
          </a:prstGeom>
          <a:solidFill>
            <a:srgbClr val="078C53"/>
          </a:solidFill>
          <a:ln w="12700">
            <a:solidFill>
              <a:srgbClr val="078C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600" b="0" u="none" strike="noStrike">
              <a:solidFill>
                <a:srgbClr val="FFFFFF"/>
              </a:solidFill>
              <a:effectLst/>
              <a:uFillTx/>
              <a:latin typeface="Arial"/>
            </a:endParaRPr>
          </a:p>
        </p:txBody>
      </p:sp>
      <p:sp>
        <p:nvSpPr>
          <p:cNvPr id="633" name="Text 36"/>
          <p:cNvSpPr/>
          <p:nvPr/>
        </p:nvSpPr>
        <p:spPr>
          <a:xfrm>
            <a:off x="6273207" y="5361226"/>
            <a:ext cx="2923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Aptos"/>
                <a:ea typeface="Aptos"/>
              </a:rPr>
              <a:t>10</a:t>
            </a:r>
            <a:endParaRPr lang="en-US" sz="1600" b="0" u="none" strike="noStrike">
              <a:solidFill>
                <a:srgbClr val="000000"/>
              </a:solidFill>
              <a:effectLst/>
              <a:uFillTx/>
              <a:latin typeface="Arial"/>
            </a:endParaRPr>
          </a:p>
        </p:txBody>
      </p:sp>
      <p:sp>
        <p:nvSpPr>
          <p:cNvPr id="634" name="Text 37"/>
          <p:cNvSpPr/>
          <p:nvPr/>
        </p:nvSpPr>
        <p:spPr>
          <a:xfrm>
            <a:off x="6684687" y="5260426"/>
            <a:ext cx="46173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b="0" u="none" strike="noStrike" dirty="0" err="1">
                <a:solidFill>
                  <a:srgbClr val="151327"/>
                </a:solidFill>
                <a:effectLst/>
                <a:uFillTx/>
                <a:latin typeface="Aptos"/>
                <a:ea typeface="Aptos"/>
              </a:rPr>
              <a:t>Separar</a:t>
            </a:r>
            <a:r>
              <a:rPr lang="en-US" b="0" u="none" strike="noStrike" dirty="0">
                <a:solidFill>
                  <a:srgbClr val="151327"/>
                </a:solidFill>
                <a:effectLst/>
                <a:uFillTx/>
                <a:latin typeface="Aptos"/>
                <a:ea typeface="Aptos"/>
              </a:rPr>
              <a:t> lo actual </a:t>
            </a:r>
            <a:r>
              <a:rPr lang="en-US" dirty="0">
                <a:solidFill>
                  <a:srgbClr val="151327"/>
                </a:solidFill>
                <a:latin typeface="Aptos"/>
                <a:ea typeface="Aptos"/>
              </a:rPr>
              <a:t>d</a:t>
            </a:r>
            <a:r>
              <a:rPr lang="en-US" b="0" u="none" strike="noStrike" dirty="0">
                <a:solidFill>
                  <a:srgbClr val="151327"/>
                </a:solidFill>
                <a:effectLst/>
                <a:uFillTx/>
                <a:latin typeface="Aptos"/>
                <a:ea typeface="Aptos"/>
              </a:rPr>
              <a:t>el </a:t>
            </a:r>
            <a:r>
              <a:rPr lang="en-US" b="0" u="none" strike="noStrike" dirty="0" err="1">
                <a:solidFill>
                  <a:srgbClr val="151327"/>
                </a:solidFill>
                <a:effectLst/>
                <a:uFillTx/>
                <a:latin typeface="Aptos"/>
                <a:ea typeface="Aptos"/>
              </a:rPr>
              <a:t>objetivo</a:t>
            </a:r>
            <a:r>
              <a:rPr lang="en-US" b="0" u="none" strike="noStrike" dirty="0">
                <a:solidFill>
                  <a:srgbClr val="151327"/>
                </a:solidFill>
                <a:effectLst/>
                <a:uFillTx/>
                <a:latin typeface="Aptos"/>
                <a:ea typeface="Aptos"/>
              </a:rPr>
              <a:t> con </a:t>
            </a:r>
            <a:r>
              <a:rPr lang="en-US" b="0" u="none" strike="noStrike" dirty="0" err="1">
                <a:solidFill>
                  <a:srgbClr val="151327"/>
                </a:solidFill>
                <a:effectLst/>
                <a:uFillTx/>
                <a:latin typeface="Aptos"/>
                <a:ea typeface="Aptos"/>
              </a:rPr>
              <a:t>precisión</a:t>
            </a:r>
            <a:r>
              <a:rPr lang="en-US" b="0" u="none" strike="noStrike" dirty="0">
                <a:solidFill>
                  <a:srgbClr val="151327"/>
                </a:solidFill>
                <a:effectLst/>
                <a:uFillTx/>
                <a:latin typeface="Aptos"/>
                <a:ea typeface="Aptos"/>
              </a:rPr>
              <a:t>.</a:t>
            </a:r>
            <a:endParaRPr lang="en-US" b="0" u="none" strike="noStrike" dirty="0">
              <a:solidFill>
                <a:srgbClr val="000000"/>
              </a:solidFill>
              <a:effectLst/>
              <a:uFillTx/>
              <a:latin typeface="Arial"/>
            </a:endParaRPr>
          </a:p>
        </p:txBody>
      </p:sp>
      <p:pic>
        <p:nvPicPr>
          <p:cNvPr id="3" name="Image 0" descr="/mnt/data/ungga_logo_purple.png">
            <a:extLst>
              <a:ext uri="{FF2B5EF4-FFF2-40B4-BE49-F238E27FC236}">
                <a16:creationId xmlns:a16="http://schemas.microsoft.com/office/drawing/2014/main" id="{F38D711E-19B7-8F3D-E29E-6D17809558CD}"/>
              </a:ext>
            </a:extLst>
          </p:cNvPr>
          <p:cNvPicPr>
            <a:picLocks noChangeAspect="1"/>
          </p:cNvPicPr>
          <p:nvPr/>
        </p:nvPicPr>
        <p:blipFill>
          <a:blip r:embed="rId3"/>
          <a:stretch>
            <a:fillRect/>
          </a:stretch>
        </p:blipFill>
        <p:spPr>
          <a:xfrm>
            <a:off x="11109960" y="449715"/>
            <a:ext cx="566928" cy="47217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635" name="Shape 0"/>
          <p:cNvSpPr/>
          <p:nvPr/>
        </p:nvSpPr>
        <p:spPr>
          <a:xfrm>
            <a:off x="0" y="0"/>
            <a:ext cx="12191400" cy="63720"/>
          </a:xfrm>
          <a:prstGeom prst="rect">
            <a:avLst/>
          </a:prstGeom>
          <a:solidFill>
            <a:srgbClr val="5F2CCB"/>
          </a:solidFill>
          <a:ln w="12700">
            <a:solidFill>
              <a:srgbClr val="5F2CCB">
                <a:alpha val="0"/>
              </a:srgbClr>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FFFFFF"/>
              </a:solidFill>
              <a:effectLst/>
              <a:uFillTx/>
              <a:latin typeface="Arial"/>
            </a:endParaRPr>
          </a:p>
        </p:txBody>
      </p:sp>
      <p:sp>
        <p:nvSpPr>
          <p:cNvPr id="636" name="Text 1"/>
          <p:cNvSpPr/>
          <p:nvPr/>
        </p:nvSpPr>
        <p:spPr>
          <a:xfrm>
            <a:off x="567000" y="438840"/>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dirty="0">
                <a:solidFill>
                  <a:srgbClr val="5F2CCB"/>
                </a:solidFill>
                <a:effectLst/>
                <a:uFillTx/>
                <a:latin typeface="Aptos"/>
                <a:ea typeface="Aptos"/>
              </a:rPr>
              <a:t>DISCUSIÓN Y SIGUIENTES PASOS</a:t>
            </a:r>
            <a:endParaRPr lang="en-US" sz="1200" b="0" u="none" strike="noStrike" dirty="0">
              <a:solidFill>
                <a:srgbClr val="000000"/>
              </a:solidFill>
              <a:effectLst/>
              <a:uFillTx/>
              <a:latin typeface="Arial"/>
            </a:endParaRPr>
          </a:p>
        </p:txBody>
      </p:sp>
      <p:sp>
        <p:nvSpPr>
          <p:cNvPr id="637" name="Text 2"/>
          <p:cNvSpPr/>
          <p:nvPr/>
        </p:nvSpPr>
        <p:spPr>
          <a:xfrm>
            <a:off x="566999" y="804600"/>
            <a:ext cx="10375983" cy="685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s-ES" sz="2600" b="1" u="none" strike="noStrike" dirty="0">
                <a:solidFill>
                  <a:srgbClr val="151327"/>
                </a:solidFill>
                <a:effectLst/>
                <a:uFillTx/>
                <a:latin typeface="Aptos Display"/>
                <a:ea typeface="Aptos Display"/>
              </a:rPr>
              <a:t>Esta sesión alinea la visión, las siguientes la convierten en arquitectura y </a:t>
            </a:r>
            <a:r>
              <a:rPr lang="es-ES" sz="2600" b="1" u="none" strike="noStrike" dirty="0" err="1">
                <a:solidFill>
                  <a:srgbClr val="151327"/>
                </a:solidFill>
                <a:effectLst/>
                <a:uFillTx/>
                <a:latin typeface="Aptos Display"/>
                <a:ea typeface="Aptos Display"/>
              </a:rPr>
              <a:t>roadmap</a:t>
            </a:r>
            <a:r>
              <a:rPr lang="en-US" sz="2600" b="1" u="none" strike="noStrike" dirty="0">
                <a:solidFill>
                  <a:srgbClr val="151327"/>
                </a:solidFill>
                <a:effectLst/>
                <a:uFillTx/>
                <a:latin typeface="Aptos Display"/>
                <a:ea typeface="Aptos Display"/>
              </a:rPr>
              <a:t>.</a:t>
            </a:r>
            <a:endParaRPr lang="en-US" sz="2600" b="0" u="none" strike="noStrike" dirty="0">
              <a:solidFill>
                <a:srgbClr val="000000"/>
              </a:solidFill>
              <a:effectLst/>
              <a:uFillTx/>
              <a:latin typeface="Arial"/>
            </a:endParaRPr>
          </a:p>
        </p:txBody>
      </p:sp>
      <p:sp>
        <p:nvSpPr>
          <p:cNvPr id="638" name="Text 3"/>
          <p:cNvSpPr/>
          <p:nvPr/>
        </p:nvSpPr>
        <p:spPr>
          <a:xfrm>
            <a:off x="567000" y="1591200"/>
            <a:ext cx="10698120" cy="56451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b="0" u="none" strike="noStrike" dirty="0">
                <a:solidFill>
                  <a:srgbClr val="6F6888"/>
                </a:solidFill>
                <a:effectLst/>
                <a:uFillTx/>
                <a:latin typeface="Aptos"/>
                <a:ea typeface="Aptos"/>
              </a:rPr>
              <a:t>Hoy </a:t>
            </a:r>
            <a:r>
              <a:rPr lang="en-US" b="0" u="none" strike="noStrike" dirty="0" err="1">
                <a:solidFill>
                  <a:srgbClr val="6F6888"/>
                </a:solidFill>
                <a:effectLst/>
                <a:uFillTx/>
                <a:latin typeface="Aptos"/>
                <a:ea typeface="Aptos"/>
              </a:rPr>
              <a:t>buscamos</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claridad</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Después</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profundizaremos</a:t>
            </a:r>
            <a:r>
              <a:rPr lang="en-US" b="0" u="none" strike="noStrike" dirty="0">
                <a:solidFill>
                  <a:srgbClr val="6F6888"/>
                </a:solidFill>
                <a:effectLst/>
                <a:uFillTx/>
                <a:latin typeface="Aptos"/>
                <a:ea typeface="Aptos"/>
              </a:rPr>
              <a:t> en </a:t>
            </a:r>
            <a:r>
              <a:rPr lang="en-US" b="0" u="none" strike="noStrike" dirty="0" err="1">
                <a:solidFill>
                  <a:srgbClr val="6F6888"/>
                </a:solidFill>
                <a:effectLst/>
                <a:uFillTx/>
                <a:latin typeface="Aptos"/>
                <a:ea typeface="Aptos"/>
              </a:rPr>
              <a:t>implementación</a:t>
            </a:r>
            <a:r>
              <a:rPr lang="en-US" b="0" u="none" strike="noStrike" dirty="0">
                <a:solidFill>
                  <a:srgbClr val="6F6888"/>
                </a:solidFill>
                <a:effectLst/>
                <a:uFillTx/>
                <a:latin typeface="Aptos"/>
                <a:ea typeface="Aptos"/>
              </a:rPr>
              <a:t>, </a:t>
            </a:r>
            <a:r>
              <a:rPr lang="en-US" b="0" u="none" strike="noStrike" dirty="0" err="1">
                <a:solidFill>
                  <a:srgbClr val="6F6888"/>
                </a:solidFill>
                <a:effectLst/>
                <a:uFillTx/>
                <a:latin typeface="Aptos"/>
                <a:ea typeface="Aptos"/>
              </a:rPr>
              <a:t>riesgos</a:t>
            </a:r>
            <a:r>
              <a:rPr lang="en-US" b="0" u="none" strike="noStrike" dirty="0">
                <a:solidFill>
                  <a:srgbClr val="6F6888"/>
                </a:solidFill>
                <a:effectLst/>
                <a:uFillTx/>
                <a:latin typeface="Aptos"/>
                <a:ea typeface="Aptos"/>
              </a:rPr>
              <a:t> y </a:t>
            </a:r>
            <a:r>
              <a:rPr lang="en-US" b="0" u="none" strike="noStrike" dirty="0" err="1">
                <a:solidFill>
                  <a:srgbClr val="6F6888"/>
                </a:solidFill>
                <a:effectLst/>
                <a:uFillTx/>
                <a:latin typeface="Aptos"/>
                <a:ea typeface="Aptos"/>
              </a:rPr>
              <a:t>prioridades</a:t>
            </a:r>
            <a:r>
              <a:rPr lang="en-US" b="0" u="none" strike="noStrike" dirty="0">
                <a:solidFill>
                  <a:srgbClr val="6F6888"/>
                </a:solidFill>
                <a:effectLst/>
                <a:uFillTx/>
                <a:latin typeface="Aptos"/>
                <a:ea typeface="Aptos"/>
              </a:rPr>
              <a:t>.</a:t>
            </a:r>
            <a:endParaRPr lang="en-US" b="0" u="none" strike="noStrike" dirty="0">
              <a:solidFill>
                <a:srgbClr val="000000"/>
              </a:solidFill>
              <a:effectLst/>
              <a:uFillTx/>
              <a:latin typeface="Arial"/>
            </a:endParaRPr>
          </a:p>
        </p:txBody>
      </p:sp>
      <p:sp>
        <p:nvSpPr>
          <p:cNvPr id="640" name="Text 5"/>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u="none" strike="noStrike">
                <a:solidFill>
                  <a:srgbClr val="7E7798"/>
                </a:solidFill>
                <a:effectLst/>
                <a:uFillTx/>
                <a:latin typeface="Aptos"/>
                <a:ea typeface="Aptos"/>
              </a:rPr>
              <a:t>CONFIDENTIAL</a:t>
            </a:r>
            <a:endParaRPr lang="en-US" sz="650" b="0" u="none" strike="noStrike">
              <a:solidFill>
                <a:srgbClr val="000000"/>
              </a:solidFill>
              <a:effectLst/>
              <a:uFillTx/>
              <a:latin typeface="Arial"/>
            </a:endParaRPr>
          </a:p>
        </p:txBody>
      </p:sp>
      <p:sp>
        <p:nvSpPr>
          <p:cNvPr id="641" name="Text 6"/>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650" b="0" u="none" strike="noStrike">
                <a:solidFill>
                  <a:srgbClr val="7E7798"/>
                </a:solidFill>
                <a:effectLst/>
                <a:uFillTx/>
                <a:latin typeface="Aptos"/>
                <a:ea typeface="Aptos"/>
              </a:rPr>
              <a:t>ungga.com</a:t>
            </a:r>
            <a:endParaRPr lang="en-US" sz="650" b="0" u="none" strike="noStrike">
              <a:solidFill>
                <a:srgbClr val="000000"/>
              </a:solidFill>
              <a:effectLst/>
              <a:uFillTx/>
              <a:latin typeface="Arial"/>
            </a:endParaRPr>
          </a:p>
        </p:txBody>
      </p:sp>
      <p:sp>
        <p:nvSpPr>
          <p:cNvPr id="642" name="Text 7"/>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b="0" u="none" strike="noStrike" dirty="0">
                <a:solidFill>
                  <a:srgbClr val="7E7798"/>
                </a:solidFill>
                <a:effectLst/>
                <a:uFillTx/>
                <a:latin typeface="Aptos"/>
                <a:ea typeface="Aptos"/>
              </a:rPr>
              <a:t>25</a:t>
            </a:r>
            <a:endParaRPr lang="en-US" sz="800" b="0" u="none" strike="noStrike" dirty="0">
              <a:solidFill>
                <a:srgbClr val="000000"/>
              </a:solidFill>
              <a:effectLst/>
              <a:uFillTx/>
              <a:latin typeface="Arial"/>
            </a:endParaRPr>
          </a:p>
        </p:txBody>
      </p:sp>
      <p:sp>
        <p:nvSpPr>
          <p:cNvPr id="643" name="Shape 8"/>
          <p:cNvSpPr/>
          <p:nvPr/>
        </p:nvSpPr>
        <p:spPr>
          <a:xfrm>
            <a:off x="868680" y="2483481"/>
            <a:ext cx="502560" cy="502560"/>
          </a:xfrm>
          <a:prstGeom prst="ellipse">
            <a:avLst/>
          </a:prstGeom>
          <a:solidFill>
            <a:srgbClr val="5F2CCB"/>
          </a:solidFill>
          <a:ln w="12700">
            <a:solidFill>
              <a:srgbClr val="5F2CC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600" b="0" u="none" strike="noStrike">
              <a:solidFill>
                <a:srgbClr val="FFFFFF"/>
              </a:solidFill>
              <a:effectLst/>
              <a:uFillTx/>
              <a:latin typeface="Arial"/>
            </a:endParaRPr>
          </a:p>
        </p:txBody>
      </p:sp>
      <p:sp>
        <p:nvSpPr>
          <p:cNvPr id="644" name="Text 9"/>
          <p:cNvSpPr/>
          <p:nvPr/>
        </p:nvSpPr>
        <p:spPr>
          <a:xfrm>
            <a:off x="868680" y="2602281"/>
            <a:ext cx="502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Aptos"/>
                <a:ea typeface="Aptos"/>
              </a:rPr>
              <a:t>1</a:t>
            </a:r>
            <a:endParaRPr lang="en-US" sz="1600" b="0" u="none" strike="noStrike">
              <a:solidFill>
                <a:srgbClr val="000000"/>
              </a:solidFill>
              <a:effectLst/>
              <a:uFillTx/>
              <a:latin typeface="Arial"/>
            </a:endParaRPr>
          </a:p>
        </p:txBody>
      </p:sp>
      <p:sp>
        <p:nvSpPr>
          <p:cNvPr id="645" name="Shape 10"/>
          <p:cNvSpPr/>
          <p:nvPr/>
        </p:nvSpPr>
        <p:spPr>
          <a:xfrm>
            <a:off x="1600200" y="2392041"/>
            <a:ext cx="9738000" cy="874068"/>
          </a:xfrm>
          <a:prstGeom prst="roundRect">
            <a:avLst>
              <a:gd name="adj" fmla="val 13158"/>
            </a:avLst>
          </a:prstGeom>
          <a:solidFill>
            <a:srgbClr val="FFFFFF"/>
          </a:solidFill>
          <a:ln w="12700">
            <a:solidFill>
              <a:srgbClr val="DED2F6"/>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600" b="0" u="none" strike="noStrike">
              <a:solidFill>
                <a:srgbClr val="000000"/>
              </a:solidFill>
              <a:effectLst/>
              <a:uFillTx/>
              <a:latin typeface="Arial"/>
            </a:endParaRPr>
          </a:p>
        </p:txBody>
      </p:sp>
      <p:sp>
        <p:nvSpPr>
          <p:cNvPr id="646" name="Text 11"/>
          <p:cNvSpPr/>
          <p:nvPr/>
        </p:nvSpPr>
        <p:spPr>
          <a:xfrm>
            <a:off x="1801440" y="2529201"/>
            <a:ext cx="9335520" cy="21945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dirty="0">
                <a:solidFill>
                  <a:srgbClr val="151327"/>
                </a:solidFill>
                <a:effectLst/>
                <a:uFillTx/>
                <a:latin typeface="Aptos Display"/>
                <a:ea typeface="Aptos Display"/>
              </a:rPr>
              <a:t>Visión + </a:t>
            </a:r>
            <a:r>
              <a:rPr lang="en-US" sz="1600" b="1" u="none" strike="noStrike" dirty="0" err="1">
                <a:solidFill>
                  <a:srgbClr val="151327"/>
                </a:solidFill>
                <a:effectLst/>
                <a:uFillTx/>
                <a:latin typeface="Aptos Display"/>
                <a:ea typeface="Aptos Display"/>
              </a:rPr>
              <a:t>modelo</a:t>
            </a:r>
            <a:r>
              <a:rPr lang="en-US" sz="1600" b="1" u="none" strike="noStrike" dirty="0">
                <a:solidFill>
                  <a:srgbClr val="151327"/>
                </a:solidFill>
                <a:effectLst/>
                <a:uFillTx/>
                <a:latin typeface="Aptos Display"/>
                <a:ea typeface="Aptos Display"/>
              </a:rPr>
              <a:t> </a:t>
            </a:r>
            <a:r>
              <a:rPr lang="en-US" sz="1600" b="1" u="none" strike="noStrike" dirty="0" err="1">
                <a:solidFill>
                  <a:srgbClr val="151327"/>
                </a:solidFill>
                <a:effectLst/>
                <a:uFillTx/>
                <a:latin typeface="Aptos Display"/>
                <a:ea typeface="Aptos Display"/>
              </a:rPr>
              <a:t>operativo</a:t>
            </a:r>
            <a:endParaRPr lang="en-US" sz="1600" b="0" u="none" strike="noStrike" dirty="0">
              <a:solidFill>
                <a:srgbClr val="000000"/>
              </a:solidFill>
              <a:effectLst/>
              <a:uFillTx/>
              <a:latin typeface="Arial"/>
            </a:endParaRPr>
          </a:p>
        </p:txBody>
      </p:sp>
      <p:sp>
        <p:nvSpPr>
          <p:cNvPr id="647" name="Text 12"/>
          <p:cNvSpPr/>
          <p:nvPr/>
        </p:nvSpPr>
        <p:spPr>
          <a:xfrm>
            <a:off x="1856160" y="2812665"/>
            <a:ext cx="9226080" cy="146304"/>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n-US" sz="1600" b="0" u="none" strike="noStrike" dirty="0" err="1">
                <a:solidFill>
                  <a:srgbClr val="6F6888"/>
                </a:solidFill>
                <a:effectLst/>
                <a:uFillTx/>
                <a:latin typeface="Aptos"/>
                <a:ea typeface="Aptos"/>
              </a:rPr>
              <a:t>Alinear</a:t>
            </a:r>
            <a:r>
              <a:rPr lang="en-US" sz="1600" b="0" u="none" strike="noStrike" dirty="0">
                <a:solidFill>
                  <a:srgbClr val="6F6888"/>
                </a:solidFill>
                <a:effectLst/>
                <a:uFillTx/>
                <a:latin typeface="Aptos"/>
                <a:ea typeface="Aptos"/>
              </a:rPr>
              <a:t> Gu, Gu OS, </a:t>
            </a:r>
            <a:r>
              <a:rPr lang="en-US" sz="1600" b="0" u="none" strike="noStrike" dirty="0" err="1">
                <a:solidFill>
                  <a:srgbClr val="6F6888"/>
                </a:solidFill>
                <a:effectLst/>
                <a:uFillTx/>
                <a:latin typeface="Aptos"/>
                <a:ea typeface="Aptos"/>
              </a:rPr>
              <a:t>dominios</a:t>
            </a:r>
            <a:r>
              <a:rPr lang="en-US" sz="1600" b="0" u="none" strike="noStrike" dirty="0">
                <a:solidFill>
                  <a:srgbClr val="6F6888"/>
                </a:solidFill>
                <a:effectLst/>
                <a:uFillTx/>
                <a:latin typeface="Aptos"/>
                <a:ea typeface="Aptos"/>
              </a:rPr>
              <a:t>, </a:t>
            </a:r>
            <a:r>
              <a:rPr lang="en-US" sz="1600" b="0" u="none" strike="noStrike" dirty="0" err="1">
                <a:solidFill>
                  <a:srgbClr val="6F6888"/>
                </a:solidFill>
                <a:effectLst/>
                <a:uFillTx/>
                <a:latin typeface="Aptos"/>
                <a:ea typeface="Aptos"/>
              </a:rPr>
              <a:t>responsabilidades</a:t>
            </a:r>
            <a:r>
              <a:rPr lang="en-US" sz="1600" b="0" u="none" strike="noStrike" dirty="0">
                <a:solidFill>
                  <a:srgbClr val="6F6888"/>
                </a:solidFill>
                <a:effectLst/>
                <a:uFillTx/>
                <a:latin typeface="Aptos"/>
                <a:ea typeface="Aptos"/>
              </a:rPr>
              <a:t>, </a:t>
            </a:r>
            <a:r>
              <a:rPr lang="en-US" sz="1600" b="0" u="none" strike="noStrike" dirty="0" err="1">
                <a:solidFill>
                  <a:srgbClr val="6F6888"/>
                </a:solidFill>
                <a:effectLst/>
                <a:uFillTx/>
                <a:latin typeface="Aptos"/>
                <a:ea typeface="Aptos"/>
              </a:rPr>
              <a:t>fronteras</a:t>
            </a:r>
            <a:r>
              <a:rPr lang="en-US" sz="1600" b="0" u="none" strike="noStrike" dirty="0">
                <a:solidFill>
                  <a:srgbClr val="6F6888"/>
                </a:solidFill>
                <a:effectLst/>
                <a:uFillTx/>
                <a:latin typeface="Aptos"/>
                <a:ea typeface="Aptos"/>
              </a:rPr>
              <a:t> y </a:t>
            </a:r>
            <a:r>
              <a:rPr lang="en-US" sz="1600" b="0" u="none" strike="noStrike" dirty="0" err="1">
                <a:solidFill>
                  <a:srgbClr val="6F6888"/>
                </a:solidFill>
                <a:effectLst/>
                <a:uFillTx/>
                <a:latin typeface="Aptos"/>
                <a:ea typeface="Aptos"/>
              </a:rPr>
              <a:t>principios</a:t>
            </a:r>
            <a:r>
              <a:rPr lang="en-US" sz="1600" b="0" u="none" strike="noStrike" dirty="0">
                <a:solidFill>
                  <a:srgbClr val="6F6888"/>
                </a:solidFill>
                <a:effectLst/>
                <a:uFillTx/>
                <a:latin typeface="Aptos"/>
                <a:ea typeface="Aptos"/>
              </a:rPr>
              <a:t>.</a:t>
            </a:r>
            <a:endParaRPr lang="en-US" sz="1600" b="0" u="none" strike="noStrike" dirty="0">
              <a:solidFill>
                <a:srgbClr val="000000"/>
              </a:solidFill>
              <a:effectLst/>
              <a:uFillTx/>
              <a:latin typeface="Arial"/>
            </a:endParaRPr>
          </a:p>
        </p:txBody>
      </p:sp>
      <p:sp>
        <p:nvSpPr>
          <p:cNvPr id="648" name="Shape 13"/>
          <p:cNvSpPr/>
          <p:nvPr/>
        </p:nvSpPr>
        <p:spPr>
          <a:xfrm>
            <a:off x="868680" y="3554451"/>
            <a:ext cx="502560" cy="502560"/>
          </a:xfrm>
          <a:prstGeom prst="ellipse">
            <a:avLst/>
          </a:prstGeom>
          <a:solidFill>
            <a:srgbClr val="078C53"/>
          </a:solidFill>
          <a:ln w="12700">
            <a:solidFill>
              <a:srgbClr val="078C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600" b="0" u="none" strike="noStrike">
              <a:solidFill>
                <a:srgbClr val="FFFFFF"/>
              </a:solidFill>
              <a:effectLst/>
              <a:uFillTx/>
              <a:latin typeface="Arial"/>
            </a:endParaRPr>
          </a:p>
        </p:txBody>
      </p:sp>
      <p:sp>
        <p:nvSpPr>
          <p:cNvPr id="649" name="Text 14"/>
          <p:cNvSpPr/>
          <p:nvPr/>
        </p:nvSpPr>
        <p:spPr>
          <a:xfrm>
            <a:off x="868680" y="3673611"/>
            <a:ext cx="502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Aptos"/>
                <a:ea typeface="Aptos"/>
              </a:rPr>
              <a:t>2</a:t>
            </a:r>
            <a:endParaRPr lang="en-US" sz="1600" b="0" u="none" strike="noStrike">
              <a:solidFill>
                <a:srgbClr val="000000"/>
              </a:solidFill>
              <a:effectLst/>
              <a:uFillTx/>
              <a:latin typeface="Arial"/>
            </a:endParaRPr>
          </a:p>
        </p:txBody>
      </p:sp>
      <p:sp>
        <p:nvSpPr>
          <p:cNvPr id="650" name="Shape 15"/>
          <p:cNvSpPr/>
          <p:nvPr/>
        </p:nvSpPr>
        <p:spPr>
          <a:xfrm>
            <a:off x="1600200" y="3463011"/>
            <a:ext cx="9738000" cy="983868"/>
          </a:xfrm>
          <a:prstGeom prst="roundRect">
            <a:avLst>
              <a:gd name="adj" fmla="val 13158"/>
            </a:avLst>
          </a:prstGeom>
          <a:solidFill>
            <a:srgbClr val="FFFFFF"/>
          </a:solidFill>
          <a:ln w="12700">
            <a:solidFill>
              <a:srgbClr val="DED2F6"/>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600" b="0" u="none" strike="noStrike">
              <a:solidFill>
                <a:srgbClr val="000000"/>
              </a:solidFill>
              <a:effectLst/>
              <a:uFillTx/>
              <a:latin typeface="Arial"/>
            </a:endParaRPr>
          </a:p>
        </p:txBody>
      </p:sp>
      <p:sp>
        <p:nvSpPr>
          <p:cNvPr id="651" name="Text 16"/>
          <p:cNvSpPr/>
          <p:nvPr/>
        </p:nvSpPr>
        <p:spPr>
          <a:xfrm>
            <a:off x="1801440" y="3600171"/>
            <a:ext cx="9335520" cy="21945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dirty="0" err="1">
                <a:solidFill>
                  <a:srgbClr val="151327"/>
                </a:solidFill>
                <a:effectLst/>
                <a:uFillTx/>
                <a:latin typeface="Aptos Display"/>
                <a:ea typeface="Aptos Display"/>
              </a:rPr>
              <a:t>Profundización</a:t>
            </a:r>
            <a:r>
              <a:rPr lang="en-US" sz="1600" b="1" u="none" strike="noStrike" dirty="0">
                <a:solidFill>
                  <a:srgbClr val="151327"/>
                </a:solidFill>
                <a:effectLst/>
                <a:uFillTx/>
                <a:latin typeface="Aptos Display"/>
                <a:ea typeface="Aptos Display"/>
              </a:rPr>
              <a:t> </a:t>
            </a:r>
            <a:r>
              <a:rPr lang="en-US" sz="1600" b="1" u="none" strike="noStrike" dirty="0" err="1">
                <a:solidFill>
                  <a:srgbClr val="151327"/>
                </a:solidFill>
                <a:effectLst/>
                <a:uFillTx/>
                <a:latin typeface="Aptos Display"/>
                <a:ea typeface="Aptos Display"/>
              </a:rPr>
              <a:t>técnica</a:t>
            </a:r>
            <a:r>
              <a:rPr lang="en-US" sz="1600" b="1" u="none" strike="noStrike" dirty="0">
                <a:solidFill>
                  <a:srgbClr val="151327"/>
                </a:solidFill>
                <a:effectLst/>
                <a:uFillTx/>
                <a:latin typeface="Aptos Display"/>
                <a:ea typeface="Aptos Display"/>
              </a:rPr>
              <a:t> (“deep dive”)</a:t>
            </a:r>
            <a:endParaRPr lang="en-US" sz="1600" b="0" u="none" strike="noStrike" dirty="0">
              <a:solidFill>
                <a:srgbClr val="000000"/>
              </a:solidFill>
              <a:effectLst/>
              <a:uFillTx/>
              <a:latin typeface="Arial"/>
            </a:endParaRPr>
          </a:p>
        </p:txBody>
      </p:sp>
      <p:sp>
        <p:nvSpPr>
          <p:cNvPr id="652" name="Text 17"/>
          <p:cNvSpPr/>
          <p:nvPr/>
        </p:nvSpPr>
        <p:spPr>
          <a:xfrm>
            <a:off x="1856160" y="3903513"/>
            <a:ext cx="9226080" cy="411912"/>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s-ES" sz="1600" b="0" u="none" strike="noStrike" dirty="0">
                <a:solidFill>
                  <a:srgbClr val="6F6888"/>
                </a:solidFill>
                <a:effectLst/>
                <a:uFillTx/>
                <a:latin typeface="Aptos"/>
                <a:ea typeface="Aptos"/>
              </a:rPr>
              <a:t>Contrastar arquitectura objetivo con el repo actual, validar </a:t>
            </a:r>
            <a:r>
              <a:rPr lang="es-ES" sz="1600" b="0" u="none" strike="noStrike" dirty="0" err="1">
                <a:solidFill>
                  <a:srgbClr val="6F6888"/>
                </a:solidFill>
                <a:effectLst/>
                <a:uFillTx/>
                <a:latin typeface="Aptos"/>
                <a:ea typeface="Aptos"/>
              </a:rPr>
              <a:t>foundations</a:t>
            </a:r>
            <a:r>
              <a:rPr lang="es-ES" sz="1600" b="0" u="none" strike="noStrike" dirty="0">
                <a:solidFill>
                  <a:srgbClr val="6F6888"/>
                </a:solidFill>
                <a:effectLst/>
                <a:uFillTx/>
                <a:latin typeface="Aptos"/>
                <a:ea typeface="Aptos"/>
              </a:rPr>
              <a:t>, gaps, riesgos y decisiones pendientes</a:t>
            </a:r>
            <a:r>
              <a:rPr lang="en-US" sz="1600" b="0" u="none" strike="noStrike" dirty="0">
                <a:solidFill>
                  <a:srgbClr val="6F6888"/>
                </a:solidFill>
                <a:effectLst/>
                <a:uFillTx/>
                <a:latin typeface="Aptos"/>
                <a:ea typeface="Aptos"/>
              </a:rPr>
              <a:t>.</a:t>
            </a:r>
            <a:endParaRPr lang="en-US" sz="1600" b="0" u="none" strike="noStrike" dirty="0">
              <a:solidFill>
                <a:srgbClr val="000000"/>
              </a:solidFill>
              <a:effectLst/>
              <a:uFillTx/>
              <a:latin typeface="Arial"/>
            </a:endParaRPr>
          </a:p>
        </p:txBody>
      </p:sp>
      <p:sp>
        <p:nvSpPr>
          <p:cNvPr id="653" name="Shape 18"/>
          <p:cNvSpPr/>
          <p:nvPr/>
        </p:nvSpPr>
        <p:spPr>
          <a:xfrm>
            <a:off x="868680" y="4725171"/>
            <a:ext cx="502560" cy="502560"/>
          </a:xfrm>
          <a:prstGeom prst="ellipse">
            <a:avLst/>
          </a:prstGeom>
          <a:solidFill>
            <a:srgbClr val="F39A2B"/>
          </a:solidFill>
          <a:ln w="12700">
            <a:solidFill>
              <a:srgbClr val="F39A2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600" b="0" u="none" strike="noStrike">
              <a:solidFill>
                <a:srgbClr val="000000"/>
              </a:solidFill>
              <a:effectLst/>
              <a:uFillTx/>
              <a:latin typeface="Arial"/>
            </a:endParaRPr>
          </a:p>
        </p:txBody>
      </p:sp>
      <p:sp>
        <p:nvSpPr>
          <p:cNvPr id="654" name="Text 19"/>
          <p:cNvSpPr/>
          <p:nvPr/>
        </p:nvSpPr>
        <p:spPr>
          <a:xfrm>
            <a:off x="868680" y="4843971"/>
            <a:ext cx="502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Aptos"/>
                <a:ea typeface="Aptos"/>
              </a:rPr>
              <a:t>3</a:t>
            </a:r>
            <a:endParaRPr lang="en-US" sz="1600" b="0" u="none" strike="noStrike">
              <a:solidFill>
                <a:srgbClr val="000000"/>
              </a:solidFill>
              <a:effectLst/>
              <a:uFillTx/>
              <a:latin typeface="Arial"/>
            </a:endParaRPr>
          </a:p>
        </p:txBody>
      </p:sp>
      <p:sp>
        <p:nvSpPr>
          <p:cNvPr id="655" name="Shape 20"/>
          <p:cNvSpPr/>
          <p:nvPr/>
        </p:nvSpPr>
        <p:spPr>
          <a:xfrm>
            <a:off x="1600200" y="4633730"/>
            <a:ext cx="9738000" cy="983867"/>
          </a:xfrm>
          <a:prstGeom prst="roundRect">
            <a:avLst>
              <a:gd name="adj" fmla="val 13158"/>
            </a:avLst>
          </a:prstGeom>
          <a:solidFill>
            <a:srgbClr val="FFFFFF"/>
          </a:solidFill>
          <a:ln w="12700">
            <a:solidFill>
              <a:srgbClr val="DED2F6"/>
            </a:solidFill>
            <a:round/>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600" b="0" u="none" strike="noStrike">
              <a:solidFill>
                <a:srgbClr val="000000"/>
              </a:solidFill>
              <a:effectLst/>
              <a:uFillTx/>
              <a:latin typeface="Arial"/>
            </a:endParaRPr>
          </a:p>
        </p:txBody>
      </p:sp>
      <p:sp>
        <p:nvSpPr>
          <p:cNvPr id="656" name="Text 21"/>
          <p:cNvSpPr/>
          <p:nvPr/>
        </p:nvSpPr>
        <p:spPr>
          <a:xfrm>
            <a:off x="1801440" y="4770891"/>
            <a:ext cx="9335520" cy="21945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151327"/>
                </a:solidFill>
                <a:effectLst/>
                <a:uFillTx/>
                <a:latin typeface="Aptos Display"/>
                <a:ea typeface="Aptos Display"/>
              </a:rPr>
              <a:t>Roadmap integrado</a:t>
            </a:r>
            <a:endParaRPr lang="en-US" sz="1600" b="0" u="none" strike="noStrike">
              <a:solidFill>
                <a:srgbClr val="000000"/>
              </a:solidFill>
              <a:effectLst/>
              <a:uFillTx/>
              <a:latin typeface="Arial"/>
            </a:endParaRPr>
          </a:p>
        </p:txBody>
      </p:sp>
      <p:sp>
        <p:nvSpPr>
          <p:cNvPr id="657" name="Text 22"/>
          <p:cNvSpPr/>
          <p:nvPr/>
        </p:nvSpPr>
        <p:spPr>
          <a:xfrm>
            <a:off x="1856160" y="5064293"/>
            <a:ext cx="9226080" cy="458211"/>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s-ES" sz="1600" b="0" u="none" strike="noStrike" dirty="0">
                <a:solidFill>
                  <a:srgbClr val="6F6888"/>
                </a:solidFill>
                <a:effectLst/>
                <a:uFillTx/>
                <a:latin typeface="Aptos"/>
                <a:ea typeface="Aptos"/>
              </a:rPr>
              <a:t>Resultado de negocio → responsabilidad/capacidad de producto → capacidad técnica → evidencia de validación</a:t>
            </a:r>
            <a:r>
              <a:rPr lang="en-US" sz="1600" b="0" u="none" strike="noStrike" dirty="0">
                <a:solidFill>
                  <a:srgbClr val="6F6888"/>
                </a:solidFill>
                <a:effectLst/>
                <a:uFillTx/>
                <a:latin typeface="Aptos"/>
                <a:ea typeface="Aptos"/>
              </a:rPr>
              <a:t>.</a:t>
            </a:r>
            <a:endParaRPr lang="en-US" sz="1600" b="0" u="none" strike="noStrike" dirty="0">
              <a:solidFill>
                <a:srgbClr val="000000"/>
              </a:solidFill>
              <a:effectLst/>
              <a:uFillTx/>
              <a:latin typeface="Arial"/>
            </a:endParaRPr>
          </a:p>
        </p:txBody>
      </p:sp>
      <p:sp>
        <p:nvSpPr>
          <p:cNvPr id="658" name="Shape 23"/>
          <p:cNvSpPr/>
          <p:nvPr/>
        </p:nvSpPr>
        <p:spPr>
          <a:xfrm>
            <a:off x="868680" y="5803512"/>
            <a:ext cx="10725480" cy="616121"/>
          </a:xfrm>
          <a:prstGeom prst="roundRect">
            <a:avLst>
              <a:gd name="adj" fmla="val 15385"/>
            </a:avLst>
          </a:prstGeom>
          <a:solidFill>
            <a:srgbClr val="20143D"/>
          </a:solidFill>
          <a:ln w="12700">
            <a:solidFill>
              <a:srgbClr val="20143D">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59" name="Text 24"/>
          <p:cNvSpPr/>
          <p:nvPr/>
        </p:nvSpPr>
        <p:spPr>
          <a:xfrm>
            <a:off x="1007918" y="5914090"/>
            <a:ext cx="10440082" cy="44293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20000"/>
          </a:bodyPr>
          <a:lstStyle/>
          <a:p>
            <a:pPr algn="ctr" defTabSz="914400">
              <a:lnSpc>
                <a:spcPct val="100000"/>
              </a:lnSpc>
              <a:tabLst>
                <a:tab pos="0" algn="l"/>
              </a:tabLst>
            </a:pPr>
            <a:r>
              <a:rPr lang="es-ES" b="1" u="none" strike="noStrike" dirty="0">
                <a:solidFill>
                  <a:srgbClr val="FFFFFF"/>
                </a:solidFill>
                <a:effectLst/>
                <a:uFillTx/>
                <a:latin typeface="Aptos"/>
                <a:ea typeface="Aptos"/>
              </a:rPr>
              <a:t>¿Qué responsabilidad de negocio real deberíamos poder delegar a </a:t>
            </a:r>
            <a:r>
              <a:rPr lang="es-ES" b="1" u="none" strike="noStrike" dirty="0" err="1">
                <a:solidFill>
                  <a:srgbClr val="FFFFFF"/>
                </a:solidFill>
                <a:effectLst/>
                <a:uFillTx/>
                <a:latin typeface="Aptos"/>
                <a:ea typeface="Aptos"/>
              </a:rPr>
              <a:t>Gu</a:t>
            </a:r>
            <a:r>
              <a:rPr lang="es-ES" b="1" u="none" strike="noStrike" dirty="0">
                <a:solidFill>
                  <a:srgbClr val="FFFFFF"/>
                </a:solidFill>
                <a:effectLst/>
                <a:uFillTx/>
                <a:latin typeface="Aptos"/>
                <a:ea typeface="Aptos"/>
              </a:rPr>
              <a:t> primero y </a:t>
            </a:r>
          </a:p>
          <a:p>
            <a:pPr algn="ctr" defTabSz="914400">
              <a:lnSpc>
                <a:spcPct val="100000"/>
              </a:lnSpc>
              <a:tabLst>
                <a:tab pos="0" algn="l"/>
              </a:tabLst>
            </a:pPr>
            <a:r>
              <a:rPr lang="es-ES" b="1" u="none" strike="noStrike" dirty="0">
                <a:solidFill>
                  <a:srgbClr val="FFFFFF"/>
                </a:solidFill>
                <a:effectLst/>
                <a:uFillTx/>
                <a:latin typeface="Aptos"/>
                <a:ea typeface="Aptos"/>
              </a:rPr>
              <a:t>qué resultado demostraría que funciona?</a:t>
            </a:r>
            <a:endParaRPr lang="en-US" b="0" u="none" strike="noStrike" dirty="0">
              <a:solidFill>
                <a:srgbClr val="000000"/>
              </a:solidFill>
              <a:effectLst/>
              <a:uFillTx/>
              <a:latin typeface="Arial"/>
            </a:endParaRPr>
          </a:p>
        </p:txBody>
      </p:sp>
      <p:pic>
        <p:nvPicPr>
          <p:cNvPr id="3" name="Image 0" descr="/mnt/data/ungga_logo_purple.png">
            <a:extLst>
              <a:ext uri="{FF2B5EF4-FFF2-40B4-BE49-F238E27FC236}">
                <a16:creationId xmlns:a16="http://schemas.microsoft.com/office/drawing/2014/main" id="{75C1DFC5-2979-C6B5-2879-096E17A99C7F}"/>
              </a:ext>
            </a:extLst>
          </p:cNvPr>
          <p:cNvPicPr>
            <a:picLocks noChangeAspect="1"/>
          </p:cNvPicPr>
          <p:nvPr/>
        </p:nvPicPr>
        <p:blipFill>
          <a:blip r:embed="rId3"/>
          <a:stretch>
            <a:fillRect/>
          </a:stretch>
        </p:blipFill>
        <p:spPr>
          <a:xfrm>
            <a:off x="11109960" y="449715"/>
            <a:ext cx="566928" cy="47217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txBox="1"/>
          <p:nvPr/>
        </p:nvSpPr>
        <p:spPr>
          <a:xfrm>
            <a:off x="676656" y="2331720"/>
            <a:ext cx="5669280" cy="685800"/>
          </a:xfrm>
          <a:prstGeom prst="rect">
            <a:avLst/>
          </a:prstGeom>
          <a:noFill/>
          <a:ln/>
        </p:spPr>
        <p:txBody>
          <a:bodyPr wrap="square" lIns="0" tIns="0" rIns="0" bIns="0" rtlCol="0" anchor="ctr">
            <a:normAutofit/>
          </a:bodyPr>
          <a:lstStyle/>
          <a:p>
            <a:pPr marL="0" indent="0" algn="l">
              <a:lnSpc>
                <a:spcPct val="100000"/>
              </a:lnSpc>
              <a:buNone/>
            </a:pPr>
            <a:r>
              <a:rPr lang="en-US" sz="3800" b="1" dirty="0">
                <a:solidFill>
                  <a:srgbClr val="FFFFFF"/>
                </a:solidFill>
                <a:latin typeface="Inter Display" pitchFamily="34" charset="0"/>
                <a:ea typeface="Inter Display" pitchFamily="34" charset="-122"/>
                <a:cs typeface="Inter Display" pitchFamily="34" charset="-120"/>
              </a:rPr>
              <a:t>¡Gracias!</a:t>
            </a:r>
            <a:endParaRPr lang="en-US" sz="3800" dirty="0"/>
          </a:p>
        </p:txBody>
      </p:sp>
      <p:sp>
        <p:nvSpPr>
          <p:cNvPr id="4" name="Text 1"/>
          <p:cNvSpPr txBox="1"/>
          <p:nvPr/>
        </p:nvSpPr>
        <p:spPr>
          <a:xfrm>
            <a:off x="694944" y="3072384"/>
            <a:ext cx="5760720" cy="411480"/>
          </a:xfrm>
          <a:prstGeom prst="rect">
            <a:avLst/>
          </a:prstGeom>
          <a:noFill/>
          <a:ln/>
        </p:spPr>
        <p:txBody>
          <a:bodyPr wrap="square" lIns="0" tIns="0" rIns="0" bIns="0" rtlCol="0" anchor="ctr">
            <a:normAutofit/>
          </a:bodyPr>
          <a:lstStyle/>
          <a:p>
            <a:pPr marL="0" indent="0" algn="l">
              <a:lnSpc>
                <a:spcPct val="100000"/>
              </a:lnSpc>
              <a:buNone/>
            </a:pPr>
            <a:r>
              <a:rPr lang="en-US" dirty="0">
                <a:solidFill>
                  <a:srgbClr val="D8CFEA"/>
                </a:solidFill>
                <a:latin typeface="Inter" pitchFamily="34" charset="0"/>
                <a:ea typeface="Inter" pitchFamily="34" charset="-122"/>
                <a:cs typeface="Inter" pitchFamily="34" charset="-120"/>
              </a:rPr>
              <a:t>…</a:t>
            </a:r>
            <a:endParaRPr lang="en-US" dirty="0"/>
          </a:p>
        </p:txBody>
      </p:sp>
      <p:pic>
        <p:nvPicPr>
          <p:cNvPr id="5" name="Image 1" descr="/mnt/data/olddeck_media/ppt/media/image10.png"/>
          <p:cNvPicPr>
            <a:picLocks noChangeAspect="1"/>
          </p:cNvPicPr>
          <p:nvPr/>
        </p:nvPicPr>
        <p:blipFill>
          <a:blip r:embed="rId3"/>
          <a:stretch>
            <a:fillRect/>
          </a:stretch>
        </p:blipFill>
        <p:spPr>
          <a:xfrm>
            <a:off x="7452360" y="1376172"/>
            <a:ext cx="4151376" cy="4151376"/>
          </a:xfrm>
          <a:prstGeom prst="rect">
            <a:avLst/>
          </a:prstGeom>
        </p:spPr>
      </p:pic>
      <p:sp>
        <p:nvSpPr>
          <p:cNvPr id="25" name="Slide Number Placeholder 0"/>
          <p:cNvSpPr>
            <a:spLocks noGrp="1"/>
          </p:cNvSpPr>
          <p:nvPr>
            <p:ph type="sldNum" sz="quarter" idx="4294967295"/>
          </p:nvPr>
        </p:nvSpPr>
        <p:spPr>
          <a:xfrm>
            <a:off x="11631167" y="6490252"/>
            <a:ext cx="315668" cy="203156"/>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800" kern="1200">
                <a:solidFill>
                  <a:srgbClr val="8D86A0"/>
                </a:solidFill>
                <a:latin typeface="Inter"/>
                <a:ea typeface="Inter"/>
                <a:cs typeface="Inter"/>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26</a:t>
            </a:fld>
            <a:endParaRPr lang="en-US" dirty="0"/>
          </a:p>
        </p:txBody>
      </p:sp>
      <p:pic>
        <p:nvPicPr>
          <p:cNvPr id="7" name="Image 0" descr="/mnt/data/ungga_logo_white.png">
            <a:extLst>
              <a:ext uri="{FF2B5EF4-FFF2-40B4-BE49-F238E27FC236}">
                <a16:creationId xmlns:a16="http://schemas.microsoft.com/office/drawing/2014/main" id="{836950F4-4514-D599-09B0-86ACBE2B4DEB}"/>
              </a:ext>
            </a:extLst>
          </p:cNvPr>
          <p:cNvPicPr>
            <a:picLocks noChangeAspect="1"/>
          </p:cNvPicPr>
          <p:nvPr/>
        </p:nvPicPr>
        <p:blipFill>
          <a:blip r:embed="rId4"/>
          <a:stretch>
            <a:fillRect/>
          </a:stretch>
        </p:blipFill>
        <p:spPr>
          <a:xfrm>
            <a:off x="10771349" y="432161"/>
            <a:ext cx="713798" cy="59449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majorFont>
      <a:minorFont>
        <a:latin typeface="Apto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5766</TotalTime>
  <Words>15085</Words>
  <Application>Microsoft Office PowerPoint</Application>
  <PresentationFormat>Panorámica</PresentationFormat>
  <Paragraphs>2118</Paragraphs>
  <Slides>26</Slides>
  <Notes>25</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26</vt:i4>
      </vt:variant>
    </vt:vector>
  </HeadingPairs>
  <TitlesOfParts>
    <vt:vector size="35" baseType="lpstr">
      <vt:lpstr>Aptos</vt:lpstr>
      <vt:lpstr>Aptos Display</vt:lpstr>
      <vt:lpstr>Arial</vt:lpstr>
      <vt:lpstr>Inter</vt:lpstr>
      <vt:lpstr>Inter Display</vt:lpstr>
      <vt:lpstr>Symbol</vt:lpstr>
      <vt:lpstr>Times New Roman</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Ungga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Alejandro Torres</dc:creator>
  <cp:lastModifiedBy>Alejandro Torres</cp:lastModifiedBy>
  <cp:revision>190</cp:revision>
  <dcterms:modified xsi:type="dcterms:W3CDTF">2026-08-26T16:57:00Z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2026-08-19T18:01:36Z</dcterms:created>
  <dc:creator>Ungga / OpenAI</dc:creator>
  <dc:description/>
  <dc:language>en-US</dc:language>
  <cp:lastModifiedBy>Ungga / OpenAI</cp:lastModifiedBy>
  <dcterms:modified xsi:type="dcterms:W3CDTF">2026-08-19T18:01:36Z</dcterms:modified>
  <cp:revision>1</cp:revision>
  <dc:subject>Gu to Gu OS internal alignment session</dc:subject>
  <dc:title>Gu → Gu OS: Vision, Product &amp; Operating Model</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22</vt:r8>
  </property>
  <property fmtid="{D5CDD505-2E9C-101B-9397-08002B2CF9AE}" pid="3" name="PresentationFormat">
    <vt:lpwstr>On-screen Show (16:9)</vt:lpwstr>
  </property>
  <property fmtid="{D5CDD505-2E9C-101B-9397-08002B2CF9AE}" pid="4" name="Slides">
    <vt:r8>22</vt:r8>
  </property>
</Properties>
</file>