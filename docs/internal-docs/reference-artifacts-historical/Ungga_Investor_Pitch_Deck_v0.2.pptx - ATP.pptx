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4" r:id="rId4"/>
    <p:sldId id="259" r:id="rId5"/>
    <p:sldId id="260" r:id="rId6"/>
    <p:sldId id="261" r:id="rId7"/>
    <p:sldId id="3461" r:id="rId8"/>
    <p:sldId id="263" r:id="rId9"/>
    <p:sldId id="264" r:id="rId10"/>
    <p:sldId id="265" r:id="rId11"/>
    <p:sldId id="275" r:id="rId12"/>
    <p:sldId id="267" r:id="rId13"/>
    <p:sldId id="268" r:id="rId14"/>
    <p:sldId id="3459" r:id="rId15"/>
    <p:sldId id="269" r:id="rId16"/>
    <p:sldId id="3460"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152B"/>
    <a:srgbClr val="9A4D78"/>
    <a:srgbClr val="AA9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589" autoAdjust="0"/>
  </p:normalViewPr>
  <p:slideViewPr>
    <p:cSldViewPr snapToGrid="0" snapToObjects="1">
      <p:cViewPr varScale="1">
        <p:scale>
          <a:sx n="78" d="100"/>
          <a:sy n="78" d="100"/>
        </p:scale>
        <p:origin x="1052" y="75"/>
      </p:cViewPr>
      <p:guideLst/>
    </p:cSldViewPr>
  </p:slideViewPr>
  <p:notesTextViewPr>
    <p:cViewPr>
      <p:scale>
        <a:sx n="1" d="1"/>
        <a:sy n="1" d="1"/>
      </p:scale>
      <p:origin x="0" y="0"/>
    </p:cViewPr>
  </p:notesTextViewPr>
  <p:sorterViewPr>
    <p:cViewPr>
      <p:scale>
        <a:sx n="100" d="100"/>
        <a:sy n="100" d="100"/>
      </p:scale>
      <p:origin x="0" y="-31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06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Ungga is building the AI operating system for real-estate companies, with Gu as the AI coworker that understands, coordinates, and gets work done across the brokerage.
To understand why an operating system is needed, start with how brokerages generate—and lose—revenue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many brokerages, the problem starts before a lead exists: enough qualified demand is difficult to generate consistently across portals, paid social, organic, referrals, agencies and offline channels.
Once opportunities arrive, too many still disappear before becoming visits. They can arrive at night, on weekends, or while advisors are busy with visits, negotiations and other work.
Brokerages lose on both sides: they struggle to generate enough demand, then leak part of the demand they already worked to create.</a:t>
            </a:r>
          </a:p>
          <a:p>
            <a:endParaRPr lang="en-US" dirty="0"/>
          </a:p>
          <a:p>
            <a:r>
              <a:rPr lang="en-US" dirty="0"/>
              <a:t>---</a:t>
            </a:r>
          </a:p>
          <a:p>
            <a:r>
              <a:rPr lang="en-US" dirty="0"/>
              <a:t>Note:</a:t>
            </a:r>
          </a:p>
          <a:p>
            <a:r>
              <a:rPr lang="es-MX" b="1" dirty="0"/>
              <a:t>Team </a:t>
            </a:r>
            <a:r>
              <a:rPr lang="es-MX" b="1" dirty="0" err="1"/>
              <a:t>constantly</a:t>
            </a:r>
            <a:r>
              <a:rPr lang="es-MX" b="1" dirty="0"/>
              <a:t> </a:t>
            </a:r>
            <a:r>
              <a:rPr lang="es-MX" b="1" dirty="0" err="1"/>
              <a:t>keeping</a:t>
            </a:r>
            <a:r>
              <a:rPr lang="es-MX" b="1" dirty="0"/>
              <a:t> </a:t>
            </a:r>
            <a:r>
              <a:rPr lang="es-MX" b="1" dirty="0" err="1"/>
              <a:t>opportunities</a:t>
            </a:r>
            <a:r>
              <a:rPr lang="es-MX" b="1" dirty="0"/>
              <a:t> </a:t>
            </a:r>
            <a:r>
              <a:rPr lang="es-MX" b="1" dirty="0" err="1"/>
              <a:t>moving</a:t>
            </a:r>
            <a:r>
              <a:rPr lang="es-MX" b="1" dirty="0"/>
              <a:t> </a:t>
            </a:r>
            <a:r>
              <a:rPr lang="es-MX" dirty="0"/>
              <a:t>es más bien </a:t>
            </a:r>
            <a:r>
              <a:rPr lang="es-MX" b="1" dirty="0" err="1"/>
              <a:t>operational</a:t>
            </a:r>
            <a:r>
              <a:rPr lang="es-MX" b="1" dirty="0"/>
              <a:t>/human </a:t>
            </a:r>
            <a:r>
              <a:rPr lang="es-MX" b="1" dirty="0" err="1"/>
              <a:t>impact</a:t>
            </a:r>
            <a:r>
              <a:rPr lang="es-MX" dirty="0"/>
              <a:t>.</a:t>
            </a:r>
          </a:p>
          <a:p>
            <a:r>
              <a:rPr lang="es-MX" dirty="0"/>
              <a:t>No es incorrecto tenerlo ahí, pero podríamos afinarlo a algo más económico/compacto, por ejemplo: </a:t>
            </a:r>
            <a:r>
              <a:rPr lang="es-MX" b="1" dirty="0" err="1"/>
              <a:t>Operational</a:t>
            </a:r>
            <a:r>
              <a:rPr lang="es-MX" b="1" dirty="0"/>
              <a:t> </a:t>
            </a:r>
            <a:r>
              <a:rPr lang="es-MX" b="1" dirty="0" err="1"/>
              <a:t>overload</a:t>
            </a:r>
            <a:r>
              <a:rPr lang="es-MX" b="1" dirty="0"/>
              <a:t> </a:t>
            </a:r>
            <a:r>
              <a:rPr lang="es-MX" dirty="0"/>
              <a:t>o </a:t>
            </a:r>
            <a:r>
              <a:rPr lang="es-MX" b="1" dirty="0"/>
              <a:t>Team </a:t>
            </a:r>
            <a:r>
              <a:rPr lang="es-MX" b="1" dirty="0" err="1"/>
              <a:t>overload</a:t>
            </a:r>
            <a:endParaRPr lang="es-MX" dirty="0"/>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Real-estate businesses already have software: CRMs, portals, calendars, messaging tools and specialized providers.
But none of those systems owns the whole job. The advisor, coordinator or owner still interprets what is happening, moves information between systems, decides what happens next, and makes sure somebody actually does it.
In practice, the human becomes the middleware—and effectively the operating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decades, software digitized information, but the human still had to understand the situation, decide what to do, open the right system, enter information, and coordinate the next step.
Current AI changes that relationship. Models can reason over context, use tools and execute multi-step work; an operating layer can provide durable state, permissions, verification and human decision points.
That means software can increasingly participate in the operation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one concrete workflow close to revenue. A new prospect arrives and Gu can engage them, understand what they are looking for, search and match inventory, </a:t>
            </a:r>
            <a:r>
              <a:rPr lang="es-MX" dirty="0" err="1"/>
              <a:t>follow</a:t>
            </a:r>
            <a:r>
              <a:rPr lang="es-MX" dirty="0"/>
              <a:t> up </a:t>
            </a:r>
            <a:r>
              <a:rPr lang="es-MX" dirty="0" err="1"/>
              <a:t>through</a:t>
            </a:r>
            <a:r>
              <a:rPr lang="es-MX" dirty="0"/>
              <a:t> </a:t>
            </a:r>
            <a:r>
              <a:rPr lang="es-MX" dirty="0" err="1"/>
              <a:t>configured</a:t>
            </a:r>
            <a:r>
              <a:rPr lang="es-MX" dirty="0"/>
              <a:t> </a:t>
            </a:r>
            <a:r>
              <a:rPr lang="es-MX" dirty="0" err="1"/>
              <a:t>policies</a:t>
            </a:r>
            <a:r>
              <a:rPr lang="es-MX" dirty="0"/>
              <a:t> and </a:t>
            </a:r>
            <a:r>
              <a:rPr lang="es-MX" dirty="0" err="1"/>
              <a:t>move</a:t>
            </a:r>
            <a:r>
              <a:rPr lang="es-MX" dirty="0"/>
              <a:t> the </a:t>
            </a:r>
            <a:r>
              <a:rPr lang="es-MX" dirty="0" err="1"/>
              <a:t>opportunity</a:t>
            </a:r>
            <a:r>
              <a:rPr lang="es-MX" dirty="0"/>
              <a:t> </a:t>
            </a:r>
            <a:r>
              <a:rPr lang="es-MX" dirty="0" err="1"/>
              <a:t>toward</a:t>
            </a:r>
            <a:r>
              <a:rPr lang="es-MX" dirty="0"/>
              <a:t> a </a:t>
            </a:r>
            <a:r>
              <a:rPr lang="es-MX" dirty="0" err="1"/>
              <a:t>property</a:t>
            </a:r>
            <a:r>
              <a:rPr lang="es-MX" dirty="0"/>
              <a:t> </a:t>
            </a:r>
            <a:r>
              <a:rPr lang="es-MX" dirty="0" err="1"/>
              <a:t>visit</a:t>
            </a:r>
            <a:r>
              <a:rPr lang="en-US" dirty="0"/>
              <a:t>, and move the opportunity toward a property visit.
Demand is asynchronous. Prospects do not wait until an advisor is free; Gu adds capacity where human availability becomes a bottleneck.
Gu can operate 24/7, but the brokerage decides when automatic responses are active and can pause them when needed.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real work customers asked Gu to take on, the more we discovered that conversation alone was not enough.
For example, if an owner changes a property price after agreements and commercial material have already been prepared, the system needs to know what changed, which prior work remains valid, and what must be repaired.
That is the difference between conversational memory and durable operational state. Doing real work exposed the operating infrastructure Gu needs to take on more responsibility.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B5EA5-C12D-E0DA-2894-17593D870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E39B7-5D15-B98E-2F12-7ADD275D8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EFDEC-3D92-9E18-0B2C-9FB085EAE799}"/>
              </a:ext>
            </a:extLst>
          </p:cNvPr>
          <p:cNvSpPr>
            <a:spLocks noGrp="1"/>
          </p:cNvSpPr>
          <p:nvPr>
            <p:ph type="body" idx="1"/>
          </p:nvPr>
        </p:nvSpPr>
        <p:spPr/>
        <p:txBody>
          <a:bodyPr/>
          <a:lstStyle/>
          <a:p>
            <a:r>
              <a:rPr lang="en-US" dirty="0"/>
              <a:t>The first procedure used to generalize the architecture is Property Optioning. Capturing a listing is not one AI task: it spans documents, property data, comparables, owner approval, the commission agreement, photos, commercial preparation and publication.
Some steps are performed by Gu, others use tools, others need a human decision, and others simply wait for an external dependency. Gu OS keeps the procedure alive across all of that.
Property Optioning matters less as a single feature than as evidence that the same operating foundation can represent real multi-day business work.</a:t>
            </a:r>
          </a:p>
        </p:txBody>
      </p:sp>
      <p:sp>
        <p:nvSpPr>
          <p:cNvPr id="4" name="Slide Number Placeholder 3">
            <a:extLst>
              <a:ext uri="{FF2B5EF4-FFF2-40B4-BE49-F238E27FC236}">
                <a16:creationId xmlns:a16="http://schemas.microsoft.com/office/drawing/2014/main" id="{0E1445EC-136A-5B2A-E3D8-CC30FD298E1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59194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not dozens of unrelated workflows. The goal is to connect the economic loop of the brokerage.
Today Gu participates materially in conversion. Property Optioning begins to extend into property onboarding. Demand generation and deeper outcome feedback are strategic expansion areas.
If one campaign produces cheaper leads but very few reach a visit, while another produces more expensive leads but many more visits, the upstream metric can point to the wrong business decision. The opportunity is to connect what generates demand with what happens after the lead arrives.</a:t>
            </a:r>
          </a:p>
          <a:p>
            <a:endParaRPr lang="en-US" dirty="0"/>
          </a:p>
          <a:p>
            <a:endParaRPr lang="en-US" dirty="0"/>
          </a:p>
          <a:p>
            <a:r>
              <a:rPr lang="en-US" dirty="0"/>
              <a:t>---</a:t>
            </a:r>
          </a:p>
          <a:p>
            <a:r>
              <a:rPr lang="en-US" dirty="0"/>
              <a:t>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9A4D78"/>
                </a:solidFill>
                <a:latin typeface="Inter" pitchFamily="34" charset="0"/>
                <a:ea typeface="Inter" pitchFamily="34" charset="-122"/>
                <a:cs typeface="Inter" pitchFamily="34" charset="-120"/>
              </a:rPr>
              <a:t>- Lower Cost Per Lead (CPL) ≠ better downstream outcome</a:t>
            </a:r>
            <a:endParaRPr lang="en-US" sz="1200" b="0" dirty="0"/>
          </a:p>
          <a:p>
            <a:r>
              <a:rPr lang="en-US" dirty="0"/>
              <a:t>- E</a:t>
            </a:r>
            <a:r>
              <a:rPr lang="es-MX" dirty="0"/>
              <a:t>l </a:t>
            </a:r>
            <a:r>
              <a:rPr lang="es-MX" dirty="0" err="1"/>
              <a:t>loop</a:t>
            </a:r>
            <a:r>
              <a:rPr lang="es-MX" dirty="0"/>
              <a:t> comunica: </a:t>
            </a:r>
            <a:r>
              <a:rPr lang="es-MX" b="1" dirty="0" err="1"/>
              <a:t>What</a:t>
            </a:r>
            <a:r>
              <a:rPr lang="es-MX" b="1" dirty="0"/>
              <a:t> </a:t>
            </a:r>
            <a:r>
              <a:rPr lang="es-MX" b="1" dirty="0" err="1"/>
              <a:t>inventory</a:t>
            </a:r>
            <a:r>
              <a:rPr lang="es-MX" b="1" dirty="0"/>
              <a:t> </a:t>
            </a:r>
            <a:r>
              <a:rPr lang="es-MX" b="1" dirty="0" err="1"/>
              <a:t>works</a:t>
            </a:r>
            <a:r>
              <a:rPr lang="es-MX" b="1" dirty="0"/>
              <a:t> → </a:t>
            </a:r>
            <a:r>
              <a:rPr lang="es-MX" b="1" dirty="0" err="1"/>
              <a:t>which</a:t>
            </a:r>
            <a:r>
              <a:rPr lang="es-MX" b="1" dirty="0"/>
              <a:t> </a:t>
            </a:r>
            <a:r>
              <a:rPr lang="es-MX" b="1" dirty="0" err="1"/>
              <a:t>demand</a:t>
            </a:r>
            <a:r>
              <a:rPr lang="es-MX" b="1" dirty="0"/>
              <a:t> </a:t>
            </a:r>
            <a:r>
              <a:rPr lang="es-MX" b="1" dirty="0" err="1"/>
              <a:t>sources</a:t>
            </a:r>
            <a:r>
              <a:rPr lang="es-MX" b="1" dirty="0"/>
              <a:t> </a:t>
            </a:r>
            <a:r>
              <a:rPr lang="es-MX" b="1" dirty="0" err="1"/>
              <a:t>work</a:t>
            </a:r>
            <a:r>
              <a:rPr lang="es-MX" b="1" dirty="0"/>
              <a:t> → </a:t>
            </a:r>
            <a:r>
              <a:rPr lang="es-MX" b="1" dirty="0" err="1"/>
              <a:t>which</a:t>
            </a:r>
            <a:r>
              <a:rPr lang="es-MX" b="1" dirty="0"/>
              <a:t> </a:t>
            </a:r>
            <a:r>
              <a:rPr lang="es-MX" b="1" dirty="0" err="1"/>
              <a:t>opportunities</a:t>
            </a:r>
            <a:r>
              <a:rPr lang="es-MX" b="1" dirty="0"/>
              <a:t> </a:t>
            </a:r>
            <a:r>
              <a:rPr lang="es-MX" b="1" dirty="0" err="1"/>
              <a:t>convert</a:t>
            </a:r>
            <a:r>
              <a:rPr lang="es-MX" b="1" dirty="0"/>
              <a:t> → </a:t>
            </a:r>
            <a:r>
              <a:rPr lang="es-MX" b="1" dirty="0" err="1"/>
              <a:t>what</a:t>
            </a:r>
            <a:r>
              <a:rPr lang="es-MX" b="1" dirty="0"/>
              <a:t> </a:t>
            </a:r>
            <a:r>
              <a:rPr lang="es-MX" b="1" dirty="0" err="1"/>
              <a:t>actually</a:t>
            </a:r>
            <a:r>
              <a:rPr lang="es-MX" b="1" dirty="0"/>
              <a:t> </a:t>
            </a:r>
            <a:r>
              <a:rPr lang="es-MX" b="1" dirty="0" err="1"/>
              <a:t>happens</a:t>
            </a:r>
            <a:r>
              <a:rPr lang="es-MX" b="1" dirty="0"/>
              <a:t> → </a:t>
            </a:r>
            <a:r>
              <a:rPr lang="es-MX" b="1" dirty="0" err="1"/>
              <a:t>what</a:t>
            </a:r>
            <a:r>
              <a:rPr lang="es-MX" b="1" dirty="0"/>
              <a:t> </a:t>
            </a:r>
            <a:r>
              <a:rPr lang="es-MX" b="1" dirty="0" err="1"/>
              <a:t>should</a:t>
            </a:r>
            <a:r>
              <a:rPr lang="es-MX" b="1" dirty="0"/>
              <a:t> </a:t>
            </a:r>
            <a:r>
              <a:rPr lang="es-MX" b="1" dirty="0" err="1"/>
              <a:t>change</a:t>
            </a:r>
            <a:r>
              <a:rPr lang="es-MX" b="1" dirty="0"/>
              <a:t> </a:t>
            </a:r>
            <a:r>
              <a:rPr lang="es-MX" b="1" dirty="0" err="1"/>
              <a:t>next</a:t>
            </a:r>
            <a:r>
              <a:rPr lang="es-MX" b="1" dirty="0"/>
              <a:t>.</a:t>
            </a:r>
            <a:endParaRPr lang="es-MX"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the underlying models will improve rapidly. The value we want to accumulate is not just conversation history but operating intelligence about this specific company.
More work can create richer business context, more reusable operational patterns, more outcome evidence, a broader network of resources, and greater customer trust and delegation.
Systematic learning and self-improvement is a governed future capability—not something we claim is broadly live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SaaS is constrained largely by the software budget. Because Gu actually performs work, we believe it can participate in a broader economic surface.
Value can come from software customers no longer need to operate directly, outsourced services, additional organizational capacity, and opportunities that otherwise would be lost.
We are moving from a low fixed SaaS subscription toward prepaid credits consumed as Gu performs work. The metric that matters is not a first load; it is consumption, reload, retention and expansion.</a:t>
            </a:r>
          </a:p>
          <a:p>
            <a:endParaRPr lang="en-US" dirty="0"/>
          </a:p>
          <a:p>
            <a:r>
              <a:rPr lang="en-US" dirty="0"/>
              <a:t>--</a:t>
            </a:r>
          </a:p>
          <a:p>
            <a:r>
              <a:rPr lang="en-US" dirty="0"/>
              <a:t>Notes:</a:t>
            </a:r>
          </a:p>
          <a:p>
            <a:pPr marL="171450" indent="-171450">
              <a:buFontTx/>
              <a:buChar char="-"/>
            </a:pPr>
            <a:r>
              <a:rPr lang="es-MX" dirty="0" err="1"/>
              <a:t>Economic</a:t>
            </a:r>
            <a:r>
              <a:rPr lang="es-MX" dirty="0"/>
              <a:t> </a:t>
            </a:r>
            <a:r>
              <a:rPr lang="es-MX" dirty="0" err="1"/>
              <a:t>value</a:t>
            </a:r>
            <a:r>
              <a:rPr lang="es-MX" dirty="0"/>
              <a:t> </a:t>
            </a:r>
            <a:r>
              <a:rPr lang="es-MX" dirty="0" err="1"/>
              <a:t>influenced</a:t>
            </a:r>
            <a:r>
              <a:rPr lang="es-MX" dirty="0"/>
              <a:t> ≠ </a:t>
            </a:r>
            <a:r>
              <a:rPr lang="es-MX" dirty="0" err="1"/>
              <a:t>revenue</a:t>
            </a:r>
            <a:r>
              <a:rPr lang="es-MX" dirty="0"/>
              <a:t> Ungga </a:t>
            </a:r>
            <a:r>
              <a:rPr lang="es-MX" dirty="0" err="1"/>
              <a:t>automatically</a:t>
            </a:r>
            <a:r>
              <a:rPr lang="es-MX" dirty="0"/>
              <a:t> captures. </a:t>
            </a:r>
            <a:r>
              <a:rPr lang="es-MX" dirty="0" err="1"/>
              <a:t>That</a:t>
            </a:r>
            <a:r>
              <a:rPr lang="es-MX" dirty="0"/>
              <a:t> </a:t>
            </a:r>
            <a:r>
              <a:rPr lang="es-MX" dirty="0" err="1"/>
              <a:t>is</a:t>
            </a:r>
            <a:r>
              <a:rPr lang="es-MX" dirty="0"/>
              <a:t>, </a:t>
            </a:r>
            <a:r>
              <a:rPr lang="es-MX" dirty="0" err="1"/>
              <a:t>customer</a:t>
            </a:r>
            <a:r>
              <a:rPr lang="es-MX" dirty="0"/>
              <a:t> </a:t>
            </a:r>
            <a:r>
              <a:rPr lang="es-MX" dirty="0" err="1"/>
              <a:t>value</a:t>
            </a:r>
            <a:r>
              <a:rPr lang="es-MX" dirty="0"/>
              <a:t> </a:t>
            </a:r>
            <a:r>
              <a:rPr lang="es-MX" dirty="0" err="1"/>
              <a:t>extends</a:t>
            </a:r>
            <a:r>
              <a:rPr lang="es-MX" dirty="0"/>
              <a:t> </a:t>
            </a:r>
            <a:r>
              <a:rPr lang="es-MX" dirty="0" err="1"/>
              <a:t>beyond</a:t>
            </a:r>
            <a:r>
              <a:rPr lang="es-MX" dirty="0"/>
              <a:t> the </a:t>
            </a:r>
            <a:r>
              <a:rPr lang="es-MX" dirty="0" err="1"/>
              <a:t>spend</a:t>
            </a:r>
            <a:r>
              <a:rPr lang="es-MX" dirty="0"/>
              <a:t> Ungga </a:t>
            </a:r>
            <a:r>
              <a:rPr lang="es-MX" dirty="0" err="1"/>
              <a:t>directly</a:t>
            </a:r>
            <a:r>
              <a:rPr lang="es-MX" dirty="0"/>
              <a:t> captures.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Inter" pitchFamily="34" charset="0"/>
                <a:ea typeface="Inter" pitchFamily="34" charset="-122"/>
                <a:cs typeface="Inter" pitchFamily="34" charset="-120"/>
              </a:rPr>
              <a:t>Reload matters more than first payment.</a:t>
            </a:r>
            <a:endParaRPr lang="en-US" sz="1200" b="0" dirty="0"/>
          </a:p>
          <a:p>
            <a:pPr marL="0" indent="0">
              <a:buFontTx/>
              <a:buNone/>
            </a:pPr>
            <a:r>
              <a:rPr lang="en-US" dirty="0"/>
              <a:t>-   R</a:t>
            </a:r>
            <a:r>
              <a:rPr lang="es-ES" dirty="0" err="1"/>
              <a:t>ecovered</a:t>
            </a:r>
            <a:r>
              <a:rPr lang="es-ES" dirty="0"/>
              <a:t> </a:t>
            </a:r>
            <a:r>
              <a:rPr lang="es-ES" dirty="0" err="1"/>
              <a:t>Opportunities</a:t>
            </a:r>
            <a:r>
              <a:rPr lang="es-ES" dirty="0"/>
              <a:t> puede transmitir la idea </a:t>
            </a:r>
            <a:r>
              <a:rPr lang="es-ES" dirty="0" err="1"/>
              <a:t>equivocadaTienes</a:t>
            </a:r>
            <a:r>
              <a:rPr lang="es-ES" dirty="0"/>
              <a:t> razón: </a:t>
            </a:r>
            <a:r>
              <a:rPr lang="es-ES" dirty="0" err="1"/>
              <a:t>recovered</a:t>
            </a:r>
            <a:r>
              <a:rPr lang="es-ES" dirty="0"/>
              <a:t> sugiere que primero se perdió la oportunidad y después </a:t>
            </a:r>
            <a:r>
              <a:rPr lang="es-ES" dirty="0" err="1"/>
              <a:t>Gu</a:t>
            </a:r>
            <a:r>
              <a:rPr lang="es-ES" dirty="0"/>
              <a:t> la rescató. Eso puede ocurrir con un prospecto estancado, pero una parte importante del valor de </a:t>
            </a:r>
            <a:r>
              <a:rPr lang="es-ES" dirty="0" err="1"/>
              <a:t>Gu</a:t>
            </a:r>
            <a:r>
              <a:rPr lang="es-ES" dirty="0"/>
              <a:t> consiste precisamente en evitar que se </a:t>
            </a:r>
            <a:r>
              <a:rPr lang="es-ES" dirty="0" err="1"/>
              <a:t>pierda:responder</a:t>
            </a:r>
            <a:r>
              <a:rPr lang="es-ES" dirty="0"/>
              <a:t> cuando el asesor no está </a:t>
            </a:r>
            <a:r>
              <a:rPr lang="es-ES" dirty="0" err="1"/>
              <a:t>disponible;mantener</a:t>
            </a:r>
            <a:r>
              <a:rPr lang="es-ES" dirty="0"/>
              <a:t> el </a:t>
            </a:r>
            <a:r>
              <a:rPr lang="es-ES" dirty="0" err="1"/>
              <a:t>seguimiento;encontrar</a:t>
            </a:r>
            <a:r>
              <a:rPr lang="es-ES" dirty="0"/>
              <a:t> un match que de otra forma se habría omitido; evitar que una oportunidad se enfríe; reducir no-shows, etc. La opción preferida sería: OPPORTUNITY PRESERVATION o </a:t>
            </a:r>
            <a:r>
              <a:rPr lang="es-MX" dirty="0"/>
              <a:t>PRESERVED &amp; RECOVERED OPPORTUNITIES</a:t>
            </a:r>
            <a:r>
              <a:rPr lang="es-ES" dirty="0"/>
              <a:t>.</a:t>
            </a:r>
            <a:endParaRPr lang="en-US" dirty="0"/>
          </a:p>
          <a:p>
            <a:r>
              <a:rPr lang="en-US" dirty="0"/>
              <a:t>- </a:t>
            </a:r>
            <a:r>
              <a:rPr lang="es-MX" b="1" dirty="0"/>
              <a:t>PREPAID CREDITS</a:t>
            </a:r>
          </a:p>
          <a:p>
            <a:r>
              <a:rPr lang="es-MX" b="1" dirty="0"/>
              <a:t>Work / </a:t>
            </a:r>
            <a:r>
              <a:rPr lang="es-MX" b="1" dirty="0" err="1"/>
              <a:t>usage-based</a:t>
            </a:r>
            <a:r>
              <a:rPr lang="es-MX" b="1" dirty="0"/>
              <a:t> </a:t>
            </a:r>
            <a:r>
              <a:rPr lang="es-MX" b="1" dirty="0" err="1"/>
              <a:t>pricing</a:t>
            </a:r>
            <a:r>
              <a:rPr lang="es-MX" b="1" dirty="0"/>
              <a:t>: </a:t>
            </a:r>
            <a:r>
              <a:rPr lang="es-MX" b="1" dirty="0" err="1"/>
              <a:t>customers</a:t>
            </a:r>
            <a:r>
              <a:rPr lang="es-MX" b="1" dirty="0"/>
              <a:t> consume </a:t>
            </a:r>
            <a:r>
              <a:rPr lang="es-MX" b="1" dirty="0" err="1"/>
              <a:t>credits</a:t>
            </a:r>
            <a:r>
              <a:rPr lang="es-MX" b="1" dirty="0"/>
              <a:t> as </a:t>
            </a:r>
            <a:r>
              <a:rPr lang="es-MX" b="1" dirty="0" err="1"/>
              <a:t>Gu</a:t>
            </a:r>
            <a:r>
              <a:rPr lang="es-MX" b="1" dirty="0"/>
              <a:t> </a:t>
            </a:r>
            <a:r>
              <a:rPr lang="es-MX" b="1" dirty="0" err="1"/>
              <a:t>performs</a:t>
            </a:r>
            <a:r>
              <a:rPr lang="es-MX" b="1" dirty="0"/>
              <a:t> </a:t>
            </a:r>
            <a:r>
              <a:rPr lang="es-MX" b="1" dirty="0" err="1"/>
              <a:t>work</a:t>
            </a:r>
            <a:r>
              <a:rPr lang="es-MX" b="1" dirty="0"/>
              <a:t>.</a:t>
            </a:r>
            <a:endParaRPr lang="es-MX" dirty="0"/>
          </a:p>
          <a:p>
            <a:r>
              <a:rPr lang="es-MX" b="1" dirty="0" err="1"/>
              <a:t>Spend</a:t>
            </a:r>
            <a:r>
              <a:rPr lang="es-MX" b="1" dirty="0"/>
              <a:t> can </a:t>
            </a:r>
            <a:r>
              <a:rPr lang="es-MX" b="1" dirty="0" err="1"/>
              <a:t>grow</a:t>
            </a:r>
            <a:r>
              <a:rPr lang="es-MX" b="1" dirty="0"/>
              <a:t> as more—and more </a:t>
            </a:r>
            <a:r>
              <a:rPr lang="es-MX" b="1" dirty="0" err="1"/>
              <a:t>valuable</a:t>
            </a:r>
            <a:r>
              <a:rPr lang="es-MX" b="1" dirty="0"/>
              <a:t>—</a:t>
            </a:r>
            <a:r>
              <a:rPr lang="es-MX" b="1" dirty="0" err="1"/>
              <a:t>work</a:t>
            </a:r>
            <a:r>
              <a:rPr lang="es-MX" b="1" dirty="0"/>
              <a:t> </a:t>
            </a:r>
            <a:r>
              <a:rPr lang="es-MX" b="1" dirty="0" err="1"/>
              <a:t>is</a:t>
            </a:r>
            <a:r>
              <a:rPr lang="es-MX" b="1" dirty="0"/>
              <a:t> </a:t>
            </a:r>
            <a:r>
              <a:rPr lang="es-MX" b="1" dirty="0" err="1"/>
              <a:t>delegated</a:t>
            </a:r>
            <a:r>
              <a:rPr lang="es-MX" b="1" dirty="0"/>
              <a:t> </a:t>
            </a:r>
            <a:r>
              <a:rPr lang="es-MX" b="1" dirty="0" err="1"/>
              <a:t>to</a:t>
            </a:r>
            <a:r>
              <a:rPr lang="es-MX" b="1" dirty="0"/>
              <a:t> </a:t>
            </a:r>
            <a:r>
              <a:rPr lang="es-MX" b="1" dirty="0" err="1"/>
              <a:t>Gu</a:t>
            </a:r>
            <a:r>
              <a:rPr lang="es-MX" b="1" dirty="0"/>
              <a:t>.</a:t>
            </a:r>
            <a:endParaRPr lang="es-MX" dirty="0"/>
          </a:p>
          <a:p>
            <a:r>
              <a:rPr lang="es-MX" dirty="0"/>
              <a:t>Esta versión me gusta mucho porque en dos líneas responde exactamente:</a:t>
            </a:r>
          </a:p>
          <a:p>
            <a:r>
              <a:rPr lang="es-MX" b="1" dirty="0"/>
              <a:t>¿Cómo pagas?</a:t>
            </a:r>
            <a:br>
              <a:rPr lang="es-MX" dirty="0"/>
            </a:br>
            <a:r>
              <a:rPr lang="es-MX" dirty="0"/>
              <a:t>→ </a:t>
            </a:r>
            <a:r>
              <a:rPr lang="es-MX" dirty="0" err="1"/>
              <a:t>prepaid</a:t>
            </a:r>
            <a:r>
              <a:rPr lang="es-MX" dirty="0"/>
              <a:t> </a:t>
            </a:r>
            <a:r>
              <a:rPr lang="es-MX" dirty="0" err="1"/>
              <a:t>credits</a:t>
            </a:r>
            <a:r>
              <a:rPr lang="es-MX" dirty="0"/>
              <a:t> / </a:t>
            </a:r>
            <a:r>
              <a:rPr lang="es-MX" dirty="0" err="1"/>
              <a:t>work-usage</a:t>
            </a:r>
            <a:r>
              <a:rPr lang="es-MX" dirty="0"/>
              <a:t> </a:t>
            </a:r>
            <a:r>
              <a:rPr lang="es-MX" dirty="0" err="1"/>
              <a:t>based</a:t>
            </a:r>
            <a:r>
              <a:rPr lang="es-MX" dirty="0"/>
              <a:t>.</a:t>
            </a:r>
          </a:p>
          <a:p>
            <a:r>
              <a:rPr lang="es-MX" b="1" dirty="0"/>
              <a:t>¿Por qué puede crecer el ARPA?</a:t>
            </a:r>
            <a:br>
              <a:rPr lang="es-MX" dirty="0"/>
            </a:br>
            <a:r>
              <a:rPr lang="es-MX" dirty="0"/>
              <a:t>→ </a:t>
            </a:r>
            <a:r>
              <a:rPr lang="es-MX" dirty="0" err="1"/>
              <a:t>Gu</a:t>
            </a:r>
            <a:r>
              <a:rPr lang="es-MX" dirty="0"/>
              <a:t> hace más trabajo y trabajo de mayor valor.</a:t>
            </a:r>
          </a:p>
          <a:p>
            <a:r>
              <a:rPr lang="es-MX" dirty="0"/>
              <a:t>Incluso considero que </a:t>
            </a:r>
            <a:r>
              <a:rPr lang="es-MX" sz="1200" kern="1200" dirty="0">
                <a:solidFill>
                  <a:schemeClr val="tx1"/>
                </a:solidFill>
                <a:latin typeface="+mn-lt"/>
                <a:ea typeface="+mn-ea"/>
                <a:cs typeface="+mn-cs"/>
              </a:rPr>
              <a:t>more—and more </a:t>
            </a:r>
            <a:r>
              <a:rPr lang="es-MX" sz="1200" kern="1200" dirty="0" err="1">
                <a:solidFill>
                  <a:schemeClr val="tx1"/>
                </a:solidFill>
                <a:latin typeface="+mn-lt"/>
                <a:ea typeface="+mn-ea"/>
                <a:cs typeface="+mn-cs"/>
              </a:rPr>
              <a:t>valuable</a:t>
            </a:r>
            <a:r>
              <a:rPr lang="es-MX" sz="1200" kern="1200" dirty="0">
                <a:solidFill>
                  <a:schemeClr val="tx1"/>
                </a:solidFill>
                <a:latin typeface="+mn-lt"/>
                <a:ea typeface="+mn-ea"/>
                <a:cs typeface="+mn-cs"/>
              </a:rPr>
              <a:t>—</a:t>
            </a:r>
            <a:r>
              <a:rPr lang="es-MX" sz="1200" kern="1200" dirty="0" err="1">
                <a:solidFill>
                  <a:schemeClr val="tx1"/>
                </a:solidFill>
                <a:latin typeface="+mn-lt"/>
                <a:ea typeface="+mn-ea"/>
                <a:cs typeface="+mn-cs"/>
              </a:rPr>
              <a:t>work</a:t>
            </a:r>
            <a:r>
              <a:rPr lang="es-MX" dirty="0"/>
              <a:t> es importante. No queremos transmitir que el único camino a más </a:t>
            </a:r>
            <a:r>
              <a:rPr lang="es-MX" dirty="0" err="1"/>
              <a:t>revenue</a:t>
            </a:r>
            <a:r>
              <a:rPr lang="es-MX" dirty="0"/>
              <a:t> sea </a:t>
            </a:r>
            <a:r>
              <a:rPr lang="es-MX" b="1" dirty="0"/>
              <a:t>hacer más volumen de la misma tarea</a:t>
            </a:r>
            <a:r>
              <a:rPr lang="es-MX" dirty="0"/>
              <a:t>. </a:t>
            </a:r>
            <a:r>
              <a:rPr lang="es-MX" dirty="0" err="1"/>
              <a:t>Gu</a:t>
            </a:r>
            <a:r>
              <a:rPr lang="es-MX" dirty="0"/>
              <a:t> OS permite eventualmente pasar de:</a:t>
            </a:r>
          </a:p>
          <a:p>
            <a:r>
              <a:rPr lang="es-MX" dirty="0" err="1"/>
              <a:t>follow</a:t>
            </a:r>
            <a:r>
              <a:rPr lang="es-MX" dirty="0"/>
              <a:t>-up</a:t>
            </a:r>
          </a:p>
          <a:p>
            <a:r>
              <a:rPr lang="es-MX" dirty="0"/>
              <a:t>a:</a:t>
            </a:r>
          </a:p>
          <a:p>
            <a:r>
              <a:rPr lang="es-MX" dirty="0" err="1"/>
              <a:t>property</a:t>
            </a:r>
            <a:r>
              <a:rPr lang="es-MX" dirty="0"/>
              <a:t> </a:t>
            </a:r>
            <a:r>
              <a:rPr lang="es-MX" dirty="0" err="1"/>
              <a:t>onboarding</a:t>
            </a:r>
            <a:r>
              <a:rPr lang="es-MX" dirty="0"/>
              <a:t>, </a:t>
            </a:r>
            <a:r>
              <a:rPr lang="es-MX" dirty="0" err="1"/>
              <a:t>demand</a:t>
            </a:r>
            <a:r>
              <a:rPr lang="es-MX" dirty="0"/>
              <a:t> </a:t>
            </a:r>
            <a:r>
              <a:rPr lang="es-MX" dirty="0" err="1"/>
              <a:t>generation</a:t>
            </a:r>
            <a:r>
              <a:rPr lang="es-MX" dirty="0"/>
              <a:t>, </a:t>
            </a:r>
            <a:r>
              <a:rPr lang="es-MX" dirty="0" err="1"/>
              <a:t>coordination</a:t>
            </a:r>
            <a:r>
              <a:rPr lang="es-MX" dirty="0"/>
              <a:t> </a:t>
            </a:r>
            <a:r>
              <a:rPr lang="es-MX" dirty="0" err="1"/>
              <a:t>of</a:t>
            </a:r>
            <a:r>
              <a:rPr lang="es-MX" dirty="0"/>
              <a:t> </a:t>
            </a:r>
            <a:r>
              <a:rPr lang="es-MX" dirty="0" err="1"/>
              <a:t>services</a:t>
            </a:r>
            <a:r>
              <a:rPr lang="es-MX" dirty="0"/>
              <a:t>, </a:t>
            </a:r>
            <a:r>
              <a:rPr lang="es-MX" dirty="0" err="1"/>
              <a:t>workflows</a:t>
            </a:r>
            <a:r>
              <a:rPr lang="es-MX" dirty="0"/>
              <a:t>, etc.</a:t>
            </a:r>
          </a:p>
          <a:p>
            <a:r>
              <a:rPr lang="es-MX" dirty="0"/>
              <a:t>y esos trabajos pueden tener distinta importancia económica.</a:t>
            </a:r>
          </a:p>
          <a:p>
            <a:pPr marL="0" indent="0">
              <a:buFontTx/>
              <a:buNone/>
            </a:pPr>
            <a:endParaRPr lang="en-US" dirty="0"/>
          </a:p>
          <a:p>
            <a:r>
              <a:rPr lang="en-US" dirty="0"/>
              <a:t>- </a:t>
            </a:r>
            <a:r>
              <a:rPr lang="es-MX" dirty="0"/>
              <a:t>La relación estratégica que aquí se muestra en Software es:</a:t>
            </a:r>
          </a:p>
          <a:p>
            <a:r>
              <a:rPr lang="es-MX" b="1" dirty="0" err="1"/>
              <a:t>Integrate</a:t>
            </a:r>
            <a:r>
              <a:rPr lang="es-MX" b="1" dirty="0"/>
              <a:t> → </a:t>
            </a:r>
            <a:r>
              <a:rPr lang="es-MX" b="1" dirty="0" err="1"/>
              <a:t>orchestrate</a:t>
            </a:r>
            <a:r>
              <a:rPr lang="es-MX" b="1" dirty="0"/>
              <a:t> → </a:t>
            </a:r>
            <a:r>
              <a:rPr lang="es-MX" b="1" dirty="0" err="1"/>
              <a:t>become</a:t>
            </a:r>
            <a:r>
              <a:rPr lang="es-MX" b="1" dirty="0"/>
              <a:t> the </a:t>
            </a:r>
            <a:r>
              <a:rPr lang="es-MX" b="1" dirty="0" err="1"/>
              <a:t>operating</a:t>
            </a:r>
            <a:r>
              <a:rPr lang="es-MX" b="1" dirty="0"/>
              <a:t> </a:t>
            </a:r>
            <a:r>
              <a:rPr lang="es-MX" b="1" dirty="0" err="1"/>
              <a:t>environment</a:t>
            </a:r>
            <a:r>
              <a:rPr lang="es-MX" b="1" dirty="0"/>
              <a:t> → </a:t>
            </a:r>
            <a:r>
              <a:rPr lang="es-MX" b="1" dirty="0" err="1"/>
              <a:t>selectively</a:t>
            </a:r>
            <a:r>
              <a:rPr lang="es-MX" b="1" dirty="0"/>
              <a:t> </a:t>
            </a:r>
            <a:r>
              <a:rPr lang="es-MX" b="1" dirty="0" err="1"/>
              <a:t>absorb</a:t>
            </a:r>
            <a:r>
              <a:rPr lang="es-MX" b="1" dirty="0"/>
              <a:t> </a:t>
            </a:r>
            <a:r>
              <a:rPr lang="es-MX" b="1" dirty="0" err="1"/>
              <a:t>functionality</a:t>
            </a:r>
            <a:r>
              <a:rPr lang="es-MX" b="1" dirty="0"/>
              <a:t>.</a:t>
            </a:r>
            <a:endParaRPr lang="es-MX"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encouraging evidence that some customers can retain for a long time, but that is not the same as proving repeatable product-market fit.
Our main job now is to prove a customer factory: acquire the right brokerage, activate meaningful work, turn that into consumption, reload, retention and expansion.
So, o</a:t>
            </a:r>
            <a:r>
              <a:rPr lang="es-MX" dirty="0" err="1"/>
              <a:t>ur</a:t>
            </a:r>
            <a:r>
              <a:rPr lang="es-MX" dirty="0"/>
              <a:t> </a:t>
            </a:r>
            <a:r>
              <a:rPr lang="es-MX" dirty="0" err="1"/>
              <a:t>next</a:t>
            </a:r>
            <a:r>
              <a:rPr lang="es-MX" dirty="0"/>
              <a:t> </a:t>
            </a:r>
            <a:r>
              <a:rPr lang="es-MX" dirty="0" err="1"/>
              <a:t>proof</a:t>
            </a:r>
            <a:r>
              <a:rPr lang="es-MX" dirty="0"/>
              <a:t> </a:t>
            </a:r>
            <a:r>
              <a:rPr lang="es-MX" dirty="0" err="1"/>
              <a:t>is</a:t>
            </a:r>
            <a:r>
              <a:rPr lang="es-MX" dirty="0"/>
              <a:t> </a:t>
            </a:r>
            <a:r>
              <a:rPr lang="es-MX" dirty="0" err="1"/>
              <a:t>turning</a:t>
            </a:r>
            <a:r>
              <a:rPr lang="es-MX" dirty="0"/>
              <a:t> the </a:t>
            </a:r>
            <a:r>
              <a:rPr lang="es-MX" dirty="0" err="1"/>
              <a:t>technical</a:t>
            </a:r>
            <a:r>
              <a:rPr lang="es-MX" dirty="0"/>
              <a:t> </a:t>
            </a:r>
            <a:r>
              <a:rPr lang="es-MX" dirty="0" err="1"/>
              <a:t>foundation</a:t>
            </a:r>
            <a:r>
              <a:rPr lang="es-MX" dirty="0"/>
              <a:t> </a:t>
            </a:r>
            <a:r>
              <a:rPr lang="es-MX" dirty="0" err="1"/>
              <a:t>into</a:t>
            </a:r>
            <a:r>
              <a:rPr lang="es-MX" dirty="0"/>
              <a:t> a </a:t>
            </a:r>
            <a:r>
              <a:rPr lang="es-MX" dirty="0" err="1"/>
              <a:t>repeatably</a:t>
            </a:r>
            <a:r>
              <a:rPr lang="es-MX" dirty="0"/>
              <a:t> </a:t>
            </a:r>
            <a:r>
              <a:rPr lang="es-MX" dirty="0" err="1"/>
              <a:t>deployable</a:t>
            </a:r>
            <a:r>
              <a:rPr lang="es-MX" dirty="0"/>
              <a:t> </a:t>
            </a:r>
            <a:r>
              <a:rPr lang="es-MX" dirty="0" err="1"/>
              <a:t>product</a:t>
            </a:r>
            <a:r>
              <a:rPr lang="es-MX" dirty="0"/>
              <a:t> and a </a:t>
            </a:r>
            <a:r>
              <a:rPr lang="es-MX" dirty="0" err="1"/>
              <a:t>repeatable</a:t>
            </a:r>
            <a:r>
              <a:rPr lang="es-MX" dirty="0"/>
              <a:t> </a:t>
            </a:r>
            <a:r>
              <a:rPr lang="es-MX" dirty="0" err="1"/>
              <a:t>commercial</a:t>
            </a:r>
            <a:r>
              <a:rPr lang="es-MX" dirty="0"/>
              <a:t> </a:t>
            </a:r>
            <a:r>
              <a:rPr lang="es-MX" dirty="0" err="1"/>
              <a:t>engine</a:t>
            </a:r>
            <a:r>
              <a:rPr lang="es-MX" dirty="0"/>
              <a:t>—</a:t>
            </a:r>
            <a:r>
              <a:rPr lang="es-MX" dirty="0" err="1"/>
              <a:t>while</a:t>
            </a:r>
            <a:r>
              <a:rPr lang="es-MX" dirty="0"/>
              <a:t> </a:t>
            </a:r>
            <a:r>
              <a:rPr lang="es-MX" dirty="0" err="1"/>
              <a:t>expanding</a:t>
            </a:r>
            <a:r>
              <a:rPr lang="es-MX" dirty="0"/>
              <a:t> the </a:t>
            </a:r>
            <a:r>
              <a:rPr lang="es-MX" dirty="0" err="1"/>
              <a:t>amount</a:t>
            </a:r>
            <a:r>
              <a:rPr lang="es-MX" dirty="0"/>
              <a:t> </a:t>
            </a:r>
            <a:r>
              <a:rPr lang="es-MX" dirty="0" err="1"/>
              <a:t>of</a:t>
            </a:r>
            <a:r>
              <a:rPr lang="es-MX" dirty="0"/>
              <a:t> </a:t>
            </a:r>
            <a:r>
              <a:rPr lang="es-MX" dirty="0" err="1"/>
              <a:t>valuable</a:t>
            </a:r>
            <a:r>
              <a:rPr lang="es-MX" dirty="0"/>
              <a:t> </a:t>
            </a:r>
            <a:r>
              <a:rPr lang="es-MX" dirty="0" err="1"/>
              <a:t>work</a:t>
            </a:r>
            <a:r>
              <a:rPr lang="es-MX" dirty="0"/>
              <a:t> </a:t>
            </a:r>
            <a:r>
              <a:rPr lang="es-MX" dirty="0" err="1"/>
              <a:t>customers</a:t>
            </a:r>
            <a:r>
              <a:rPr lang="es-MX" dirty="0"/>
              <a:t> </a:t>
            </a:r>
            <a:r>
              <a:rPr lang="es-MX" dirty="0" err="1"/>
              <a:t>delegate</a:t>
            </a:r>
            <a:r>
              <a:rPr lang="es-MX" dirty="0"/>
              <a:t> </a:t>
            </a:r>
            <a:r>
              <a:rPr lang="es-MX" dirty="0" err="1"/>
              <a:t>to</a:t>
            </a:r>
            <a:r>
              <a:rPr lang="es-MX" dirty="0"/>
              <a:t> </a:t>
            </a:r>
            <a:r>
              <a:rPr lang="es-MX" dirty="0" err="1"/>
              <a:t>Gu</a:t>
            </a:r>
            <a:r>
              <a:rPr lang="es-MX" dirty="0"/>
              <a:t>.</a:t>
            </a:r>
            <a:endParaRPr lang="en-US" dirty="0"/>
          </a:p>
          <a:p>
            <a:endParaRPr lang="en-US" dirty="0"/>
          </a:p>
          <a:p>
            <a:r>
              <a:rPr lang="en-US" dirty="0"/>
              <a:t>---</a:t>
            </a:r>
          </a:p>
          <a:p>
            <a:r>
              <a:rPr lang="en-US" dirty="0"/>
              <a:t>Notes:</a:t>
            </a:r>
          </a:p>
          <a:p>
            <a:r>
              <a:rPr lang="en-US" dirty="0"/>
              <a:t>- </a:t>
            </a:r>
            <a:r>
              <a:rPr lang="es-MX" b="1" dirty="0"/>
              <a:t>El </a:t>
            </a:r>
            <a:r>
              <a:rPr lang="es-MX" b="1" dirty="0" err="1"/>
              <a:t>funnel</a:t>
            </a:r>
            <a:r>
              <a:rPr lang="es-MX" b="1" dirty="0"/>
              <a:t> inferior </a:t>
            </a:r>
            <a:r>
              <a:rPr lang="es-MX" sz="1200" b="1" kern="1200" dirty="0">
                <a:solidFill>
                  <a:schemeClr val="tx1"/>
                </a:solidFill>
                <a:latin typeface="+mn-lt"/>
                <a:ea typeface="+mn-ea"/>
                <a:cs typeface="+mn-cs"/>
              </a:rPr>
              <a:t>[XX </a:t>
            </a:r>
            <a:r>
              <a:rPr lang="es-MX" sz="1200" b="1" kern="1200" dirty="0" err="1">
                <a:solidFill>
                  <a:schemeClr val="tx1"/>
                </a:solidFill>
                <a:latin typeface="+mn-lt"/>
                <a:ea typeface="+mn-ea"/>
                <a:cs typeface="+mn-cs"/>
              </a:rPr>
              <a:t>contacted</a:t>
            </a:r>
            <a:r>
              <a:rPr lang="es-MX" sz="1200" b="1" kern="1200" dirty="0">
                <a:solidFill>
                  <a:schemeClr val="tx1"/>
                </a:solidFill>
                <a:latin typeface="+mn-lt"/>
                <a:ea typeface="+mn-ea"/>
                <a:cs typeface="+mn-cs"/>
              </a:rPr>
              <a:t> → YY </a:t>
            </a:r>
            <a:r>
              <a:rPr lang="es-MX" sz="1200" b="1" kern="1200" dirty="0" err="1">
                <a:solidFill>
                  <a:schemeClr val="tx1"/>
                </a:solidFill>
                <a:latin typeface="+mn-lt"/>
                <a:ea typeface="+mn-ea"/>
                <a:cs typeface="+mn-cs"/>
              </a:rPr>
              <a:t>activated</a:t>
            </a:r>
            <a:r>
              <a:rPr lang="es-MX" sz="1200" b="1" kern="1200" dirty="0">
                <a:solidFill>
                  <a:schemeClr val="tx1"/>
                </a:solidFill>
                <a:latin typeface="+mn-lt"/>
                <a:ea typeface="+mn-ea"/>
                <a:cs typeface="+mn-cs"/>
              </a:rPr>
              <a:t> → ZZ </a:t>
            </a:r>
            <a:r>
              <a:rPr lang="es-MX" sz="1200" b="1" kern="1200" dirty="0" err="1">
                <a:solidFill>
                  <a:schemeClr val="tx1"/>
                </a:solidFill>
                <a:latin typeface="+mn-lt"/>
                <a:ea typeface="+mn-ea"/>
                <a:cs typeface="+mn-cs"/>
              </a:rPr>
              <a:t>paid</a:t>
            </a:r>
            <a:r>
              <a:rPr lang="es-MX" sz="1200" b="1" kern="1200" dirty="0">
                <a:solidFill>
                  <a:schemeClr val="tx1"/>
                </a:solidFill>
                <a:latin typeface="+mn-lt"/>
                <a:ea typeface="+mn-ea"/>
                <a:cs typeface="+mn-cs"/>
              </a:rPr>
              <a:t> → NN </a:t>
            </a:r>
            <a:r>
              <a:rPr lang="es-MX" sz="1200" b="1" kern="1200" dirty="0" err="1">
                <a:solidFill>
                  <a:schemeClr val="tx1"/>
                </a:solidFill>
                <a:latin typeface="+mn-lt"/>
                <a:ea typeface="+mn-ea"/>
                <a:cs typeface="+mn-cs"/>
              </a:rPr>
              <a:t>reloaded</a:t>
            </a:r>
            <a:r>
              <a:rPr lang="es-MX" sz="1200" b="1" kern="1200" dirty="0">
                <a:solidFill>
                  <a:schemeClr val="tx1"/>
                </a:solidFill>
                <a:latin typeface="+mn-lt"/>
                <a:ea typeface="+mn-ea"/>
                <a:cs typeface="+mn-cs"/>
              </a:rPr>
              <a:t>]</a:t>
            </a:r>
            <a:r>
              <a:rPr lang="es-MX" b="1" dirty="0"/>
              <a:t> es bueno</a:t>
            </a:r>
          </a:p>
          <a:p>
            <a:r>
              <a:rPr lang="es-MX" dirty="0"/>
              <a:t>Lo conservaría.</a:t>
            </a:r>
          </a:p>
          <a:p>
            <a:r>
              <a:rPr lang="es-MX" dirty="0"/>
              <a:t>Pero cuando tengamos datos, me gustaría que la cohorte sea explícita:</a:t>
            </a:r>
          </a:p>
          <a:p>
            <a:r>
              <a:rPr lang="es-MX" b="1" dirty="0"/>
              <a:t>WhatsApp GTM test:</a:t>
            </a:r>
            <a:br>
              <a:rPr lang="es-MX" dirty="0"/>
            </a:br>
            <a:r>
              <a:rPr lang="es-MX" sz="1200" kern="1200" dirty="0">
                <a:solidFill>
                  <a:schemeClr val="tx1"/>
                </a:solidFill>
                <a:latin typeface="+mn-lt"/>
                <a:ea typeface="+mn-ea"/>
                <a:cs typeface="+mn-cs"/>
              </a:rPr>
              <a:t>XX </a:t>
            </a:r>
            <a:r>
              <a:rPr lang="es-MX" sz="1200" kern="1200" dirty="0" err="1">
                <a:solidFill>
                  <a:schemeClr val="tx1"/>
                </a:solidFill>
                <a:latin typeface="+mn-lt"/>
                <a:ea typeface="+mn-ea"/>
                <a:cs typeface="+mn-cs"/>
              </a:rPr>
              <a:t>reached</a:t>
            </a:r>
            <a:r>
              <a:rPr lang="es-MX" sz="1200" kern="1200" dirty="0">
                <a:solidFill>
                  <a:schemeClr val="tx1"/>
                </a:solidFill>
                <a:latin typeface="+mn-lt"/>
                <a:ea typeface="+mn-ea"/>
                <a:cs typeface="+mn-cs"/>
              </a:rPr>
              <a:t> → YY </a:t>
            </a:r>
            <a:r>
              <a:rPr lang="es-MX" sz="1200" kern="1200" dirty="0" err="1">
                <a:solidFill>
                  <a:schemeClr val="tx1"/>
                </a:solidFill>
                <a:latin typeface="+mn-lt"/>
                <a:ea typeface="+mn-ea"/>
                <a:cs typeface="+mn-cs"/>
              </a:rPr>
              <a:t>activated</a:t>
            </a:r>
            <a:r>
              <a:rPr lang="es-MX" sz="1200" kern="1200" dirty="0">
                <a:solidFill>
                  <a:schemeClr val="tx1"/>
                </a:solidFill>
                <a:latin typeface="+mn-lt"/>
                <a:ea typeface="+mn-ea"/>
                <a:cs typeface="+mn-cs"/>
              </a:rPr>
              <a:t> → ZZ </a:t>
            </a:r>
            <a:r>
              <a:rPr lang="es-MX" sz="1200" kern="1200" dirty="0" err="1">
                <a:solidFill>
                  <a:schemeClr val="tx1"/>
                </a:solidFill>
                <a:latin typeface="+mn-lt"/>
                <a:ea typeface="+mn-ea"/>
                <a:cs typeface="+mn-cs"/>
              </a:rPr>
              <a:t>paid</a:t>
            </a:r>
            <a:r>
              <a:rPr lang="es-MX" sz="1200" kern="1200" dirty="0">
                <a:solidFill>
                  <a:schemeClr val="tx1"/>
                </a:solidFill>
                <a:latin typeface="+mn-lt"/>
                <a:ea typeface="+mn-ea"/>
                <a:cs typeface="+mn-cs"/>
              </a:rPr>
              <a:t> → NN </a:t>
            </a:r>
            <a:r>
              <a:rPr lang="es-MX" sz="1200" kern="1200" dirty="0" err="1">
                <a:solidFill>
                  <a:schemeClr val="tx1"/>
                </a:solidFill>
                <a:latin typeface="+mn-lt"/>
                <a:ea typeface="+mn-ea"/>
                <a:cs typeface="+mn-cs"/>
              </a:rPr>
              <a:t>reloaded</a:t>
            </a:r>
            <a:endParaRPr lang="es-MX" dirty="0"/>
          </a:p>
          <a:p>
            <a:r>
              <a:rPr lang="es-MX" dirty="0"/>
              <a:t>o el canal que corresponda.</a:t>
            </a:r>
          </a:p>
          <a:p>
            <a:r>
              <a:rPr lang="es-MX" dirty="0"/>
              <a:t>Porque, de lo contrario, un VC puede preguntarse:</a:t>
            </a:r>
          </a:p>
          <a:p>
            <a:r>
              <a:rPr lang="es-MX" dirty="0"/>
              <a:t>“¿</a:t>
            </a:r>
            <a:r>
              <a:rPr lang="es-MX" dirty="0" err="1"/>
              <a:t>contacted</a:t>
            </a:r>
            <a:r>
              <a:rPr lang="es-MX" dirty="0"/>
              <a:t> de qué campaña? ¿de toda la historia de la compañía?”</a:t>
            </a:r>
          </a:p>
          <a:p>
            <a:r>
              <a:rPr lang="es-MX" dirty="0"/>
              <a:t>Una cohorte pequeña pero bien definida es más creíble.</a:t>
            </a:r>
          </a:p>
          <a:p>
            <a:endParaRPr lang="en-US" dirty="0"/>
          </a:p>
          <a:p>
            <a:r>
              <a:rPr lang="en-US" dirty="0"/>
              <a:t>- La lamina</a:t>
            </a:r>
            <a:r>
              <a:rPr lang="es-MX" b="1" dirty="0"/>
              <a:t> respondería tres preguntas distintas</a:t>
            </a:r>
          </a:p>
          <a:p>
            <a:r>
              <a:rPr lang="es-MX" b="1" dirty="0" err="1"/>
              <a:t>Traction</a:t>
            </a:r>
            <a:endParaRPr lang="es-MX" dirty="0"/>
          </a:p>
          <a:p>
            <a:r>
              <a:rPr lang="es-MX" dirty="0" err="1"/>
              <a:t>Is</a:t>
            </a:r>
            <a:r>
              <a:rPr lang="es-MX" dirty="0"/>
              <a:t> </a:t>
            </a:r>
            <a:r>
              <a:rPr lang="es-MX" dirty="0" err="1"/>
              <a:t>anybody</a:t>
            </a:r>
            <a:r>
              <a:rPr lang="es-MX" dirty="0"/>
              <a:t> </a:t>
            </a:r>
            <a:r>
              <a:rPr lang="es-MX" dirty="0" err="1"/>
              <a:t>staying</a:t>
            </a:r>
            <a:r>
              <a:rPr lang="es-MX" dirty="0"/>
              <a:t> and </a:t>
            </a:r>
            <a:r>
              <a:rPr lang="es-MX" dirty="0" err="1"/>
              <a:t>paying</a:t>
            </a:r>
            <a:r>
              <a:rPr lang="es-MX" dirty="0"/>
              <a:t>?</a:t>
            </a:r>
          </a:p>
          <a:p>
            <a:r>
              <a:rPr lang="es-MX" b="1" dirty="0" err="1"/>
              <a:t>Commercial</a:t>
            </a:r>
            <a:r>
              <a:rPr lang="es-MX" b="1" dirty="0"/>
              <a:t> </a:t>
            </a:r>
            <a:r>
              <a:rPr lang="es-MX" b="1" dirty="0" err="1"/>
              <a:t>engine</a:t>
            </a:r>
            <a:endParaRPr lang="es-MX" dirty="0"/>
          </a:p>
          <a:p>
            <a:r>
              <a:rPr lang="es-MX" dirty="0" err="1"/>
              <a:t>What</a:t>
            </a:r>
            <a:r>
              <a:rPr lang="es-MX" dirty="0"/>
              <a:t> </a:t>
            </a:r>
            <a:r>
              <a:rPr lang="es-MX" dirty="0" err="1"/>
              <a:t>behavior</a:t>
            </a:r>
            <a:r>
              <a:rPr lang="es-MX" dirty="0"/>
              <a:t> proves </a:t>
            </a:r>
            <a:r>
              <a:rPr lang="es-MX" dirty="0" err="1"/>
              <a:t>that</a:t>
            </a:r>
            <a:r>
              <a:rPr lang="es-MX" dirty="0"/>
              <a:t> </a:t>
            </a:r>
            <a:r>
              <a:rPr lang="es-MX" dirty="0" err="1"/>
              <a:t>this</a:t>
            </a:r>
            <a:r>
              <a:rPr lang="es-MX" dirty="0"/>
              <a:t> </a:t>
            </a:r>
            <a:r>
              <a:rPr lang="es-MX" dirty="0" err="1"/>
              <a:t>works</a:t>
            </a:r>
            <a:r>
              <a:rPr lang="es-MX" dirty="0"/>
              <a:t> </a:t>
            </a:r>
            <a:r>
              <a:rPr lang="es-MX" dirty="0" err="1"/>
              <a:t>economically</a:t>
            </a:r>
            <a:r>
              <a:rPr lang="es-MX" dirty="0"/>
              <a:t>?</a:t>
            </a:r>
          </a:p>
          <a:p>
            <a:r>
              <a:rPr lang="es-MX" b="1" dirty="0"/>
              <a:t>GTM</a:t>
            </a:r>
            <a:endParaRPr lang="es-MX" dirty="0"/>
          </a:p>
          <a:p>
            <a:r>
              <a:rPr lang="es-MX" dirty="0"/>
              <a:t>How are </a:t>
            </a:r>
            <a:r>
              <a:rPr lang="es-MX" dirty="0" err="1"/>
              <a:t>you</a:t>
            </a:r>
            <a:r>
              <a:rPr lang="es-MX" dirty="0"/>
              <a:t> </a:t>
            </a:r>
            <a:r>
              <a:rPr lang="es-MX" dirty="0" err="1"/>
              <a:t>trying</a:t>
            </a:r>
            <a:r>
              <a:rPr lang="es-MX" dirty="0"/>
              <a:t> </a:t>
            </a:r>
            <a:r>
              <a:rPr lang="es-MX" dirty="0" err="1"/>
              <a:t>to</a:t>
            </a:r>
            <a:r>
              <a:rPr lang="es-MX" dirty="0"/>
              <a:t> </a:t>
            </a:r>
            <a:r>
              <a:rPr lang="es-MX" dirty="0" err="1"/>
              <a:t>make</a:t>
            </a:r>
            <a:r>
              <a:rPr lang="es-MX" dirty="0"/>
              <a:t> </a:t>
            </a:r>
            <a:r>
              <a:rPr lang="es-MX" dirty="0" err="1"/>
              <a:t>customer</a:t>
            </a:r>
            <a:r>
              <a:rPr lang="es-MX" dirty="0"/>
              <a:t> </a:t>
            </a:r>
            <a:r>
              <a:rPr lang="es-MX" dirty="0" err="1"/>
              <a:t>acquisition</a:t>
            </a:r>
            <a:r>
              <a:rPr lang="es-MX" dirty="0"/>
              <a:t> and </a:t>
            </a:r>
            <a:r>
              <a:rPr lang="es-MX" dirty="0" err="1"/>
              <a:t>expansion</a:t>
            </a:r>
            <a:r>
              <a:rPr lang="es-MX" dirty="0"/>
              <a:t> </a:t>
            </a:r>
            <a:r>
              <a:rPr lang="es-MX" dirty="0" err="1"/>
              <a:t>repeatable</a:t>
            </a:r>
            <a:r>
              <a:rPr lang="es-MX" dirty="0"/>
              <a:t>?</a:t>
            </a:r>
          </a:p>
          <a:p>
            <a:endParaRPr lang="en-US" dirty="0"/>
          </a:p>
          <a:p>
            <a:r>
              <a:rPr lang="en-US" dirty="0"/>
              <a:t>- </a:t>
            </a:r>
            <a:r>
              <a:rPr lang="es-MX" dirty="0"/>
              <a:t>La diferencia clave es:</a:t>
            </a:r>
          </a:p>
          <a:p>
            <a:pPr lvl="0"/>
            <a:r>
              <a:rPr lang="es-MX" b="1" dirty="0" err="1"/>
              <a:t>Reload</a:t>
            </a:r>
            <a:r>
              <a:rPr lang="es-MX" dirty="0"/>
              <a:t> = el cliente </a:t>
            </a:r>
            <a:r>
              <a:rPr lang="es-MX" b="1" dirty="0"/>
              <a:t>vuelve a comprar créditos</a:t>
            </a:r>
            <a:r>
              <a:rPr lang="es-MX" dirty="0"/>
              <a:t> después de haber consumido parte o todo lo anterior. </a:t>
            </a:r>
          </a:p>
          <a:p>
            <a:pPr lvl="0"/>
            <a:r>
              <a:rPr lang="es-MX" b="1" dirty="0" err="1"/>
              <a:t>Retain</a:t>
            </a:r>
            <a:r>
              <a:rPr lang="es-MX" dirty="0"/>
              <a:t> = el cliente </a:t>
            </a:r>
            <a:r>
              <a:rPr lang="es-MX" b="1" dirty="0"/>
              <a:t>permanece activo y continúa usando/pagando durante el tiempo</a:t>
            </a:r>
            <a:r>
              <a:rPr lang="es-MX" dirty="0"/>
              <a:t>. </a:t>
            </a:r>
          </a:p>
          <a:p>
            <a:r>
              <a:rPr lang="es-MX" dirty="0"/>
              <a:t>Es decir, </a:t>
            </a:r>
            <a:r>
              <a:rPr lang="es-MX" b="1" dirty="0" err="1"/>
              <a:t>Reload</a:t>
            </a:r>
            <a:r>
              <a:rPr lang="es-MX" b="1" dirty="0"/>
              <a:t> es un evento de recompra</a:t>
            </a:r>
            <a:r>
              <a:rPr lang="es-MX" dirty="0"/>
              <a:t>; </a:t>
            </a:r>
            <a:r>
              <a:rPr lang="es-MX" b="1" dirty="0" err="1"/>
              <a:t>Retain</a:t>
            </a:r>
            <a:r>
              <a:rPr lang="es-MX" b="1" dirty="0"/>
              <a:t> es una relación sostenida</a:t>
            </a:r>
            <a:r>
              <a:rPr lang="es-MX" dirty="0"/>
              <a:t>.</a:t>
            </a:r>
          </a:p>
          <a:p>
            <a:r>
              <a:rPr lang="es-MX" dirty="0"/>
              <a:t>Un cliente puede hacer un </a:t>
            </a:r>
            <a:r>
              <a:rPr lang="es-MX" dirty="0" err="1"/>
              <a:t>reload</a:t>
            </a:r>
            <a:r>
              <a:rPr lang="es-MX" dirty="0"/>
              <a:t> una vez y luego desaparecer: hubo </a:t>
            </a:r>
            <a:r>
              <a:rPr lang="es-MX" dirty="0" err="1"/>
              <a:t>reload</a:t>
            </a:r>
            <a:r>
              <a:rPr lang="es-MX" dirty="0"/>
              <a:t>, pero no necesariamente buena retención. En cambio, si durante varios meses sigue usando </a:t>
            </a:r>
            <a:r>
              <a:rPr lang="es-MX" dirty="0" err="1"/>
              <a:t>Gu</a:t>
            </a:r>
            <a:r>
              <a:rPr lang="es-MX" dirty="0"/>
              <a:t>, recargando cuando corresponde y manteniéndose activo, entonces hablamos de </a:t>
            </a:r>
            <a:r>
              <a:rPr lang="es-MX" b="1" dirty="0" err="1"/>
              <a:t>retention</a:t>
            </a:r>
            <a:r>
              <a:rPr lang="es-MX" dirty="0"/>
              <a:t>.</a:t>
            </a:r>
          </a:p>
          <a:p>
            <a:r>
              <a:rPr lang="es-MX" dirty="0"/>
              <a:t>Yo definiría todo el </a:t>
            </a:r>
            <a:r>
              <a:rPr lang="es-MX" dirty="0" err="1"/>
              <a:t>path</a:t>
            </a:r>
            <a:r>
              <a:rPr lang="es-MX" dirty="0"/>
              <a:t> así:</a:t>
            </a:r>
          </a:p>
          <a:p>
            <a:pPr lvl="0"/>
            <a:r>
              <a:rPr lang="es-MX" b="1" dirty="0"/>
              <a:t>ACQUIRE</a:t>
            </a:r>
            <a:br>
              <a:rPr lang="es-MX" dirty="0"/>
            </a:br>
            <a:r>
              <a:rPr lang="es-MX" dirty="0"/>
              <a:t>Lograr que una inmobiliaria potencial entre al </a:t>
            </a:r>
            <a:r>
              <a:rPr lang="es-MX" dirty="0" err="1"/>
              <a:t>funnel</a:t>
            </a:r>
            <a:r>
              <a:rPr lang="es-MX" dirty="0"/>
              <a:t> comercial.</a:t>
            </a:r>
            <a:br>
              <a:rPr lang="es-MX" dirty="0"/>
            </a:br>
            <a:r>
              <a:rPr lang="es-MX" dirty="0"/>
              <a:t>Ej.: </a:t>
            </a:r>
            <a:r>
              <a:rPr lang="es-MX" dirty="0" err="1"/>
              <a:t>outbound</a:t>
            </a:r>
            <a:r>
              <a:rPr lang="es-MX" dirty="0"/>
              <a:t>, WhatsApp, campaña digital, evento, asociación, </a:t>
            </a:r>
            <a:r>
              <a:rPr lang="es-MX" dirty="0" err="1"/>
              <a:t>referral</a:t>
            </a:r>
            <a:r>
              <a:rPr lang="es-MX" dirty="0"/>
              <a:t>. </a:t>
            </a:r>
          </a:p>
          <a:p>
            <a:pPr lvl="0"/>
            <a:r>
              <a:rPr lang="es-MX" b="1" dirty="0"/>
              <a:t>ACTIVATE</a:t>
            </a:r>
            <a:br>
              <a:rPr lang="es-MX" dirty="0"/>
            </a:br>
            <a:r>
              <a:rPr lang="es-MX" dirty="0"/>
              <a:t>Conseguir que el cliente configure </a:t>
            </a:r>
            <a:r>
              <a:rPr lang="es-MX" dirty="0" err="1"/>
              <a:t>Gu</a:t>
            </a:r>
            <a:r>
              <a:rPr lang="es-MX" dirty="0"/>
              <a:t> y llegue al punto en que realmente puede usarlo.</a:t>
            </a:r>
            <a:br>
              <a:rPr lang="es-MX" dirty="0"/>
            </a:br>
            <a:r>
              <a:rPr lang="es-MX" dirty="0"/>
              <a:t>No basta con registrarse: tiene que quedar operativo. </a:t>
            </a:r>
          </a:p>
          <a:p>
            <a:pPr lvl="0"/>
            <a:r>
              <a:rPr lang="es-MX" b="1" dirty="0"/>
              <a:t>FIRST WORK (MEANINGFUL WORK)</a:t>
            </a:r>
            <a:br>
              <a:rPr lang="es-MX" dirty="0"/>
            </a:br>
            <a:r>
              <a:rPr lang="es-MX" dirty="0" err="1"/>
              <a:t>Gu</a:t>
            </a:r>
            <a:r>
              <a:rPr lang="es-MX" dirty="0"/>
              <a:t> empieza a realizar trabajo que el cliente percibe como útil.</a:t>
            </a:r>
            <a:br>
              <a:rPr lang="es-MX" dirty="0"/>
            </a:br>
            <a:r>
              <a:rPr lang="es-MX" dirty="0"/>
              <a:t>Ej.: atender leads, perfilar, hacer </a:t>
            </a:r>
            <a:r>
              <a:rPr lang="es-MX" dirty="0" err="1"/>
              <a:t>matching</a:t>
            </a:r>
            <a:r>
              <a:rPr lang="es-MX" dirty="0"/>
              <a:t>, seguimiento, mover prospectos hacia visitas. </a:t>
            </a:r>
          </a:p>
          <a:p>
            <a:pPr lvl="0"/>
            <a:r>
              <a:rPr lang="es-MX" b="1" dirty="0"/>
              <a:t>PAY</a:t>
            </a:r>
            <a:br>
              <a:rPr lang="es-MX" dirty="0"/>
            </a:br>
            <a:r>
              <a:rPr lang="es-MX" dirty="0"/>
              <a:t>El cliente realiza su </a:t>
            </a:r>
            <a:r>
              <a:rPr lang="es-MX" b="1" dirty="0"/>
              <a:t>primer pago / primera carga de créditos</a:t>
            </a:r>
            <a:r>
              <a:rPr lang="es-MX" dirty="0"/>
              <a:t>.</a:t>
            </a:r>
            <a:br>
              <a:rPr lang="es-MX" dirty="0"/>
            </a:br>
            <a:r>
              <a:rPr lang="es-MX" dirty="0"/>
              <a:t>Esto demuestra </a:t>
            </a:r>
            <a:r>
              <a:rPr lang="es-MX" dirty="0" err="1"/>
              <a:t>willingness</a:t>
            </a:r>
            <a:r>
              <a:rPr lang="es-MX" dirty="0"/>
              <a:t> </a:t>
            </a:r>
            <a:r>
              <a:rPr lang="es-MX" dirty="0" err="1"/>
              <a:t>to</a:t>
            </a:r>
            <a:r>
              <a:rPr lang="es-MX" dirty="0"/>
              <a:t> try/</a:t>
            </a:r>
            <a:r>
              <a:rPr lang="es-MX" dirty="0" err="1"/>
              <a:t>pay</a:t>
            </a:r>
            <a:r>
              <a:rPr lang="es-MX" dirty="0"/>
              <a:t>, pero todavía no demuestra recurrencia. </a:t>
            </a:r>
          </a:p>
          <a:p>
            <a:pPr lvl="0"/>
            <a:r>
              <a:rPr lang="es-MX" b="1" dirty="0"/>
              <a:t>CONSUME</a:t>
            </a:r>
            <a:br>
              <a:rPr lang="es-MX" dirty="0"/>
            </a:br>
            <a:r>
              <a:rPr lang="es-MX" dirty="0"/>
              <a:t>El cliente realmente </a:t>
            </a:r>
            <a:r>
              <a:rPr lang="es-MX" b="1" dirty="0"/>
              <a:t>usa los créditos haciendo que </a:t>
            </a:r>
            <a:r>
              <a:rPr lang="es-MX" b="1" dirty="0" err="1"/>
              <a:t>Gu</a:t>
            </a:r>
            <a:r>
              <a:rPr lang="es-MX" b="1" dirty="0"/>
              <a:t> ejecute trabajo</a:t>
            </a:r>
            <a:r>
              <a:rPr lang="es-MX" dirty="0"/>
              <a:t>.</a:t>
            </a:r>
            <a:br>
              <a:rPr lang="es-MX" dirty="0"/>
            </a:br>
            <a:r>
              <a:rPr lang="es-MX" dirty="0"/>
              <a:t>Esto es importante porque un cliente puede pagar pero casi no usar el producto. </a:t>
            </a:r>
          </a:p>
          <a:p>
            <a:pPr lvl="0"/>
            <a:r>
              <a:rPr lang="es-MX" b="1" dirty="0"/>
              <a:t>RELOAD</a:t>
            </a:r>
            <a:br>
              <a:rPr lang="es-MX" dirty="0"/>
            </a:br>
            <a:r>
              <a:rPr lang="es-MX" dirty="0"/>
              <a:t>Después de consumir suficiente valor/créditos, el cliente </a:t>
            </a:r>
            <a:r>
              <a:rPr lang="es-MX" b="1" dirty="0"/>
              <a:t>compra más créditos</a:t>
            </a:r>
            <a:r>
              <a:rPr lang="es-MX" dirty="0"/>
              <a:t>.</a:t>
            </a:r>
            <a:br>
              <a:rPr lang="es-MX" dirty="0"/>
            </a:br>
            <a:r>
              <a:rPr lang="es-MX" dirty="0"/>
              <a:t>Éste es un </a:t>
            </a:r>
            <a:r>
              <a:rPr lang="es-MX" dirty="0" err="1"/>
              <a:t>signal</a:t>
            </a:r>
            <a:r>
              <a:rPr lang="es-MX" dirty="0"/>
              <a:t> especialmente importante:</a:t>
            </a:r>
          </a:p>
          <a:p>
            <a:pPr lvl="0"/>
            <a:r>
              <a:rPr lang="es-MX" dirty="0"/>
              <a:t>“Pagué, lo usé, y decidí pagar nuevamente.”</a:t>
            </a:r>
          </a:p>
          <a:p>
            <a:pPr lvl="0"/>
            <a:r>
              <a:rPr lang="es-MX" b="1" dirty="0"/>
              <a:t>RETAIN</a:t>
            </a:r>
            <a:br>
              <a:rPr lang="es-MX" dirty="0"/>
            </a:br>
            <a:r>
              <a:rPr lang="es-MX" dirty="0"/>
              <a:t>El cliente se mantiene activo durante el tiempo.</a:t>
            </a:r>
            <a:br>
              <a:rPr lang="es-MX" dirty="0"/>
            </a:br>
            <a:r>
              <a:rPr lang="es-MX" dirty="0"/>
              <a:t>Idealmente implica uso recurrente, continuidad de pagos/</a:t>
            </a:r>
            <a:r>
              <a:rPr lang="es-MX" dirty="0" err="1"/>
              <a:t>reloads</a:t>
            </a:r>
            <a:r>
              <a:rPr lang="es-MX" dirty="0"/>
              <a:t> y baja probabilidad de </a:t>
            </a:r>
            <a:r>
              <a:rPr lang="es-MX" dirty="0" err="1"/>
              <a:t>churn</a:t>
            </a:r>
            <a:r>
              <a:rPr lang="es-MX" dirty="0"/>
              <a:t>. </a:t>
            </a:r>
          </a:p>
          <a:p>
            <a:pPr lvl="0"/>
            <a:r>
              <a:rPr lang="es-MX" b="1" dirty="0"/>
              <a:t>EXPAND</a:t>
            </a:r>
            <a:br>
              <a:rPr lang="es-MX" dirty="0"/>
            </a:br>
            <a:r>
              <a:rPr lang="es-MX" dirty="0"/>
              <a:t>El cliente aumenta el valor económico de la relación con Ungga. Puede hacerlo de varias maneras: </a:t>
            </a:r>
          </a:p>
          <a:p>
            <a:pPr lvl="1"/>
            <a:r>
              <a:rPr lang="es-MX" dirty="0"/>
              <a:t>mayor volumen del mismo trabajo; </a:t>
            </a:r>
          </a:p>
          <a:p>
            <a:pPr lvl="1"/>
            <a:r>
              <a:rPr lang="es-MX" dirty="0"/>
              <a:t>más usuarios/equipos; </a:t>
            </a:r>
          </a:p>
          <a:p>
            <a:pPr lvl="1"/>
            <a:r>
              <a:rPr lang="es-MX" dirty="0"/>
              <a:t>más oficinas; </a:t>
            </a:r>
          </a:p>
          <a:p>
            <a:pPr lvl="1"/>
            <a:r>
              <a:rPr lang="es-MX" dirty="0"/>
              <a:t>nuevos </a:t>
            </a:r>
            <a:r>
              <a:rPr lang="es-MX" dirty="0" err="1"/>
              <a:t>workflows</a:t>
            </a:r>
            <a:r>
              <a:rPr lang="es-MX" dirty="0"/>
              <a:t>; </a:t>
            </a:r>
          </a:p>
          <a:p>
            <a:pPr lvl="1"/>
            <a:r>
              <a:rPr lang="es-MX" dirty="0"/>
              <a:t>delegar trabajo adicional a </a:t>
            </a:r>
            <a:r>
              <a:rPr lang="es-MX" dirty="0" err="1"/>
              <a:t>Gu</a:t>
            </a:r>
            <a:r>
              <a:rPr lang="es-MX" dirty="0"/>
              <a:t> / </a:t>
            </a:r>
            <a:r>
              <a:rPr lang="es-MX" dirty="0" err="1"/>
              <a:t>Gu</a:t>
            </a:r>
            <a:r>
              <a:rPr lang="es-MX" dirty="0"/>
              <a:t> OS; </a:t>
            </a:r>
          </a:p>
          <a:p>
            <a:pPr lvl="1"/>
            <a:r>
              <a:rPr lang="es-MX" dirty="0"/>
              <a:t>mayor consumo mensual. </a:t>
            </a:r>
          </a:p>
          <a:p>
            <a:r>
              <a:rPr lang="es-MX" dirty="0"/>
              <a:t>Conceptualmente, el camino cuenta una historia muy buena:</a:t>
            </a:r>
          </a:p>
          <a:p>
            <a:r>
              <a:rPr lang="es-MX" b="1" dirty="0" err="1"/>
              <a:t>Acquire</a:t>
            </a:r>
            <a:r>
              <a:rPr lang="es-MX" dirty="0"/>
              <a:t> = conseguimos al cliente</a:t>
            </a:r>
            <a:br>
              <a:rPr lang="es-MX" dirty="0"/>
            </a:br>
            <a:r>
              <a:rPr lang="es-MX" b="1" dirty="0" err="1"/>
              <a:t>Activate</a:t>
            </a:r>
            <a:r>
              <a:rPr lang="es-MX" dirty="0"/>
              <a:t> = lo ponemos en marcha</a:t>
            </a:r>
            <a:br>
              <a:rPr lang="es-MX" dirty="0"/>
            </a:br>
            <a:r>
              <a:rPr lang="es-MX" b="1" dirty="0" err="1"/>
              <a:t>Meaningful</a:t>
            </a:r>
            <a:r>
              <a:rPr lang="es-MX" b="1" dirty="0"/>
              <a:t> Work</a:t>
            </a:r>
            <a:r>
              <a:rPr lang="es-MX" dirty="0"/>
              <a:t> = demostramos utilidad</a:t>
            </a:r>
            <a:br>
              <a:rPr lang="es-MX" dirty="0"/>
            </a:br>
            <a:r>
              <a:rPr lang="es-MX" b="1" dirty="0"/>
              <a:t>Pay</a:t>
            </a:r>
            <a:r>
              <a:rPr lang="es-MX" dirty="0"/>
              <a:t> = paga por primera vez</a:t>
            </a:r>
            <a:br>
              <a:rPr lang="es-MX" dirty="0"/>
            </a:br>
            <a:r>
              <a:rPr lang="es-MX" b="1" dirty="0"/>
              <a:t>Consume</a:t>
            </a:r>
            <a:r>
              <a:rPr lang="es-MX" dirty="0"/>
              <a:t> = realmente utiliza lo comprado</a:t>
            </a:r>
            <a:br>
              <a:rPr lang="es-MX" dirty="0"/>
            </a:br>
            <a:r>
              <a:rPr lang="es-MX" b="1" dirty="0" err="1"/>
              <a:t>Reload</a:t>
            </a:r>
            <a:r>
              <a:rPr lang="es-MX" dirty="0"/>
              <a:t> = decide volver a comprar</a:t>
            </a:r>
            <a:br>
              <a:rPr lang="es-MX" dirty="0"/>
            </a:br>
            <a:r>
              <a:rPr lang="es-MX" b="1" dirty="0" err="1"/>
              <a:t>Retain</a:t>
            </a:r>
            <a:r>
              <a:rPr lang="es-MX" dirty="0"/>
              <a:t> = sigue con nosotros</a:t>
            </a:r>
            <a:br>
              <a:rPr lang="es-MX" dirty="0"/>
            </a:br>
            <a:r>
              <a:rPr lang="es-MX" b="1" dirty="0" err="1"/>
              <a:t>Expand</a:t>
            </a:r>
            <a:r>
              <a:rPr lang="es-MX" dirty="0"/>
              <a:t> = nos delega más trabajo y aumenta el valor de la cuenta</a:t>
            </a:r>
          </a:p>
          <a:p>
            <a:r>
              <a:rPr lang="es-MX" dirty="0"/>
              <a:t>Y ahí se entiende por qué </a:t>
            </a:r>
            <a:r>
              <a:rPr lang="es-MX" b="1" dirty="0" err="1"/>
              <a:t>Reload</a:t>
            </a:r>
            <a:r>
              <a:rPr lang="es-MX" b="1" dirty="0"/>
              <a:t> y </a:t>
            </a:r>
            <a:r>
              <a:rPr lang="es-MX" b="1" dirty="0" err="1"/>
              <a:t>Retain</a:t>
            </a:r>
            <a:r>
              <a:rPr lang="es-MX" b="1" dirty="0"/>
              <a:t> no son redundantes</a:t>
            </a:r>
            <a:r>
              <a:rPr lang="es-MX" dirty="0"/>
              <a:t>.</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underlying AI increasingly commoditizes. Better foundation models should make Gu more capable and cheaper to operate.
The assets we want to accumulate are vertical operating intelligence, durable operation, company-specific intelligence, network/ecosystem participation and the outcome loop.
We do not claim an unassailable moat today. We are building assets that can compound as customers delegate more work to Gu.</a:t>
            </a:r>
          </a:p>
          <a:p>
            <a:endParaRPr lang="en-US" dirty="0"/>
          </a:p>
          <a:p>
            <a:r>
              <a:rPr lang="en-US" dirty="0"/>
              <a:t>--</a:t>
            </a:r>
          </a:p>
          <a:p>
            <a:r>
              <a:rPr lang="en-US" dirty="0" err="1"/>
              <a:t>Notas</a:t>
            </a:r>
            <a:r>
              <a:rPr lang="en-US" dirty="0"/>
              <a:t>:</a:t>
            </a:r>
          </a:p>
          <a:p>
            <a:r>
              <a:rPr lang="es-MX" dirty="0"/>
              <a:t>- Los cinco bloques </a:t>
            </a:r>
            <a:r>
              <a:rPr lang="es-MX" b="1" dirty="0"/>
              <a:t>son</a:t>
            </a:r>
            <a:r>
              <a:rPr lang="es-MX" dirty="0"/>
              <a:t> la </a:t>
            </a:r>
            <a:r>
              <a:rPr lang="es-MX" dirty="0" err="1"/>
              <a:t>defensibility</a:t>
            </a:r>
            <a:r>
              <a:rPr lang="es-MX" dirty="0"/>
              <a:t> </a:t>
            </a:r>
            <a:r>
              <a:rPr lang="es-MX" dirty="0" err="1"/>
              <a:t>thesis</a:t>
            </a:r>
            <a:r>
              <a:rPr lang="es-MX" dirty="0"/>
              <a:t>. No necesitamos volver a escribirla debajo como: </a:t>
            </a:r>
            <a:r>
              <a:rPr lang="en-US" sz="1200" b="1" dirty="0">
                <a:solidFill>
                  <a:srgbClr val="6F6882"/>
                </a:solidFill>
                <a:latin typeface="Inter" pitchFamily="34" charset="0"/>
                <a:ea typeface="Inter" pitchFamily="34" charset="-122"/>
                <a:cs typeface="Inter" pitchFamily="34" charset="-120"/>
              </a:rPr>
              <a:t>Defensibility thesis: </a:t>
            </a:r>
          </a:p>
          <a:p>
            <a:pPr marL="0" indent="0">
              <a:lnSpc>
                <a:spcPct val="100000"/>
              </a:lnSpc>
              <a:buNone/>
            </a:pPr>
            <a:r>
              <a:rPr lang="en-US" sz="1200" b="1" dirty="0">
                <a:solidFill>
                  <a:srgbClr val="6F6882"/>
                </a:solidFill>
                <a:latin typeface="Inter" pitchFamily="34" charset="0"/>
                <a:ea typeface="Inter" pitchFamily="34" charset="-122"/>
                <a:cs typeface="Inter" pitchFamily="34" charset="-120"/>
              </a:rPr>
              <a:t>accumulated vertical operating intelligence </a:t>
            </a:r>
            <a:r>
              <a:rPr lang="en-US" sz="1200" dirty="0">
                <a:solidFill>
                  <a:srgbClr val="6F6882"/>
                </a:solidFill>
                <a:latin typeface="Inter" pitchFamily="34" charset="0"/>
                <a:ea typeface="Inter" pitchFamily="34" charset="-122"/>
                <a:cs typeface="Inter" pitchFamily="34" charset="-120"/>
              </a:rPr>
              <a:t>+</a:t>
            </a:r>
            <a:r>
              <a:rPr lang="en-US" sz="1200" b="1" dirty="0">
                <a:solidFill>
                  <a:srgbClr val="6F6882"/>
                </a:solidFill>
                <a:latin typeface="Inter" pitchFamily="34" charset="0"/>
                <a:ea typeface="Inter" pitchFamily="34" charset="-122"/>
                <a:cs typeface="Inter" pitchFamily="34" charset="-120"/>
              </a:rPr>
              <a:t> company context </a:t>
            </a:r>
            <a:r>
              <a:rPr lang="en-US" sz="1200" dirty="0">
                <a:solidFill>
                  <a:srgbClr val="6F6882"/>
                </a:solidFill>
                <a:latin typeface="Inter" pitchFamily="34" charset="0"/>
                <a:ea typeface="Inter" pitchFamily="34" charset="-122"/>
                <a:cs typeface="Inter" pitchFamily="34" charset="-120"/>
              </a:rPr>
              <a:t>+</a:t>
            </a:r>
            <a:r>
              <a:rPr lang="en-US" sz="1200" b="1" dirty="0">
                <a:solidFill>
                  <a:srgbClr val="6F6882"/>
                </a:solidFill>
                <a:latin typeface="Inter" pitchFamily="34" charset="0"/>
                <a:ea typeface="Inter" pitchFamily="34" charset="-122"/>
                <a:cs typeface="Inter" pitchFamily="34" charset="-120"/>
              </a:rPr>
              <a:t> operational history </a:t>
            </a:r>
            <a:r>
              <a:rPr lang="en-US" sz="1200" dirty="0">
                <a:solidFill>
                  <a:srgbClr val="6F6882"/>
                </a:solidFill>
                <a:latin typeface="Inter" pitchFamily="34" charset="0"/>
                <a:ea typeface="Inter" pitchFamily="34" charset="-122"/>
                <a:cs typeface="Inter" pitchFamily="34" charset="-120"/>
              </a:rPr>
              <a:t>+</a:t>
            </a:r>
            <a:r>
              <a:rPr lang="en-US" sz="1200" b="1" dirty="0">
                <a:solidFill>
                  <a:srgbClr val="6F6882"/>
                </a:solidFill>
                <a:latin typeface="Inter" pitchFamily="34" charset="0"/>
                <a:ea typeface="Inter" pitchFamily="34" charset="-122"/>
                <a:cs typeface="Inter" pitchFamily="34" charset="-120"/>
              </a:rPr>
              <a:t> outcome evidence </a:t>
            </a:r>
            <a:r>
              <a:rPr lang="en-US" sz="1200" dirty="0">
                <a:solidFill>
                  <a:srgbClr val="6F6882"/>
                </a:solidFill>
                <a:latin typeface="Inter" pitchFamily="34" charset="0"/>
                <a:ea typeface="Inter" pitchFamily="34" charset="-122"/>
                <a:cs typeface="Inter" pitchFamily="34" charset="-120"/>
              </a:rPr>
              <a:t>+</a:t>
            </a:r>
            <a:r>
              <a:rPr lang="en-US" sz="1200" b="1" dirty="0">
                <a:solidFill>
                  <a:srgbClr val="6F6882"/>
                </a:solidFill>
                <a:latin typeface="Inter" pitchFamily="34" charset="0"/>
                <a:ea typeface="Inter" pitchFamily="34" charset="-122"/>
                <a:cs typeface="Inter" pitchFamily="34" charset="-120"/>
              </a:rPr>
              <a:t> network participation</a:t>
            </a:r>
            <a:endParaRPr lang="es-MX" dirty="0"/>
          </a:p>
          <a:p>
            <a:r>
              <a:rPr lang="es-MX" dirty="0"/>
              <a:t>- </a:t>
            </a:r>
            <a:r>
              <a:rPr lang="es-MX" b="1" dirty="0"/>
              <a:t>La distinción estratégica sobre los agentes IA generalistas (ej. </a:t>
            </a:r>
            <a:r>
              <a:rPr lang="es-MX" b="1" dirty="0" err="1"/>
              <a:t>OpenClaw</a:t>
            </a:r>
            <a:r>
              <a:rPr lang="es-MX" b="1" dirty="0"/>
              <a:t>, Hermes e incluso Claude </a:t>
            </a:r>
            <a:r>
              <a:rPr lang="es-MX" b="1" dirty="0" err="1"/>
              <a:t>Cowork</a:t>
            </a:r>
            <a:r>
              <a:rPr lang="es-MX" b="1" dirty="0"/>
              <a:t>) sería:</a:t>
            </a:r>
          </a:p>
          <a:p>
            <a:r>
              <a:rPr lang="es-MX" dirty="0"/>
              <a:t>Un agente generalista puede potencialmente:</a:t>
            </a:r>
          </a:p>
          <a:p>
            <a:r>
              <a:rPr lang="es-MX" dirty="0"/>
              <a:t>buscar una propiedad, llamar una API, redactar un contrato, revisar un calendario o ejecutar una secuencia.</a:t>
            </a:r>
          </a:p>
          <a:p>
            <a:r>
              <a:rPr lang="es-MX" dirty="0"/>
              <a:t>Pero </a:t>
            </a:r>
            <a:r>
              <a:rPr lang="es-MX" dirty="0" err="1"/>
              <a:t>Gu</a:t>
            </a:r>
            <a:r>
              <a:rPr lang="es-MX" dirty="0"/>
              <a:t> OS busca aportar además:</a:t>
            </a:r>
          </a:p>
          <a:p>
            <a:r>
              <a:rPr lang="es-MX" b="1" dirty="0"/>
              <a:t>real-estate </a:t>
            </a:r>
            <a:r>
              <a:rPr lang="es-MX" b="1" dirty="0" err="1"/>
              <a:t>domain</a:t>
            </a:r>
            <a:r>
              <a:rPr lang="es-MX" b="1" dirty="0"/>
              <a:t> </a:t>
            </a:r>
            <a:r>
              <a:rPr lang="es-MX" b="1" dirty="0" err="1"/>
              <a:t>state</a:t>
            </a:r>
            <a:r>
              <a:rPr lang="es-MX" b="1" dirty="0"/>
              <a:t> + </a:t>
            </a:r>
            <a:r>
              <a:rPr lang="es-MX" b="1" dirty="0" err="1"/>
              <a:t>workflows</a:t>
            </a:r>
            <a:r>
              <a:rPr lang="es-MX" b="1" dirty="0"/>
              <a:t> + </a:t>
            </a:r>
            <a:r>
              <a:rPr lang="es-MX" b="1" dirty="0" err="1"/>
              <a:t>company</a:t>
            </a:r>
            <a:r>
              <a:rPr lang="es-MX" b="1" dirty="0"/>
              <a:t> </a:t>
            </a:r>
            <a:r>
              <a:rPr lang="es-MX" b="1" dirty="0" err="1"/>
              <a:t>context</a:t>
            </a:r>
            <a:r>
              <a:rPr lang="es-MX" b="1" dirty="0"/>
              <a:t> + </a:t>
            </a:r>
            <a:r>
              <a:rPr lang="es-MX" b="1" dirty="0" err="1"/>
              <a:t>permissions</a:t>
            </a:r>
            <a:r>
              <a:rPr lang="es-MX" b="1" dirty="0"/>
              <a:t> + human </a:t>
            </a:r>
            <a:r>
              <a:rPr lang="es-MX" b="1" dirty="0" err="1"/>
              <a:t>decision</a:t>
            </a:r>
            <a:r>
              <a:rPr lang="es-MX" b="1" dirty="0"/>
              <a:t> </a:t>
            </a:r>
            <a:r>
              <a:rPr lang="es-MX" b="1" dirty="0" err="1"/>
              <a:t>points</a:t>
            </a:r>
            <a:r>
              <a:rPr lang="es-MX" b="1" dirty="0"/>
              <a:t> + </a:t>
            </a:r>
            <a:r>
              <a:rPr lang="es-MX" b="1" dirty="0" err="1"/>
              <a:t>evidence</a:t>
            </a:r>
            <a:r>
              <a:rPr lang="es-MX" b="1" dirty="0"/>
              <a:t> + </a:t>
            </a:r>
            <a:r>
              <a:rPr lang="es-MX" b="1" dirty="0" err="1"/>
              <a:t>operational</a:t>
            </a:r>
            <a:r>
              <a:rPr lang="es-MX" b="1" dirty="0"/>
              <a:t> </a:t>
            </a:r>
            <a:r>
              <a:rPr lang="es-MX" b="1" dirty="0" err="1"/>
              <a:t>history</a:t>
            </a:r>
            <a:r>
              <a:rPr lang="es-MX" b="1" dirty="0"/>
              <a:t> + </a:t>
            </a:r>
            <a:r>
              <a:rPr lang="es-MX" b="1" dirty="0" err="1"/>
              <a:t>outcomes</a:t>
            </a:r>
            <a:r>
              <a:rPr lang="es-MX" b="1" dirty="0"/>
              <a:t> + </a:t>
            </a:r>
            <a:r>
              <a:rPr lang="es-MX" b="1" dirty="0" err="1"/>
              <a:t>ecosystem</a:t>
            </a:r>
            <a:r>
              <a:rPr lang="es-MX" b="1" dirty="0"/>
              <a:t>/</a:t>
            </a:r>
            <a:r>
              <a:rPr lang="es-MX" b="1" dirty="0" err="1"/>
              <a:t>network</a:t>
            </a:r>
            <a:r>
              <a:rPr lang="es-MX" b="1" dirty="0"/>
              <a:t>.</a:t>
            </a:r>
            <a:endParaRPr lang="es-MX" dirty="0"/>
          </a:p>
          <a:p>
            <a:r>
              <a:rPr lang="es-MX" dirty="0"/>
              <a:t>Entonces no estamos apostando a que los agentes generalistas </a:t>
            </a:r>
            <a:r>
              <a:rPr lang="es-MX" b="1" dirty="0"/>
              <a:t>no puedan hacer las tareas</a:t>
            </a:r>
            <a:r>
              <a:rPr lang="es-MX" dirty="0"/>
              <a:t>.</a:t>
            </a:r>
          </a:p>
          <a:p>
            <a:r>
              <a:rPr lang="es-MX" dirty="0"/>
              <a:t>Estamos apostando a que las inmobiliarias </a:t>
            </a:r>
            <a:r>
              <a:rPr lang="es-MX" b="1" dirty="0"/>
              <a:t>no querrán tener que construir y gobernar por sí mismas todo el </a:t>
            </a:r>
            <a:r>
              <a:rPr lang="es-MX" b="1" dirty="0" err="1"/>
              <a:t>operating</a:t>
            </a:r>
            <a:r>
              <a:rPr lang="es-MX" b="1" dirty="0"/>
              <a:t> </a:t>
            </a:r>
            <a:r>
              <a:rPr lang="es-MX" b="1" dirty="0" err="1"/>
              <a:t>environment</a:t>
            </a:r>
            <a:r>
              <a:rPr lang="es-MX" b="1" dirty="0"/>
              <a:t> necesario para convertir un agente generalista en un trabajador inmobiliario confiable y continuo</a:t>
            </a:r>
            <a:r>
              <a:rPr lang="es-MX"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MX" dirty="0" err="1"/>
              <a:t>Ungga’s</a:t>
            </a:r>
            <a:r>
              <a:rPr lang="es-MX" dirty="0"/>
              <a:t> </a:t>
            </a:r>
            <a:r>
              <a:rPr lang="es-MX" dirty="0" err="1"/>
              <a:t>differentiation</a:t>
            </a:r>
            <a:r>
              <a:rPr lang="es-MX" dirty="0"/>
              <a:t> </a:t>
            </a:r>
            <a:r>
              <a:rPr lang="es-MX" dirty="0" err="1"/>
              <a:t>is</a:t>
            </a:r>
            <a:r>
              <a:rPr lang="es-MX" dirty="0"/>
              <a:t> </a:t>
            </a:r>
            <a:r>
              <a:rPr lang="es-MX" dirty="0" err="1"/>
              <a:t>not</a:t>
            </a:r>
            <a:r>
              <a:rPr lang="es-MX" dirty="0"/>
              <a:t> the </a:t>
            </a:r>
            <a:r>
              <a:rPr lang="es-MX" dirty="0" err="1"/>
              <a:t>model</a:t>
            </a:r>
            <a:r>
              <a:rPr lang="es-MX" dirty="0"/>
              <a:t> </a:t>
            </a:r>
            <a:r>
              <a:rPr lang="es-MX" dirty="0" err="1"/>
              <a:t>or</a:t>
            </a:r>
            <a:r>
              <a:rPr lang="es-MX" dirty="0"/>
              <a:t> </a:t>
            </a:r>
            <a:r>
              <a:rPr lang="es-MX" dirty="0" err="1"/>
              <a:t>generic</a:t>
            </a:r>
            <a:r>
              <a:rPr lang="es-MX" dirty="0"/>
              <a:t> </a:t>
            </a:r>
            <a:r>
              <a:rPr lang="es-MX" dirty="0" err="1"/>
              <a:t>agent</a:t>
            </a:r>
            <a:r>
              <a:rPr lang="es-MX" dirty="0"/>
              <a:t> </a:t>
            </a:r>
            <a:r>
              <a:rPr lang="es-MX" dirty="0" err="1"/>
              <a:t>capability</a:t>
            </a:r>
            <a:r>
              <a:rPr lang="es-MX" dirty="0"/>
              <a:t>—</a:t>
            </a:r>
            <a:r>
              <a:rPr lang="es-MX" dirty="0" err="1"/>
              <a:t>it</a:t>
            </a:r>
            <a:r>
              <a:rPr lang="es-MX" dirty="0"/>
              <a:t> </a:t>
            </a:r>
            <a:r>
              <a:rPr lang="es-MX" dirty="0" err="1"/>
              <a:t>is</a:t>
            </a:r>
            <a:r>
              <a:rPr lang="es-MX" dirty="0"/>
              <a:t> the real-estate </a:t>
            </a:r>
            <a:r>
              <a:rPr lang="es-MX" dirty="0" err="1"/>
              <a:t>operating</a:t>
            </a:r>
            <a:r>
              <a:rPr lang="es-MX" dirty="0"/>
              <a:t> </a:t>
            </a:r>
            <a:r>
              <a:rPr lang="es-MX" dirty="0" err="1"/>
              <a:t>intelligence</a:t>
            </a:r>
            <a:r>
              <a:rPr lang="es-MX" dirty="0"/>
              <a:t> </a:t>
            </a:r>
            <a:r>
              <a:rPr lang="es-MX" dirty="0" err="1"/>
              <a:t>around</a:t>
            </a:r>
            <a:r>
              <a:rPr lang="es-MX" dirty="0"/>
              <a:t> the </a:t>
            </a:r>
            <a:r>
              <a:rPr lang="es-MX" dirty="0" err="1"/>
              <a:t>work</a:t>
            </a:r>
            <a:r>
              <a:rPr lang="es-MX" dirty="0"/>
              <a:t>.</a:t>
            </a:r>
          </a:p>
          <a:p>
            <a:r>
              <a:rPr lang="es-MX" b="0" dirty="0"/>
              <a:t>-  </a:t>
            </a:r>
            <a:r>
              <a:rPr lang="es-MX" b="1" dirty="0"/>
              <a:t>Por qué </a:t>
            </a:r>
            <a:r>
              <a:rPr lang="es-MX" sz="1200" b="1" kern="1200" dirty="0">
                <a:solidFill>
                  <a:schemeClr val="tx1"/>
                </a:solidFill>
                <a:latin typeface="+mn-lt"/>
                <a:ea typeface="+mn-ea"/>
                <a:cs typeface="+mn-cs"/>
              </a:rPr>
              <a:t>Broad </a:t>
            </a:r>
            <a:r>
              <a:rPr lang="es-MX" sz="1200" b="1" kern="1200" dirty="0" err="1">
                <a:solidFill>
                  <a:schemeClr val="tx1"/>
                </a:solidFill>
                <a:latin typeface="+mn-lt"/>
                <a:ea typeface="+mn-ea"/>
                <a:cs typeface="+mn-cs"/>
              </a:rPr>
              <a:t>cross-domain</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execution</a:t>
            </a:r>
            <a:endParaRPr lang="es-MX" b="1" dirty="0"/>
          </a:p>
          <a:p>
            <a:r>
              <a:rPr lang="es-MX" dirty="0"/>
              <a:t>Porque intenta describir </a:t>
            </a:r>
            <a:r>
              <a:rPr lang="es-MX" b="1" dirty="0"/>
              <a:t>qué ofrece un agente generalista como alternativa competitiva</a:t>
            </a:r>
            <a:r>
              <a:rPr lang="es-MX" dirty="0"/>
              <a:t> sin reducirlo a “chat” o “</a:t>
            </a:r>
            <a:r>
              <a:rPr lang="es-MX" dirty="0" err="1"/>
              <a:t>assistant</a:t>
            </a:r>
            <a:r>
              <a:rPr lang="es-MX" dirty="0"/>
              <a:t>”.</a:t>
            </a:r>
          </a:p>
          <a:p>
            <a:r>
              <a:rPr lang="es-MX" dirty="0"/>
              <a:t>Un general-</a:t>
            </a:r>
            <a:r>
              <a:rPr lang="es-MX" dirty="0" err="1"/>
              <a:t>purpose</a:t>
            </a:r>
            <a:r>
              <a:rPr lang="es-MX" dirty="0"/>
              <a:t> </a:t>
            </a:r>
            <a:r>
              <a:rPr lang="es-MX" dirty="0" err="1"/>
              <a:t>agent</a:t>
            </a:r>
            <a:r>
              <a:rPr lang="es-MX" dirty="0"/>
              <a:t> puede: razonar sobre tareas muy distintas, usar herramientas, ejecutar acciones, coordinar pasos, trabajar en múltiples dominios. </a:t>
            </a:r>
          </a:p>
          <a:p>
            <a:r>
              <a:rPr lang="es-MX" dirty="0"/>
              <a:t>Por eso </a:t>
            </a:r>
            <a:r>
              <a:rPr lang="es-MX" sz="1200" kern="1200" dirty="0">
                <a:solidFill>
                  <a:schemeClr val="tx1"/>
                </a:solidFill>
                <a:latin typeface="+mn-lt"/>
                <a:ea typeface="+mn-ea"/>
                <a:cs typeface="+mn-cs"/>
              </a:rPr>
              <a:t>Broad </a:t>
            </a:r>
            <a:r>
              <a:rPr lang="es-MX" sz="1200" kern="1200" dirty="0" err="1">
                <a:solidFill>
                  <a:schemeClr val="tx1"/>
                </a:solidFill>
                <a:latin typeface="+mn-lt"/>
                <a:ea typeface="+mn-ea"/>
                <a:cs typeface="+mn-cs"/>
              </a:rPr>
              <a:t>capability</a:t>
            </a:r>
            <a:r>
              <a:rPr lang="es-MX" dirty="0"/>
              <a:t> era correcto pero demasiado genérico. </a:t>
            </a:r>
            <a:r>
              <a:rPr lang="es-MX" sz="1200" kern="1200" dirty="0">
                <a:solidFill>
                  <a:schemeClr val="tx1"/>
                </a:solidFill>
                <a:latin typeface="+mn-lt"/>
                <a:ea typeface="+mn-ea"/>
                <a:cs typeface="+mn-cs"/>
              </a:rPr>
              <a:t>Broad </a:t>
            </a:r>
            <a:r>
              <a:rPr lang="es-MX" sz="1200" kern="1200" dirty="0" err="1">
                <a:solidFill>
                  <a:schemeClr val="tx1"/>
                </a:solidFill>
                <a:latin typeface="+mn-lt"/>
                <a:ea typeface="+mn-ea"/>
                <a:cs typeface="+mn-cs"/>
              </a:rPr>
              <a:t>cross-domain</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execution</a:t>
            </a:r>
            <a:r>
              <a:rPr lang="es-MX" dirty="0"/>
              <a:t> dice algo más concreto:</a:t>
            </a:r>
          </a:p>
          <a:p>
            <a:r>
              <a:rPr lang="es-MX" b="1" dirty="0"/>
              <a:t>puede ejecutar trabajo en muchos dominios, no sólo entender o responder.</a:t>
            </a:r>
            <a:endParaRPr lang="es-MX" dirty="0"/>
          </a:p>
          <a:p>
            <a:r>
              <a:rPr lang="es-MX" dirty="0"/>
              <a:t>Y eso es precisamente la presión competitiva relevante para Ungga: un cliente sofisticado podría decir:</a:t>
            </a:r>
          </a:p>
          <a:p>
            <a:r>
              <a:rPr lang="es-MX" dirty="0"/>
              <a:t>“¿Por qué no uso un agente generalista y lo conecto yo a mis sistemas?”</a:t>
            </a:r>
          </a:p>
          <a:p>
            <a:r>
              <a:rPr lang="es-MX" dirty="0"/>
              <a:t>Ahora bien, no es una frase obligatoria. Si te parece demasiado técnica, una alternativa muy buena sería:</a:t>
            </a:r>
          </a:p>
          <a:p>
            <a:r>
              <a:rPr lang="es-MX" b="1" dirty="0"/>
              <a:t>Broad AI </a:t>
            </a:r>
            <a:r>
              <a:rPr lang="es-MX" b="1" dirty="0" err="1"/>
              <a:t>execution</a:t>
            </a:r>
            <a:r>
              <a:rPr lang="es-MX" b="1" dirty="0"/>
              <a:t> </a:t>
            </a:r>
            <a:r>
              <a:rPr lang="es-MX" b="1" dirty="0" err="1"/>
              <a:t>across</a:t>
            </a:r>
            <a:r>
              <a:rPr lang="es-MX" b="1" dirty="0"/>
              <a:t> </a:t>
            </a:r>
            <a:r>
              <a:rPr lang="es-MX" b="1" dirty="0" err="1"/>
              <a:t>domains</a:t>
            </a:r>
            <a:endParaRPr lang="es-MX" dirty="0"/>
          </a:p>
          <a:p>
            <a:r>
              <a:rPr lang="es-MX" dirty="0"/>
              <a:t>que suena un poco más natural.</a:t>
            </a:r>
          </a:p>
          <a:p>
            <a:r>
              <a:rPr lang="es-MX" dirty="0"/>
              <a:t>O incluso:</a:t>
            </a:r>
          </a:p>
          <a:p>
            <a:r>
              <a:rPr lang="es-MX" b="1" dirty="0"/>
              <a:t>General-</a:t>
            </a:r>
            <a:r>
              <a:rPr lang="es-MX" b="1" dirty="0" err="1"/>
              <a:t>purpose</a:t>
            </a:r>
            <a:r>
              <a:rPr lang="es-MX" b="1" dirty="0"/>
              <a:t> </a:t>
            </a:r>
            <a:r>
              <a:rPr lang="es-MX" b="1" dirty="0" err="1"/>
              <a:t>execution</a:t>
            </a:r>
            <a:endParaRPr lang="es-MX" dirty="0"/>
          </a:p>
          <a:p>
            <a:r>
              <a:rPr lang="es-MX" dirty="0"/>
              <a:t>más corta, pero pierde algo de precisión.</a:t>
            </a:r>
          </a:p>
          <a:p>
            <a:r>
              <a:rPr lang="es-MX" dirty="0"/>
              <a:t>Mi preferencia sigue siendo </a:t>
            </a:r>
            <a:r>
              <a:rPr lang="es-MX" b="1" dirty="0"/>
              <a:t>Broad </a:t>
            </a:r>
            <a:r>
              <a:rPr lang="es-MX" b="1" dirty="0" err="1"/>
              <a:t>cross-domain</a:t>
            </a:r>
            <a:r>
              <a:rPr lang="es-MX" b="1" dirty="0"/>
              <a:t> </a:t>
            </a:r>
            <a:r>
              <a:rPr lang="es-MX" b="1" dirty="0" err="1"/>
              <a:t>execution</a:t>
            </a:r>
            <a:r>
              <a:rPr lang="es-MX" dirty="0"/>
              <a:t>, pero no porque sea una verdad arquitectónica especial, sino porque explica bastante bien la alternativa competitiva.</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s-MX"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believe real-estate companies can operate very differently when humans no longer have to personally coordinate every piece of the operation.
Humans continue to lead where relationships, judgment, negotiation and accountability matter. Gu can take on an increasing share of operational work, supported by Gu OS operating intelligence.
At the extreme, one entrepreneur could have access to digital organizational capacity that historically required an entire team. For larger brokerages, the same principle means more output without coordination cost and operational headcount growing proportionally.
</a:t>
            </a:r>
            <a:r>
              <a:rPr lang="es-MX" dirty="0" err="1"/>
              <a:t>This</a:t>
            </a:r>
            <a:r>
              <a:rPr lang="es-MX" dirty="0"/>
              <a:t> round </a:t>
            </a:r>
            <a:r>
              <a:rPr lang="es-MX" dirty="0" err="1"/>
              <a:t>is</a:t>
            </a:r>
            <a:r>
              <a:rPr lang="es-MX" dirty="0"/>
              <a:t> </a:t>
            </a:r>
            <a:r>
              <a:rPr lang="es-MX" dirty="0" err="1"/>
              <a:t>about</a:t>
            </a:r>
            <a:r>
              <a:rPr lang="es-MX" dirty="0"/>
              <a:t> </a:t>
            </a:r>
            <a:r>
              <a:rPr lang="es-MX" dirty="0" err="1"/>
              <a:t>turning</a:t>
            </a:r>
            <a:r>
              <a:rPr lang="es-MX" dirty="0"/>
              <a:t> the </a:t>
            </a:r>
            <a:r>
              <a:rPr lang="es-MX" dirty="0" err="1"/>
              <a:t>technical</a:t>
            </a:r>
            <a:r>
              <a:rPr lang="es-MX" dirty="0"/>
              <a:t> </a:t>
            </a:r>
            <a:r>
              <a:rPr lang="es-MX" dirty="0" err="1"/>
              <a:t>foundation</a:t>
            </a:r>
            <a:r>
              <a:rPr lang="es-MX" dirty="0"/>
              <a:t> </a:t>
            </a:r>
            <a:r>
              <a:rPr lang="es-MX" dirty="0" err="1"/>
              <a:t>into</a:t>
            </a:r>
            <a:r>
              <a:rPr lang="es-MX" dirty="0"/>
              <a:t> a </a:t>
            </a:r>
            <a:r>
              <a:rPr lang="es-MX" dirty="0" err="1"/>
              <a:t>repeatably</a:t>
            </a:r>
            <a:r>
              <a:rPr lang="es-MX" dirty="0"/>
              <a:t> </a:t>
            </a:r>
            <a:r>
              <a:rPr lang="es-MX" dirty="0" err="1"/>
              <a:t>deployable</a:t>
            </a:r>
            <a:r>
              <a:rPr lang="es-MX" dirty="0"/>
              <a:t> </a:t>
            </a:r>
            <a:r>
              <a:rPr lang="es-MX" dirty="0" err="1"/>
              <a:t>product</a:t>
            </a:r>
            <a:r>
              <a:rPr lang="es-MX" dirty="0"/>
              <a:t>, </a:t>
            </a:r>
            <a:r>
              <a:rPr lang="es-MX" dirty="0" err="1"/>
              <a:t>proving</a:t>
            </a:r>
            <a:r>
              <a:rPr lang="es-MX" dirty="0"/>
              <a:t> </a:t>
            </a:r>
            <a:r>
              <a:rPr lang="es-MX" dirty="0" err="1"/>
              <a:t>repeatable</a:t>
            </a:r>
            <a:r>
              <a:rPr lang="es-MX" dirty="0"/>
              <a:t> </a:t>
            </a:r>
            <a:r>
              <a:rPr lang="es-MX" dirty="0" err="1"/>
              <a:t>commercial</a:t>
            </a:r>
            <a:r>
              <a:rPr lang="es-MX" dirty="0"/>
              <a:t> </a:t>
            </a:r>
            <a:r>
              <a:rPr lang="es-MX" dirty="0" err="1"/>
              <a:t>growth</a:t>
            </a:r>
            <a:r>
              <a:rPr lang="es-MX" dirty="0"/>
              <a:t>, and </a:t>
            </a:r>
            <a:r>
              <a:rPr lang="es-MX" dirty="0" err="1"/>
              <a:t>expanding</a:t>
            </a:r>
            <a:r>
              <a:rPr lang="es-MX" dirty="0"/>
              <a:t> the </a:t>
            </a:r>
            <a:r>
              <a:rPr lang="es-MX" dirty="0" err="1"/>
              <a:t>amount</a:t>
            </a:r>
            <a:r>
              <a:rPr lang="es-MX" dirty="0"/>
              <a:t> </a:t>
            </a:r>
            <a:r>
              <a:rPr lang="es-MX" dirty="0" err="1"/>
              <a:t>of</a:t>
            </a:r>
            <a:r>
              <a:rPr lang="es-MX" dirty="0"/>
              <a:t> </a:t>
            </a:r>
            <a:r>
              <a:rPr lang="es-MX" dirty="0" err="1"/>
              <a:t>high-value</a:t>
            </a:r>
            <a:r>
              <a:rPr lang="es-MX" dirty="0"/>
              <a:t> </a:t>
            </a:r>
            <a:r>
              <a:rPr lang="es-MX" dirty="0" err="1"/>
              <a:t>work</a:t>
            </a:r>
            <a:r>
              <a:rPr lang="es-MX" dirty="0"/>
              <a:t> </a:t>
            </a:r>
            <a:r>
              <a:rPr lang="es-MX" dirty="0" err="1"/>
              <a:t>customers</a:t>
            </a:r>
            <a:r>
              <a:rPr lang="es-MX" dirty="0"/>
              <a:t> </a:t>
            </a:r>
            <a:r>
              <a:rPr lang="es-MX" dirty="0" err="1"/>
              <a:t>delegate</a:t>
            </a:r>
            <a:r>
              <a:rPr lang="es-MX" dirty="0"/>
              <a:t> </a:t>
            </a:r>
            <a:r>
              <a:rPr lang="es-MX" dirty="0" err="1"/>
              <a:t>to</a:t>
            </a:r>
            <a:r>
              <a:rPr lang="es-MX" dirty="0"/>
              <a:t> </a:t>
            </a:r>
            <a:r>
              <a:rPr lang="es-MX" dirty="0" err="1"/>
              <a:t>Gu</a:t>
            </a:r>
            <a:r>
              <a:rPr lang="es-MX" dirty="0"/>
              <a:t>.</a:t>
            </a:r>
            <a:endParaRPr lang="en-US" dirty="0"/>
          </a:p>
          <a:p>
            <a:endParaRPr lang="en-US" dirty="0"/>
          </a:p>
          <a:p>
            <a:r>
              <a:rPr lang="en-US" dirty="0"/>
              <a:t>---</a:t>
            </a:r>
          </a:p>
          <a:p>
            <a:r>
              <a:rPr lang="en-US" dirty="0"/>
              <a:t>Notes:</a:t>
            </a:r>
          </a:p>
          <a:p>
            <a:r>
              <a:rPr lang="en-US" dirty="0"/>
              <a:t>- </a:t>
            </a:r>
            <a:r>
              <a:rPr lang="es-MX" dirty="0"/>
              <a:t>Tres resultados:</a:t>
            </a:r>
          </a:p>
          <a:p>
            <a:r>
              <a:rPr lang="es-MX" b="1" dirty="0" err="1"/>
              <a:t>Productize</a:t>
            </a:r>
            <a:r>
              <a:rPr lang="es-MX" b="1" dirty="0"/>
              <a:t> </a:t>
            </a:r>
            <a:r>
              <a:rPr lang="es-MX" b="1" dirty="0" err="1"/>
              <a:t>Gu</a:t>
            </a:r>
            <a:r>
              <a:rPr lang="es-MX" b="1" dirty="0"/>
              <a:t> OS </a:t>
            </a:r>
            <a:r>
              <a:rPr lang="es-MX" b="1" dirty="0" err="1"/>
              <a:t>for</a:t>
            </a:r>
            <a:r>
              <a:rPr lang="es-MX" b="1" dirty="0"/>
              <a:t> </a:t>
            </a:r>
            <a:r>
              <a:rPr lang="es-MX" b="1" dirty="0" err="1"/>
              <a:t>repeatable</a:t>
            </a:r>
            <a:r>
              <a:rPr lang="es-MX" b="1" dirty="0"/>
              <a:t> </a:t>
            </a:r>
            <a:r>
              <a:rPr lang="es-MX" b="1" dirty="0" err="1"/>
              <a:t>customer</a:t>
            </a:r>
            <a:r>
              <a:rPr lang="es-MX" b="1" dirty="0"/>
              <a:t> </a:t>
            </a:r>
            <a:r>
              <a:rPr lang="es-MX" b="1" dirty="0" err="1"/>
              <a:t>deployment</a:t>
            </a:r>
            <a:br>
              <a:rPr lang="es-MX" dirty="0"/>
            </a:br>
            <a:r>
              <a:rPr lang="es-MX" b="1" dirty="0"/>
              <a:t>Prove </a:t>
            </a:r>
            <a:r>
              <a:rPr lang="es-MX" b="1" dirty="0" err="1"/>
              <a:t>repeatable</a:t>
            </a:r>
            <a:r>
              <a:rPr lang="es-MX" b="1" dirty="0"/>
              <a:t> </a:t>
            </a:r>
            <a:r>
              <a:rPr lang="es-MX" b="1" dirty="0" err="1"/>
              <a:t>acquisition</a:t>
            </a:r>
            <a:r>
              <a:rPr lang="es-MX" b="1" dirty="0"/>
              <a:t>, </a:t>
            </a:r>
            <a:r>
              <a:rPr lang="es-MX" b="1" dirty="0" err="1"/>
              <a:t>reload</a:t>
            </a:r>
            <a:r>
              <a:rPr lang="es-MX" b="1" dirty="0"/>
              <a:t> &amp; </a:t>
            </a:r>
            <a:r>
              <a:rPr lang="es-MX" b="1" dirty="0" err="1"/>
              <a:t>retention</a:t>
            </a:r>
            <a:br>
              <a:rPr lang="es-MX" dirty="0"/>
            </a:br>
            <a:r>
              <a:rPr lang="es-MX" b="1" dirty="0" err="1"/>
              <a:t>Expand</a:t>
            </a:r>
            <a:r>
              <a:rPr lang="es-MX" b="1" dirty="0"/>
              <a:t> the </a:t>
            </a:r>
            <a:r>
              <a:rPr lang="es-MX" b="1" dirty="0" err="1"/>
              <a:t>work</a:t>
            </a:r>
            <a:r>
              <a:rPr lang="es-MX" b="1" dirty="0"/>
              <a:t> </a:t>
            </a:r>
            <a:r>
              <a:rPr lang="es-MX" b="1" dirty="0" err="1"/>
              <a:t>customers</a:t>
            </a:r>
            <a:r>
              <a:rPr lang="es-MX" b="1" dirty="0"/>
              <a:t> can </a:t>
            </a:r>
            <a:r>
              <a:rPr lang="es-MX" b="1" dirty="0" err="1"/>
              <a:t>delegate</a:t>
            </a:r>
            <a:r>
              <a:rPr lang="es-MX" b="1" dirty="0"/>
              <a:t> </a:t>
            </a:r>
            <a:r>
              <a:rPr lang="es-MX" b="1" dirty="0" err="1"/>
              <a:t>to</a:t>
            </a:r>
            <a:r>
              <a:rPr lang="es-MX" b="1" dirty="0"/>
              <a:t> </a:t>
            </a:r>
            <a:r>
              <a:rPr lang="es-MX" b="1" dirty="0" err="1"/>
              <a:t>Gu</a:t>
            </a:r>
            <a:endParaRPr lang="es-MX" dirty="0"/>
          </a:p>
          <a:p>
            <a:endParaRPr lang="es-MX" dirty="0"/>
          </a:p>
          <a:p>
            <a:r>
              <a:rPr lang="es-MX" dirty="0"/>
              <a:t>Esto comunica que hay </a:t>
            </a:r>
            <a:r>
              <a:rPr lang="es-MX" b="1" dirty="0"/>
              <a:t>tres máquinas que construir conjuntamente</a:t>
            </a:r>
            <a:r>
              <a:rPr lang="es-MX" dirty="0"/>
              <a:t>:</a:t>
            </a:r>
          </a:p>
          <a:p>
            <a:pPr lvl="0"/>
            <a:endParaRPr lang="es-MX" b="1" dirty="0"/>
          </a:p>
          <a:p>
            <a:pPr lvl="0"/>
            <a:r>
              <a:rPr lang="es-MX" b="1" dirty="0" err="1"/>
              <a:t>Product</a:t>
            </a:r>
            <a:r>
              <a:rPr lang="es-MX" b="1" dirty="0"/>
              <a:t>/</a:t>
            </a:r>
            <a:r>
              <a:rPr lang="es-MX" b="1" dirty="0" err="1"/>
              <a:t>deployment</a:t>
            </a:r>
            <a:r>
              <a:rPr lang="es-MX" b="1" dirty="0"/>
              <a:t> </a:t>
            </a:r>
            <a:r>
              <a:rPr lang="es-MX" b="1" dirty="0" err="1"/>
              <a:t>engine</a:t>
            </a:r>
            <a:br>
              <a:rPr lang="es-MX" dirty="0"/>
            </a:br>
            <a:r>
              <a:rPr lang="es-MX" dirty="0" err="1"/>
              <a:t>Gu</a:t>
            </a:r>
            <a:r>
              <a:rPr lang="es-MX" dirty="0"/>
              <a:t> OS debe poder desplegarse, configurarse y operar repetidamente en diferentes inmobiliarias, no sólo en el </a:t>
            </a:r>
            <a:r>
              <a:rPr lang="es-MX" dirty="0" err="1"/>
              <a:t>design</a:t>
            </a:r>
            <a:r>
              <a:rPr lang="es-MX" dirty="0"/>
              <a:t> </a:t>
            </a:r>
            <a:r>
              <a:rPr lang="es-MX" dirty="0" err="1"/>
              <a:t>partner</a:t>
            </a:r>
            <a:r>
              <a:rPr lang="es-MX" dirty="0"/>
              <a:t>/</a:t>
            </a:r>
            <a:r>
              <a:rPr lang="es-MX" dirty="0" err="1"/>
              <a:t>lab</a:t>
            </a:r>
            <a:r>
              <a:rPr lang="es-MX" dirty="0"/>
              <a:t>. </a:t>
            </a:r>
          </a:p>
          <a:p>
            <a:pPr lvl="0"/>
            <a:endParaRPr lang="es-MX" b="1" dirty="0"/>
          </a:p>
          <a:p>
            <a:pPr lvl="0"/>
            <a:r>
              <a:rPr lang="es-MX" b="1" dirty="0" err="1"/>
              <a:t>Commercial</a:t>
            </a:r>
            <a:r>
              <a:rPr lang="es-MX" b="1" dirty="0"/>
              <a:t> </a:t>
            </a:r>
            <a:r>
              <a:rPr lang="es-MX" b="1" dirty="0" err="1"/>
              <a:t>engine</a:t>
            </a:r>
            <a:br>
              <a:rPr lang="es-MX" dirty="0"/>
            </a:br>
            <a:r>
              <a:rPr lang="es-MX" dirty="0" err="1"/>
              <a:t>acquire</a:t>
            </a:r>
            <a:r>
              <a:rPr lang="es-MX" dirty="0"/>
              <a:t> → </a:t>
            </a:r>
            <a:r>
              <a:rPr lang="es-MX" dirty="0" err="1"/>
              <a:t>first</a:t>
            </a:r>
            <a:r>
              <a:rPr lang="es-MX" dirty="0"/>
              <a:t> </a:t>
            </a:r>
            <a:r>
              <a:rPr lang="es-MX" dirty="0" err="1"/>
              <a:t>work</a:t>
            </a:r>
            <a:r>
              <a:rPr lang="es-MX" dirty="0"/>
              <a:t> → </a:t>
            </a:r>
            <a:r>
              <a:rPr lang="es-MX" dirty="0" err="1"/>
              <a:t>pay</a:t>
            </a:r>
            <a:r>
              <a:rPr lang="es-MX" dirty="0"/>
              <a:t> → consume → </a:t>
            </a:r>
            <a:r>
              <a:rPr lang="es-MX" dirty="0" err="1"/>
              <a:t>reload</a:t>
            </a:r>
            <a:r>
              <a:rPr lang="es-MX" dirty="0"/>
              <a:t> → </a:t>
            </a:r>
            <a:r>
              <a:rPr lang="es-MX" dirty="0" err="1"/>
              <a:t>retain</a:t>
            </a:r>
            <a:r>
              <a:rPr lang="es-MX" dirty="0"/>
              <a:t>. </a:t>
            </a:r>
          </a:p>
          <a:p>
            <a:pPr lvl="0"/>
            <a:endParaRPr lang="es-MX" b="1" dirty="0"/>
          </a:p>
          <a:p>
            <a:pPr lvl="0"/>
            <a:r>
              <a:rPr lang="es-MX" b="1" dirty="0" err="1"/>
              <a:t>Value-expansion</a:t>
            </a:r>
            <a:r>
              <a:rPr lang="es-MX" b="1" dirty="0"/>
              <a:t> </a:t>
            </a:r>
            <a:r>
              <a:rPr lang="es-MX" b="1" dirty="0" err="1"/>
              <a:t>engine</a:t>
            </a:r>
            <a:br>
              <a:rPr lang="es-MX" dirty="0"/>
            </a:br>
            <a:r>
              <a:rPr lang="es-MX" dirty="0"/>
              <a:t>más </a:t>
            </a:r>
            <a:r>
              <a:rPr lang="es-MX" dirty="0" err="1"/>
              <a:t>workflows</a:t>
            </a:r>
            <a:r>
              <a:rPr lang="es-MX" dirty="0"/>
              <a:t>, más tipos de trabajo y más valor económico por cliente. </a:t>
            </a:r>
          </a:p>
          <a:p>
            <a:endParaRPr lang="es-MX" dirty="0"/>
          </a:p>
          <a:p>
            <a:r>
              <a:rPr lang="es-MX" dirty="0"/>
              <a:t>Y las tres requieren desarrollo tecnológico.</a:t>
            </a:r>
          </a:p>
          <a:p>
            <a:endParaRPr lang="es-MX" dirty="0"/>
          </a:p>
          <a:p>
            <a:endParaRPr lang="es-MX" dirty="0"/>
          </a:p>
          <a:p>
            <a:r>
              <a:rPr lang="es-MX" b="1" dirty="0"/>
              <a:t>THIS ROUND IS DESIGNED TO BUILD &amp; PROVE:</a:t>
            </a:r>
          </a:p>
          <a:p>
            <a:r>
              <a:rPr lang="es-MX" dirty="0"/>
              <a:t>Y los tres </a:t>
            </a:r>
            <a:r>
              <a:rPr lang="es-MX" dirty="0" err="1"/>
              <a:t>bullets</a:t>
            </a:r>
            <a:r>
              <a:rPr lang="es-MX" dirty="0"/>
              <a:t>:</a:t>
            </a:r>
          </a:p>
          <a:p>
            <a:r>
              <a:rPr lang="es-MX" b="1" dirty="0"/>
              <a:t>REPEATABLE PRODUCT DEPLOYMENT</a:t>
            </a:r>
            <a:br>
              <a:rPr lang="es-MX" dirty="0"/>
            </a:br>
            <a:r>
              <a:rPr lang="es-MX" dirty="0" err="1"/>
              <a:t>Productize</a:t>
            </a:r>
            <a:r>
              <a:rPr lang="es-MX" dirty="0"/>
              <a:t> and </a:t>
            </a:r>
            <a:r>
              <a:rPr lang="es-MX" dirty="0" err="1"/>
              <a:t>harden</a:t>
            </a:r>
            <a:r>
              <a:rPr lang="es-MX" dirty="0"/>
              <a:t> </a:t>
            </a:r>
            <a:r>
              <a:rPr lang="es-MX" dirty="0" err="1"/>
              <a:t>Gu</a:t>
            </a:r>
            <a:r>
              <a:rPr lang="es-MX" dirty="0"/>
              <a:t> OS </a:t>
            </a:r>
            <a:r>
              <a:rPr lang="es-MX" dirty="0" err="1"/>
              <a:t>for</a:t>
            </a:r>
            <a:r>
              <a:rPr lang="es-MX" dirty="0"/>
              <a:t> </a:t>
            </a:r>
            <a:r>
              <a:rPr lang="es-MX" dirty="0" err="1"/>
              <a:t>deployment</a:t>
            </a:r>
            <a:r>
              <a:rPr lang="es-MX" dirty="0"/>
              <a:t> </a:t>
            </a:r>
            <a:r>
              <a:rPr lang="es-MX" dirty="0" err="1"/>
              <a:t>across</a:t>
            </a:r>
            <a:r>
              <a:rPr lang="es-MX" dirty="0"/>
              <a:t> </a:t>
            </a:r>
            <a:r>
              <a:rPr lang="es-MX" dirty="0" err="1"/>
              <a:t>customers</a:t>
            </a:r>
            <a:r>
              <a:rPr lang="es-MX" dirty="0"/>
              <a:t>.</a:t>
            </a:r>
          </a:p>
          <a:p>
            <a:r>
              <a:rPr lang="es-MX" b="1" dirty="0"/>
              <a:t>REPEATABLE COMMERCIAL GROWTH</a:t>
            </a:r>
            <a:br>
              <a:rPr lang="es-MX" dirty="0"/>
            </a:br>
            <a:r>
              <a:rPr lang="es-MX" dirty="0" err="1"/>
              <a:t>Acquire</a:t>
            </a:r>
            <a:r>
              <a:rPr lang="es-MX" dirty="0"/>
              <a:t> → </a:t>
            </a:r>
            <a:r>
              <a:rPr lang="es-MX" dirty="0" err="1"/>
              <a:t>paid</a:t>
            </a:r>
            <a:r>
              <a:rPr lang="es-MX" dirty="0"/>
              <a:t> </a:t>
            </a:r>
            <a:r>
              <a:rPr lang="es-MX" dirty="0" err="1"/>
              <a:t>usage</a:t>
            </a:r>
            <a:r>
              <a:rPr lang="es-MX" dirty="0"/>
              <a:t> → </a:t>
            </a:r>
            <a:r>
              <a:rPr lang="es-MX" dirty="0" err="1"/>
              <a:t>reload</a:t>
            </a:r>
            <a:r>
              <a:rPr lang="es-MX" dirty="0"/>
              <a:t> → </a:t>
            </a:r>
            <a:r>
              <a:rPr lang="es-MX" dirty="0" err="1"/>
              <a:t>retain</a:t>
            </a:r>
            <a:r>
              <a:rPr lang="es-MX" dirty="0"/>
              <a:t>.</a:t>
            </a:r>
          </a:p>
          <a:p>
            <a:r>
              <a:rPr lang="es-MX" b="1" dirty="0"/>
              <a:t>EXPANDING WORK DELEGATION</a:t>
            </a:r>
            <a:br>
              <a:rPr lang="es-MX" dirty="0"/>
            </a:br>
            <a:r>
              <a:rPr lang="es-MX" dirty="0" err="1"/>
              <a:t>Extend</a:t>
            </a:r>
            <a:r>
              <a:rPr lang="es-MX" dirty="0"/>
              <a:t> </a:t>
            </a:r>
            <a:r>
              <a:rPr lang="es-MX" dirty="0" err="1"/>
              <a:t>Gu</a:t>
            </a:r>
            <a:r>
              <a:rPr lang="es-MX" dirty="0"/>
              <a:t> </a:t>
            </a:r>
            <a:r>
              <a:rPr lang="es-MX" dirty="0" err="1"/>
              <a:t>into</a:t>
            </a:r>
            <a:r>
              <a:rPr lang="es-MX" dirty="0"/>
              <a:t> </a:t>
            </a:r>
            <a:r>
              <a:rPr lang="es-MX" dirty="0" err="1"/>
              <a:t>additional</a:t>
            </a:r>
            <a:r>
              <a:rPr lang="es-MX" dirty="0"/>
              <a:t> </a:t>
            </a:r>
            <a:r>
              <a:rPr lang="es-MX" dirty="0" err="1"/>
              <a:t>high-value</a:t>
            </a:r>
            <a:r>
              <a:rPr lang="es-MX" dirty="0"/>
              <a:t> real-estate </a:t>
            </a:r>
            <a:r>
              <a:rPr lang="es-MX" dirty="0" err="1"/>
              <a:t>workflows</a:t>
            </a:r>
            <a:r>
              <a:rPr lang="es-MX" dirty="0"/>
              <a:t>.</a:t>
            </a:r>
          </a:p>
          <a:p>
            <a:endParaRPr lang="es-MX" dirty="0"/>
          </a:p>
          <a:p>
            <a:r>
              <a:rPr lang="es-MX" dirty="0"/>
              <a:t>No dices simplemente:</a:t>
            </a:r>
          </a:p>
          <a:p>
            <a:r>
              <a:rPr lang="es-MX" dirty="0"/>
              <a:t>“Give </a:t>
            </a:r>
            <a:r>
              <a:rPr lang="es-MX" dirty="0" err="1"/>
              <a:t>us</a:t>
            </a:r>
            <a:r>
              <a:rPr lang="es-MX" dirty="0"/>
              <a:t> </a:t>
            </a:r>
            <a:r>
              <a:rPr lang="es-MX" dirty="0" err="1"/>
              <a:t>money</a:t>
            </a:r>
            <a:r>
              <a:rPr lang="es-MX" dirty="0"/>
              <a:t> </a:t>
            </a:r>
            <a:r>
              <a:rPr lang="es-MX" dirty="0" err="1"/>
              <a:t>to</a:t>
            </a:r>
            <a:r>
              <a:rPr lang="es-MX" dirty="0"/>
              <a:t> </a:t>
            </a:r>
            <a:r>
              <a:rPr lang="es-MX" dirty="0" err="1"/>
              <a:t>market</a:t>
            </a:r>
            <a:r>
              <a:rPr lang="es-MX" dirty="0"/>
              <a:t> </a:t>
            </a:r>
            <a:r>
              <a:rPr lang="es-MX" dirty="0" err="1"/>
              <a:t>what</a:t>
            </a:r>
            <a:r>
              <a:rPr lang="es-MX" dirty="0"/>
              <a:t> </a:t>
            </a:r>
            <a:r>
              <a:rPr lang="es-MX" dirty="0" err="1"/>
              <a:t>we've</a:t>
            </a:r>
            <a:r>
              <a:rPr lang="es-MX" dirty="0"/>
              <a:t> </a:t>
            </a:r>
            <a:r>
              <a:rPr lang="es-MX" dirty="0" err="1"/>
              <a:t>built</a:t>
            </a:r>
            <a:r>
              <a:rPr lang="es-MX" dirty="0"/>
              <a:t>.”</a:t>
            </a:r>
          </a:p>
          <a:p>
            <a:endParaRPr lang="es-MX" dirty="0"/>
          </a:p>
          <a:p>
            <a:r>
              <a:rPr lang="es-MX" dirty="0"/>
              <a:t>Dices:</a:t>
            </a:r>
          </a:p>
          <a:p>
            <a:r>
              <a:rPr lang="es-MX" b="1" dirty="0"/>
              <a:t>“</a:t>
            </a:r>
            <a:r>
              <a:rPr lang="es-MX" b="1" dirty="0" err="1"/>
              <a:t>We</a:t>
            </a:r>
            <a:r>
              <a:rPr lang="es-MX" b="1" dirty="0"/>
              <a:t> </a:t>
            </a:r>
            <a:r>
              <a:rPr lang="es-MX" b="1" dirty="0" err="1"/>
              <a:t>have</a:t>
            </a:r>
            <a:r>
              <a:rPr lang="es-MX" b="1" dirty="0"/>
              <a:t> </a:t>
            </a:r>
            <a:r>
              <a:rPr lang="es-MX" b="1" dirty="0" err="1"/>
              <a:t>built</a:t>
            </a:r>
            <a:r>
              <a:rPr lang="es-MX" b="1" dirty="0"/>
              <a:t> the </a:t>
            </a:r>
            <a:r>
              <a:rPr lang="es-MX" b="1" dirty="0" err="1"/>
              <a:t>technical</a:t>
            </a:r>
            <a:r>
              <a:rPr lang="es-MX" b="1" dirty="0"/>
              <a:t> </a:t>
            </a:r>
            <a:r>
              <a:rPr lang="es-MX" b="1" dirty="0" err="1"/>
              <a:t>foundation</a:t>
            </a:r>
            <a:r>
              <a:rPr lang="es-MX" b="1" dirty="0"/>
              <a:t>. </a:t>
            </a:r>
            <a:r>
              <a:rPr lang="es-MX" b="1" dirty="0" err="1"/>
              <a:t>This</a:t>
            </a:r>
            <a:r>
              <a:rPr lang="es-MX" b="1" dirty="0"/>
              <a:t> capital </a:t>
            </a:r>
            <a:r>
              <a:rPr lang="es-MX" b="1" dirty="0" err="1"/>
              <a:t>turns</a:t>
            </a:r>
            <a:r>
              <a:rPr lang="es-MX" b="1" dirty="0"/>
              <a:t> </a:t>
            </a:r>
            <a:r>
              <a:rPr lang="es-MX" b="1" dirty="0" err="1"/>
              <a:t>it</a:t>
            </a:r>
            <a:r>
              <a:rPr lang="es-MX" b="1" dirty="0"/>
              <a:t> </a:t>
            </a:r>
            <a:r>
              <a:rPr lang="es-MX" b="1" dirty="0" err="1"/>
              <a:t>into</a:t>
            </a:r>
            <a:r>
              <a:rPr lang="es-MX" b="1" dirty="0"/>
              <a:t> a </a:t>
            </a:r>
            <a:r>
              <a:rPr lang="es-MX" b="1" dirty="0" err="1"/>
              <a:t>deployable</a:t>
            </a:r>
            <a:r>
              <a:rPr lang="es-MX" b="1" dirty="0"/>
              <a:t> </a:t>
            </a:r>
            <a:r>
              <a:rPr lang="es-MX" b="1" dirty="0" err="1"/>
              <a:t>product</a:t>
            </a:r>
            <a:r>
              <a:rPr lang="es-MX" b="1" dirty="0"/>
              <a:t>, proves </a:t>
            </a:r>
            <a:r>
              <a:rPr lang="es-MX" b="1" dirty="0" err="1"/>
              <a:t>its</a:t>
            </a:r>
            <a:r>
              <a:rPr lang="es-MX" b="1" dirty="0"/>
              <a:t> </a:t>
            </a:r>
            <a:r>
              <a:rPr lang="es-MX" b="1" dirty="0" err="1"/>
              <a:t>commercial</a:t>
            </a:r>
            <a:r>
              <a:rPr lang="es-MX" b="1" dirty="0"/>
              <a:t> </a:t>
            </a:r>
            <a:r>
              <a:rPr lang="es-MX" b="1" dirty="0" err="1"/>
              <a:t>engine</a:t>
            </a:r>
            <a:r>
              <a:rPr lang="es-MX" b="1" dirty="0"/>
              <a:t>, and </a:t>
            </a:r>
            <a:r>
              <a:rPr lang="es-MX" b="1" dirty="0" err="1"/>
              <a:t>expands</a:t>
            </a:r>
            <a:r>
              <a:rPr lang="es-MX" b="1" dirty="0"/>
              <a:t> the </a:t>
            </a:r>
            <a:r>
              <a:rPr lang="es-MX" b="1" dirty="0" err="1"/>
              <a:t>amount</a:t>
            </a:r>
            <a:r>
              <a:rPr lang="es-MX" b="1" dirty="0"/>
              <a:t> </a:t>
            </a:r>
            <a:r>
              <a:rPr lang="es-MX" b="1" dirty="0" err="1"/>
              <a:t>of</a:t>
            </a:r>
            <a:r>
              <a:rPr lang="es-MX" b="1" dirty="0"/>
              <a:t> </a:t>
            </a:r>
            <a:r>
              <a:rPr lang="es-MX" b="1" dirty="0" err="1"/>
              <a:t>economically</a:t>
            </a:r>
            <a:r>
              <a:rPr lang="es-MX" b="1" dirty="0"/>
              <a:t> </a:t>
            </a:r>
            <a:r>
              <a:rPr lang="es-MX" b="1" dirty="0" err="1"/>
              <a:t>valuable</a:t>
            </a:r>
            <a:r>
              <a:rPr lang="es-MX" b="1" dirty="0"/>
              <a:t> </a:t>
            </a:r>
            <a:r>
              <a:rPr lang="es-MX" b="1" dirty="0" err="1"/>
              <a:t>work</a:t>
            </a:r>
            <a:r>
              <a:rPr lang="es-MX" b="1" dirty="0"/>
              <a:t> </a:t>
            </a:r>
            <a:r>
              <a:rPr lang="es-MX" b="1" dirty="0" err="1"/>
              <a:t>it</a:t>
            </a:r>
            <a:r>
              <a:rPr lang="es-MX" b="1" dirty="0"/>
              <a:t> can </a:t>
            </a:r>
            <a:r>
              <a:rPr lang="es-MX" b="1" dirty="0" err="1"/>
              <a:t>take</a:t>
            </a:r>
            <a:r>
              <a:rPr lang="es-MX" b="1" dirty="0"/>
              <a:t> </a:t>
            </a:r>
            <a:r>
              <a:rPr lang="es-MX" b="1" dirty="0" err="1"/>
              <a:t>on</a:t>
            </a:r>
            <a:r>
              <a:rPr lang="es-MX" b="1" dirty="0"/>
              <a:t>.”</a:t>
            </a:r>
            <a:endParaRPr lang="es-MX" dirty="0"/>
          </a:p>
          <a:p>
            <a:endParaRPr lang="es-MX" dirty="0"/>
          </a:p>
          <a:p>
            <a:r>
              <a:rPr lang="es-MX" dirty="0"/>
              <a:t>Eso describe mucho mejor la etapa real de Ungga.</a:t>
            </a:r>
          </a:p>
          <a:p>
            <a:endParaRPr lang="es-MX" b="1" dirty="0"/>
          </a:p>
          <a:p>
            <a:r>
              <a:rPr lang="es-MX" b="1" dirty="0"/>
              <a:t>Y además evita otro riesgo</a:t>
            </a:r>
          </a:p>
          <a:p>
            <a:r>
              <a:rPr lang="es-MX" dirty="0"/>
              <a:t>No conviene que el </a:t>
            </a:r>
            <a:r>
              <a:rPr lang="es-MX" dirty="0" err="1"/>
              <a:t>Slide</a:t>
            </a:r>
            <a:r>
              <a:rPr lang="es-MX" dirty="0"/>
              <a:t> 11 diga:</a:t>
            </a:r>
          </a:p>
          <a:p>
            <a:r>
              <a:rPr lang="es-MX" i="1" dirty="0" err="1"/>
              <a:t>Repeatable</a:t>
            </a:r>
            <a:r>
              <a:rPr lang="es-MX" i="1" dirty="0"/>
              <a:t> </a:t>
            </a:r>
            <a:r>
              <a:rPr lang="es-MX" i="1" dirty="0" err="1"/>
              <a:t>growth</a:t>
            </a:r>
            <a:r>
              <a:rPr lang="es-MX" i="1" dirty="0"/>
              <a:t> </a:t>
            </a:r>
            <a:r>
              <a:rPr lang="es-MX" i="1" dirty="0" err="1"/>
              <a:t>is</a:t>
            </a:r>
            <a:r>
              <a:rPr lang="es-MX" i="1" dirty="0"/>
              <a:t> the </a:t>
            </a:r>
            <a:r>
              <a:rPr lang="es-MX" i="1" dirty="0" err="1"/>
              <a:t>next</a:t>
            </a:r>
            <a:r>
              <a:rPr lang="es-MX" i="1" dirty="0"/>
              <a:t> </a:t>
            </a:r>
            <a:r>
              <a:rPr lang="es-MX" i="1" dirty="0" err="1"/>
              <a:t>proof</a:t>
            </a:r>
            <a:endParaRPr lang="es-MX" dirty="0"/>
          </a:p>
          <a:p>
            <a:r>
              <a:rPr lang="es-MX" dirty="0"/>
              <a:t>y este </a:t>
            </a:r>
            <a:r>
              <a:rPr lang="es-MX" dirty="0" err="1"/>
              <a:t>Slide</a:t>
            </a:r>
            <a:r>
              <a:rPr lang="es-MX" dirty="0"/>
              <a:t> 14 parezca decir:</a:t>
            </a:r>
          </a:p>
          <a:p>
            <a:r>
              <a:rPr lang="es-MX" i="1" dirty="0" err="1"/>
              <a:t>therefore</a:t>
            </a:r>
            <a:r>
              <a:rPr lang="es-MX" i="1" dirty="0"/>
              <a:t> </a:t>
            </a:r>
            <a:r>
              <a:rPr lang="es-MX" i="1" dirty="0" err="1"/>
              <a:t>all</a:t>
            </a:r>
            <a:r>
              <a:rPr lang="es-MX" i="1" dirty="0"/>
              <a:t> the </a:t>
            </a:r>
            <a:r>
              <a:rPr lang="es-MX" i="1" dirty="0" err="1"/>
              <a:t>money</a:t>
            </a:r>
            <a:r>
              <a:rPr lang="es-MX" i="1" dirty="0"/>
              <a:t> </a:t>
            </a:r>
            <a:r>
              <a:rPr lang="es-MX" i="1" dirty="0" err="1"/>
              <a:t>is</a:t>
            </a:r>
            <a:r>
              <a:rPr lang="es-MX" i="1" dirty="0"/>
              <a:t> </a:t>
            </a:r>
            <a:r>
              <a:rPr lang="es-MX" i="1" dirty="0" err="1"/>
              <a:t>for</a:t>
            </a:r>
            <a:r>
              <a:rPr lang="es-MX" i="1" dirty="0"/>
              <a:t> </a:t>
            </a:r>
            <a:r>
              <a:rPr lang="es-MX" i="1" dirty="0" err="1"/>
              <a:t>growth</a:t>
            </a:r>
            <a:r>
              <a:rPr lang="es-MX" i="1" dirty="0"/>
              <a:t>.</a:t>
            </a:r>
            <a:endParaRPr lang="es-MX" dirty="0"/>
          </a:p>
          <a:p>
            <a:endParaRPr lang="es-MX" sz="1200" kern="1200" dirty="0">
              <a:solidFill>
                <a:schemeClr val="tx1"/>
              </a:solidFill>
              <a:latin typeface="+mn-lt"/>
              <a:ea typeface="+mn-ea"/>
              <a:cs typeface="+mn-cs"/>
            </a:endParaRPr>
          </a:p>
          <a:p>
            <a:r>
              <a:rPr lang="es-MX" sz="1200" kern="1200" dirty="0" err="1">
                <a:solidFill>
                  <a:schemeClr val="tx1"/>
                </a:solidFill>
                <a:latin typeface="+mn-lt"/>
                <a:ea typeface="+mn-ea"/>
                <a:cs typeface="+mn-cs"/>
              </a:rPr>
              <a:t>Repeatable</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growth</a:t>
            </a:r>
            <a:r>
              <a:rPr lang="es-MX" dirty="0"/>
              <a:t> es el </a:t>
            </a:r>
            <a:r>
              <a:rPr lang="es-MX" b="1" dirty="0"/>
              <a:t>principal </a:t>
            </a:r>
            <a:r>
              <a:rPr lang="es-MX" b="1" dirty="0" err="1"/>
              <a:t>proof</a:t>
            </a:r>
            <a:r>
              <a:rPr lang="es-MX" b="1" dirty="0"/>
              <a:t> </a:t>
            </a:r>
            <a:r>
              <a:rPr lang="es-MX" b="1" dirty="0" err="1"/>
              <a:t>point</a:t>
            </a:r>
            <a:r>
              <a:rPr lang="es-MX" b="1" dirty="0"/>
              <a:t> empresarial</a:t>
            </a:r>
            <a:r>
              <a:rPr lang="es-MX" dirty="0"/>
              <a:t>, pero para conseguirlo tendremos que mejorar:</a:t>
            </a:r>
          </a:p>
          <a:p>
            <a:pPr marL="171450" lvl="0" indent="-171450">
              <a:buFont typeface="Arial" panose="020B0604020202020204" pitchFamily="34" charset="0"/>
              <a:buChar char="•"/>
            </a:pPr>
            <a:r>
              <a:rPr lang="es-MX" dirty="0" err="1"/>
              <a:t>product</a:t>
            </a:r>
            <a:r>
              <a:rPr lang="es-MX" dirty="0"/>
              <a:t> </a:t>
            </a:r>
            <a:r>
              <a:rPr lang="es-MX" dirty="0" err="1"/>
              <a:t>onboarding</a:t>
            </a:r>
            <a:r>
              <a:rPr lang="es-MX" dirty="0"/>
              <a:t>; </a:t>
            </a:r>
          </a:p>
          <a:p>
            <a:pPr marL="171450" lvl="0" indent="-171450">
              <a:buFont typeface="Arial" panose="020B0604020202020204" pitchFamily="34" charset="0"/>
              <a:buChar char="•"/>
            </a:pPr>
            <a:r>
              <a:rPr lang="es-MX" dirty="0" err="1"/>
              <a:t>Gu</a:t>
            </a:r>
            <a:r>
              <a:rPr lang="es-MX" dirty="0"/>
              <a:t> OS </a:t>
            </a:r>
            <a:r>
              <a:rPr lang="es-MX" dirty="0" err="1"/>
              <a:t>deployability</a:t>
            </a:r>
            <a:r>
              <a:rPr lang="es-MX" dirty="0"/>
              <a:t>/</a:t>
            </a:r>
            <a:r>
              <a:rPr lang="es-MX" dirty="0" err="1"/>
              <a:t>configuration</a:t>
            </a:r>
            <a:r>
              <a:rPr lang="es-MX" dirty="0"/>
              <a:t>; </a:t>
            </a:r>
          </a:p>
          <a:p>
            <a:pPr marL="171450" lvl="0" indent="-171450">
              <a:buFont typeface="Arial" panose="020B0604020202020204" pitchFamily="34" charset="0"/>
              <a:buChar char="•"/>
            </a:pPr>
            <a:r>
              <a:rPr lang="es-MX" dirty="0" err="1"/>
              <a:t>workflows</a:t>
            </a:r>
            <a:r>
              <a:rPr lang="es-MX" dirty="0"/>
              <a:t>; </a:t>
            </a:r>
          </a:p>
          <a:p>
            <a:pPr marL="171450" lvl="0" indent="-171450">
              <a:buFont typeface="Arial" panose="020B0604020202020204" pitchFamily="34" charset="0"/>
              <a:buChar char="•"/>
            </a:pPr>
            <a:r>
              <a:rPr lang="es-MX" dirty="0" err="1"/>
              <a:t>integrations</a:t>
            </a:r>
            <a:r>
              <a:rPr lang="es-MX" dirty="0"/>
              <a:t>; </a:t>
            </a:r>
          </a:p>
          <a:p>
            <a:pPr marL="171450" lvl="0" indent="-171450">
              <a:buFont typeface="Arial" panose="020B0604020202020204" pitchFamily="34" charset="0"/>
              <a:buChar char="•"/>
            </a:pPr>
            <a:r>
              <a:rPr lang="es-MX" dirty="0" err="1"/>
              <a:t>reliability</a:t>
            </a:r>
            <a:r>
              <a:rPr lang="es-MX" dirty="0"/>
              <a:t>; </a:t>
            </a:r>
          </a:p>
          <a:p>
            <a:pPr marL="171450" lvl="0" indent="-171450">
              <a:buFont typeface="Arial" panose="020B0604020202020204" pitchFamily="34" charset="0"/>
              <a:buChar char="•"/>
            </a:pPr>
            <a:r>
              <a:rPr lang="es-MX" dirty="0" err="1"/>
              <a:t>governance</a:t>
            </a:r>
            <a:r>
              <a:rPr lang="es-MX" dirty="0"/>
              <a:t>; </a:t>
            </a:r>
          </a:p>
          <a:p>
            <a:pPr marL="171450" lvl="0" indent="-171450">
              <a:buFont typeface="Arial" panose="020B0604020202020204" pitchFamily="34" charset="0"/>
              <a:buChar char="•"/>
            </a:pPr>
            <a:r>
              <a:rPr lang="es-MX" dirty="0" err="1"/>
              <a:t>measurement</a:t>
            </a:r>
            <a:r>
              <a:rPr lang="es-MX" dirty="0"/>
              <a:t>; </a:t>
            </a:r>
          </a:p>
          <a:p>
            <a:pPr marL="171450" lvl="0" indent="-171450">
              <a:buFont typeface="Arial" panose="020B0604020202020204" pitchFamily="34" charset="0"/>
              <a:buChar char="•"/>
            </a:pPr>
            <a:r>
              <a:rPr lang="es-MX" dirty="0" err="1"/>
              <a:t>customer</a:t>
            </a:r>
            <a:r>
              <a:rPr lang="es-MX" dirty="0"/>
              <a:t> </a:t>
            </a:r>
            <a:r>
              <a:rPr lang="es-MX" dirty="0" err="1"/>
              <a:t>experience</a:t>
            </a:r>
            <a:r>
              <a:rPr lang="es-MX" dirty="0"/>
              <a:t>; </a:t>
            </a:r>
          </a:p>
          <a:p>
            <a:pPr marL="171450" lvl="0" indent="-171450">
              <a:buFont typeface="Arial" panose="020B0604020202020204" pitchFamily="34" charset="0"/>
              <a:buChar char="•"/>
            </a:pPr>
            <a:r>
              <a:rPr lang="es-MX" dirty="0" err="1"/>
              <a:t>first-work</a:t>
            </a:r>
            <a:r>
              <a:rPr lang="es-MX" dirty="0"/>
              <a:t> </a:t>
            </a:r>
            <a:r>
              <a:rPr lang="es-MX" dirty="0" err="1"/>
              <a:t>experience</a:t>
            </a:r>
            <a:r>
              <a:rPr lang="es-MX" dirty="0"/>
              <a:t>; </a:t>
            </a:r>
          </a:p>
          <a:p>
            <a:pPr marL="171450" lvl="0" indent="-171450">
              <a:buFont typeface="Arial" panose="020B0604020202020204" pitchFamily="34" charset="0"/>
              <a:buChar char="•"/>
            </a:pPr>
            <a:r>
              <a:rPr lang="es-MX" dirty="0" err="1"/>
              <a:t>billing</a:t>
            </a:r>
            <a:r>
              <a:rPr lang="es-MX" dirty="0"/>
              <a:t>/</a:t>
            </a:r>
            <a:r>
              <a:rPr lang="es-MX" dirty="0" err="1"/>
              <a:t>credits</a:t>
            </a:r>
            <a:r>
              <a:rPr lang="es-MX" dirty="0"/>
              <a:t>; </a:t>
            </a:r>
          </a:p>
          <a:p>
            <a:pPr lvl="0"/>
            <a:r>
              <a:rPr lang="es-MX" dirty="0"/>
              <a:t>and GTM. </a:t>
            </a:r>
          </a:p>
          <a:p>
            <a:endParaRPr lang="es-MX" dirty="0"/>
          </a:p>
          <a:p>
            <a:r>
              <a:rPr lang="es-MX" dirty="0"/>
              <a:t>Es decir, </a:t>
            </a:r>
            <a:r>
              <a:rPr lang="es-MX" b="1" dirty="0" err="1"/>
              <a:t>commercial</a:t>
            </a:r>
            <a:r>
              <a:rPr lang="es-MX" b="1" dirty="0"/>
              <a:t> </a:t>
            </a:r>
            <a:r>
              <a:rPr lang="es-MX" b="1" dirty="0" err="1"/>
              <a:t>proof</a:t>
            </a:r>
            <a:r>
              <a:rPr lang="es-MX" b="1" dirty="0"/>
              <a:t> </a:t>
            </a:r>
            <a:r>
              <a:rPr lang="es-MX" b="1" dirty="0" err="1"/>
              <a:t>is</a:t>
            </a:r>
            <a:r>
              <a:rPr lang="es-MX" b="1" dirty="0"/>
              <a:t> the </a:t>
            </a:r>
            <a:r>
              <a:rPr lang="es-MX" b="1" dirty="0" err="1"/>
              <a:t>outcome</a:t>
            </a:r>
            <a:r>
              <a:rPr lang="es-MX" b="1" dirty="0"/>
              <a:t>; </a:t>
            </a:r>
            <a:r>
              <a:rPr lang="es-MX" b="1" dirty="0" err="1"/>
              <a:t>product</a:t>
            </a:r>
            <a:r>
              <a:rPr lang="es-MX" b="1" dirty="0"/>
              <a:t> and </a:t>
            </a:r>
            <a:r>
              <a:rPr lang="es-MX" b="1" dirty="0" err="1"/>
              <a:t>engineering</a:t>
            </a:r>
            <a:r>
              <a:rPr lang="es-MX" b="1" dirty="0"/>
              <a:t> are a </a:t>
            </a:r>
            <a:r>
              <a:rPr lang="es-MX" b="1" dirty="0" err="1"/>
              <a:t>major</a:t>
            </a:r>
            <a:r>
              <a:rPr lang="es-MX" b="1" dirty="0"/>
              <a:t> </a:t>
            </a:r>
            <a:r>
              <a:rPr lang="es-MX" b="1" dirty="0" err="1"/>
              <a:t>part</a:t>
            </a:r>
            <a:r>
              <a:rPr lang="es-MX" b="1" dirty="0"/>
              <a:t> </a:t>
            </a:r>
            <a:r>
              <a:rPr lang="es-MX" b="1" dirty="0" err="1"/>
              <a:t>of</a:t>
            </a:r>
            <a:r>
              <a:rPr lang="es-MX" b="1" dirty="0"/>
              <a:t> </a:t>
            </a:r>
            <a:r>
              <a:rPr lang="es-MX" b="1" dirty="0" err="1"/>
              <a:t>how</a:t>
            </a:r>
            <a:r>
              <a:rPr lang="es-MX" b="1" dirty="0"/>
              <a:t> </a:t>
            </a:r>
            <a:r>
              <a:rPr lang="es-MX" b="1" dirty="0" err="1"/>
              <a:t>we</a:t>
            </a:r>
            <a:r>
              <a:rPr lang="es-MX" b="1" dirty="0"/>
              <a:t> </a:t>
            </a:r>
            <a:r>
              <a:rPr lang="es-MX" b="1" dirty="0" err="1"/>
              <a:t>get</a:t>
            </a:r>
            <a:r>
              <a:rPr lang="es-MX" b="1" dirty="0"/>
              <a:t> </a:t>
            </a:r>
            <a:r>
              <a:rPr lang="es-MX" b="1" dirty="0" err="1"/>
              <a:t>there</a:t>
            </a:r>
            <a:r>
              <a:rPr lang="es-MX" b="1" dirty="0"/>
              <a:t>.</a:t>
            </a:r>
          </a:p>
          <a:p>
            <a:endParaRPr lang="es-MX" b="1" dirty="0"/>
          </a:p>
          <a:p>
            <a:r>
              <a:rPr lang="es-MX" dirty="0"/>
              <a:t>Capital </a:t>
            </a:r>
            <a:r>
              <a:rPr lang="es-MX" dirty="0" err="1"/>
              <a:t>supports</a:t>
            </a:r>
            <a:r>
              <a:rPr lang="es-MX" dirty="0"/>
              <a:t> </a:t>
            </a:r>
            <a:r>
              <a:rPr lang="es-MX" dirty="0" err="1"/>
              <a:t>product</a:t>
            </a:r>
            <a:r>
              <a:rPr lang="es-MX" dirty="0"/>
              <a:t> &amp; </a:t>
            </a:r>
            <a:r>
              <a:rPr lang="es-MX" dirty="0" err="1"/>
              <a:t>engineering</a:t>
            </a:r>
            <a:r>
              <a:rPr lang="es-MX" dirty="0"/>
              <a:t>, </a:t>
            </a:r>
            <a:r>
              <a:rPr lang="es-MX" dirty="0" err="1"/>
              <a:t>customer</a:t>
            </a:r>
            <a:r>
              <a:rPr lang="es-MX" dirty="0"/>
              <a:t> </a:t>
            </a:r>
            <a:r>
              <a:rPr lang="es-MX" dirty="0" err="1"/>
              <a:t>deployment</a:t>
            </a:r>
            <a:r>
              <a:rPr lang="es-MX" dirty="0"/>
              <a:t>, and GTM </a:t>
            </a:r>
            <a:r>
              <a:rPr lang="es-MX" dirty="0" err="1"/>
              <a:t>validation</a:t>
            </a:r>
            <a:r>
              <a:rPr lang="es-MX"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a:extLst>
            <a:ext uri="{FF2B5EF4-FFF2-40B4-BE49-F238E27FC236}">
              <a16:creationId xmlns:a16="http://schemas.microsoft.com/office/drawing/2014/main" id="{D3658904-157F-FE71-4DD7-1D88F7FB7A1E}"/>
            </a:ext>
          </a:extLst>
        </p:cNvPr>
        <p:cNvGrpSpPr/>
        <p:nvPr/>
      </p:nvGrpSpPr>
      <p:grpSpPr>
        <a:xfrm>
          <a:off x="0" y="0"/>
          <a:ext cx="0" cy="0"/>
          <a:chOff x="0" y="0"/>
          <a:chExt cx="0" cy="0"/>
        </a:xfrm>
      </p:grpSpPr>
      <p:sp>
        <p:nvSpPr>
          <p:cNvPr id="586" name="Google Shape;586;g26559445b7a_4_299:notes">
            <a:extLst>
              <a:ext uri="{FF2B5EF4-FFF2-40B4-BE49-F238E27FC236}">
                <a16:creationId xmlns:a16="http://schemas.microsoft.com/office/drawing/2014/main" id="{F2B2B64E-1FE2-E0D1-A6AF-B99B5D346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26559445b7a_4_299:notes">
            <a:extLst>
              <a:ext uri="{FF2B5EF4-FFF2-40B4-BE49-F238E27FC236}">
                <a16:creationId xmlns:a16="http://schemas.microsoft.com/office/drawing/2014/main" id="{DD8C861C-6AF1-EF93-67FE-B3AB5560E0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¡Muchas gracias! </a:t>
            </a:r>
          </a:p>
          <a:p>
            <a:pPr marL="0" lvl="0" indent="0" algn="l" rtl="0">
              <a:spcBef>
                <a:spcPts val="0"/>
              </a:spcBef>
              <a:spcAft>
                <a:spcPts val="0"/>
              </a:spcAft>
              <a:buNone/>
            </a:pPr>
            <a:r>
              <a:rPr lang="es-MX" dirty="0"/>
              <a:t>Aquí les dejo mis datos. Será un gusto conversar más acerca de nuestra visión y cómo vamos a lograrla.</a:t>
            </a:r>
            <a:endParaRPr dirty="0"/>
          </a:p>
        </p:txBody>
      </p:sp>
    </p:spTree>
    <p:extLst>
      <p:ext uri="{BB962C8B-B14F-4D97-AF65-F5344CB8AC3E}">
        <p14:creationId xmlns:p14="http://schemas.microsoft.com/office/powerpoint/2010/main" val="797854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r>
              <a:rPr lang="es-MX" b="0" dirty="0"/>
              <a:t>The </a:t>
            </a:r>
            <a:r>
              <a:rPr lang="es-MX" b="0" dirty="0" err="1"/>
              <a:t>important</a:t>
            </a:r>
            <a:r>
              <a:rPr lang="es-MX" b="0" dirty="0"/>
              <a:t> </a:t>
            </a:r>
            <a:r>
              <a:rPr lang="es-MX" b="0" dirty="0" err="1"/>
              <a:t>point</a:t>
            </a:r>
            <a:r>
              <a:rPr lang="es-MX" b="0" dirty="0"/>
              <a:t> in </a:t>
            </a:r>
            <a:r>
              <a:rPr lang="es-MX" b="0" dirty="0" err="1"/>
              <a:t>this</a:t>
            </a:r>
            <a:r>
              <a:rPr lang="es-MX" b="0" dirty="0"/>
              <a:t> </a:t>
            </a:r>
            <a:r>
              <a:rPr lang="es-MX" b="0" dirty="0" err="1"/>
              <a:t>slide</a:t>
            </a:r>
            <a:r>
              <a:rPr lang="es-MX" b="0" dirty="0"/>
              <a:t> </a:t>
            </a:r>
            <a:r>
              <a:rPr lang="es-MX" b="0" dirty="0" err="1"/>
              <a:t>is</a:t>
            </a:r>
            <a:r>
              <a:rPr lang="es-MX" b="0" dirty="0"/>
              <a:t> </a:t>
            </a:r>
            <a:r>
              <a:rPr lang="es-MX" b="0" dirty="0" err="1"/>
              <a:t>that</a:t>
            </a:r>
            <a:r>
              <a:rPr lang="es-MX" b="0" dirty="0"/>
              <a:t> </a:t>
            </a:r>
            <a:r>
              <a:rPr lang="es-MX" b="0" dirty="0" err="1"/>
              <a:t>calling</a:t>
            </a:r>
            <a:r>
              <a:rPr lang="es-MX" b="0" dirty="0"/>
              <a:t> </a:t>
            </a:r>
            <a:r>
              <a:rPr lang="es-MX" b="0" dirty="0" err="1"/>
              <a:t>ourselves</a:t>
            </a:r>
            <a:r>
              <a:rPr lang="es-MX" b="0" dirty="0"/>
              <a:t> </a:t>
            </a:r>
            <a:r>
              <a:rPr lang="es-MX" b="0" dirty="0" err="1"/>
              <a:t>an</a:t>
            </a:r>
            <a:r>
              <a:rPr lang="es-MX" b="0" dirty="0"/>
              <a:t> “AI </a:t>
            </a:r>
            <a:r>
              <a:rPr lang="es-MX" b="0" dirty="0" err="1"/>
              <a:t>Operating</a:t>
            </a:r>
            <a:r>
              <a:rPr lang="es-MX" b="0" dirty="0"/>
              <a:t> </a:t>
            </a:r>
            <a:r>
              <a:rPr lang="es-MX" b="0" dirty="0" err="1"/>
              <a:t>System</a:t>
            </a:r>
            <a:r>
              <a:rPr lang="es-MX" b="0" dirty="0"/>
              <a:t>” </a:t>
            </a:r>
            <a:r>
              <a:rPr lang="es-MX" b="0" dirty="0" err="1"/>
              <a:t>is</a:t>
            </a:r>
            <a:r>
              <a:rPr lang="es-MX" b="0" dirty="0"/>
              <a:t> </a:t>
            </a:r>
            <a:r>
              <a:rPr lang="es-MX" b="0" dirty="0" err="1"/>
              <a:t>not</a:t>
            </a:r>
            <a:r>
              <a:rPr lang="es-MX" b="0" dirty="0"/>
              <a:t>, </a:t>
            </a:r>
            <a:r>
              <a:rPr lang="es-MX" b="0" dirty="0" err="1"/>
              <a:t>by</a:t>
            </a:r>
            <a:r>
              <a:rPr lang="es-MX" b="0" dirty="0"/>
              <a:t> </a:t>
            </a:r>
            <a:r>
              <a:rPr lang="es-MX" b="0" dirty="0" err="1"/>
              <a:t>itself</a:t>
            </a:r>
            <a:r>
              <a:rPr lang="es-MX" b="0" dirty="0"/>
              <a:t>, a </a:t>
            </a:r>
            <a:r>
              <a:rPr lang="es-MX" b="0" dirty="0" err="1"/>
              <a:t>defensible</a:t>
            </a:r>
            <a:r>
              <a:rPr lang="es-MX" b="0" dirty="0"/>
              <a:t> </a:t>
            </a:r>
            <a:r>
              <a:rPr lang="es-MX" b="0" dirty="0" err="1"/>
              <a:t>differentiation</a:t>
            </a:r>
            <a:r>
              <a:rPr lang="es-MX" b="0" dirty="0"/>
              <a:t>. The </a:t>
            </a:r>
            <a:r>
              <a:rPr lang="es-MX" b="0" dirty="0" err="1"/>
              <a:t>category</a:t>
            </a:r>
            <a:r>
              <a:rPr lang="es-MX" b="0" dirty="0"/>
              <a:t> </a:t>
            </a:r>
            <a:r>
              <a:rPr lang="es-MX" b="0" dirty="0" err="1"/>
              <a:t>is</a:t>
            </a:r>
            <a:r>
              <a:rPr lang="es-MX" b="0" dirty="0"/>
              <a:t> </a:t>
            </a:r>
            <a:r>
              <a:rPr lang="es-MX" b="0" dirty="0" err="1"/>
              <a:t>clearly</a:t>
            </a:r>
            <a:r>
              <a:rPr lang="es-MX" b="0" dirty="0"/>
              <a:t> </a:t>
            </a:r>
            <a:r>
              <a:rPr lang="es-MX" b="0" dirty="0" err="1"/>
              <a:t>emerging</a:t>
            </a:r>
            <a:r>
              <a:rPr lang="es-MX" b="0" dirty="0"/>
              <a:t>. </a:t>
            </a:r>
            <a:r>
              <a:rPr lang="es-MX" b="0" dirty="0" err="1"/>
              <a:t>What</a:t>
            </a:r>
            <a:r>
              <a:rPr lang="es-MX" b="0" dirty="0"/>
              <a:t> </a:t>
            </a:r>
            <a:r>
              <a:rPr lang="es-MX" b="0" dirty="0" err="1"/>
              <a:t>matters</a:t>
            </a:r>
            <a:r>
              <a:rPr lang="es-MX" b="0" dirty="0"/>
              <a:t> </a:t>
            </a:r>
            <a:r>
              <a:rPr lang="es-MX" b="0" dirty="0" err="1"/>
              <a:t>is</a:t>
            </a:r>
            <a:r>
              <a:rPr lang="es-MX" b="0" dirty="0"/>
              <a:t> </a:t>
            </a:r>
            <a:r>
              <a:rPr lang="es-MX" b="0" dirty="0" err="1"/>
              <a:t>what</a:t>
            </a:r>
            <a:r>
              <a:rPr lang="es-MX" b="0" dirty="0"/>
              <a:t> </a:t>
            </a:r>
            <a:r>
              <a:rPr lang="es-MX" b="0" dirty="0" err="1"/>
              <a:t>kind</a:t>
            </a:r>
            <a:r>
              <a:rPr lang="es-MX" b="0" dirty="0"/>
              <a:t> </a:t>
            </a:r>
            <a:r>
              <a:rPr lang="es-MX" b="0" dirty="0" err="1"/>
              <a:t>of</a:t>
            </a:r>
            <a:r>
              <a:rPr lang="es-MX" b="0" dirty="0"/>
              <a:t> </a:t>
            </a:r>
            <a:r>
              <a:rPr lang="es-MX" b="0" dirty="0" err="1"/>
              <a:t>operating</a:t>
            </a:r>
            <a:r>
              <a:rPr lang="es-MX" b="0" dirty="0"/>
              <a:t> </a:t>
            </a:r>
            <a:r>
              <a:rPr lang="es-MX" b="0" dirty="0" err="1"/>
              <a:t>intelligence</a:t>
            </a:r>
            <a:r>
              <a:rPr lang="es-MX" b="0" dirty="0"/>
              <a:t> and </a:t>
            </a:r>
            <a:r>
              <a:rPr lang="es-MX" b="0" dirty="0" err="1"/>
              <a:t>execution</a:t>
            </a:r>
            <a:r>
              <a:rPr lang="es-MX" b="0" dirty="0"/>
              <a:t> </a:t>
            </a:r>
            <a:r>
              <a:rPr lang="es-MX" b="0" dirty="0" err="1"/>
              <a:t>we</a:t>
            </a:r>
            <a:r>
              <a:rPr lang="es-MX" b="0" dirty="0"/>
              <a:t> can </a:t>
            </a:r>
            <a:r>
              <a:rPr lang="es-MX" b="0" dirty="0" err="1"/>
              <a:t>productize</a:t>
            </a:r>
            <a:r>
              <a:rPr lang="es-MX" b="0" dirty="0"/>
              <a:t> and </a:t>
            </a:r>
            <a:r>
              <a:rPr lang="es-MX" b="0" dirty="0" err="1"/>
              <a:t>what</a:t>
            </a:r>
            <a:r>
              <a:rPr lang="es-MX" b="0" dirty="0"/>
              <a:t> </a:t>
            </a:r>
            <a:r>
              <a:rPr lang="es-MX" b="0" dirty="0" err="1"/>
              <a:t>work</a:t>
            </a:r>
            <a:r>
              <a:rPr lang="es-MX" b="0" dirty="0"/>
              <a:t> </a:t>
            </a:r>
            <a:r>
              <a:rPr lang="es-MX" b="0" dirty="0" err="1"/>
              <a:t>customers</a:t>
            </a:r>
            <a:r>
              <a:rPr lang="es-MX" b="0" dirty="0"/>
              <a:t> </a:t>
            </a:r>
            <a:r>
              <a:rPr lang="es-MX" b="0" dirty="0" err="1"/>
              <a:t>eventually</a:t>
            </a:r>
            <a:r>
              <a:rPr lang="es-MX" b="0" dirty="0"/>
              <a:t> trust </a:t>
            </a:r>
            <a:r>
              <a:rPr lang="es-MX" b="0" dirty="0" err="1"/>
              <a:t>us</a:t>
            </a:r>
            <a:r>
              <a:rPr lang="es-MX" b="0" dirty="0"/>
              <a:t> </a:t>
            </a:r>
            <a:r>
              <a:rPr lang="es-MX" b="0" dirty="0" err="1"/>
              <a:t>to</a:t>
            </a:r>
            <a:r>
              <a:rPr lang="es-MX" b="0" dirty="0"/>
              <a:t> </a:t>
            </a:r>
            <a:r>
              <a:rPr lang="es-MX" b="0" dirty="0" err="1"/>
              <a:t>own</a:t>
            </a:r>
            <a:r>
              <a:rPr lang="es-MX" b="0" dirty="0"/>
              <a:t>.</a:t>
            </a:r>
          </a:p>
          <a:p>
            <a:endParaRPr lang="es-MX" b="0" dirty="0"/>
          </a:p>
          <a:p>
            <a:r>
              <a:rPr lang="es-MX" b="0" dirty="0"/>
              <a:t>Today, </a:t>
            </a:r>
            <a:r>
              <a:rPr lang="es-MX" b="0" dirty="0" err="1"/>
              <a:t>our</a:t>
            </a:r>
            <a:r>
              <a:rPr lang="es-MX" b="0" dirty="0"/>
              <a:t> </a:t>
            </a:r>
            <a:r>
              <a:rPr lang="es-MX" b="0" dirty="0" err="1"/>
              <a:t>biggest</a:t>
            </a:r>
            <a:r>
              <a:rPr lang="es-MX" b="0" dirty="0"/>
              <a:t> </a:t>
            </a:r>
            <a:r>
              <a:rPr lang="es-MX" b="0" dirty="0" err="1"/>
              <a:t>immediate</a:t>
            </a:r>
            <a:r>
              <a:rPr lang="es-MX" b="0" dirty="0"/>
              <a:t> </a:t>
            </a:r>
            <a:r>
              <a:rPr lang="es-MX" b="0" dirty="0" err="1"/>
              <a:t>competitor</a:t>
            </a:r>
            <a:r>
              <a:rPr lang="es-MX" b="0" dirty="0"/>
              <a:t> </a:t>
            </a:r>
            <a:r>
              <a:rPr lang="es-MX" b="0" dirty="0" err="1"/>
              <a:t>is</a:t>
            </a:r>
            <a:r>
              <a:rPr lang="es-MX" b="0" dirty="0"/>
              <a:t> </a:t>
            </a:r>
            <a:r>
              <a:rPr lang="es-MX" b="0" dirty="0" err="1"/>
              <a:t>actually</a:t>
            </a:r>
            <a:r>
              <a:rPr lang="es-MX" b="0" dirty="0"/>
              <a:t> </a:t>
            </a:r>
            <a:r>
              <a:rPr lang="es-MX" b="0" dirty="0" err="1"/>
              <a:t>still</a:t>
            </a:r>
            <a:r>
              <a:rPr lang="es-MX" b="0" dirty="0"/>
              <a:t> the status quo. Real-estate </a:t>
            </a:r>
            <a:r>
              <a:rPr lang="es-MX" b="0" dirty="0" err="1"/>
              <a:t>companies</a:t>
            </a:r>
            <a:r>
              <a:rPr lang="es-MX" b="0" dirty="0"/>
              <a:t> </a:t>
            </a:r>
            <a:r>
              <a:rPr lang="es-MX" b="0" dirty="0" err="1"/>
              <a:t>already</a:t>
            </a:r>
            <a:r>
              <a:rPr lang="es-MX" b="0" dirty="0"/>
              <a:t> </a:t>
            </a:r>
            <a:r>
              <a:rPr lang="es-MX" b="0" dirty="0" err="1"/>
              <a:t>have</a:t>
            </a:r>
            <a:r>
              <a:rPr lang="es-MX" b="0" dirty="0"/>
              <a:t> </a:t>
            </a:r>
            <a:r>
              <a:rPr lang="es-MX" b="0" dirty="0" err="1"/>
              <a:t>people</a:t>
            </a:r>
            <a:r>
              <a:rPr lang="es-MX" b="0" dirty="0"/>
              <a:t> and software, </a:t>
            </a:r>
            <a:r>
              <a:rPr lang="es-MX" b="0" dirty="0" err="1"/>
              <a:t>but</a:t>
            </a:r>
            <a:r>
              <a:rPr lang="es-MX" b="0" dirty="0"/>
              <a:t> </a:t>
            </a:r>
            <a:r>
              <a:rPr lang="es-MX" b="0" dirty="0" err="1"/>
              <a:t>humans</a:t>
            </a:r>
            <a:r>
              <a:rPr lang="es-MX" b="0" dirty="0"/>
              <a:t> continue </a:t>
            </a:r>
            <a:r>
              <a:rPr lang="es-MX" b="0" dirty="0" err="1"/>
              <a:t>connecting</a:t>
            </a:r>
            <a:r>
              <a:rPr lang="es-MX" b="0" dirty="0"/>
              <a:t> the </a:t>
            </a:r>
            <a:r>
              <a:rPr lang="es-MX" b="0" dirty="0" err="1"/>
              <a:t>pieces</a:t>
            </a:r>
            <a:r>
              <a:rPr lang="es-MX" b="0" dirty="0"/>
              <a:t>: </a:t>
            </a:r>
            <a:r>
              <a:rPr lang="es-MX" b="0" dirty="0" err="1"/>
              <a:t>conversations</a:t>
            </a:r>
            <a:r>
              <a:rPr lang="es-MX" b="0" dirty="0"/>
              <a:t>, CRM, </a:t>
            </a:r>
            <a:r>
              <a:rPr lang="es-MX" b="0" dirty="0" err="1"/>
              <a:t>inventory</a:t>
            </a:r>
            <a:r>
              <a:rPr lang="es-MX" b="0" dirty="0"/>
              <a:t>, </a:t>
            </a:r>
            <a:r>
              <a:rPr lang="es-MX" b="0" dirty="0" err="1"/>
              <a:t>calendars</a:t>
            </a:r>
            <a:r>
              <a:rPr lang="es-MX" b="0" dirty="0"/>
              <a:t>, </a:t>
            </a:r>
            <a:r>
              <a:rPr lang="es-MX" b="0" dirty="0" err="1"/>
              <a:t>follow</a:t>
            </a:r>
            <a:r>
              <a:rPr lang="es-MX" b="0" dirty="0"/>
              <a:t>-up, </a:t>
            </a:r>
            <a:r>
              <a:rPr lang="es-MX" b="0" dirty="0" err="1"/>
              <a:t>decisions</a:t>
            </a:r>
            <a:r>
              <a:rPr lang="es-MX" b="0" dirty="0"/>
              <a:t> and </a:t>
            </a:r>
            <a:r>
              <a:rPr lang="es-MX" b="0" dirty="0" err="1"/>
              <a:t>external</a:t>
            </a:r>
            <a:r>
              <a:rPr lang="es-MX" b="0" dirty="0"/>
              <a:t> </a:t>
            </a:r>
            <a:r>
              <a:rPr lang="es-MX" b="0" dirty="0" err="1"/>
              <a:t>providers</a:t>
            </a:r>
            <a:r>
              <a:rPr lang="es-MX" b="0" dirty="0"/>
              <a:t>.</a:t>
            </a:r>
          </a:p>
          <a:p>
            <a:endParaRPr lang="es-MX" b="0" dirty="0"/>
          </a:p>
          <a:p>
            <a:r>
              <a:rPr lang="es-MX" b="0" dirty="0" err="1"/>
              <a:t>Traditional</a:t>
            </a:r>
            <a:r>
              <a:rPr lang="es-MX" b="0" dirty="0"/>
              <a:t> vertical SaaS and </a:t>
            </a:r>
            <a:r>
              <a:rPr lang="es-MX" b="0" dirty="0" err="1"/>
              <a:t>CRMs</a:t>
            </a:r>
            <a:r>
              <a:rPr lang="es-MX" b="0" dirty="0"/>
              <a:t> </a:t>
            </a:r>
            <a:r>
              <a:rPr lang="es-MX" b="0" dirty="0" err="1"/>
              <a:t>improve</a:t>
            </a:r>
            <a:r>
              <a:rPr lang="es-MX" b="0" dirty="0"/>
              <a:t> </a:t>
            </a:r>
            <a:r>
              <a:rPr lang="es-MX" b="0" dirty="0" err="1"/>
              <a:t>that</a:t>
            </a:r>
            <a:r>
              <a:rPr lang="es-MX" b="0" dirty="0"/>
              <a:t> </a:t>
            </a:r>
            <a:r>
              <a:rPr lang="es-MX" b="0" dirty="0" err="1"/>
              <a:t>significantly</a:t>
            </a:r>
            <a:r>
              <a:rPr lang="es-MX" b="0" dirty="0"/>
              <a:t>. </a:t>
            </a:r>
            <a:r>
              <a:rPr lang="es-MX" b="0" dirty="0" err="1"/>
              <a:t>They</a:t>
            </a:r>
            <a:r>
              <a:rPr lang="es-MX" b="0" dirty="0"/>
              <a:t> </a:t>
            </a:r>
            <a:r>
              <a:rPr lang="es-MX" b="0" dirty="0" err="1"/>
              <a:t>become</a:t>
            </a:r>
            <a:r>
              <a:rPr lang="es-MX" b="0" dirty="0"/>
              <a:t> </a:t>
            </a:r>
            <a:r>
              <a:rPr lang="es-MX" b="0" dirty="0" err="1"/>
              <a:t>systems</a:t>
            </a:r>
            <a:r>
              <a:rPr lang="es-MX" b="0" dirty="0"/>
              <a:t> </a:t>
            </a:r>
            <a:r>
              <a:rPr lang="es-MX" b="0" dirty="0" err="1"/>
              <a:t>of</a:t>
            </a:r>
            <a:r>
              <a:rPr lang="es-MX" b="0" dirty="0"/>
              <a:t> </a:t>
            </a:r>
            <a:r>
              <a:rPr lang="es-MX" b="0" dirty="0" err="1"/>
              <a:t>record</a:t>
            </a:r>
            <a:r>
              <a:rPr lang="es-MX" b="0" dirty="0"/>
              <a:t> and </a:t>
            </a:r>
            <a:r>
              <a:rPr lang="es-MX" b="0" dirty="0" err="1"/>
              <a:t>workflow</a:t>
            </a:r>
            <a:r>
              <a:rPr lang="es-MX" b="0" dirty="0"/>
              <a:t> </a:t>
            </a:r>
            <a:r>
              <a:rPr lang="es-MX" b="0" dirty="0" err="1"/>
              <a:t>systems</a:t>
            </a:r>
            <a:r>
              <a:rPr lang="es-MX" b="0" dirty="0"/>
              <a:t>, and </a:t>
            </a:r>
            <a:r>
              <a:rPr lang="es-MX" b="0" dirty="0" err="1"/>
              <a:t>increasingly</a:t>
            </a:r>
            <a:r>
              <a:rPr lang="es-MX" b="0" dirty="0"/>
              <a:t> </a:t>
            </a:r>
            <a:r>
              <a:rPr lang="es-MX" b="0" dirty="0" err="1"/>
              <a:t>add</a:t>
            </a:r>
            <a:r>
              <a:rPr lang="es-MX" b="0" dirty="0"/>
              <a:t> AI </a:t>
            </a:r>
            <a:r>
              <a:rPr lang="es-MX" b="0" dirty="0" err="1"/>
              <a:t>copilots</a:t>
            </a:r>
            <a:r>
              <a:rPr lang="es-MX" b="0" dirty="0"/>
              <a:t>. But the </a:t>
            </a:r>
            <a:r>
              <a:rPr lang="es-MX" b="0" dirty="0" err="1"/>
              <a:t>basic</a:t>
            </a:r>
            <a:r>
              <a:rPr lang="es-MX" b="0" dirty="0"/>
              <a:t> </a:t>
            </a:r>
            <a:r>
              <a:rPr lang="es-MX" b="0" dirty="0" err="1"/>
              <a:t>interaction</a:t>
            </a:r>
            <a:r>
              <a:rPr lang="es-MX" b="0" dirty="0"/>
              <a:t> </a:t>
            </a:r>
            <a:r>
              <a:rPr lang="es-MX" b="0" dirty="0" err="1"/>
              <a:t>model</a:t>
            </a:r>
            <a:r>
              <a:rPr lang="es-MX" b="0" dirty="0"/>
              <a:t> </a:t>
            </a:r>
            <a:r>
              <a:rPr lang="es-MX" b="0" dirty="0" err="1"/>
              <a:t>still</a:t>
            </a:r>
            <a:r>
              <a:rPr lang="es-MX" b="0" dirty="0"/>
              <a:t> </a:t>
            </a:r>
            <a:r>
              <a:rPr lang="es-MX" b="0" dirty="0" err="1"/>
              <a:t>tends</a:t>
            </a:r>
            <a:r>
              <a:rPr lang="es-MX" b="0" dirty="0"/>
              <a:t> </a:t>
            </a:r>
            <a:r>
              <a:rPr lang="es-MX" b="0" dirty="0" err="1"/>
              <a:t>to</a:t>
            </a:r>
            <a:r>
              <a:rPr lang="es-MX" b="0" dirty="0"/>
              <a:t> be </a:t>
            </a:r>
            <a:r>
              <a:rPr lang="es-MX" b="0" dirty="0" err="1"/>
              <a:t>that</a:t>
            </a:r>
            <a:r>
              <a:rPr lang="es-MX" b="0" dirty="0"/>
              <a:t> </a:t>
            </a:r>
            <a:r>
              <a:rPr lang="es-MX" b="0" dirty="0" err="1"/>
              <a:t>people</a:t>
            </a:r>
            <a:r>
              <a:rPr lang="es-MX" b="0" dirty="0"/>
              <a:t> </a:t>
            </a:r>
            <a:r>
              <a:rPr lang="es-MX" b="0" dirty="0" err="1"/>
              <a:t>operate</a:t>
            </a:r>
            <a:r>
              <a:rPr lang="es-MX" b="0" dirty="0"/>
              <a:t> the software and </a:t>
            </a:r>
            <a:r>
              <a:rPr lang="es-MX" b="0" dirty="0" err="1"/>
              <a:t>coordinate</a:t>
            </a:r>
            <a:r>
              <a:rPr lang="es-MX" b="0" dirty="0"/>
              <a:t> </a:t>
            </a:r>
            <a:r>
              <a:rPr lang="es-MX" b="0" dirty="0" err="1"/>
              <a:t>much</a:t>
            </a:r>
            <a:r>
              <a:rPr lang="es-MX" b="0" dirty="0"/>
              <a:t> </a:t>
            </a:r>
            <a:r>
              <a:rPr lang="es-MX" b="0" dirty="0" err="1"/>
              <a:t>of</a:t>
            </a:r>
            <a:r>
              <a:rPr lang="es-MX" b="0" dirty="0"/>
              <a:t> the </a:t>
            </a:r>
            <a:r>
              <a:rPr lang="es-MX" b="0" dirty="0" err="1"/>
              <a:t>work</a:t>
            </a:r>
            <a:r>
              <a:rPr lang="es-MX" b="0" dirty="0"/>
              <a:t>.</a:t>
            </a:r>
          </a:p>
          <a:p>
            <a:endParaRPr lang="es-MX" b="0" dirty="0"/>
          </a:p>
          <a:p>
            <a:r>
              <a:rPr lang="es-MX" b="0" dirty="0"/>
              <a:t>General-</a:t>
            </a:r>
            <a:r>
              <a:rPr lang="es-MX" b="0" dirty="0" err="1"/>
              <a:t>purpose</a:t>
            </a:r>
            <a:r>
              <a:rPr lang="es-MX" b="0" dirty="0"/>
              <a:t> AI </a:t>
            </a:r>
            <a:r>
              <a:rPr lang="es-MX" b="0" dirty="0" err="1"/>
              <a:t>agents</a:t>
            </a:r>
            <a:r>
              <a:rPr lang="es-MX" b="0" dirty="0"/>
              <a:t> </a:t>
            </a:r>
            <a:r>
              <a:rPr lang="es-MX" b="0" dirty="0" err="1"/>
              <a:t>move</a:t>
            </a:r>
            <a:r>
              <a:rPr lang="es-MX" b="0" dirty="0"/>
              <a:t> one step </a:t>
            </a:r>
            <a:r>
              <a:rPr lang="es-MX" b="0" dirty="0" err="1"/>
              <a:t>further</a:t>
            </a:r>
            <a:r>
              <a:rPr lang="es-MX" b="0" dirty="0"/>
              <a:t>. </a:t>
            </a:r>
            <a:r>
              <a:rPr lang="es-MX" b="0" dirty="0" err="1"/>
              <a:t>They</a:t>
            </a:r>
            <a:r>
              <a:rPr lang="es-MX" b="0" dirty="0"/>
              <a:t> can </a:t>
            </a:r>
            <a:r>
              <a:rPr lang="es-MX" b="0" dirty="0" err="1"/>
              <a:t>reason</a:t>
            </a:r>
            <a:r>
              <a:rPr lang="es-MX" b="0" dirty="0"/>
              <a:t>, use </a:t>
            </a:r>
            <a:r>
              <a:rPr lang="es-MX" b="0" dirty="0" err="1"/>
              <a:t>tools</a:t>
            </a:r>
            <a:r>
              <a:rPr lang="es-MX" b="0" dirty="0"/>
              <a:t> and </a:t>
            </a:r>
            <a:r>
              <a:rPr lang="es-MX" b="0" dirty="0" err="1"/>
              <a:t>execute</a:t>
            </a:r>
            <a:r>
              <a:rPr lang="es-MX" b="0" dirty="0"/>
              <a:t> </a:t>
            </a:r>
            <a:r>
              <a:rPr lang="es-MX" b="0" dirty="0" err="1"/>
              <a:t>increasingly</a:t>
            </a:r>
            <a:r>
              <a:rPr lang="es-MX" b="0" dirty="0"/>
              <a:t> </a:t>
            </a:r>
            <a:r>
              <a:rPr lang="es-MX" b="0" dirty="0" err="1"/>
              <a:t>sophisticated</a:t>
            </a:r>
            <a:r>
              <a:rPr lang="es-MX" b="0" dirty="0"/>
              <a:t> </a:t>
            </a:r>
            <a:r>
              <a:rPr lang="es-MX" b="0" dirty="0" err="1"/>
              <a:t>work</a:t>
            </a:r>
            <a:r>
              <a:rPr lang="es-MX" b="0" dirty="0"/>
              <a:t> </a:t>
            </a:r>
            <a:r>
              <a:rPr lang="es-MX" b="0" dirty="0" err="1"/>
              <a:t>across</a:t>
            </a:r>
            <a:r>
              <a:rPr lang="es-MX" b="0" dirty="0"/>
              <a:t> </a:t>
            </a:r>
            <a:r>
              <a:rPr lang="es-MX" b="0" dirty="0" err="1"/>
              <a:t>many</a:t>
            </a:r>
            <a:r>
              <a:rPr lang="es-MX" b="0" dirty="0"/>
              <a:t> </a:t>
            </a:r>
            <a:r>
              <a:rPr lang="es-MX" b="0" dirty="0" err="1"/>
              <a:t>domains</a:t>
            </a:r>
            <a:r>
              <a:rPr lang="es-MX" b="0" dirty="0"/>
              <a:t>. </a:t>
            </a:r>
            <a:r>
              <a:rPr lang="es-MX" b="0" dirty="0" err="1"/>
              <a:t>We</a:t>
            </a:r>
            <a:r>
              <a:rPr lang="es-MX" b="0" dirty="0"/>
              <a:t> </a:t>
            </a:r>
            <a:r>
              <a:rPr lang="es-MX" b="0" dirty="0" err="1"/>
              <a:t>assume</a:t>
            </a:r>
            <a:r>
              <a:rPr lang="es-MX" b="0" dirty="0"/>
              <a:t> </a:t>
            </a:r>
            <a:r>
              <a:rPr lang="es-MX" b="0" dirty="0" err="1"/>
              <a:t>that</a:t>
            </a:r>
            <a:r>
              <a:rPr lang="es-MX" b="0" dirty="0"/>
              <a:t> </a:t>
            </a:r>
            <a:r>
              <a:rPr lang="es-MX" b="0" dirty="0" err="1"/>
              <a:t>capability</a:t>
            </a:r>
            <a:r>
              <a:rPr lang="es-MX" b="0" dirty="0"/>
              <a:t> </a:t>
            </a:r>
            <a:r>
              <a:rPr lang="es-MX" b="0" dirty="0" err="1"/>
              <a:t>will</a:t>
            </a:r>
            <a:r>
              <a:rPr lang="es-MX" b="0" dirty="0"/>
              <a:t> continue </a:t>
            </a:r>
            <a:r>
              <a:rPr lang="es-MX" b="0" dirty="0" err="1"/>
              <a:t>improving</a:t>
            </a:r>
            <a:r>
              <a:rPr lang="es-MX" b="0" dirty="0"/>
              <a:t>. The </a:t>
            </a:r>
            <a:r>
              <a:rPr lang="es-MX" b="0" dirty="0" err="1"/>
              <a:t>challenge</a:t>
            </a:r>
            <a:r>
              <a:rPr lang="es-MX" b="0" dirty="0"/>
              <a:t> </a:t>
            </a:r>
            <a:r>
              <a:rPr lang="es-MX" b="0" dirty="0" err="1"/>
              <a:t>for</a:t>
            </a:r>
            <a:r>
              <a:rPr lang="es-MX" b="0" dirty="0"/>
              <a:t> a </a:t>
            </a:r>
            <a:r>
              <a:rPr lang="es-MX" b="0" dirty="0" err="1"/>
              <a:t>brokerage</a:t>
            </a:r>
            <a:r>
              <a:rPr lang="es-MX" b="0" dirty="0"/>
              <a:t> </a:t>
            </a:r>
            <a:r>
              <a:rPr lang="es-MX" b="0" dirty="0" err="1"/>
              <a:t>is</a:t>
            </a:r>
            <a:r>
              <a:rPr lang="es-MX" b="0" dirty="0"/>
              <a:t> </a:t>
            </a:r>
            <a:r>
              <a:rPr lang="es-MX" b="0" dirty="0" err="1"/>
              <a:t>that</a:t>
            </a:r>
            <a:r>
              <a:rPr lang="es-MX" b="0" dirty="0"/>
              <a:t> </a:t>
            </a:r>
            <a:r>
              <a:rPr lang="es-MX" b="0" dirty="0" err="1"/>
              <a:t>using</a:t>
            </a:r>
            <a:r>
              <a:rPr lang="es-MX" b="0" dirty="0"/>
              <a:t> a </a:t>
            </a:r>
            <a:r>
              <a:rPr lang="es-MX" b="0" dirty="0" err="1"/>
              <a:t>generic</a:t>
            </a:r>
            <a:r>
              <a:rPr lang="es-MX" b="0" dirty="0"/>
              <a:t> </a:t>
            </a:r>
            <a:r>
              <a:rPr lang="es-MX" b="0" dirty="0" err="1"/>
              <a:t>agent</a:t>
            </a:r>
            <a:r>
              <a:rPr lang="es-MX" b="0" dirty="0"/>
              <a:t> </a:t>
            </a:r>
            <a:r>
              <a:rPr lang="es-MX" b="0" dirty="0" err="1"/>
              <a:t>for</a:t>
            </a:r>
            <a:r>
              <a:rPr lang="es-MX" b="0" dirty="0"/>
              <a:t> </a:t>
            </a:r>
            <a:r>
              <a:rPr lang="es-MX" b="0" dirty="0" err="1"/>
              <a:t>serious</a:t>
            </a:r>
            <a:r>
              <a:rPr lang="es-MX" b="0" dirty="0"/>
              <a:t> </a:t>
            </a:r>
            <a:r>
              <a:rPr lang="es-MX" b="0" dirty="0" err="1"/>
              <a:t>operations</a:t>
            </a:r>
            <a:r>
              <a:rPr lang="es-MX" b="0" dirty="0"/>
              <a:t> </a:t>
            </a:r>
            <a:r>
              <a:rPr lang="es-MX" b="0" dirty="0" err="1"/>
              <a:t>still</a:t>
            </a:r>
            <a:r>
              <a:rPr lang="es-MX" b="0" dirty="0"/>
              <a:t> </a:t>
            </a:r>
            <a:r>
              <a:rPr lang="es-MX" b="0" dirty="0" err="1"/>
              <a:t>requires</a:t>
            </a:r>
            <a:r>
              <a:rPr lang="es-MX" b="0" dirty="0"/>
              <a:t> </a:t>
            </a:r>
            <a:r>
              <a:rPr lang="es-MX" b="0" dirty="0" err="1"/>
              <a:t>assembling</a:t>
            </a:r>
            <a:r>
              <a:rPr lang="es-MX" b="0" dirty="0"/>
              <a:t> and </a:t>
            </a:r>
            <a:r>
              <a:rPr lang="es-MX" b="0" dirty="0" err="1"/>
              <a:t>governing</a:t>
            </a:r>
            <a:r>
              <a:rPr lang="es-MX" b="0" dirty="0"/>
              <a:t> the real-estate </a:t>
            </a:r>
            <a:r>
              <a:rPr lang="es-MX" b="0" dirty="0" err="1"/>
              <a:t>operating</a:t>
            </a:r>
            <a:r>
              <a:rPr lang="es-MX" b="0" dirty="0"/>
              <a:t> </a:t>
            </a:r>
            <a:r>
              <a:rPr lang="es-MX" b="0" dirty="0" err="1"/>
              <a:t>layer</a:t>
            </a:r>
            <a:r>
              <a:rPr lang="es-MX" b="0" dirty="0"/>
              <a:t> </a:t>
            </a:r>
            <a:r>
              <a:rPr lang="es-MX" b="0" dirty="0" err="1"/>
              <a:t>around</a:t>
            </a:r>
            <a:r>
              <a:rPr lang="es-MX" b="0" dirty="0"/>
              <a:t> </a:t>
            </a:r>
            <a:r>
              <a:rPr lang="es-MX" b="0" dirty="0" err="1"/>
              <a:t>it</a:t>
            </a:r>
            <a:r>
              <a:rPr lang="es-MX" b="0" dirty="0"/>
              <a:t> — the </a:t>
            </a:r>
            <a:r>
              <a:rPr lang="es-MX" b="0" dirty="0" err="1"/>
              <a:t>domain</a:t>
            </a:r>
            <a:r>
              <a:rPr lang="es-MX" b="0" dirty="0"/>
              <a:t> </a:t>
            </a:r>
            <a:r>
              <a:rPr lang="es-MX" b="0" dirty="0" err="1"/>
              <a:t>context</a:t>
            </a:r>
            <a:r>
              <a:rPr lang="es-MX" b="0" dirty="0"/>
              <a:t>, </a:t>
            </a:r>
            <a:r>
              <a:rPr lang="es-MX" b="0" dirty="0" err="1"/>
              <a:t>workflows</a:t>
            </a:r>
            <a:r>
              <a:rPr lang="es-MX" b="0" dirty="0"/>
              <a:t>, </a:t>
            </a:r>
            <a:r>
              <a:rPr lang="es-MX" b="0" dirty="0" err="1"/>
              <a:t>integrations</a:t>
            </a:r>
            <a:r>
              <a:rPr lang="es-MX" b="0" dirty="0"/>
              <a:t>, </a:t>
            </a:r>
            <a:r>
              <a:rPr lang="es-MX" b="0" dirty="0" err="1"/>
              <a:t>permissions</a:t>
            </a:r>
            <a:r>
              <a:rPr lang="es-MX" b="0" dirty="0"/>
              <a:t>, </a:t>
            </a:r>
            <a:r>
              <a:rPr lang="es-MX" b="0" dirty="0" err="1"/>
              <a:t>business</a:t>
            </a:r>
            <a:r>
              <a:rPr lang="es-MX" b="0" dirty="0"/>
              <a:t> </a:t>
            </a:r>
            <a:r>
              <a:rPr lang="es-MX" b="0" dirty="0" err="1"/>
              <a:t>state</a:t>
            </a:r>
            <a:r>
              <a:rPr lang="es-MX" b="0" dirty="0"/>
              <a:t> and </a:t>
            </a:r>
            <a:r>
              <a:rPr lang="es-MX" b="0" dirty="0" err="1"/>
              <a:t>verification</a:t>
            </a:r>
            <a:r>
              <a:rPr lang="es-MX" b="0" dirty="0"/>
              <a:t>.</a:t>
            </a:r>
          </a:p>
          <a:p>
            <a:endParaRPr lang="es-MX" b="0" dirty="0"/>
          </a:p>
          <a:p>
            <a:r>
              <a:rPr lang="es-MX" b="0" dirty="0"/>
              <a:t>The </a:t>
            </a:r>
            <a:r>
              <a:rPr lang="es-MX" b="0" dirty="0" err="1"/>
              <a:t>closest</a:t>
            </a:r>
            <a:r>
              <a:rPr lang="es-MX" b="0" dirty="0"/>
              <a:t> competitive </a:t>
            </a:r>
            <a:r>
              <a:rPr lang="es-MX" b="0" dirty="0" err="1"/>
              <a:t>category</a:t>
            </a:r>
            <a:r>
              <a:rPr lang="es-MX" b="0" dirty="0"/>
              <a:t> </a:t>
            </a:r>
            <a:r>
              <a:rPr lang="es-MX" b="0" dirty="0" err="1"/>
              <a:t>for</a:t>
            </a:r>
            <a:r>
              <a:rPr lang="es-MX" b="0" dirty="0"/>
              <a:t> </a:t>
            </a:r>
            <a:r>
              <a:rPr lang="es-MX" b="0" dirty="0" err="1"/>
              <a:t>us</a:t>
            </a:r>
            <a:r>
              <a:rPr lang="es-MX" b="0" dirty="0"/>
              <a:t> </a:t>
            </a:r>
            <a:r>
              <a:rPr lang="es-MX" b="0" dirty="0" err="1"/>
              <a:t>is</a:t>
            </a:r>
            <a:r>
              <a:rPr lang="es-MX" b="0" dirty="0"/>
              <a:t> vertical </a:t>
            </a:r>
            <a:r>
              <a:rPr lang="es-MX" b="0" dirty="0" err="1"/>
              <a:t>agentic</a:t>
            </a:r>
            <a:r>
              <a:rPr lang="es-MX" b="0" dirty="0"/>
              <a:t> </a:t>
            </a:r>
            <a:r>
              <a:rPr lang="es-MX" b="0" dirty="0" err="1"/>
              <a:t>platforms</a:t>
            </a:r>
            <a:r>
              <a:rPr lang="es-MX" b="0" dirty="0"/>
              <a:t>. </a:t>
            </a:r>
            <a:r>
              <a:rPr lang="es-MX" b="0" dirty="0" err="1"/>
              <a:t>We</a:t>
            </a:r>
            <a:r>
              <a:rPr lang="es-MX" b="0" dirty="0"/>
              <a:t> do </a:t>
            </a:r>
            <a:r>
              <a:rPr lang="es-MX" b="0" dirty="0" err="1"/>
              <a:t>not</a:t>
            </a:r>
            <a:r>
              <a:rPr lang="es-MX" b="0" dirty="0"/>
              <a:t> </a:t>
            </a:r>
            <a:r>
              <a:rPr lang="es-MX" b="0" dirty="0" err="1"/>
              <a:t>assume</a:t>
            </a:r>
            <a:r>
              <a:rPr lang="es-MX" b="0" dirty="0"/>
              <a:t> </a:t>
            </a:r>
            <a:r>
              <a:rPr lang="es-MX" b="0" dirty="0" err="1"/>
              <a:t>that</a:t>
            </a:r>
            <a:r>
              <a:rPr lang="es-MX" b="0" dirty="0"/>
              <a:t> </a:t>
            </a:r>
            <a:r>
              <a:rPr lang="es-MX" b="0" dirty="0" err="1"/>
              <a:t>having</a:t>
            </a:r>
            <a:r>
              <a:rPr lang="es-MX" b="0" dirty="0"/>
              <a:t> </a:t>
            </a:r>
            <a:r>
              <a:rPr lang="es-MX" b="0" dirty="0" err="1"/>
              <a:t>agents</a:t>
            </a:r>
            <a:r>
              <a:rPr lang="es-MX" b="0" dirty="0"/>
              <a:t> </a:t>
            </a:r>
            <a:r>
              <a:rPr lang="es-MX" b="0" dirty="0" err="1"/>
              <a:t>is</a:t>
            </a:r>
            <a:r>
              <a:rPr lang="es-MX" b="0" dirty="0"/>
              <a:t> </a:t>
            </a:r>
            <a:r>
              <a:rPr lang="es-MX" b="0" dirty="0" err="1"/>
              <a:t>itself</a:t>
            </a:r>
            <a:r>
              <a:rPr lang="es-MX" b="0" dirty="0"/>
              <a:t> a </a:t>
            </a:r>
            <a:r>
              <a:rPr lang="es-MX" b="0" dirty="0" err="1"/>
              <a:t>differentiator</a:t>
            </a:r>
            <a:r>
              <a:rPr lang="es-MX" b="0" dirty="0"/>
              <a:t>. </a:t>
            </a:r>
            <a:r>
              <a:rPr lang="es-MX" b="0" dirty="0" err="1"/>
              <a:t>We</a:t>
            </a:r>
            <a:r>
              <a:rPr lang="es-MX" b="0" dirty="0"/>
              <a:t> </a:t>
            </a:r>
            <a:r>
              <a:rPr lang="es-MX" b="0" dirty="0" err="1"/>
              <a:t>think</a:t>
            </a:r>
            <a:r>
              <a:rPr lang="es-MX" b="0" dirty="0"/>
              <a:t> the real </a:t>
            </a:r>
            <a:r>
              <a:rPr lang="es-MX" b="0" dirty="0" err="1"/>
              <a:t>battleground</a:t>
            </a:r>
            <a:r>
              <a:rPr lang="es-MX" b="0" dirty="0"/>
              <a:t> </a:t>
            </a:r>
            <a:r>
              <a:rPr lang="es-MX" b="0" dirty="0" err="1"/>
              <a:t>will</a:t>
            </a:r>
            <a:r>
              <a:rPr lang="es-MX" b="0" dirty="0"/>
              <a:t> be </a:t>
            </a:r>
            <a:r>
              <a:rPr lang="es-MX" b="0" dirty="0" err="1"/>
              <a:t>who</a:t>
            </a:r>
            <a:r>
              <a:rPr lang="es-MX" b="0" dirty="0"/>
              <a:t> </a:t>
            </a:r>
            <a:r>
              <a:rPr lang="es-MX" b="0" dirty="0" err="1"/>
              <a:t>builds</a:t>
            </a:r>
            <a:r>
              <a:rPr lang="es-MX" b="0" dirty="0"/>
              <a:t> the </a:t>
            </a:r>
            <a:r>
              <a:rPr lang="es-MX" b="0" dirty="0" err="1"/>
              <a:t>strongest</a:t>
            </a:r>
            <a:r>
              <a:rPr lang="es-MX" b="0" dirty="0"/>
              <a:t> </a:t>
            </a:r>
            <a:r>
              <a:rPr lang="es-MX" b="0" dirty="0" err="1"/>
              <a:t>cross-workflow</a:t>
            </a:r>
            <a:r>
              <a:rPr lang="es-MX" b="0" dirty="0"/>
              <a:t> </a:t>
            </a:r>
            <a:r>
              <a:rPr lang="es-MX" b="0" dirty="0" err="1"/>
              <a:t>operating</a:t>
            </a:r>
            <a:r>
              <a:rPr lang="es-MX" b="0" dirty="0"/>
              <a:t> </a:t>
            </a:r>
            <a:r>
              <a:rPr lang="es-MX" b="0" dirty="0" err="1"/>
              <a:t>intelligence</a:t>
            </a:r>
            <a:r>
              <a:rPr lang="es-MX" b="0" dirty="0"/>
              <a:t> and </a:t>
            </a:r>
            <a:r>
              <a:rPr lang="es-MX" b="0" dirty="0" err="1"/>
              <a:t>execution</a:t>
            </a:r>
            <a:r>
              <a:rPr lang="es-MX" b="0" dirty="0"/>
              <a:t> </a:t>
            </a:r>
            <a:r>
              <a:rPr lang="es-MX" b="0" dirty="0" err="1"/>
              <a:t>layer</a:t>
            </a:r>
            <a:r>
              <a:rPr lang="es-MX" b="0" dirty="0"/>
              <a:t> </a:t>
            </a:r>
            <a:r>
              <a:rPr lang="es-MX" b="0" dirty="0" err="1"/>
              <a:t>for</a:t>
            </a:r>
            <a:r>
              <a:rPr lang="es-MX" b="0" dirty="0"/>
              <a:t> the </a:t>
            </a:r>
            <a:r>
              <a:rPr lang="es-MX" b="0" dirty="0" err="1"/>
              <a:t>industry</a:t>
            </a:r>
            <a:r>
              <a:rPr lang="es-MX" b="0" dirty="0"/>
              <a:t>.</a:t>
            </a:r>
          </a:p>
          <a:p>
            <a:endParaRPr lang="es-MX" b="0" dirty="0"/>
          </a:p>
          <a:p>
            <a:r>
              <a:rPr lang="es-MX" b="0" dirty="0"/>
              <a:t>KOVA </a:t>
            </a:r>
            <a:r>
              <a:rPr lang="es-MX" b="0" dirty="0" err="1"/>
              <a:t>is</a:t>
            </a:r>
            <a:r>
              <a:rPr lang="es-MX" b="0" dirty="0"/>
              <a:t> </a:t>
            </a:r>
            <a:r>
              <a:rPr lang="es-MX" b="0" dirty="0" err="1"/>
              <a:t>particularly</a:t>
            </a:r>
            <a:r>
              <a:rPr lang="es-MX" b="0" dirty="0"/>
              <a:t> </a:t>
            </a:r>
            <a:r>
              <a:rPr lang="es-MX" b="0" dirty="0" err="1"/>
              <a:t>relevant</a:t>
            </a:r>
            <a:r>
              <a:rPr lang="es-MX" b="0" dirty="0"/>
              <a:t> </a:t>
            </a:r>
            <a:r>
              <a:rPr lang="es-MX" b="0" dirty="0" err="1"/>
              <a:t>because</a:t>
            </a:r>
            <a:r>
              <a:rPr lang="es-MX" b="0" dirty="0"/>
              <a:t> </a:t>
            </a:r>
            <a:r>
              <a:rPr lang="es-MX" b="0" dirty="0" err="1"/>
              <a:t>it</a:t>
            </a:r>
            <a:r>
              <a:rPr lang="es-MX" b="0" dirty="0"/>
              <a:t> </a:t>
            </a:r>
            <a:r>
              <a:rPr lang="es-MX" b="0" dirty="0" err="1"/>
              <a:t>overlaps</a:t>
            </a:r>
            <a:r>
              <a:rPr lang="es-MX" b="0" dirty="0"/>
              <a:t> </a:t>
            </a:r>
            <a:r>
              <a:rPr lang="es-MX" b="0" dirty="0" err="1"/>
              <a:t>directly</a:t>
            </a:r>
            <a:r>
              <a:rPr lang="es-MX" b="0" dirty="0"/>
              <a:t> </a:t>
            </a:r>
            <a:r>
              <a:rPr lang="es-MX" b="0" dirty="0" err="1"/>
              <a:t>with</a:t>
            </a:r>
            <a:r>
              <a:rPr lang="es-MX" b="0" dirty="0"/>
              <a:t> </a:t>
            </a:r>
            <a:r>
              <a:rPr lang="es-MX" b="0" dirty="0" err="1"/>
              <a:t>our</a:t>
            </a:r>
            <a:r>
              <a:rPr lang="es-MX" b="0" dirty="0"/>
              <a:t> Mexican </a:t>
            </a:r>
            <a:r>
              <a:rPr lang="es-MX" b="0" dirty="0" err="1"/>
              <a:t>brokerage</a:t>
            </a:r>
            <a:r>
              <a:rPr lang="es-MX" b="0" dirty="0"/>
              <a:t> </a:t>
            </a:r>
            <a:r>
              <a:rPr lang="es-MX" b="0" dirty="0" err="1"/>
              <a:t>market</a:t>
            </a:r>
            <a:r>
              <a:rPr lang="es-MX" b="0" dirty="0"/>
              <a:t>. </a:t>
            </a:r>
            <a:r>
              <a:rPr lang="es-MX" b="0" dirty="0" err="1"/>
              <a:t>Its</a:t>
            </a:r>
            <a:r>
              <a:rPr lang="es-MX" b="0" dirty="0"/>
              <a:t> </a:t>
            </a:r>
            <a:r>
              <a:rPr lang="es-MX" b="0" dirty="0" err="1"/>
              <a:t>public</a:t>
            </a:r>
            <a:r>
              <a:rPr lang="es-MX" b="0" dirty="0"/>
              <a:t> </a:t>
            </a:r>
            <a:r>
              <a:rPr lang="es-MX" b="0" dirty="0" err="1"/>
              <a:t>positioning</a:t>
            </a:r>
            <a:r>
              <a:rPr lang="es-MX" b="0" dirty="0"/>
              <a:t> </a:t>
            </a:r>
            <a:r>
              <a:rPr lang="es-MX" b="0" dirty="0" err="1"/>
              <a:t>is</a:t>
            </a:r>
            <a:r>
              <a:rPr lang="es-MX" b="0" dirty="0"/>
              <a:t> “the </a:t>
            </a:r>
            <a:r>
              <a:rPr lang="es-MX" b="0" dirty="0" err="1"/>
              <a:t>operating</a:t>
            </a:r>
            <a:r>
              <a:rPr lang="es-MX" b="0" dirty="0"/>
              <a:t> </a:t>
            </a:r>
            <a:r>
              <a:rPr lang="es-MX" b="0" dirty="0" err="1"/>
              <a:t>system</a:t>
            </a:r>
            <a:r>
              <a:rPr lang="es-MX" b="0" dirty="0"/>
              <a:t> </a:t>
            </a:r>
            <a:r>
              <a:rPr lang="es-MX" b="0" dirty="0" err="1"/>
              <a:t>with</a:t>
            </a:r>
            <a:r>
              <a:rPr lang="es-MX" b="0" dirty="0"/>
              <a:t> AI </a:t>
            </a:r>
            <a:r>
              <a:rPr lang="es-MX" b="0" dirty="0" err="1"/>
              <a:t>for</a:t>
            </a:r>
            <a:r>
              <a:rPr lang="es-MX" b="0" dirty="0"/>
              <a:t> real-estate </a:t>
            </a:r>
            <a:r>
              <a:rPr lang="es-MX" b="0" dirty="0" err="1"/>
              <a:t>companies</a:t>
            </a:r>
            <a:r>
              <a:rPr lang="es-MX" b="0" dirty="0"/>
              <a:t>,” and </a:t>
            </a:r>
            <a:r>
              <a:rPr lang="es-MX" b="0" dirty="0" err="1"/>
              <a:t>it</a:t>
            </a:r>
            <a:r>
              <a:rPr lang="es-MX" b="0" dirty="0"/>
              <a:t> </a:t>
            </a:r>
            <a:r>
              <a:rPr lang="es-MX" b="0" dirty="0" err="1"/>
              <a:t>already</a:t>
            </a:r>
            <a:r>
              <a:rPr lang="es-MX" b="0" dirty="0"/>
              <a:t> combines CRM </a:t>
            </a:r>
            <a:r>
              <a:rPr lang="es-MX" b="0" dirty="0" err="1"/>
              <a:t>functionality</a:t>
            </a:r>
            <a:r>
              <a:rPr lang="es-MX" b="0" dirty="0"/>
              <a:t>, WhatsApp </a:t>
            </a:r>
            <a:r>
              <a:rPr lang="es-MX" b="0" dirty="0" err="1"/>
              <a:t>operation</a:t>
            </a:r>
            <a:r>
              <a:rPr lang="es-MX" b="0" dirty="0"/>
              <a:t> and AI </a:t>
            </a:r>
            <a:r>
              <a:rPr lang="es-MX" b="0" dirty="0" err="1"/>
              <a:t>automation</a:t>
            </a:r>
            <a:r>
              <a:rPr lang="es-MX" b="0" dirty="0"/>
              <a:t>. </a:t>
            </a:r>
            <a:r>
              <a:rPr lang="es-MX" b="0" dirty="0" err="1"/>
              <a:t>Publicly</a:t>
            </a:r>
            <a:r>
              <a:rPr lang="es-MX" b="0" dirty="0"/>
              <a:t>, </a:t>
            </a:r>
            <a:r>
              <a:rPr lang="es-MX" b="0" dirty="0" err="1"/>
              <a:t>however</a:t>
            </a:r>
            <a:r>
              <a:rPr lang="es-MX" b="0" dirty="0"/>
              <a:t>, the </a:t>
            </a:r>
            <a:r>
              <a:rPr lang="es-MX" b="0" dirty="0" err="1"/>
              <a:t>product</a:t>
            </a:r>
            <a:r>
              <a:rPr lang="es-MX" b="0" dirty="0"/>
              <a:t> </a:t>
            </a:r>
            <a:r>
              <a:rPr lang="es-MX" b="0" dirty="0" err="1"/>
              <a:t>still</a:t>
            </a:r>
            <a:r>
              <a:rPr lang="es-MX" b="0" dirty="0"/>
              <a:t> </a:t>
            </a:r>
            <a:r>
              <a:rPr lang="es-MX" b="0" dirty="0" err="1"/>
              <a:t>appears</a:t>
            </a:r>
            <a:r>
              <a:rPr lang="es-MX" b="0" dirty="0"/>
              <a:t> </a:t>
            </a:r>
            <a:r>
              <a:rPr lang="es-MX" b="0" dirty="0" err="1"/>
              <a:t>relatively</a:t>
            </a:r>
            <a:r>
              <a:rPr lang="es-MX" b="0" dirty="0"/>
              <a:t> </a:t>
            </a:r>
            <a:r>
              <a:rPr lang="es-MX" b="0" dirty="0" err="1"/>
              <a:t>hybrid</a:t>
            </a:r>
            <a:r>
              <a:rPr lang="es-MX" b="0" dirty="0"/>
              <a:t>: </a:t>
            </a:r>
            <a:r>
              <a:rPr lang="es-MX" b="0" dirty="0" err="1"/>
              <a:t>there</a:t>
            </a:r>
            <a:r>
              <a:rPr lang="es-MX" b="0" dirty="0"/>
              <a:t> are </a:t>
            </a:r>
            <a:r>
              <a:rPr lang="es-MX" b="0" dirty="0" err="1"/>
              <a:t>important</a:t>
            </a:r>
            <a:r>
              <a:rPr lang="es-MX" b="0" dirty="0"/>
              <a:t> </a:t>
            </a:r>
            <a:r>
              <a:rPr lang="es-MX" b="0" dirty="0" err="1"/>
              <a:t>traditional</a:t>
            </a:r>
            <a:r>
              <a:rPr lang="es-MX" b="0" dirty="0"/>
              <a:t> software </a:t>
            </a:r>
            <a:r>
              <a:rPr lang="es-MX" b="0" dirty="0" err="1"/>
              <a:t>surfaces</a:t>
            </a:r>
            <a:r>
              <a:rPr lang="es-MX" b="0" dirty="0"/>
              <a:t> and </a:t>
            </a:r>
            <a:r>
              <a:rPr lang="es-MX" b="0" dirty="0" err="1"/>
              <a:t>workflows</a:t>
            </a:r>
            <a:r>
              <a:rPr lang="es-MX" b="0" dirty="0"/>
              <a:t> </a:t>
            </a:r>
            <a:r>
              <a:rPr lang="es-MX" b="0" dirty="0" err="1"/>
              <a:t>that</a:t>
            </a:r>
            <a:r>
              <a:rPr lang="es-MX" b="0" dirty="0"/>
              <a:t> </a:t>
            </a:r>
            <a:r>
              <a:rPr lang="es-MX" b="0" dirty="0" err="1"/>
              <a:t>users</a:t>
            </a:r>
            <a:r>
              <a:rPr lang="es-MX" b="0" dirty="0"/>
              <a:t> </a:t>
            </a:r>
            <a:r>
              <a:rPr lang="es-MX" b="0" dirty="0" err="1"/>
              <a:t>operate</a:t>
            </a:r>
            <a:r>
              <a:rPr lang="es-MX" b="0" dirty="0"/>
              <a:t>, </a:t>
            </a:r>
            <a:r>
              <a:rPr lang="es-MX" b="0" dirty="0" err="1"/>
              <a:t>alongside</a:t>
            </a:r>
            <a:r>
              <a:rPr lang="es-MX" b="0" dirty="0"/>
              <a:t> AI </a:t>
            </a:r>
            <a:r>
              <a:rPr lang="es-MX" b="0" dirty="0" err="1"/>
              <a:t>that</a:t>
            </a:r>
            <a:r>
              <a:rPr lang="es-MX" b="0" dirty="0"/>
              <a:t> </a:t>
            </a:r>
            <a:r>
              <a:rPr lang="es-MX" b="0" dirty="0" err="1"/>
              <a:t>recommends</a:t>
            </a:r>
            <a:r>
              <a:rPr lang="es-MX" b="0" dirty="0"/>
              <a:t> and </a:t>
            </a:r>
            <a:r>
              <a:rPr lang="es-MX" b="0" dirty="0" err="1"/>
              <a:t>automates</a:t>
            </a:r>
            <a:r>
              <a:rPr lang="es-MX" b="0" dirty="0"/>
              <a:t> </a:t>
            </a:r>
            <a:r>
              <a:rPr lang="es-MX" b="0" dirty="0" err="1"/>
              <a:t>parts</a:t>
            </a:r>
            <a:r>
              <a:rPr lang="es-MX" b="0" dirty="0"/>
              <a:t> </a:t>
            </a:r>
            <a:r>
              <a:rPr lang="es-MX" b="0" dirty="0" err="1"/>
              <a:t>of</a:t>
            </a:r>
            <a:r>
              <a:rPr lang="es-MX" b="0" dirty="0"/>
              <a:t> the </a:t>
            </a:r>
            <a:r>
              <a:rPr lang="es-MX" b="0" dirty="0" err="1"/>
              <a:t>work</a:t>
            </a:r>
            <a:r>
              <a:rPr lang="es-MX" b="0" dirty="0"/>
              <a:t>. For </a:t>
            </a:r>
            <a:r>
              <a:rPr lang="es-MX" b="0" dirty="0" err="1"/>
              <a:t>example</a:t>
            </a:r>
            <a:r>
              <a:rPr lang="es-MX" b="0" dirty="0"/>
              <a:t>, KOVA </a:t>
            </a:r>
            <a:r>
              <a:rPr lang="es-MX" b="0" dirty="0" err="1"/>
              <a:t>presents</a:t>
            </a:r>
            <a:r>
              <a:rPr lang="es-MX" b="0" dirty="0"/>
              <a:t> </a:t>
            </a:r>
            <a:r>
              <a:rPr lang="es-MX" b="0" dirty="0" err="1"/>
              <a:t>both</a:t>
            </a:r>
            <a:r>
              <a:rPr lang="es-MX" b="0" dirty="0"/>
              <a:t> </a:t>
            </a:r>
            <a:r>
              <a:rPr lang="es-MX" b="0" dirty="0" err="1"/>
              <a:t>automatic</a:t>
            </a:r>
            <a:r>
              <a:rPr lang="es-MX" b="0" dirty="0"/>
              <a:t> WhatsApp </a:t>
            </a:r>
            <a:r>
              <a:rPr lang="es-MX" b="0" dirty="0" err="1"/>
              <a:t>operation</a:t>
            </a:r>
            <a:r>
              <a:rPr lang="es-MX" b="0" dirty="0"/>
              <a:t> and more </a:t>
            </a:r>
            <a:r>
              <a:rPr lang="es-MX" b="0" dirty="0" err="1"/>
              <a:t>conventional</a:t>
            </a:r>
            <a:r>
              <a:rPr lang="es-MX" b="0" dirty="0"/>
              <a:t> pipeline/CRM </a:t>
            </a:r>
            <a:r>
              <a:rPr lang="es-MX" b="0" dirty="0" err="1"/>
              <a:t>patterns</a:t>
            </a:r>
            <a:r>
              <a:rPr lang="es-MX" b="0" dirty="0"/>
              <a:t>. So </a:t>
            </a:r>
            <a:r>
              <a:rPr lang="es-MX" b="0" dirty="0" err="1"/>
              <a:t>our</a:t>
            </a:r>
            <a:r>
              <a:rPr lang="es-MX" b="0" dirty="0"/>
              <a:t> </a:t>
            </a:r>
            <a:r>
              <a:rPr lang="es-MX" b="0" dirty="0" err="1"/>
              <a:t>differentiation</a:t>
            </a:r>
            <a:r>
              <a:rPr lang="es-MX" b="0" dirty="0"/>
              <a:t> </a:t>
            </a:r>
            <a:r>
              <a:rPr lang="es-MX" b="0" dirty="0" err="1"/>
              <a:t>is</a:t>
            </a:r>
            <a:r>
              <a:rPr lang="es-MX" b="0" dirty="0"/>
              <a:t> </a:t>
            </a:r>
            <a:r>
              <a:rPr lang="es-MX" b="0" dirty="0" err="1"/>
              <a:t>not</a:t>
            </a:r>
            <a:r>
              <a:rPr lang="es-MX" b="0" dirty="0"/>
              <a:t> </a:t>
            </a:r>
            <a:r>
              <a:rPr lang="es-MX" b="0" dirty="0" err="1"/>
              <a:t>that</a:t>
            </a:r>
            <a:r>
              <a:rPr lang="es-MX" b="0" dirty="0"/>
              <a:t> KOVA “</a:t>
            </a:r>
            <a:r>
              <a:rPr lang="es-MX" b="0" dirty="0" err="1"/>
              <a:t>doesn't</a:t>
            </a:r>
            <a:r>
              <a:rPr lang="es-MX" b="0" dirty="0"/>
              <a:t> </a:t>
            </a:r>
            <a:r>
              <a:rPr lang="es-MX" b="0" dirty="0" err="1"/>
              <a:t>have</a:t>
            </a:r>
            <a:r>
              <a:rPr lang="es-MX" b="0" dirty="0"/>
              <a:t> AI”; </a:t>
            </a:r>
            <a:r>
              <a:rPr lang="es-MX" b="0" dirty="0" err="1"/>
              <a:t>it</a:t>
            </a:r>
            <a:r>
              <a:rPr lang="es-MX" b="0" dirty="0"/>
              <a:t> </a:t>
            </a:r>
            <a:r>
              <a:rPr lang="es-MX" b="0" dirty="0" err="1"/>
              <a:t>clearly</a:t>
            </a:r>
            <a:r>
              <a:rPr lang="es-MX" b="0" dirty="0"/>
              <a:t> </a:t>
            </a:r>
            <a:r>
              <a:rPr lang="es-MX" b="0" dirty="0" err="1"/>
              <a:t>does</a:t>
            </a:r>
            <a:r>
              <a:rPr lang="es-MX" b="0" dirty="0"/>
              <a:t>. </a:t>
            </a:r>
            <a:r>
              <a:rPr lang="es-MX" b="0" dirty="0" err="1"/>
              <a:t>Our</a:t>
            </a:r>
            <a:r>
              <a:rPr lang="es-MX" b="0" dirty="0"/>
              <a:t> </a:t>
            </a:r>
            <a:r>
              <a:rPr lang="es-MX" b="0" dirty="0" err="1"/>
              <a:t>direction</a:t>
            </a:r>
            <a:r>
              <a:rPr lang="es-MX" b="0" dirty="0"/>
              <a:t> </a:t>
            </a:r>
            <a:r>
              <a:rPr lang="es-MX" b="0" dirty="0" err="1"/>
              <a:t>is</a:t>
            </a:r>
            <a:r>
              <a:rPr lang="es-MX" b="0" dirty="0"/>
              <a:t> more </a:t>
            </a:r>
            <a:r>
              <a:rPr lang="es-MX" b="0" dirty="0" err="1"/>
              <a:t>explicitly</a:t>
            </a:r>
            <a:r>
              <a:rPr lang="es-MX" b="0" dirty="0"/>
              <a:t> </a:t>
            </a:r>
            <a:r>
              <a:rPr lang="es-MX" b="0" dirty="0" err="1"/>
              <a:t>toward</a:t>
            </a:r>
            <a:r>
              <a:rPr lang="es-MX" b="0" dirty="0"/>
              <a:t> </a:t>
            </a:r>
            <a:r>
              <a:rPr lang="es-MX" b="0" dirty="0" err="1"/>
              <a:t>delegating</a:t>
            </a:r>
            <a:r>
              <a:rPr lang="es-MX" b="0" dirty="0"/>
              <a:t> </a:t>
            </a:r>
            <a:r>
              <a:rPr lang="es-MX" b="0" dirty="0" err="1"/>
              <a:t>end-to-end</a:t>
            </a:r>
            <a:r>
              <a:rPr lang="es-MX" b="0" dirty="0"/>
              <a:t> </a:t>
            </a:r>
            <a:r>
              <a:rPr lang="es-MX" b="0" dirty="0" err="1"/>
              <a:t>work</a:t>
            </a:r>
            <a:r>
              <a:rPr lang="es-MX" b="0" dirty="0"/>
              <a:t> </a:t>
            </a:r>
            <a:r>
              <a:rPr lang="es-MX" b="0" dirty="0" err="1"/>
              <a:t>to</a:t>
            </a:r>
            <a:r>
              <a:rPr lang="es-MX" b="0" dirty="0"/>
              <a:t> </a:t>
            </a:r>
            <a:r>
              <a:rPr lang="es-MX" b="0" dirty="0" err="1"/>
              <a:t>Gu</a:t>
            </a:r>
            <a:r>
              <a:rPr lang="es-MX" b="0" dirty="0"/>
              <a:t> </a:t>
            </a:r>
            <a:r>
              <a:rPr lang="es-MX" b="0" dirty="0" err="1"/>
              <a:t>rather</a:t>
            </a:r>
            <a:r>
              <a:rPr lang="es-MX" b="0" dirty="0"/>
              <a:t> </a:t>
            </a:r>
            <a:r>
              <a:rPr lang="es-MX" b="0" dirty="0" err="1"/>
              <a:t>than</a:t>
            </a:r>
            <a:r>
              <a:rPr lang="es-MX" b="0" dirty="0"/>
              <a:t> </a:t>
            </a:r>
            <a:r>
              <a:rPr lang="es-MX" b="0" dirty="0" err="1"/>
              <a:t>having</a:t>
            </a:r>
            <a:r>
              <a:rPr lang="es-MX" b="0" dirty="0"/>
              <a:t> the </a:t>
            </a:r>
            <a:r>
              <a:rPr lang="es-MX" b="0" dirty="0" err="1"/>
              <a:t>user</a:t>
            </a:r>
            <a:r>
              <a:rPr lang="es-MX" b="0" dirty="0"/>
              <a:t> </a:t>
            </a:r>
            <a:r>
              <a:rPr lang="es-MX" b="0" dirty="0" err="1"/>
              <a:t>remain</a:t>
            </a:r>
            <a:r>
              <a:rPr lang="es-MX" b="0" dirty="0"/>
              <a:t> the </a:t>
            </a:r>
            <a:r>
              <a:rPr lang="es-MX" b="0" dirty="0" err="1"/>
              <a:t>primary</a:t>
            </a:r>
            <a:r>
              <a:rPr lang="es-MX" b="0" dirty="0"/>
              <a:t> </a:t>
            </a:r>
            <a:r>
              <a:rPr lang="es-MX" b="0" dirty="0" err="1"/>
              <a:t>operator</a:t>
            </a:r>
            <a:r>
              <a:rPr lang="es-MX" b="0" dirty="0"/>
              <a:t> </a:t>
            </a:r>
            <a:r>
              <a:rPr lang="es-MX" b="0" dirty="0" err="1"/>
              <a:t>of</a:t>
            </a:r>
            <a:r>
              <a:rPr lang="es-MX" b="0" dirty="0"/>
              <a:t> the software. </a:t>
            </a:r>
          </a:p>
          <a:p>
            <a:endParaRPr lang="es-MX" b="0" dirty="0"/>
          </a:p>
          <a:p>
            <a:r>
              <a:rPr lang="es-MX" b="0" dirty="0" err="1"/>
              <a:t>Uniti</a:t>
            </a:r>
            <a:r>
              <a:rPr lang="es-MX" b="0" dirty="0"/>
              <a:t> </a:t>
            </a:r>
            <a:r>
              <a:rPr lang="es-MX" b="0" dirty="0" err="1"/>
              <a:t>is</a:t>
            </a:r>
            <a:r>
              <a:rPr lang="es-MX" b="0" dirty="0"/>
              <a:t> a different and, in </a:t>
            </a:r>
            <a:r>
              <a:rPr lang="es-MX" b="0" dirty="0" err="1"/>
              <a:t>some</a:t>
            </a:r>
            <a:r>
              <a:rPr lang="es-MX" b="0" dirty="0"/>
              <a:t> </a:t>
            </a:r>
            <a:r>
              <a:rPr lang="es-MX" b="0" dirty="0" err="1"/>
              <a:t>ways</a:t>
            </a:r>
            <a:r>
              <a:rPr lang="es-MX" b="0" dirty="0"/>
              <a:t>, more </a:t>
            </a:r>
            <a:r>
              <a:rPr lang="es-MX" b="0" dirty="0" err="1"/>
              <a:t>agent-first</a:t>
            </a:r>
            <a:r>
              <a:rPr lang="es-MX" b="0" dirty="0"/>
              <a:t> </a:t>
            </a:r>
            <a:r>
              <a:rPr lang="es-MX" b="0" dirty="0" err="1"/>
              <a:t>benchmark</a:t>
            </a:r>
            <a:r>
              <a:rPr lang="es-MX" b="0" dirty="0"/>
              <a:t>. </a:t>
            </a:r>
            <a:r>
              <a:rPr lang="es-MX" b="0" dirty="0" err="1"/>
              <a:t>It</a:t>
            </a:r>
            <a:r>
              <a:rPr lang="es-MX" b="0" dirty="0"/>
              <a:t> </a:t>
            </a:r>
            <a:r>
              <a:rPr lang="es-MX" b="0" dirty="0" err="1"/>
              <a:t>publicly</a:t>
            </a:r>
            <a:r>
              <a:rPr lang="es-MX" b="0" dirty="0"/>
              <a:t> </a:t>
            </a:r>
            <a:r>
              <a:rPr lang="es-MX" b="0" dirty="0" err="1"/>
              <a:t>offers</a:t>
            </a:r>
            <a:r>
              <a:rPr lang="es-MX" b="0" dirty="0"/>
              <a:t> </a:t>
            </a:r>
            <a:r>
              <a:rPr lang="es-MX" b="0" dirty="0" err="1"/>
              <a:t>specialized</a:t>
            </a:r>
            <a:r>
              <a:rPr lang="es-MX" b="0" dirty="0"/>
              <a:t> </a:t>
            </a:r>
            <a:r>
              <a:rPr lang="es-MX" b="0" dirty="0" err="1"/>
              <a:t>agents</a:t>
            </a:r>
            <a:r>
              <a:rPr lang="es-MX" b="0" dirty="0"/>
              <a:t> </a:t>
            </a:r>
            <a:r>
              <a:rPr lang="es-MX" b="0" dirty="0" err="1"/>
              <a:t>across</a:t>
            </a:r>
            <a:r>
              <a:rPr lang="es-MX" b="0" dirty="0"/>
              <a:t> Sales &amp; Leasing, Support, </a:t>
            </a:r>
            <a:r>
              <a:rPr lang="es-MX" b="0" dirty="0" err="1"/>
              <a:t>Maintenance</a:t>
            </a:r>
            <a:r>
              <a:rPr lang="es-MX" b="0" dirty="0"/>
              <a:t>, </a:t>
            </a:r>
            <a:r>
              <a:rPr lang="es-MX" b="0" dirty="0" err="1"/>
              <a:t>Collections</a:t>
            </a:r>
            <a:r>
              <a:rPr lang="es-MX" b="0" dirty="0"/>
              <a:t>, </a:t>
            </a:r>
            <a:r>
              <a:rPr lang="es-MX" b="0" dirty="0" err="1"/>
              <a:t>Reviews</a:t>
            </a:r>
            <a:r>
              <a:rPr lang="es-MX" b="0" dirty="0"/>
              <a:t>, </a:t>
            </a:r>
            <a:r>
              <a:rPr lang="es-MX" b="0" dirty="0" err="1"/>
              <a:t>Renewals</a:t>
            </a:r>
            <a:r>
              <a:rPr lang="es-MX" b="0" dirty="0"/>
              <a:t>, Data </a:t>
            </a:r>
            <a:r>
              <a:rPr lang="es-MX" b="0" dirty="0" err="1"/>
              <a:t>Analysis</a:t>
            </a:r>
            <a:r>
              <a:rPr lang="es-MX" b="0" dirty="0"/>
              <a:t> and </a:t>
            </a:r>
            <a:r>
              <a:rPr lang="es-MX" b="0" dirty="0" err="1"/>
              <a:t>Payments</a:t>
            </a:r>
            <a:r>
              <a:rPr lang="es-MX" b="0" dirty="0"/>
              <a:t>, </a:t>
            </a:r>
            <a:r>
              <a:rPr lang="es-MX" b="0" dirty="0" err="1"/>
              <a:t>operating</a:t>
            </a:r>
            <a:r>
              <a:rPr lang="es-MX" b="0" dirty="0"/>
              <a:t> </a:t>
            </a:r>
            <a:r>
              <a:rPr lang="es-MX" b="0" dirty="0" err="1"/>
              <a:t>across</a:t>
            </a:r>
            <a:r>
              <a:rPr lang="es-MX" b="0" dirty="0"/>
              <a:t> </a:t>
            </a:r>
            <a:r>
              <a:rPr lang="es-MX" b="0" dirty="0" err="1"/>
              <a:t>voice</a:t>
            </a:r>
            <a:r>
              <a:rPr lang="es-MX" b="0" dirty="0"/>
              <a:t>, SMS/WhatsApp, email and web chat and </a:t>
            </a:r>
            <a:r>
              <a:rPr lang="es-MX" b="0" dirty="0" err="1"/>
              <a:t>integrating</a:t>
            </a:r>
            <a:r>
              <a:rPr lang="es-MX" b="0" dirty="0"/>
              <a:t> </a:t>
            </a:r>
            <a:r>
              <a:rPr lang="es-MX" b="0" dirty="0" err="1"/>
              <a:t>into</a:t>
            </a:r>
            <a:r>
              <a:rPr lang="es-MX" b="0" dirty="0"/>
              <a:t> the PMS/CRM </a:t>
            </a:r>
            <a:r>
              <a:rPr lang="es-MX" b="0" dirty="0" err="1"/>
              <a:t>systems</a:t>
            </a:r>
            <a:r>
              <a:rPr lang="es-MX" b="0" dirty="0"/>
              <a:t> </a:t>
            </a:r>
            <a:r>
              <a:rPr lang="es-MX" b="0" dirty="0" err="1"/>
              <a:t>its</a:t>
            </a:r>
            <a:r>
              <a:rPr lang="es-MX" b="0" dirty="0"/>
              <a:t> </a:t>
            </a:r>
            <a:r>
              <a:rPr lang="es-MX" b="0" dirty="0" err="1"/>
              <a:t>customers</a:t>
            </a:r>
            <a:r>
              <a:rPr lang="es-MX" b="0" dirty="0"/>
              <a:t> </a:t>
            </a:r>
            <a:r>
              <a:rPr lang="es-MX" b="0" dirty="0" err="1"/>
              <a:t>already</a:t>
            </a:r>
            <a:r>
              <a:rPr lang="es-MX" b="0" dirty="0"/>
              <a:t> use. So </a:t>
            </a:r>
            <a:r>
              <a:rPr lang="es-MX" b="0" dirty="0" err="1"/>
              <a:t>it</a:t>
            </a:r>
            <a:r>
              <a:rPr lang="es-MX" b="0" dirty="0"/>
              <a:t> </a:t>
            </a:r>
            <a:r>
              <a:rPr lang="es-MX" b="0" dirty="0" err="1"/>
              <a:t>would</a:t>
            </a:r>
            <a:r>
              <a:rPr lang="es-MX" b="0" dirty="0"/>
              <a:t> be </a:t>
            </a:r>
            <a:r>
              <a:rPr lang="es-MX" b="0" dirty="0" err="1"/>
              <a:t>inaccurate</a:t>
            </a:r>
            <a:r>
              <a:rPr lang="es-MX" b="0" dirty="0"/>
              <a:t> </a:t>
            </a:r>
            <a:r>
              <a:rPr lang="es-MX" b="0" dirty="0" err="1"/>
              <a:t>to</a:t>
            </a:r>
            <a:r>
              <a:rPr lang="es-MX" b="0" dirty="0"/>
              <a:t> describe </a:t>
            </a:r>
            <a:r>
              <a:rPr lang="es-MX" b="0" dirty="0" err="1"/>
              <a:t>Uniti</a:t>
            </a:r>
            <a:r>
              <a:rPr lang="es-MX" b="0" dirty="0"/>
              <a:t> as </a:t>
            </a:r>
            <a:r>
              <a:rPr lang="es-MX" b="0" dirty="0" err="1"/>
              <a:t>simply</a:t>
            </a:r>
            <a:r>
              <a:rPr lang="es-MX" b="0" dirty="0"/>
              <a:t> a </a:t>
            </a:r>
            <a:r>
              <a:rPr lang="es-MX" b="0" dirty="0" err="1"/>
              <a:t>collection</a:t>
            </a:r>
            <a:r>
              <a:rPr lang="es-MX" b="0" dirty="0"/>
              <a:t> </a:t>
            </a:r>
            <a:r>
              <a:rPr lang="es-MX" b="0" dirty="0" err="1"/>
              <a:t>of</a:t>
            </a:r>
            <a:r>
              <a:rPr lang="es-MX" b="0" dirty="0"/>
              <a:t> </a:t>
            </a:r>
            <a:r>
              <a:rPr lang="es-MX" b="0" dirty="0" err="1"/>
              <a:t>disconnected</a:t>
            </a:r>
            <a:r>
              <a:rPr lang="es-MX" b="0" dirty="0"/>
              <a:t> </a:t>
            </a:r>
            <a:r>
              <a:rPr lang="es-MX" b="0" dirty="0" err="1"/>
              <a:t>bots</a:t>
            </a:r>
            <a:r>
              <a:rPr lang="es-MX" b="0" dirty="0"/>
              <a:t> — </a:t>
            </a:r>
            <a:r>
              <a:rPr lang="es-MX" b="0" dirty="0" err="1"/>
              <a:t>it</a:t>
            </a:r>
            <a:r>
              <a:rPr lang="es-MX" b="0" dirty="0"/>
              <a:t> </a:t>
            </a:r>
            <a:r>
              <a:rPr lang="es-MX" b="0" dirty="0" err="1"/>
              <a:t>clearly</a:t>
            </a:r>
            <a:r>
              <a:rPr lang="es-MX" b="0" dirty="0"/>
              <a:t> </a:t>
            </a:r>
            <a:r>
              <a:rPr lang="es-MX" b="0" dirty="0" err="1"/>
              <a:t>invests</a:t>
            </a:r>
            <a:r>
              <a:rPr lang="es-MX" b="0" dirty="0"/>
              <a:t> in </a:t>
            </a:r>
            <a:r>
              <a:rPr lang="es-MX" b="0" dirty="0" err="1"/>
              <a:t>shared</a:t>
            </a:r>
            <a:r>
              <a:rPr lang="es-MX" b="0" dirty="0"/>
              <a:t> </a:t>
            </a:r>
            <a:r>
              <a:rPr lang="es-MX" b="0" dirty="0" err="1"/>
              <a:t>infrastructure</a:t>
            </a:r>
            <a:r>
              <a:rPr lang="es-MX" b="0" dirty="0"/>
              <a:t>, </a:t>
            </a:r>
            <a:r>
              <a:rPr lang="es-MX" b="0" dirty="0" err="1"/>
              <a:t>context</a:t>
            </a:r>
            <a:r>
              <a:rPr lang="es-MX" b="0" dirty="0"/>
              <a:t> and </a:t>
            </a:r>
            <a:r>
              <a:rPr lang="es-MX" b="0" dirty="0" err="1"/>
              <a:t>workflow</a:t>
            </a:r>
            <a:r>
              <a:rPr lang="es-MX" b="0" dirty="0"/>
              <a:t> </a:t>
            </a:r>
            <a:r>
              <a:rPr lang="es-MX" b="0" dirty="0" err="1"/>
              <a:t>execution</a:t>
            </a:r>
            <a:r>
              <a:rPr lang="es-MX" b="0" dirty="0"/>
              <a:t>.</a:t>
            </a:r>
          </a:p>
          <a:p>
            <a:endParaRPr lang="es-MX" b="0" dirty="0"/>
          </a:p>
          <a:p>
            <a:r>
              <a:rPr lang="es-MX" b="0" dirty="0" err="1"/>
              <a:t>There</a:t>
            </a:r>
            <a:r>
              <a:rPr lang="es-MX" b="0" dirty="0"/>
              <a:t> </a:t>
            </a:r>
            <a:r>
              <a:rPr lang="es-MX" b="0" dirty="0" err="1"/>
              <a:t>is</a:t>
            </a:r>
            <a:r>
              <a:rPr lang="es-MX" b="0" dirty="0"/>
              <a:t> </a:t>
            </a:r>
            <a:r>
              <a:rPr lang="es-MX" b="0" dirty="0" err="1"/>
              <a:t>also</a:t>
            </a:r>
            <a:r>
              <a:rPr lang="es-MX" b="0" dirty="0"/>
              <a:t> </a:t>
            </a:r>
            <a:r>
              <a:rPr lang="es-MX" b="0" dirty="0" err="1"/>
              <a:t>an</a:t>
            </a:r>
            <a:r>
              <a:rPr lang="es-MX" b="0" dirty="0"/>
              <a:t> </a:t>
            </a:r>
            <a:r>
              <a:rPr lang="es-MX" b="0" dirty="0" err="1"/>
              <a:t>important</a:t>
            </a:r>
            <a:r>
              <a:rPr lang="es-MX" b="0" dirty="0"/>
              <a:t> </a:t>
            </a:r>
            <a:r>
              <a:rPr lang="es-MX" b="0" dirty="0" err="1"/>
              <a:t>market</a:t>
            </a:r>
            <a:r>
              <a:rPr lang="es-MX" b="0" dirty="0"/>
              <a:t> </a:t>
            </a:r>
            <a:r>
              <a:rPr lang="es-MX" b="0" dirty="0" err="1"/>
              <a:t>distinction</a:t>
            </a:r>
            <a:r>
              <a:rPr lang="es-MX" b="0" dirty="0"/>
              <a:t>. </a:t>
            </a:r>
            <a:r>
              <a:rPr lang="es-MX" b="0" dirty="0" err="1"/>
              <a:t>Uniti</a:t>
            </a:r>
            <a:r>
              <a:rPr lang="es-MX" b="0" dirty="0"/>
              <a:t> </a:t>
            </a:r>
            <a:r>
              <a:rPr lang="es-MX" b="0" dirty="0" err="1"/>
              <a:t>publicly</a:t>
            </a:r>
            <a:r>
              <a:rPr lang="es-MX" b="0" dirty="0"/>
              <a:t> targets real-estate </a:t>
            </a:r>
            <a:r>
              <a:rPr lang="es-MX" b="0" dirty="0" err="1"/>
              <a:t>operators</a:t>
            </a:r>
            <a:r>
              <a:rPr lang="es-MX" b="0" dirty="0"/>
              <a:t> </a:t>
            </a:r>
            <a:r>
              <a:rPr lang="es-MX" b="0" dirty="0" err="1"/>
              <a:t>rather</a:t>
            </a:r>
            <a:r>
              <a:rPr lang="es-MX" b="0" dirty="0"/>
              <a:t> </a:t>
            </a:r>
            <a:r>
              <a:rPr lang="es-MX" b="0" dirty="0" err="1"/>
              <a:t>than</a:t>
            </a:r>
            <a:r>
              <a:rPr lang="es-MX" b="0" dirty="0"/>
              <a:t> </a:t>
            </a:r>
            <a:r>
              <a:rPr lang="es-MX" b="0" dirty="0" err="1"/>
              <a:t>traditional</a:t>
            </a:r>
            <a:r>
              <a:rPr lang="es-MX" b="0" dirty="0"/>
              <a:t> </a:t>
            </a:r>
            <a:r>
              <a:rPr lang="es-MX" b="0" dirty="0" err="1"/>
              <a:t>brokerage</a:t>
            </a:r>
            <a:r>
              <a:rPr lang="es-MX" b="0" dirty="0"/>
              <a:t> </a:t>
            </a:r>
            <a:r>
              <a:rPr lang="es-MX" b="0" dirty="0" err="1"/>
              <a:t>firms</a:t>
            </a:r>
            <a:r>
              <a:rPr lang="es-MX" b="0" dirty="0"/>
              <a:t>, </a:t>
            </a:r>
            <a:r>
              <a:rPr lang="es-MX" b="0" dirty="0" err="1"/>
              <a:t>with</a:t>
            </a:r>
            <a:r>
              <a:rPr lang="es-MX" b="0" dirty="0"/>
              <a:t> </a:t>
            </a:r>
            <a:r>
              <a:rPr lang="es-MX" b="0" dirty="0" err="1"/>
              <a:t>dedicated</a:t>
            </a:r>
            <a:r>
              <a:rPr lang="es-MX" b="0" dirty="0"/>
              <a:t> </a:t>
            </a:r>
            <a:r>
              <a:rPr lang="es-MX" b="0" dirty="0" err="1"/>
              <a:t>offerings</a:t>
            </a:r>
            <a:r>
              <a:rPr lang="es-MX" b="0" dirty="0"/>
              <a:t> </a:t>
            </a:r>
            <a:r>
              <a:rPr lang="es-MX" b="0" dirty="0" err="1"/>
              <a:t>for</a:t>
            </a:r>
            <a:r>
              <a:rPr lang="es-MX" b="0" dirty="0"/>
              <a:t> Self Storage, Office &amp; Flexible </a:t>
            </a:r>
            <a:r>
              <a:rPr lang="es-MX" b="0" dirty="0" err="1"/>
              <a:t>Workspace</a:t>
            </a:r>
            <a:r>
              <a:rPr lang="es-MX" b="0" dirty="0"/>
              <a:t>, </a:t>
            </a:r>
            <a:r>
              <a:rPr lang="es-MX" b="0" dirty="0" err="1"/>
              <a:t>Multifamily</a:t>
            </a:r>
            <a:r>
              <a:rPr lang="es-MX" b="0" dirty="0"/>
              <a:t> / Student </a:t>
            </a:r>
            <a:r>
              <a:rPr lang="es-MX" b="0" dirty="0" err="1"/>
              <a:t>Housing</a:t>
            </a:r>
            <a:r>
              <a:rPr lang="es-MX" b="0" dirty="0"/>
              <a:t>, Senior Living and </a:t>
            </a:r>
            <a:r>
              <a:rPr lang="es-MX" b="0" dirty="0" err="1"/>
              <a:t>Manufactured</a:t>
            </a:r>
            <a:r>
              <a:rPr lang="es-MX" b="0" dirty="0"/>
              <a:t> </a:t>
            </a:r>
            <a:r>
              <a:rPr lang="es-MX" b="0" dirty="0" err="1"/>
              <a:t>Housing</a:t>
            </a:r>
            <a:r>
              <a:rPr lang="es-MX" b="0" dirty="0"/>
              <a:t>. </a:t>
            </a:r>
            <a:r>
              <a:rPr lang="es-MX" b="0" dirty="0" err="1"/>
              <a:t>Its</a:t>
            </a:r>
            <a:r>
              <a:rPr lang="es-MX" b="0" dirty="0"/>
              <a:t> </a:t>
            </a:r>
            <a:r>
              <a:rPr lang="es-MX" b="0" dirty="0" err="1"/>
              <a:t>examples</a:t>
            </a:r>
            <a:r>
              <a:rPr lang="es-MX" b="0" dirty="0"/>
              <a:t> and </a:t>
            </a:r>
            <a:r>
              <a:rPr lang="es-MX" b="0" dirty="0" err="1"/>
              <a:t>workflows</a:t>
            </a:r>
            <a:r>
              <a:rPr lang="es-MX" b="0" dirty="0"/>
              <a:t> </a:t>
            </a:r>
            <a:r>
              <a:rPr lang="es-MX" b="0" dirty="0" err="1"/>
              <a:t>revolve</a:t>
            </a:r>
            <a:r>
              <a:rPr lang="es-MX" b="0" dirty="0"/>
              <a:t> </a:t>
            </a:r>
            <a:r>
              <a:rPr lang="es-MX" b="0" dirty="0" err="1"/>
              <a:t>around</a:t>
            </a:r>
            <a:r>
              <a:rPr lang="es-MX" b="0" dirty="0"/>
              <a:t> </a:t>
            </a:r>
            <a:r>
              <a:rPr lang="es-MX" b="0" dirty="0" err="1"/>
              <a:t>things</a:t>
            </a:r>
            <a:r>
              <a:rPr lang="es-MX" b="0" dirty="0"/>
              <a:t> </a:t>
            </a:r>
            <a:r>
              <a:rPr lang="es-MX" b="0" dirty="0" err="1"/>
              <a:t>such</a:t>
            </a:r>
            <a:r>
              <a:rPr lang="es-MX" b="0" dirty="0"/>
              <a:t> as </a:t>
            </a:r>
            <a:r>
              <a:rPr lang="es-MX" b="0" dirty="0" err="1"/>
              <a:t>move-ins</a:t>
            </a:r>
            <a:r>
              <a:rPr lang="es-MX" b="0" dirty="0"/>
              <a:t>, </a:t>
            </a:r>
            <a:r>
              <a:rPr lang="es-MX" b="0" dirty="0" err="1"/>
              <a:t>tenant</a:t>
            </a:r>
            <a:r>
              <a:rPr lang="es-MX" b="0" dirty="0"/>
              <a:t> </a:t>
            </a:r>
            <a:r>
              <a:rPr lang="es-MX" b="0" dirty="0" err="1"/>
              <a:t>support</a:t>
            </a:r>
            <a:r>
              <a:rPr lang="es-MX" b="0" dirty="0"/>
              <a:t>, </a:t>
            </a:r>
            <a:r>
              <a:rPr lang="es-MX" b="0" dirty="0" err="1"/>
              <a:t>collections</a:t>
            </a:r>
            <a:r>
              <a:rPr lang="es-MX" b="0" dirty="0"/>
              <a:t>, </a:t>
            </a:r>
            <a:r>
              <a:rPr lang="es-MX" b="0" dirty="0" err="1"/>
              <a:t>maintenance</a:t>
            </a:r>
            <a:r>
              <a:rPr lang="es-MX" b="0" dirty="0"/>
              <a:t>, </a:t>
            </a:r>
            <a:r>
              <a:rPr lang="es-MX" b="0" dirty="0" err="1"/>
              <a:t>renewals</a:t>
            </a:r>
            <a:r>
              <a:rPr lang="es-MX" b="0" dirty="0"/>
              <a:t> and </a:t>
            </a:r>
            <a:r>
              <a:rPr lang="es-MX" b="0" dirty="0" err="1"/>
              <a:t>payments</a:t>
            </a:r>
            <a:r>
              <a:rPr lang="es-MX" b="0" dirty="0"/>
              <a:t>. </a:t>
            </a:r>
            <a:r>
              <a:rPr lang="es-MX" b="0" dirty="0" err="1"/>
              <a:t>That</a:t>
            </a:r>
            <a:r>
              <a:rPr lang="es-MX" b="0" dirty="0"/>
              <a:t> </a:t>
            </a:r>
            <a:r>
              <a:rPr lang="es-MX" b="0" dirty="0" err="1"/>
              <a:t>makes</a:t>
            </a:r>
            <a:r>
              <a:rPr lang="es-MX" b="0" dirty="0"/>
              <a:t> </a:t>
            </a:r>
            <a:r>
              <a:rPr lang="es-MX" b="0" dirty="0" err="1"/>
              <a:t>it</a:t>
            </a:r>
            <a:r>
              <a:rPr lang="es-MX" b="0" dirty="0"/>
              <a:t> a </a:t>
            </a:r>
            <a:r>
              <a:rPr lang="es-MX" b="0" dirty="0" err="1"/>
              <a:t>highly</a:t>
            </a:r>
            <a:r>
              <a:rPr lang="es-MX" b="0" dirty="0"/>
              <a:t> </a:t>
            </a:r>
            <a:r>
              <a:rPr lang="es-MX" b="0" dirty="0" err="1"/>
              <a:t>relevant</a:t>
            </a:r>
            <a:r>
              <a:rPr lang="es-MX" b="0" dirty="0"/>
              <a:t> </a:t>
            </a:r>
            <a:r>
              <a:rPr lang="es-MX" b="0" dirty="0" err="1"/>
              <a:t>agentic</a:t>
            </a:r>
            <a:r>
              <a:rPr lang="es-MX" b="0" dirty="0"/>
              <a:t> </a:t>
            </a:r>
            <a:r>
              <a:rPr lang="es-MX" b="0" dirty="0" err="1"/>
              <a:t>benchmark</a:t>
            </a:r>
            <a:r>
              <a:rPr lang="es-MX" b="0" dirty="0"/>
              <a:t>, </a:t>
            </a:r>
            <a:r>
              <a:rPr lang="es-MX" b="0" dirty="0" err="1"/>
              <a:t>but</a:t>
            </a:r>
            <a:r>
              <a:rPr lang="es-MX" b="0" dirty="0"/>
              <a:t> </a:t>
            </a:r>
            <a:r>
              <a:rPr lang="es-MX" b="0" dirty="0" err="1"/>
              <a:t>not</a:t>
            </a:r>
            <a:r>
              <a:rPr lang="es-MX" b="0" dirty="0"/>
              <a:t> a </a:t>
            </a:r>
            <a:r>
              <a:rPr lang="es-MX" b="0" dirty="0" err="1"/>
              <a:t>perfect</a:t>
            </a:r>
            <a:r>
              <a:rPr lang="es-MX" b="0" dirty="0"/>
              <a:t> </a:t>
            </a:r>
            <a:r>
              <a:rPr lang="es-MX" b="0" dirty="0" err="1"/>
              <a:t>overlap</a:t>
            </a:r>
            <a:r>
              <a:rPr lang="es-MX" b="0" dirty="0"/>
              <a:t> </a:t>
            </a:r>
            <a:r>
              <a:rPr lang="es-MX" b="0" dirty="0" err="1"/>
              <a:t>with</a:t>
            </a:r>
            <a:r>
              <a:rPr lang="es-MX" b="0" dirty="0"/>
              <a:t> </a:t>
            </a:r>
            <a:r>
              <a:rPr lang="es-MX" b="0" dirty="0" err="1"/>
              <a:t>our</a:t>
            </a:r>
            <a:r>
              <a:rPr lang="es-MX" b="0" dirty="0"/>
              <a:t> </a:t>
            </a:r>
            <a:r>
              <a:rPr lang="es-MX" b="0" dirty="0" err="1"/>
              <a:t>initial</a:t>
            </a:r>
            <a:r>
              <a:rPr lang="es-MX" b="0" dirty="0"/>
              <a:t> </a:t>
            </a:r>
            <a:r>
              <a:rPr lang="es-MX" b="0" dirty="0" err="1"/>
              <a:t>market</a:t>
            </a:r>
            <a:r>
              <a:rPr lang="es-MX" b="0" dirty="0"/>
              <a:t>: real-estate </a:t>
            </a:r>
            <a:r>
              <a:rPr lang="es-MX" b="0" dirty="0" err="1"/>
              <a:t>brokerages</a:t>
            </a:r>
            <a:r>
              <a:rPr lang="es-MX" b="0" dirty="0"/>
              <a:t> in </a:t>
            </a:r>
            <a:r>
              <a:rPr lang="es-MX" b="0" dirty="0" err="1"/>
              <a:t>Mexico</a:t>
            </a:r>
            <a:r>
              <a:rPr lang="es-MX" b="0" dirty="0"/>
              <a:t> and </a:t>
            </a:r>
            <a:r>
              <a:rPr lang="es-MX" b="0" dirty="0" err="1"/>
              <a:t>LatAm</a:t>
            </a:r>
            <a:r>
              <a:rPr lang="es-MX" b="0" dirty="0"/>
              <a:t>, </a:t>
            </a:r>
            <a:r>
              <a:rPr lang="es-MX" b="0" dirty="0" err="1"/>
              <a:t>where</a:t>
            </a:r>
            <a:r>
              <a:rPr lang="es-MX" b="0" dirty="0"/>
              <a:t> the </a:t>
            </a:r>
            <a:r>
              <a:rPr lang="es-MX" b="0" dirty="0" err="1"/>
              <a:t>operating</a:t>
            </a:r>
            <a:r>
              <a:rPr lang="es-MX" b="0" dirty="0"/>
              <a:t> </a:t>
            </a:r>
            <a:r>
              <a:rPr lang="es-MX" b="0" dirty="0" err="1"/>
              <a:t>loop</a:t>
            </a:r>
            <a:r>
              <a:rPr lang="es-MX" b="0" dirty="0"/>
              <a:t> </a:t>
            </a:r>
            <a:r>
              <a:rPr lang="es-MX" b="0" dirty="0" err="1"/>
              <a:t>is</a:t>
            </a:r>
            <a:r>
              <a:rPr lang="es-MX" b="0" dirty="0"/>
              <a:t> more </a:t>
            </a:r>
            <a:r>
              <a:rPr lang="es-MX" b="0" dirty="0" err="1"/>
              <a:t>centered</a:t>
            </a:r>
            <a:r>
              <a:rPr lang="es-MX" b="0" dirty="0"/>
              <a:t> </a:t>
            </a:r>
            <a:r>
              <a:rPr lang="es-MX" b="0" dirty="0" err="1"/>
              <a:t>on</a:t>
            </a:r>
            <a:r>
              <a:rPr lang="es-MX" b="0" dirty="0"/>
              <a:t> </a:t>
            </a:r>
            <a:r>
              <a:rPr lang="es-MX" b="0" dirty="0" err="1"/>
              <a:t>property</a:t>
            </a:r>
            <a:r>
              <a:rPr lang="es-MX" b="0" dirty="0"/>
              <a:t> </a:t>
            </a:r>
            <a:r>
              <a:rPr lang="es-MX" b="0" dirty="0" err="1"/>
              <a:t>onboarding</a:t>
            </a:r>
            <a:r>
              <a:rPr lang="es-MX" b="0" dirty="0"/>
              <a:t>, </a:t>
            </a:r>
            <a:r>
              <a:rPr lang="es-MX" b="0" dirty="0" err="1"/>
              <a:t>demand</a:t>
            </a:r>
            <a:r>
              <a:rPr lang="es-MX" b="0" dirty="0"/>
              <a:t> </a:t>
            </a:r>
            <a:r>
              <a:rPr lang="es-MX" b="0" dirty="0" err="1"/>
              <a:t>generation</a:t>
            </a:r>
            <a:r>
              <a:rPr lang="es-MX" b="0" dirty="0"/>
              <a:t>, </a:t>
            </a:r>
            <a:r>
              <a:rPr lang="es-MX" b="0" dirty="0" err="1"/>
              <a:t>matching</a:t>
            </a:r>
            <a:r>
              <a:rPr lang="es-MX" b="0" dirty="0"/>
              <a:t>, </a:t>
            </a:r>
            <a:r>
              <a:rPr lang="es-MX" b="0" dirty="0" err="1"/>
              <a:t>visits</a:t>
            </a:r>
            <a:r>
              <a:rPr lang="es-MX" b="0" dirty="0"/>
              <a:t>, </a:t>
            </a:r>
            <a:r>
              <a:rPr lang="es-MX" b="0" dirty="0" err="1"/>
              <a:t>brokerage</a:t>
            </a:r>
            <a:r>
              <a:rPr lang="es-MX" b="0" dirty="0"/>
              <a:t> </a:t>
            </a:r>
            <a:r>
              <a:rPr lang="es-MX" b="0" dirty="0" err="1"/>
              <a:t>relationships</a:t>
            </a:r>
            <a:r>
              <a:rPr lang="es-MX" b="0" dirty="0"/>
              <a:t> and </a:t>
            </a:r>
            <a:r>
              <a:rPr lang="es-MX" b="0" dirty="0" err="1"/>
              <a:t>transactions</a:t>
            </a:r>
            <a:r>
              <a:rPr lang="es-MX" b="0" dirty="0"/>
              <a:t>. </a:t>
            </a:r>
          </a:p>
          <a:p>
            <a:endParaRPr lang="es-MX" b="0" dirty="0"/>
          </a:p>
          <a:p>
            <a:r>
              <a:rPr lang="es-MX" b="0" dirty="0"/>
              <a:t>I </a:t>
            </a:r>
            <a:r>
              <a:rPr lang="es-MX" b="0" dirty="0" err="1"/>
              <a:t>would</a:t>
            </a:r>
            <a:r>
              <a:rPr lang="es-MX" b="0" dirty="0"/>
              <a:t> </a:t>
            </a:r>
            <a:r>
              <a:rPr lang="es-MX" b="0" dirty="0" err="1"/>
              <a:t>not</a:t>
            </a:r>
            <a:r>
              <a:rPr lang="es-MX" b="0" dirty="0"/>
              <a:t> </a:t>
            </a:r>
            <a:r>
              <a:rPr lang="es-MX" b="0" dirty="0" err="1"/>
              <a:t>characterize</a:t>
            </a:r>
            <a:r>
              <a:rPr lang="es-MX" b="0" dirty="0"/>
              <a:t> </a:t>
            </a:r>
            <a:r>
              <a:rPr lang="es-MX" b="0" dirty="0" err="1"/>
              <a:t>Uniti</a:t>
            </a:r>
            <a:r>
              <a:rPr lang="es-MX" b="0" dirty="0"/>
              <a:t> as </a:t>
            </a:r>
            <a:r>
              <a:rPr lang="es-MX" b="0" dirty="0" err="1"/>
              <a:t>exclusively</a:t>
            </a:r>
            <a:r>
              <a:rPr lang="es-MX" b="0" dirty="0"/>
              <a:t> U.S.-</a:t>
            </a:r>
            <a:r>
              <a:rPr lang="es-MX" b="0" dirty="0" err="1"/>
              <a:t>only</a:t>
            </a:r>
            <a:r>
              <a:rPr lang="es-MX" b="0" dirty="0"/>
              <a:t>. </a:t>
            </a:r>
            <a:r>
              <a:rPr lang="es-MX" b="0" dirty="0" err="1"/>
              <a:t>Its</a:t>
            </a:r>
            <a:r>
              <a:rPr lang="es-MX" b="0" dirty="0"/>
              <a:t> </a:t>
            </a:r>
            <a:r>
              <a:rPr lang="es-MX" b="0" dirty="0" err="1"/>
              <a:t>public</a:t>
            </a:r>
            <a:r>
              <a:rPr lang="es-MX" b="0" dirty="0"/>
              <a:t> </a:t>
            </a:r>
            <a:r>
              <a:rPr lang="es-MX" b="0" dirty="0" err="1"/>
              <a:t>positioning</a:t>
            </a:r>
            <a:r>
              <a:rPr lang="es-MX" b="0" dirty="0"/>
              <a:t> and </a:t>
            </a:r>
            <a:r>
              <a:rPr lang="es-MX" b="0" dirty="0" err="1"/>
              <a:t>many</a:t>
            </a:r>
            <a:r>
              <a:rPr lang="es-MX" b="0" dirty="0"/>
              <a:t> </a:t>
            </a:r>
            <a:r>
              <a:rPr lang="es-MX" b="0" dirty="0" err="1"/>
              <a:t>of</a:t>
            </a:r>
            <a:r>
              <a:rPr lang="es-MX" b="0" dirty="0"/>
              <a:t> </a:t>
            </a:r>
            <a:r>
              <a:rPr lang="es-MX" b="0" dirty="0" err="1"/>
              <a:t>its</a:t>
            </a:r>
            <a:r>
              <a:rPr lang="es-MX" b="0" dirty="0"/>
              <a:t> use cases are </a:t>
            </a:r>
            <a:r>
              <a:rPr lang="es-MX" b="0" dirty="0" err="1"/>
              <a:t>strongly</a:t>
            </a:r>
            <a:r>
              <a:rPr lang="es-MX" b="0" dirty="0"/>
              <a:t> </a:t>
            </a:r>
            <a:r>
              <a:rPr lang="es-MX" b="0" dirty="0" err="1"/>
              <a:t>oriented</a:t>
            </a:r>
            <a:r>
              <a:rPr lang="es-MX" b="0" dirty="0"/>
              <a:t> </a:t>
            </a:r>
            <a:r>
              <a:rPr lang="es-MX" b="0" dirty="0" err="1"/>
              <a:t>toward</a:t>
            </a:r>
            <a:r>
              <a:rPr lang="es-MX" b="0" dirty="0"/>
              <a:t> the </a:t>
            </a:r>
            <a:r>
              <a:rPr lang="es-MX" b="0" dirty="0" err="1"/>
              <a:t>kinds</a:t>
            </a:r>
            <a:r>
              <a:rPr lang="es-MX" b="0" dirty="0"/>
              <a:t> </a:t>
            </a:r>
            <a:r>
              <a:rPr lang="es-MX" b="0" dirty="0" err="1"/>
              <a:t>of</a:t>
            </a:r>
            <a:r>
              <a:rPr lang="es-MX" b="0" dirty="0"/>
              <a:t> real-estate </a:t>
            </a:r>
            <a:r>
              <a:rPr lang="es-MX" b="0" dirty="0" err="1"/>
              <a:t>operators</a:t>
            </a:r>
            <a:r>
              <a:rPr lang="es-MX" b="0" dirty="0"/>
              <a:t> </a:t>
            </a:r>
            <a:r>
              <a:rPr lang="es-MX" b="0" dirty="0" err="1"/>
              <a:t>common</a:t>
            </a:r>
            <a:r>
              <a:rPr lang="es-MX" b="0" dirty="0"/>
              <a:t> in North </a:t>
            </a:r>
            <a:r>
              <a:rPr lang="es-MX" b="0" dirty="0" err="1"/>
              <a:t>America</a:t>
            </a:r>
            <a:r>
              <a:rPr lang="es-MX" b="0" dirty="0"/>
              <a:t>, </a:t>
            </a:r>
            <a:r>
              <a:rPr lang="es-MX" b="0" dirty="0" err="1"/>
              <a:t>but</a:t>
            </a:r>
            <a:r>
              <a:rPr lang="es-MX" b="0" dirty="0"/>
              <a:t> </a:t>
            </a:r>
            <a:r>
              <a:rPr lang="es-MX" b="0" dirty="0" err="1"/>
              <a:t>its</a:t>
            </a:r>
            <a:r>
              <a:rPr lang="es-MX" b="0" dirty="0"/>
              <a:t> </a:t>
            </a:r>
            <a:r>
              <a:rPr lang="es-MX" b="0" dirty="0" err="1"/>
              <a:t>partner</a:t>
            </a:r>
            <a:r>
              <a:rPr lang="es-MX" b="0" dirty="0"/>
              <a:t> </a:t>
            </a:r>
            <a:r>
              <a:rPr lang="es-MX" b="0" dirty="0" err="1"/>
              <a:t>ecosystem</a:t>
            </a:r>
            <a:r>
              <a:rPr lang="es-MX" b="0" dirty="0"/>
              <a:t> </a:t>
            </a:r>
            <a:r>
              <a:rPr lang="es-MX" b="0" dirty="0" err="1"/>
              <a:t>also</a:t>
            </a:r>
            <a:r>
              <a:rPr lang="es-MX" b="0" dirty="0"/>
              <a:t> shows </a:t>
            </a:r>
            <a:r>
              <a:rPr lang="es-MX" b="0" dirty="0" err="1"/>
              <a:t>international</a:t>
            </a:r>
            <a:r>
              <a:rPr lang="es-MX" b="0" dirty="0"/>
              <a:t> </a:t>
            </a:r>
            <a:r>
              <a:rPr lang="es-MX" b="0" dirty="0" err="1"/>
              <a:t>coverage</a:t>
            </a:r>
            <a:r>
              <a:rPr lang="es-MX" b="0" dirty="0"/>
              <a:t>, </a:t>
            </a:r>
            <a:r>
              <a:rPr lang="es-MX" b="0" dirty="0" err="1"/>
              <a:t>including</a:t>
            </a:r>
            <a:r>
              <a:rPr lang="es-MX" b="0" dirty="0"/>
              <a:t> </a:t>
            </a:r>
            <a:r>
              <a:rPr lang="es-MX" b="0" dirty="0" err="1"/>
              <a:t>an</a:t>
            </a:r>
            <a:r>
              <a:rPr lang="es-MX" b="0" dirty="0"/>
              <a:t> APAC / UK </a:t>
            </a:r>
            <a:r>
              <a:rPr lang="es-MX" b="0" dirty="0" err="1"/>
              <a:t>self-storage</a:t>
            </a:r>
            <a:r>
              <a:rPr lang="es-MX" b="0" dirty="0"/>
              <a:t> </a:t>
            </a:r>
            <a:r>
              <a:rPr lang="es-MX" b="0" dirty="0" err="1"/>
              <a:t>integration</a:t>
            </a:r>
            <a:r>
              <a:rPr lang="es-MX" b="0" dirty="0"/>
              <a:t>. So the </a:t>
            </a:r>
            <a:r>
              <a:rPr lang="es-MX" b="0" dirty="0" err="1"/>
              <a:t>stronger</a:t>
            </a:r>
            <a:r>
              <a:rPr lang="es-MX" b="0" dirty="0"/>
              <a:t> </a:t>
            </a:r>
            <a:r>
              <a:rPr lang="es-MX" b="0" dirty="0" err="1"/>
              <a:t>distinction</a:t>
            </a:r>
            <a:r>
              <a:rPr lang="es-MX" b="0" dirty="0"/>
              <a:t> </a:t>
            </a:r>
            <a:r>
              <a:rPr lang="es-MX" b="0" dirty="0" err="1"/>
              <a:t>for</a:t>
            </a:r>
            <a:r>
              <a:rPr lang="es-MX" b="0" dirty="0"/>
              <a:t> </a:t>
            </a:r>
            <a:r>
              <a:rPr lang="es-MX" b="0" dirty="0" err="1"/>
              <a:t>us</a:t>
            </a:r>
            <a:r>
              <a:rPr lang="es-MX" b="0" dirty="0"/>
              <a:t> </a:t>
            </a:r>
            <a:r>
              <a:rPr lang="es-MX" b="0" dirty="0" err="1"/>
              <a:t>is</a:t>
            </a:r>
            <a:r>
              <a:rPr lang="es-MX" b="0" dirty="0"/>
              <a:t> </a:t>
            </a:r>
            <a:r>
              <a:rPr lang="es-MX" b="0" dirty="0" err="1"/>
              <a:t>not</a:t>
            </a:r>
            <a:r>
              <a:rPr lang="es-MX" b="0" dirty="0"/>
              <a:t> </a:t>
            </a:r>
            <a:r>
              <a:rPr lang="es-MX" b="0" dirty="0" err="1"/>
              <a:t>simply</a:t>
            </a:r>
            <a:r>
              <a:rPr lang="es-MX" b="0" dirty="0"/>
              <a:t> </a:t>
            </a:r>
            <a:r>
              <a:rPr lang="es-MX" b="0" dirty="0" err="1"/>
              <a:t>geography</a:t>
            </a:r>
            <a:r>
              <a:rPr lang="es-MX" b="0" dirty="0"/>
              <a:t> — </a:t>
            </a:r>
            <a:r>
              <a:rPr lang="es-MX" b="0" dirty="0" err="1"/>
              <a:t>it</a:t>
            </a:r>
            <a:r>
              <a:rPr lang="es-MX" b="0" dirty="0"/>
              <a:t> </a:t>
            </a:r>
            <a:r>
              <a:rPr lang="es-MX" b="0" dirty="0" err="1"/>
              <a:t>is</a:t>
            </a:r>
            <a:r>
              <a:rPr lang="es-MX" b="0" dirty="0"/>
              <a:t> </a:t>
            </a:r>
            <a:r>
              <a:rPr lang="es-MX" b="0" dirty="0" err="1"/>
              <a:t>customer</a:t>
            </a:r>
            <a:r>
              <a:rPr lang="es-MX" b="0" dirty="0"/>
              <a:t> </a:t>
            </a:r>
            <a:r>
              <a:rPr lang="es-MX" b="0" dirty="0" err="1"/>
              <a:t>type</a:t>
            </a:r>
            <a:r>
              <a:rPr lang="es-MX" b="0" dirty="0"/>
              <a:t>, </a:t>
            </a:r>
            <a:r>
              <a:rPr lang="es-MX" b="0" dirty="0" err="1"/>
              <a:t>operating</a:t>
            </a:r>
            <a:r>
              <a:rPr lang="es-MX" b="0" dirty="0"/>
              <a:t> </a:t>
            </a:r>
            <a:r>
              <a:rPr lang="es-MX" b="0" dirty="0" err="1"/>
              <a:t>model</a:t>
            </a:r>
            <a:r>
              <a:rPr lang="es-MX" b="0" dirty="0"/>
              <a:t> and </a:t>
            </a:r>
            <a:r>
              <a:rPr lang="es-MX" b="0" dirty="0" err="1"/>
              <a:t>product</a:t>
            </a:r>
            <a:r>
              <a:rPr lang="es-MX" b="0" dirty="0"/>
              <a:t> </a:t>
            </a:r>
            <a:r>
              <a:rPr lang="es-MX" b="0" dirty="0" err="1"/>
              <a:t>philosophy</a:t>
            </a:r>
            <a:r>
              <a:rPr lang="es-MX" b="0" dirty="0"/>
              <a:t>. </a:t>
            </a:r>
          </a:p>
          <a:p>
            <a:endParaRPr lang="es-MX" b="0" dirty="0"/>
          </a:p>
          <a:p>
            <a:r>
              <a:rPr lang="es-MX" b="0" dirty="0"/>
              <a:t>The </a:t>
            </a:r>
            <a:r>
              <a:rPr lang="es-MX" b="0" dirty="0" err="1"/>
              <a:t>product</a:t>
            </a:r>
            <a:r>
              <a:rPr lang="es-MX" b="0" dirty="0"/>
              <a:t> </a:t>
            </a:r>
            <a:r>
              <a:rPr lang="es-MX" b="0" dirty="0" err="1"/>
              <a:t>philosophy</a:t>
            </a:r>
            <a:r>
              <a:rPr lang="es-MX" b="0" dirty="0"/>
              <a:t> </a:t>
            </a:r>
            <a:r>
              <a:rPr lang="es-MX" b="0" dirty="0" err="1"/>
              <a:t>is</a:t>
            </a:r>
            <a:r>
              <a:rPr lang="es-MX" b="0" dirty="0"/>
              <a:t> </a:t>
            </a:r>
            <a:r>
              <a:rPr lang="es-MX" b="0" dirty="0" err="1"/>
              <a:t>nevertheless</a:t>
            </a:r>
            <a:r>
              <a:rPr lang="es-MX" b="0" dirty="0"/>
              <a:t> different. </a:t>
            </a:r>
            <a:r>
              <a:rPr lang="es-MX" b="0" dirty="0" err="1"/>
              <a:t>Uniti</a:t>
            </a:r>
            <a:r>
              <a:rPr lang="es-MX" b="0" dirty="0"/>
              <a:t> </a:t>
            </a:r>
            <a:r>
              <a:rPr lang="es-MX" b="0" dirty="0" err="1"/>
              <a:t>exposes</a:t>
            </a:r>
            <a:r>
              <a:rPr lang="es-MX" b="0" dirty="0"/>
              <a:t> </a:t>
            </a:r>
            <a:r>
              <a:rPr lang="es-MX" b="0" dirty="0" err="1"/>
              <a:t>specialization</a:t>
            </a:r>
            <a:r>
              <a:rPr lang="es-MX" b="0" dirty="0"/>
              <a:t> </a:t>
            </a:r>
            <a:r>
              <a:rPr lang="es-MX" b="0" dirty="0" err="1"/>
              <a:t>largely</a:t>
            </a:r>
            <a:r>
              <a:rPr lang="es-MX" b="0" dirty="0"/>
              <a:t> </a:t>
            </a:r>
            <a:r>
              <a:rPr lang="es-MX" b="0" dirty="0" err="1"/>
              <a:t>through</a:t>
            </a:r>
            <a:r>
              <a:rPr lang="es-MX" b="0" dirty="0"/>
              <a:t> </a:t>
            </a:r>
            <a:r>
              <a:rPr lang="es-MX" b="0" dirty="0" err="1"/>
              <a:t>functional</a:t>
            </a:r>
            <a:r>
              <a:rPr lang="es-MX" b="0" dirty="0"/>
              <a:t> </a:t>
            </a:r>
            <a:r>
              <a:rPr lang="es-MX" b="0" dirty="0" err="1"/>
              <a:t>agents</a:t>
            </a:r>
            <a:r>
              <a:rPr lang="es-MX" b="0" dirty="0"/>
              <a:t>. </a:t>
            </a:r>
          </a:p>
          <a:p>
            <a:endParaRPr lang="es-MX" b="0" dirty="0"/>
          </a:p>
          <a:p>
            <a:r>
              <a:rPr lang="es-MX" b="0" dirty="0" err="1"/>
              <a:t>Our</a:t>
            </a:r>
            <a:r>
              <a:rPr lang="es-MX" b="0" dirty="0"/>
              <a:t> </a:t>
            </a:r>
            <a:r>
              <a:rPr lang="es-MX" b="0" dirty="0" err="1"/>
              <a:t>bet</a:t>
            </a:r>
            <a:r>
              <a:rPr lang="es-MX" b="0" dirty="0"/>
              <a:t> </a:t>
            </a:r>
            <a:r>
              <a:rPr lang="es-MX" b="0" dirty="0" err="1"/>
              <a:t>is</a:t>
            </a:r>
            <a:r>
              <a:rPr lang="es-MX" b="0" dirty="0"/>
              <a:t> one </a:t>
            </a:r>
            <a:r>
              <a:rPr lang="es-MX" b="0" dirty="0" err="1"/>
              <a:t>Gu</a:t>
            </a:r>
            <a:r>
              <a:rPr lang="es-MX" b="0" dirty="0"/>
              <a:t> </a:t>
            </a:r>
            <a:r>
              <a:rPr lang="es-MX" b="0" dirty="0" err="1"/>
              <a:t>experience</a:t>
            </a:r>
            <a:r>
              <a:rPr lang="es-MX" b="0" dirty="0"/>
              <a:t> </a:t>
            </a:r>
            <a:r>
              <a:rPr lang="es-MX" b="0" dirty="0" err="1"/>
              <a:t>across</a:t>
            </a:r>
            <a:r>
              <a:rPr lang="es-MX" b="0" dirty="0"/>
              <a:t> </a:t>
            </a:r>
            <a:r>
              <a:rPr lang="es-MX" b="0" dirty="0" err="1"/>
              <a:t>workflows</a:t>
            </a:r>
            <a:r>
              <a:rPr lang="es-MX" b="0" dirty="0"/>
              <a:t>: the </a:t>
            </a:r>
            <a:r>
              <a:rPr lang="es-MX" b="0" dirty="0" err="1"/>
              <a:t>user</a:t>
            </a:r>
            <a:r>
              <a:rPr lang="es-MX" b="0" dirty="0"/>
              <a:t> </a:t>
            </a:r>
            <a:r>
              <a:rPr lang="es-MX" b="0" dirty="0" err="1"/>
              <a:t>works</a:t>
            </a:r>
            <a:r>
              <a:rPr lang="es-MX" b="0" dirty="0"/>
              <a:t> </a:t>
            </a:r>
            <a:r>
              <a:rPr lang="es-MX" b="0" dirty="0" err="1"/>
              <a:t>with</a:t>
            </a:r>
            <a:r>
              <a:rPr lang="es-MX" b="0" dirty="0"/>
              <a:t> </a:t>
            </a:r>
            <a:r>
              <a:rPr lang="es-MX" b="0" dirty="0" err="1"/>
              <a:t>Gu</a:t>
            </a:r>
            <a:r>
              <a:rPr lang="es-MX" b="0" dirty="0"/>
              <a:t> </a:t>
            </a:r>
            <a:r>
              <a:rPr lang="es-MX" b="0" dirty="0" err="1"/>
              <a:t>around</a:t>
            </a:r>
            <a:r>
              <a:rPr lang="es-MX" b="0" dirty="0"/>
              <a:t> the </a:t>
            </a:r>
            <a:r>
              <a:rPr lang="es-MX" b="0" dirty="0" err="1"/>
              <a:t>business</a:t>
            </a:r>
            <a:r>
              <a:rPr lang="es-MX" b="0" dirty="0"/>
              <a:t> </a:t>
            </a:r>
            <a:r>
              <a:rPr lang="es-MX" b="0" dirty="0" err="1"/>
              <a:t>objective</a:t>
            </a:r>
            <a:r>
              <a:rPr lang="es-MX" b="0" dirty="0"/>
              <a:t>, </a:t>
            </a:r>
            <a:r>
              <a:rPr lang="es-MX" b="0" dirty="0" err="1"/>
              <a:t>while</a:t>
            </a:r>
            <a:r>
              <a:rPr lang="es-MX" b="0" dirty="0"/>
              <a:t> </a:t>
            </a:r>
            <a:r>
              <a:rPr lang="es-MX" b="0" dirty="0" err="1"/>
              <a:t>specialization</a:t>
            </a:r>
            <a:r>
              <a:rPr lang="es-MX" b="0" dirty="0"/>
              <a:t> can </a:t>
            </a:r>
            <a:r>
              <a:rPr lang="es-MX" b="0" dirty="0" err="1"/>
              <a:t>remain</a:t>
            </a:r>
            <a:r>
              <a:rPr lang="es-MX" b="0" dirty="0"/>
              <a:t> </a:t>
            </a:r>
            <a:r>
              <a:rPr lang="es-MX" b="0" dirty="0" err="1"/>
              <a:t>underneath</a:t>
            </a:r>
            <a:r>
              <a:rPr lang="es-MX" b="0" dirty="0"/>
              <a:t> in </a:t>
            </a:r>
            <a:r>
              <a:rPr lang="es-MX" b="0" dirty="0" err="1"/>
              <a:t>Skills</a:t>
            </a:r>
            <a:r>
              <a:rPr lang="es-MX" b="0" dirty="0"/>
              <a:t>, </a:t>
            </a:r>
            <a:r>
              <a:rPr lang="es-MX" b="0" dirty="0" err="1"/>
              <a:t>tools</a:t>
            </a:r>
            <a:r>
              <a:rPr lang="es-MX" b="0" dirty="0"/>
              <a:t>, </a:t>
            </a:r>
            <a:r>
              <a:rPr lang="es-MX" b="0" dirty="0" err="1"/>
              <a:t>workflows</a:t>
            </a:r>
            <a:r>
              <a:rPr lang="es-MX" b="0" dirty="0"/>
              <a:t> and </a:t>
            </a:r>
            <a:r>
              <a:rPr lang="es-MX" b="0" dirty="0" err="1"/>
              <a:t>specialized</a:t>
            </a:r>
            <a:r>
              <a:rPr lang="es-MX" b="0" dirty="0"/>
              <a:t> </a:t>
            </a:r>
            <a:r>
              <a:rPr lang="es-MX" b="0" dirty="0" err="1"/>
              <a:t>capabilities</a:t>
            </a:r>
            <a:r>
              <a:rPr lang="es-MX" b="0" dirty="0"/>
              <a:t>. In simple </a:t>
            </a:r>
            <a:r>
              <a:rPr lang="es-MX" b="0" dirty="0" err="1"/>
              <a:t>terms</a:t>
            </a:r>
            <a:r>
              <a:rPr lang="es-MX" b="0" dirty="0"/>
              <a:t>: </a:t>
            </a:r>
            <a:r>
              <a:rPr lang="es-MX" b="0" dirty="0" err="1"/>
              <a:t>specialized-agent</a:t>
            </a:r>
            <a:r>
              <a:rPr lang="es-MX" b="0" dirty="0"/>
              <a:t> </a:t>
            </a:r>
            <a:r>
              <a:rPr lang="es-MX" b="0" dirty="0" err="1"/>
              <a:t>architectures</a:t>
            </a:r>
            <a:r>
              <a:rPr lang="es-MX" b="0" dirty="0"/>
              <a:t> </a:t>
            </a:r>
            <a:r>
              <a:rPr lang="es-MX" b="0" dirty="0" err="1"/>
              <a:t>tend</a:t>
            </a:r>
            <a:r>
              <a:rPr lang="es-MX" b="0" dirty="0"/>
              <a:t> </a:t>
            </a:r>
            <a:r>
              <a:rPr lang="es-MX" b="0" dirty="0" err="1"/>
              <a:t>to</a:t>
            </a:r>
            <a:r>
              <a:rPr lang="es-MX" b="0" dirty="0"/>
              <a:t> </a:t>
            </a:r>
            <a:r>
              <a:rPr lang="es-MX" b="0" dirty="0" err="1"/>
              <a:t>map</a:t>
            </a:r>
            <a:r>
              <a:rPr lang="es-MX" b="0" dirty="0"/>
              <a:t> AI </a:t>
            </a:r>
            <a:r>
              <a:rPr lang="es-MX" b="0" dirty="0" err="1"/>
              <a:t>to</a:t>
            </a:r>
            <a:r>
              <a:rPr lang="es-MX" b="0" dirty="0"/>
              <a:t> </a:t>
            </a:r>
            <a:r>
              <a:rPr lang="es-MX" b="0" dirty="0" err="1"/>
              <a:t>functions</a:t>
            </a:r>
            <a:r>
              <a:rPr lang="es-MX" b="0" dirty="0"/>
              <a:t>; </a:t>
            </a:r>
            <a:r>
              <a:rPr lang="es-MX" b="0" dirty="0" err="1"/>
              <a:t>we</a:t>
            </a:r>
            <a:r>
              <a:rPr lang="es-MX" b="0" dirty="0"/>
              <a:t> </a:t>
            </a:r>
            <a:r>
              <a:rPr lang="es-MX" b="0" dirty="0" err="1"/>
              <a:t>want</a:t>
            </a:r>
            <a:r>
              <a:rPr lang="es-MX" b="0" dirty="0"/>
              <a:t> </a:t>
            </a:r>
            <a:r>
              <a:rPr lang="es-MX" b="0" dirty="0" err="1"/>
              <a:t>Gu</a:t>
            </a:r>
            <a:r>
              <a:rPr lang="es-MX" b="0" dirty="0"/>
              <a:t> OS </a:t>
            </a:r>
            <a:r>
              <a:rPr lang="es-MX" b="0" dirty="0" err="1"/>
              <a:t>to</a:t>
            </a:r>
            <a:r>
              <a:rPr lang="es-MX" b="0" dirty="0"/>
              <a:t> </a:t>
            </a:r>
            <a:r>
              <a:rPr lang="es-MX" b="0" dirty="0" err="1"/>
              <a:t>organize</a:t>
            </a:r>
            <a:r>
              <a:rPr lang="es-MX" b="0" dirty="0"/>
              <a:t> AI </a:t>
            </a:r>
            <a:r>
              <a:rPr lang="es-MX" b="0" dirty="0" err="1"/>
              <a:t>around</a:t>
            </a:r>
            <a:r>
              <a:rPr lang="es-MX" b="0" dirty="0"/>
              <a:t> </a:t>
            </a:r>
            <a:r>
              <a:rPr lang="es-MX" b="0" dirty="0" err="1"/>
              <a:t>objectives</a:t>
            </a:r>
            <a:r>
              <a:rPr lang="es-MX" b="0" dirty="0"/>
              <a:t> and </a:t>
            </a:r>
            <a:r>
              <a:rPr lang="es-MX" b="0" dirty="0" err="1"/>
              <a:t>end-to-end</a:t>
            </a:r>
            <a:r>
              <a:rPr lang="es-MX" b="0" dirty="0"/>
              <a:t> </a:t>
            </a:r>
            <a:r>
              <a:rPr lang="es-MX" b="0" dirty="0" err="1"/>
              <a:t>work</a:t>
            </a:r>
            <a:r>
              <a:rPr lang="es-MX" b="0" dirty="0"/>
              <a:t>.</a:t>
            </a:r>
          </a:p>
          <a:p>
            <a:endParaRPr lang="es-MX" b="0" dirty="0"/>
          </a:p>
          <a:p>
            <a:r>
              <a:rPr lang="es-MX" b="0" dirty="0" err="1"/>
              <a:t>That</a:t>
            </a:r>
            <a:r>
              <a:rPr lang="es-MX" b="0" dirty="0"/>
              <a:t> </a:t>
            </a:r>
            <a:r>
              <a:rPr lang="es-MX" b="0" dirty="0" err="1"/>
              <a:t>does</a:t>
            </a:r>
            <a:r>
              <a:rPr lang="es-MX" b="0" dirty="0"/>
              <a:t> </a:t>
            </a:r>
            <a:r>
              <a:rPr lang="es-MX" b="0" dirty="0" err="1"/>
              <a:t>not</a:t>
            </a:r>
            <a:r>
              <a:rPr lang="es-MX" b="0" dirty="0"/>
              <a:t> mean </a:t>
            </a:r>
            <a:r>
              <a:rPr lang="es-MX" b="0" dirty="0" err="1"/>
              <a:t>Uniti's</a:t>
            </a:r>
            <a:r>
              <a:rPr lang="es-MX" b="0" dirty="0"/>
              <a:t> </a:t>
            </a:r>
            <a:r>
              <a:rPr lang="es-MX" b="0" dirty="0" err="1"/>
              <a:t>approach</a:t>
            </a:r>
            <a:r>
              <a:rPr lang="es-MX" b="0" dirty="0"/>
              <a:t> </a:t>
            </a:r>
            <a:r>
              <a:rPr lang="es-MX" b="0" dirty="0" err="1"/>
              <a:t>is</a:t>
            </a:r>
            <a:r>
              <a:rPr lang="es-MX" b="0" dirty="0"/>
              <a:t> inferior. </a:t>
            </a:r>
            <a:r>
              <a:rPr lang="es-MX" b="0" dirty="0" err="1"/>
              <a:t>Specialized</a:t>
            </a:r>
            <a:r>
              <a:rPr lang="es-MX" b="0" dirty="0"/>
              <a:t> </a:t>
            </a:r>
            <a:r>
              <a:rPr lang="es-MX" b="0" dirty="0" err="1"/>
              <a:t>agents</a:t>
            </a:r>
            <a:r>
              <a:rPr lang="es-MX" b="0" dirty="0"/>
              <a:t> </a:t>
            </a:r>
            <a:r>
              <a:rPr lang="es-MX" b="0" dirty="0" err="1"/>
              <a:t>have</a:t>
            </a:r>
            <a:r>
              <a:rPr lang="es-MX" b="0" dirty="0"/>
              <a:t> real </a:t>
            </a:r>
            <a:r>
              <a:rPr lang="es-MX" b="0" dirty="0" err="1"/>
              <a:t>advantages</a:t>
            </a:r>
            <a:r>
              <a:rPr lang="es-MX" b="0" dirty="0"/>
              <a:t>: </a:t>
            </a:r>
            <a:r>
              <a:rPr lang="es-MX" b="0" dirty="0" err="1"/>
              <a:t>they</a:t>
            </a:r>
            <a:r>
              <a:rPr lang="es-MX" b="0" dirty="0"/>
              <a:t> can be </a:t>
            </a:r>
            <a:r>
              <a:rPr lang="es-MX" b="0" dirty="0" err="1"/>
              <a:t>easier</a:t>
            </a:r>
            <a:r>
              <a:rPr lang="es-MX" b="0" dirty="0"/>
              <a:t> </a:t>
            </a:r>
            <a:r>
              <a:rPr lang="es-MX" b="0" dirty="0" err="1"/>
              <a:t>to</a:t>
            </a:r>
            <a:r>
              <a:rPr lang="es-MX" b="0" dirty="0"/>
              <a:t> </a:t>
            </a:r>
            <a:r>
              <a:rPr lang="es-MX" b="0" dirty="0" err="1"/>
              <a:t>understand</a:t>
            </a:r>
            <a:r>
              <a:rPr lang="es-MX" b="0" dirty="0"/>
              <a:t>, </a:t>
            </a:r>
            <a:r>
              <a:rPr lang="es-MX" b="0" dirty="0" err="1"/>
              <a:t>package</a:t>
            </a:r>
            <a:r>
              <a:rPr lang="es-MX" b="0" dirty="0"/>
              <a:t>, </a:t>
            </a:r>
            <a:r>
              <a:rPr lang="es-MX" b="0" dirty="0" err="1"/>
              <a:t>measure</a:t>
            </a:r>
            <a:r>
              <a:rPr lang="es-MX" b="0" dirty="0"/>
              <a:t>, </a:t>
            </a:r>
            <a:r>
              <a:rPr lang="es-MX" b="0" dirty="0" err="1"/>
              <a:t>permission</a:t>
            </a:r>
            <a:r>
              <a:rPr lang="es-MX" b="0" dirty="0"/>
              <a:t> and </a:t>
            </a:r>
            <a:r>
              <a:rPr lang="es-MX" b="0" dirty="0" err="1"/>
              <a:t>optimize</a:t>
            </a:r>
            <a:r>
              <a:rPr lang="es-MX" b="0" dirty="0"/>
              <a:t>. </a:t>
            </a:r>
            <a:r>
              <a:rPr lang="es-MX" b="0" dirty="0" err="1"/>
              <a:t>Our</a:t>
            </a:r>
            <a:r>
              <a:rPr lang="es-MX" b="0" dirty="0"/>
              <a:t> </a:t>
            </a:r>
            <a:r>
              <a:rPr lang="es-MX" b="0" dirty="0" err="1"/>
              <a:t>hypothesis</a:t>
            </a:r>
            <a:r>
              <a:rPr lang="es-MX" b="0" dirty="0"/>
              <a:t> </a:t>
            </a:r>
            <a:r>
              <a:rPr lang="es-MX" b="0" dirty="0" err="1"/>
              <a:t>is</a:t>
            </a:r>
            <a:r>
              <a:rPr lang="es-MX" b="0" dirty="0"/>
              <a:t> </a:t>
            </a:r>
            <a:r>
              <a:rPr lang="es-MX" b="0" dirty="0" err="1"/>
              <a:t>that</a:t>
            </a:r>
            <a:r>
              <a:rPr lang="es-MX" b="0" dirty="0"/>
              <a:t> one </a:t>
            </a:r>
            <a:r>
              <a:rPr lang="es-MX" b="0" dirty="0" err="1"/>
              <a:t>Gu</a:t>
            </a:r>
            <a:r>
              <a:rPr lang="es-MX" b="0" dirty="0"/>
              <a:t> </a:t>
            </a:r>
            <a:r>
              <a:rPr lang="es-MX" b="0" dirty="0" err="1"/>
              <a:t>experience</a:t>
            </a:r>
            <a:r>
              <a:rPr lang="es-MX" b="0" dirty="0"/>
              <a:t> can reduce cognitive </a:t>
            </a:r>
            <a:r>
              <a:rPr lang="es-MX" b="0" dirty="0" err="1"/>
              <a:t>overhead</a:t>
            </a:r>
            <a:r>
              <a:rPr lang="es-MX" b="0" dirty="0"/>
              <a:t> and </a:t>
            </a:r>
            <a:r>
              <a:rPr lang="es-MX" b="0" dirty="0" err="1"/>
              <a:t>make</a:t>
            </a:r>
            <a:r>
              <a:rPr lang="es-MX" b="0" dirty="0"/>
              <a:t> </a:t>
            </a:r>
            <a:r>
              <a:rPr lang="es-MX" b="0" dirty="0" err="1"/>
              <a:t>cross-functional</a:t>
            </a:r>
            <a:r>
              <a:rPr lang="es-MX" b="0" dirty="0"/>
              <a:t> </a:t>
            </a:r>
            <a:r>
              <a:rPr lang="es-MX" b="0" dirty="0" err="1"/>
              <a:t>workflows</a:t>
            </a:r>
            <a:r>
              <a:rPr lang="es-MX" b="0" dirty="0"/>
              <a:t> more natural, </a:t>
            </a:r>
            <a:r>
              <a:rPr lang="es-MX" b="0" dirty="0" err="1"/>
              <a:t>provided</a:t>
            </a:r>
            <a:r>
              <a:rPr lang="es-MX" b="0" dirty="0"/>
              <a:t> </a:t>
            </a:r>
            <a:r>
              <a:rPr lang="es-MX" b="0" dirty="0" err="1"/>
              <a:t>Gu</a:t>
            </a:r>
            <a:r>
              <a:rPr lang="es-MX" b="0" dirty="0"/>
              <a:t> OS </a:t>
            </a:r>
            <a:r>
              <a:rPr lang="es-MX" b="0" dirty="0" err="1"/>
              <a:t>handles</a:t>
            </a:r>
            <a:r>
              <a:rPr lang="es-MX" b="0" dirty="0"/>
              <a:t> the </a:t>
            </a:r>
            <a:r>
              <a:rPr lang="es-MX" b="0" dirty="0" err="1"/>
              <a:t>complexity</a:t>
            </a:r>
            <a:r>
              <a:rPr lang="es-MX" b="0" dirty="0"/>
              <a:t> </a:t>
            </a:r>
            <a:r>
              <a:rPr lang="es-MX" b="0" dirty="0" err="1"/>
              <a:t>underneath</a:t>
            </a:r>
            <a:r>
              <a:rPr lang="es-MX" b="0" dirty="0"/>
              <a:t>.</a:t>
            </a:r>
          </a:p>
          <a:p>
            <a:endParaRPr lang="es-MX" b="0" dirty="0"/>
          </a:p>
          <a:p>
            <a:r>
              <a:rPr lang="es-MX" b="0" dirty="0" err="1"/>
              <a:t>There</a:t>
            </a:r>
            <a:r>
              <a:rPr lang="es-MX" b="0" dirty="0"/>
              <a:t> are </a:t>
            </a:r>
            <a:r>
              <a:rPr lang="es-MX" b="0" dirty="0" err="1"/>
              <a:t>also</a:t>
            </a:r>
            <a:r>
              <a:rPr lang="es-MX" b="0" dirty="0"/>
              <a:t> </a:t>
            </a:r>
            <a:r>
              <a:rPr lang="es-MX" b="0" dirty="0" err="1"/>
              <a:t>some</a:t>
            </a:r>
            <a:r>
              <a:rPr lang="es-MX" b="0" dirty="0"/>
              <a:t> </a:t>
            </a:r>
            <a:r>
              <a:rPr lang="es-MX" b="0" dirty="0" err="1"/>
              <a:t>assets</a:t>
            </a:r>
            <a:r>
              <a:rPr lang="es-MX" b="0" dirty="0"/>
              <a:t> </a:t>
            </a:r>
            <a:r>
              <a:rPr lang="es-MX" b="0" dirty="0" err="1"/>
              <a:t>already</a:t>
            </a:r>
            <a:r>
              <a:rPr lang="es-MX" b="0" dirty="0"/>
              <a:t> in place. </a:t>
            </a:r>
            <a:r>
              <a:rPr lang="es-MX" b="0" dirty="0" err="1"/>
              <a:t>Shared</a:t>
            </a:r>
            <a:r>
              <a:rPr lang="es-MX" b="0" dirty="0"/>
              <a:t> </a:t>
            </a:r>
            <a:r>
              <a:rPr lang="es-MX" b="0" dirty="0" err="1"/>
              <a:t>inventory</a:t>
            </a:r>
            <a:r>
              <a:rPr lang="es-MX" b="0" dirty="0"/>
              <a:t> </a:t>
            </a:r>
            <a:r>
              <a:rPr lang="es-MX" b="0" dirty="0" err="1"/>
              <a:t>is</a:t>
            </a:r>
            <a:r>
              <a:rPr lang="es-MX" b="0" dirty="0"/>
              <a:t> one </a:t>
            </a:r>
            <a:r>
              <a:rPr lang="es-MX" b="0" dirty="0" err="1"/>
              <a:t>example</a:t>
            </a:r>
            <a:r>
              <a:rPr lang="es-MX" b="0" dirty="0"/>
              <a:t>: </a:t>
            </a:r>
            <a:r>
              <a:rPr lang="es-MX" b="0" dirty="0" err="1"/>
              <a:t>Gu</a:t>
            </a:r>
            <a:r>
              <a:rPr lang="es-MX" b="0" dirty="0"/>
              <a:t> can </a:t>
            </a:r>
            <a:r>
              <a:rPr lang="es-MX" b="0" dirty="0" err="1"/>
              <a:t>mobilize</a:t>
            </a:r>
            <a:r>
              <a:rPr lang="es-MX" b="0" dirty="0"/>
              <a:t> </a:t>
            </a:r>
            <a:r>
              <a:rPr lang="es-MX" b="0" dirty="0" err="1"/>
              <a:t>inventory</a:t>
            </a:r>
            <a:r>
              <a:rPr lang="es-MX" b="0" dirty="0"/>
              <a:t> </a:t>
            </a:r>
            <a:r>
              <a:rPr lang="es-MX" b="0" dirty="0" err="1"/>
              <a:t>across</a:t>
            </a:r>
            <a:r>
              <a:rPr lang="es-MX" b="0" dirty="0"/>
              <a:t> </a:t>
            </a:r>
            <a:r>
              <a:rPr lang="es-MX" b="0" dirty="0" err="1"/>
              <a:t>participating</a:t>
            </a:r>
            <a:r>
              <a:rPr lang="es-MX" b="0" dirty="0"/>
              <a:t> </a:t>
            </a:r>
            <a:r>
              <a:rPr lang="es-MX" b="0" dirty="0" err="1"/>
              <a:t>brokerages</a:t>
            </a:r>
            <a:r>
              <a:rPr lang="es-MX" b="0" dirty="0"/>
              <a:t> </a:t>
            </a:r>
            <a:r>
              <a:rPr lang="es-MX" b="0" dirty="0" err="1"/>
              <a:t>rather</a:t>
            </a:r>
            <a:r>
              <a:rPr lang="es-MX" b="0" dirty="0"/>
              <a:t> </a:t>
            </a:r>
            <a:r>
              <a:rPr lang="es-MX" b="0" dirty="0" err="1"/>
              <a:t>than</a:t>
            </a:r>
            <a:r>
              <a:rPr lang="es-MX" b="0" dirty="0"/>
              <a:t> </a:t>
            </a:r>
            <a:r>
              <a:rPr lang="es-MX" b="0" dirty="0" err="1"/>
              <a:t>being</a:t>
            </a:r>
            <a:r>
              <a:rPr lang="es-MX" b="0" dirty="0"/>
              <a:t> </a:t>
            </a:r>
            <a:r>
              <a:rPr lang="es-MX" b="0" dirty="0" err="1"/>
              <a:t>limited</a:t>
            </a:r>
            <a:r>
              <a:rPr lang="es-MX" b="0" dirty="0"/>
              <a:t> </a:t>
            </a:r>
            <a:r>
              <a:rPr lang="es-MX" b="0" dirty="0" err="1"/>
              <a:t>to</a:t>
            </a:r>
            <a:r>
              <a:rPr lang="es-MX" b="0" dirty="0"/>
              <a:t> one </a:t>
            </a:r>
            <a:r>
              <a:rPr lang="es-MX" b="0" dirty="0" err="1"/>
              <a:t>company's</a:t>
            </a:r>
            <a:r>
              <a:rPr lang="es-MX" b="0" dirty="0"/>
              <a:t> </a:t>
            </a:r>
            <a:r>
              <a:rPr lang="es-MX" b="0" dirty="0" err="1"/>
              <a:t>listings</a:t>
            </a:r>
            <a:r>
              <a:rPr lang="es-MX" b="0" dirty="0"/>
              <a:t>. </a:t>
            </a:r>
            <a:r>
              <a:rPr lang="es-MX" b="0" dirty="0" err="1"/>
              <a:t>We</a:t>
            </a:r>
            <a:r>
              <a:rPr lang="es-MX" b="0" dirty="0"/>
              <a:t> </a:t>
            </a:r>
            <a:r>
              <a:rPr lang="es-MX" b="0" dirty="0" err="1"/>
              <a:t>also</a:t>
            </a:r>
            <a:r>
              <a:rPr lang="es-MX" b="0" dirty="0"/>
              <a:t> </a:t>
            </a:r>
            <a:r>
              <a:rPr lang="es-MX" b="0" dirty="0" err="1"/>
              <a:t>already</a:t>
            </a:r>
            <a:r>
              <a:rPr lang="es-MX" b="0" dirty="0"/>
              <a:t> </a:t>
            </a:r>
            <a:r>
              <a:rPr lang="es-MX" b="0" dirty="0" err="1"/>
              <a:t>have</a:t>
            </a:r>
            <a:r>
              <a:rPr lang="es-MX" b="0" dirty="0"/>
              <a:t> real </a:t>
            </a:r>
            <a:r>
              <a:rPr lang="es-MX" b="0" dirty="0" err="1"/>
              <a:t>brokerage</a:t>
            </a:r>
            <a:r>
              <a:rPr lang="es-MX" b="0" dirty="0"/>
              <a:t> </a:t>
            </a:r>
            <a:r>
              <a:rPr lang="es-MX" b="0" dirty="0" err="1"/>
              <a:t>context</a:t>
            </a:r>
            <a:r>
              <a:rPr lang="es-MX" b="0" dirty="0"/>
              <a:t>, </a:t>
            </a:r>
            <a:r>
              <a:rPr lang="es-MX" b="0" dirty="0" err="1"/>
              <a:t>integrations</a:t>
            </a:r>
            <a:r>
              <a:rPr lang="es-MX" b="0" dirty="0"/>
              <a:t> and the durable-</a:t>
            </a:r>
            <a:r>
              <a:rPr lang="es-MX" b="0" dirty="0" err="1"/>
              <a:t>work</a:t>
            </a:r>
            <a:r>
              <a:rPr lang="es-MX" b="0" dirty="0"/>
              <a:t> </a:t>
            </a:r>
            <a:r>
              <a:rPr lang="es-MX" b="0" dirty="0" err="1"/>
              <a:t>foundation</a:t>
            </a:r>
            <a:r>
              <a:rPr lang="es-MX" b="0" dirty="0"/>
              <a:t> </a:t>
            </a:r>
            <a:r>
              <a:rPr lang="es-MX" b="0" dirty="0" err="1"/>
              <a:t>of</a:t>
            </a:r>
            <a:r>
              <a:rPr lang="es-MX" b="0" dirty="0"/>
              <a:t> </a:t>
            </a:r>
            <a:r>
              <a:rPr lang="es-MX" b="0" dirty="0" err="1"/>
              <a:t>Gu</a:t>
            </a:r>
            <a:r>
              <a:rPr lang="es-MX" b="0" dirty="0"/>
              <a:t> OS. Other </a:t>
            </a:r>
            <a:r>
              <a:rPr lang="es-MX" b="0" dirty="0" err="1"/>
              <a:t>elements</a:t>
            </a:r>
            <a:r>
              <a:rPr lang="es-MX" b="0" dirty="0"/>
              <a:t> </a:t>
            </a:r>
            <a:r>
              <a:rPr lang="es-MX" b="0" dirty="0" err="1"/>
              <a:t>on</a:t>
            </a:r>
            <a:r>
              <a:rPr lang="es-MX" b="0" dirty="0"/>
              <a:t> </a:t>
            </a:r>
            <a:r>
              <a:rPr lang="es-MX" b="0" dirty="0" err="1"/>
              <a:t>this</a:t>
            </a:r>
            <a:r>
              <a:rPr lang="es-MX" b="0" dirty="0"/>
              <a:t> </a:t>
            </a:r>
            <a:r>
              <a:rPr lang="es-MX" b="0" dirty="0" err="1"/>
              <a:t>column</a:t>
            </a:r>
            <a:r>
              <a:rPr lang="es-MX" b="0" dirty="0"/>
              <a:t> — </a:t>
            </a:r>
            <a:r>
              <a:rPr lang="es-MX" b="0" dirty="0" err="1"/>
              <a:t>especially</a:t>
            </a:r>
            <a:r>
              <a:rPr lang="es-MX" b="0" dirty="0"/>
              <a:t> </a:t>
            </a:r>
            <a:r>
              <a:rPr lang="es-MX" b="0" dirty="0" err="1"/>
              <a:t>deeper</a:t>
            </a:r>
            <a:r>
              <a:rPr lang="es-MX" b="0" dirty="0"/>
              <a:t> </a:t>
            </a:r>
            <a:r>
              <a:rPr lang="es-MX" b="0" dirty="0" err="1"/>
              <a:t>company-specific</a:t>
            </a:r>
            <a:r>
              <a:rPr lang="es-MX" b="0" dirty="0"/>
              <a:t> </a:t>
            </a:r>
            <a:r>
              <a:rPr lang="es-MX" b="0" dirty="0" err="1"/>
              <a:t>intelligence</a:t>
            </a:r>
            <a:r>
              <a:rPr lang="es-MX" b="0" dirty="0"/>
              <a:t> and the </a:t>
            </a:r>
            <a:r>
              <a:rPr lang="es-MX" b="0" dirty="0" err="1"/>
              <a:t>outcome</a:t>
            </a:r>
            <a:r>
              <a:rPr lang="es-MX" b="0" dirty="0"/>
              <a:t> </a:t>
            </a:r>
            <a:r>
              <a:rPr lang="es-MX" b="0" dirty="0" err="1"/>
              <a:t>loop</a:t>
            </a:r>
            <a:r>
              <a:rPr lang="es-MX" b="0" dirty="0"/>
              <a:t> — are </a:t>
            </a:r>
            <a:r>
              <a:rPr lang="es-MX" b="0" dirty="0" err="1"/>
              <a:t>things</a:t>
            </a:r>
            <a:r>
              <a:rPr lang="es-MX" b="0" dirty="0"/>
              <a:t> </a:t>
            </a:r>
            <a:r>
              <a:rPr lang="es-MX" b="0" dirty="0" err="1"/>
              <a:t>we</a:t>
            </a:r>
            <a:r>
              <a:rPr lang="es-MX" b="0" dirty="0"/>
              <a:t> </a:t>
            </a:r>
            <a:r>
              <a:rPr lang="es-MX" b="0" dirty="0" err="1"/>
              <a:t>expect</a:t>
            </a:r>
            <a:r>
              <a:rPr lang="es-MX" b="0" dirty="0"/>
              <a:t> </a:t>
            </a:r>
            <a:r>
              <a:rPr lang="es-MX" b="0" dirty="0" err="1"/>
              <a:t>to</a:t>
            </a:r>
            <a:r>
              <a:rPr lang="es-MX" b="0" dirty="0"/>
              <a:t> </a:t>
            </a:r>
            <a:r>
              <a:rPr lang="es-MX" b="0" dirty="0" err="1"/>
              <a:t>compound</a:t>
            </a:r>
            <a:r>
              <a:rPr lang="es-MX" b="0" dirty="0"/>
              <a:t> as more real </a:t>
            </a:r>
            <a:r>
              <a:rPr lang="es-MX" b="0" dirty="0" err="1"/>
              <a:t>work</a:t>
            </a:r>
            <a:r>
              <a:rPr lang="es-MX" b="0" dirty="0"/>
              <a:t> </a:t>
            </a:r>
            <a:r>
              <a:rPr lang="es-MX" b="0" dirty="0" err="1"/>
              <a:t>runs</a:t>
            </a:r>
            <a:r>
              <a:rPr lang="es-MX" b="0" dirty="0"/>
              <a:t> </a:t>
            </a:r>
            <a:r>
              <a:rPr lang="es-MX" b="0" dirty="0" err="1"/>
              <a:t>through</a:t>
            </a:r>
            <a:r>
              <a:rPr lang="es-MX" b="0" dirty="0"/>
              <a:t> </a:t>
            </a:r>
            <a:r>
              <a:rPr lang="es-MX" b="0" dirty="0" err="1"/>
              <a:t>Gu</a:t>
            </a:r>
            <a:r>
              <a:rPr lang="es-MX" b="0" dirty="0"/>
              <a:t>.</a:t>
            </a:r>
          </a:p>
          <a:p>
            <a:endParaRPr lang="es-MX" b="0" dirty="0"/>
          </a:p>
          <a:p>
            <a:r>
              <a:rPr lang="es-MX" b="0" dirty="0"/>
              <a:t>So the </a:t>
            </a:r>
            <a:r>
              <a:rPr lang="es-MX" b="0" dirty="0" err="1"/>
              <a:t>takeaway</a:t>
            </a:r>
            <a:r>
              <a:rPr lang="es-MX" b="0" dirty="0"/>
              <a:t> </a:t>
            </a:r>
            <a:r>
              <a:rPr lang="es-MX" b="0" dirty="0" err="1"/>
              <a:t>is</a:t>
            </a:r>
            <a:r>
              <a:rPr lang="es-MX" b="0" dirty="0"/>
              <a:t> </a:t>
            </a:r>
            <a:r>
              <a:rPr lang="es-MX" b="0" dirty="0" err="1"/>
              <a:t>not</a:t>
            </a:r>
            <a:r>
              <a:rPr lang="es-MX" b="0" dirty="0"/>
              <a:t> “</a:t>
            </a:r>
            <a:r>
              <a:rPr lang="es-MX" b="0" dirty="0" err="1"/>
              <a:t>everyone</a:t>
            </a:r>
            <a:r>
              <a:rPr lang="es-MX" b="0" dirty="0"/>
              <a:t> </a:t>
            </a:r>
            <a:r>
              <a:rPr lang="es-MX" b="0" dirty="0" err="1"/>
              <a:t>else</a:t>
            </a:r>
            <a:r>
              <a:rPr lang="es-MX" b="0" dirty="0"/>
              <a:t> </a:t>
            </a:r>
            <a:r>
              <a:rPr lang="es-MX" b="0" dirty="0" err="1"/>
              <a:t>is</a:t>
            </a:r>
            <a:r>
              <a:rPr lang="es-MX" b="0" dirty="0"/>
              <a:t> </a:t>
            </a:r>
            <a:r>
              <a:rPr lang="es-MX" b="0" dirty="0" err="1"/>
              <a:t>traditional</a:t>
            </a:r>
            <a:r>
              <a:rPr lang="es-MX" b="0" dirty="0"/>
              <a:t> and Ungga has AI.” </a:t>
            </a:r>
            <a:r>
              <a:rPr lang="es-MX" b="0" dirty="0" err="1"/>
              <a:t>That</a:t>
            </a:r>
            <a:r>
              <a:rPr lang="es-MX" b="0" dirty="0"/>
              <a:t> </a:t>
            </a:r>
            <a:r>
              <a:rPr lang="es-MX" b="0" dirty="0" err="1"/>
              <a:t>would</a:t>
            </a:r>
            <a:r>
              <a:rPr lang="es-MX" b="0" dirty="0"/>
              <a:t> be </a:t>
            </a:r>
            <a:r>
              <a:rPr lang="es-MX" b="0" dirty="0" err="1"/>
              <a:t>wrong</a:t>
            </a:r>
            <a:r>
              <a:rPr lang="es-MX" b="0" dirty="0"/>
              <a:t>. The competitive </a:t>
            </a:r>
            <a:r>
              <a:rPr lang="es-MX" b="0" dirty="0" err="1"/>
              <a:t>evolution</a:t>
            </a:r>
            <a:r>
              <a:rPr lang="es-MX" b="0" dirty="0"/>
              <a:t> </a:t>
            </a:r>
            <a:r>
              <a:rPr lang="es-MX" b="0" dirty="0" err="1"/>
              <a:t>is</a:t>
            </a:r>
            <a:r>
              <a:rPr lang="es-MX" b="0" dirty="0"/>
              <a:t> from software </a:t>
            </a:r>
            <a:r>
              <a:rPr lang="es-MX" b="0" dirty="0" err="1"/>
              <a:t>that</a:t>
            </a:r>
            <a:r>
              <a:rPr lang="es-MX" b="0" dirty="0"/>
              <a:t> </a:t>
            </a:r>
            <a:r>
              <a:rPr lang="es-MX" b="0" dirty="0" err="1"/>
              <a:t>digitizes</a:t>
            </a:r>
            <a:r>
              <a:rPr lang="es-MX" b="0" dirty="0"/>
              <a:t> </a:t>
            </a:r>
            <a:r>
              <a:rPr lang="es-MX" b="0" dirty="0" err="1"/>
              <a:t>work</a:t>
            </a:r>
            <a:r>
              <a:rPr lang="es-MX" b="0" dirty="0"/>
              <a:t>, </a:t>
            </a:r>
            <a:r>
              <a:rPr lang="es-MX" b="0" dirty="0" err="1"/>
              <a:t>to</a:t>
            </a:r>
            <a:r>
              <a:rPr lang="es-MX" b="0" dirty="0"/>
              <a:t> </a:t>
            </a:r>
            <a:r>
              <a:rPr lang="es-MX" b="0" dirty="0" err="1"/>
              <a:t>copilots</a:t>
            </a:r>
            <a:r>
              <a:rPr lang="es-MX" b="0" dirty="0"/>
              <a:t> </a:t>
            </a:r>
            <a:r>
              <a:rPr lang="es-MX" b="0" dirty="0" err="1"/>
              <a:t>that</a:t>
            </a:r>
            <a:r>
              <a:rPr lang="es-MX" b="0" dirty="0"/>
              <a:t> </a:t>
            </a:r>
            <a:r>
              <a:rPr lang="es-MX" b="0" dirty="0" err="1"/>
              <a:t>assist</a:t>
            </a:r>
            <a:r>
              <a:rPr lang="es-MX" b="0" dirty="0"/>
              <a:t> </a:t>
            </a:r>
            <a:r>
              <a:rPr lang="es-MX" b="0" dirty="0" err="1"/>
              <a:t>it</a:t>
            </a:r>
            <a:r>
              <a:rPr lang="es-MX" b="0" dirty="0"/>
              <a:t>, </a:t>
            </a:r>
            <a:r>
              <a:rPr lang="es-MX" b="0" dirty="0" err="1"/>
              <a:t>to</a:t>
            </a:r>
            <a:r>
              <a:rPr lang="es-MX" b="0" dirty="0"/>
              <a:t> </a:t>
            </a:r>
            <a:r>
              <a:rPr lang="es-MX" b="0" dirty="0" err="1"/>
              <a:t>agents</a:t>
            </a:r>
            <a:r>
              <a:rPr lang="es-MX" b="0" dirty="0"/>
              <a:t> </a:t>
            </a:r>
            <a:r>
              <a:rPr lang="es-MX" b="0" dirty="0" err="1"/>
              <a:t>that</a:t>
            </a:r>
            <a:r>
              <a:rPr lang="es-MX" b="0" dirty="0"/>
              <a:t> </a:t>
            </a:r>
            <a:r>
              <a:rPr lang="es-MX" b="0" dirty="0" err="1"/>
              <a:t>execute</a:t>
            </a:r>
            <a:r>
              <a:rPr lang="es-MX" b="0" dirty="0"/>
              <a:t> </a:t>
            </a:r>
            <a:r>
              <a:rPr lang="es-MX" b="0" dirty="0" err="1"/>
              <a:t>it</a:t>
            </a:r>
            <a:r>
              <a:rPr lang="es-MX" b="0" dirty="0"/>
              <a:t>. </a:t>
            </a:r>
            <a:r>
              <a:rPr lang="es-MX" b="0" dirty="0" err="1"/>
              <a:t>Our</a:t>
            </a:r>
            <a:r>
              <a:rPr lang="es-MX" b="0" dirty="0"/>
              <a:t> </a:t>
            </a:r>
            <a:r>
              <a:rPr lang="es-MX" b="0" dirty="0" err="1"/>
              <a:t>ambition</a:t>
            </a:r>
            <a:r>
              <a:rPr lang="es-MX" b="0" dirty="0"/>
              <a:t> </a:t>
            </a:r>
            <a:r>
              <a:rPr lang="es-MX" b="0" dirty="0" err="1"/>
              <a:t>with</a:t>
            </a:r>
            <a:r>
              <a:rPr lang="es-MX" b="0" dirty="0"/>
              <a:t> </a:t>
            </a:r>
            <a:r>
              <a:rPr lang="es-MX" b="0" dirty="0" err="1"/>
              <a:t>Gu</a:t>
            </a:r>
            <a:r>
              <a:rPr lang="es-MX" b="0" dirty="0"/>
              <a:t> OS </a:t>
            </a:r>
            <a:r>
              <a:rPr lang="es-MX" b="0" dirty="0" err="1"/>
              <a:t>is</a:t>
            </a:r>
            <a:r>
              <a:rPr lang="es-MX" b="0" dirty="0"/>
              <a:t> </a:t>
            </a:r>
            <a:r>
              <a:rPr lang="es-MX" b="0" dirty="0" err="1"/>
              <a:t>to</a:t>
            </a:r>
            <a:r>
              <a:rPr lang="es-MX" b="0" dirty="0"/>
              <a:t> </a:t>
            </a:r>
            <a:r>
              <a:rPr lang="es-MX" b="0" dirty="0" err="1"/>
              <a:t>coordinate</a:t>
            </a:r>
            <a:r>
              <a:rPr lang="es-MX" b="0" dirty="0"/>
              <a:t> and </a:t>
            </a:r>
            <a:r>
              <a:rPr lang="es-MX" b="0" dirty="0" err="1"/>
              <a:t>execute</a:t>
            </a:r>
            <a:r>
              <a:rPr lang="es-MX" b="0" dirty="0"/>
              <a:t> </a:t>
            </a:r>
            <a:r>
              <a:rPr lang="es-MX" b="0" dirty="0" err="1"/>
              <a:t>work</a:t>
            </a:r>
            <a:r>
              <a:rPr lang="es-MX" b="0" dirty="0"/>
              <a:t> </a:t>
            </a:r>
            <a:r>
              <a:rPr lang="es-MX" b="0" dirty="0" err="1"/>
              <a:t>across</a:t>
            </a:r>
            <a:r>
              <a:rPr lang="es-MX" b="0" dirty="0"/>
              <a:t> the real-estate </a:t>
            </a:r>
            <a:r>
              <a:rPr lang="es-MX" b="0" dirty="0" err="1"/>
              <a:t>operation</a:t>
            </a:r>
            <a:r>
              <a:rPr lang="es-MX" b="0" dirty="0"/>
              <a:t> — </a:t>
            </a:r>
            <a:r>
              <a:rPr lang="es-MX" b="0" dirty="0" err="1"/>
              <a:t>through</a:t>
            </a:r>
            <a:r>
              <a:rPr lang="es-MX" b="0" dirty="0"/>
              <a:t> one </a:t>
            </a:r>
            <a:r>
              <a:rPr lang="es-MX" b="0" dirty="0" err="1"/>
              <a:t>Gu</a:t>
            </a:r>
            <a:r>
              <a:rPr lang="es-MX" b="0" dirty="0"/>
              <a:t> </a:t>
            </a:r>
            <a:r>
              <a:rPr lang="es-MX" b="0" dirty="0" err="1"/>
              <a:t>experience</a:t>
            </a:r>
            <a:r>
              <a:rPr lang="es-MX" b="0" dirty="0"/>
              <a:t>, </a:t>
            </a:r>
            <a:r>
              <a:rPr lang="es-MX" b="0" dirty="0" err="1"/>
              <a:t>increasingly</a:t>
            </a:r>
            <a:r>
              <a:rPr lang="es-MX" b="0" dirty="0"/>
              <a:t> </a:t>
            </a:r>
            <a:r>
              <a:rPr lang="es-MX" b="0" dirty="0" err="1"/>
              <a:t>informed</a:t>
            </a:r>
            <a:r>
              <a:rPr lang="es-MX" b="0" dirty="0"/>
              <a:t> </a:t>
            </a:r>
            <a:r>
              <a:rPr lang="es-MX" b="0" dirty="0" err="1"/>
              <a:t>by</a:t>
            </a:r>
            <a:r>
              <a:rPr lang="es-MX" b="0" dirty="0"/>
              <a:t> </a:t>
            </a:r>
            <a:r>
              <a:rPr lang="es-MX" b="0" dirty="0" err="1"/>
              <a:t>company</a:t>
            </a:r>
            <a:r>
              <a:rPr lang="es-MX" b="0" dirty="0"/>
              <a:t> </a:t>
            </a:r>
            <a:r>
              <a:rPr lang="es-MX" b="0" dirty="0" err="1"/>
              <a:t>context</a:t>
            </a:r>
            <a:r>
              <a:rPr lang="es-MX" b="0" dirty="0"/>
              <a:t>, </a:t>
            </a:r>
            <a:r>
              <a:rPr lang="es-MX" b="0" dirty="0" err="1"/>
              <a:t>outcomes</a:t>
            </a:r>
            <a:r>
              <a:rPr lang="es-MX" b="0" dirty="0"/>
              <a:t> and the </a:t>
            </a:r>
            <a:r>
              <a:rPr lang="es-MX" b="0" dirty="0" err="1"/>
              <a:t>broader</a:t>
            </a:r>
            <a:r>
              <a:rPr lang="es-MX" b="0" dirty="0"/>
              <a:t> real-estate </a:t>
            </a:r>
            <a:r>
              <a:rPr lang="es-MX" b="0" dirty="0" err="1"/>
              <a:t>network</a:t>
            </a:r>
            <a:r>
              <a:rPr lang="es-MX" b="0" dirty="0"/>
              <a:t>.</a:t>
            </a:r>
          </a:p>
          <a:p>
            <a:endParaRPr lang="es-MX" dirty="0"/>
          </a:p>
          <a:p>
            <a:endParaRPr lang="es-MX" dirty="0"/>
          </a:p>
          <a:p>
            <a:r>
              <a:rPr lang="es-MX" dirty="0"/>
              <a:t>---</a:t>
            </a:r>
          </a:p>
          <a:p>
            <a:r>
              <a:rPr lang="es-MX" dirty="0"/>
              <a:t>Notas adicionales:</a:t>
            </a:r>
          </a:p>
          <a:p>
            <a:r>
              <a:rPr lang="es-MX" dirty="0"/>
              <a:t>- La </a:t>
            </a:r>
            <a:r>
              <a:rPr lang="es-MX" dirty="0" err="1"/>
              <a:t>slide</a:t>
            </a:r>
            <a:r>
              <a:rPr lang="es-MX" dirty="0"/>
              <a:t> cuenta una progresión bastante sofisticada:</a:t>
            </a:r>
          </a:p>
          <a:p>
            <a:pPr marL="171450" indent="-171450">
              <a:buFont typeface="Arial" panose="020B0604020202020204" pitchFamily="34" charset="0"/>
              <a:buChar char="•"/>
            </a:pPr>
            <a:r>
              <a:rPr lang="es-MX" b="1" dirty="0"/>
              <a:t>Status quo</a:t>
            </a:r>
            <a:endParaRPr lang="es-MX" dirty="0"/>
          </a:p>
          <a:p>
            <a:pPr marL="0" indent="0">
              <a:buFont typeface="Arial" panose="020B0604020202020204" pitchFamily="34" charset="0"/>
              <a:buNone/>
            </a:pPr>
            <a:r>
              <a:rPr lang="es-MX" dirty="0"/>
              <a:t>    </a:t>
            </a:r>
            <a:r>
              <a:rPr lang="es-MX" dirty="0" err="1"/>
              <a:t>Humans</a:t>
            </a:r>
            <a:r>
              <a:rPr lang="es-MX" dirty="0"/>
              <a:t> </a:t>
            </a:r>
            <a:r>
              <a:rPr lang="es-MX" dirty="0" err="1"/>
              <a:t>coordinate</a:t>
            </a:r>
            <a:r>
              <a:rPr lang="es-MX" dirty="0"/>
              <a:t> </a:t>
            </a:r>
            <a:r>
              <a:rPr lang="es-MX" dirty="0" err="1"/>
              <a:t>everything</a:t>
            </a:r>
            <a:r>
              <a:rPr lang="es-MX" dirty="0"/>
              <a:t>.</a:t>
            </a:r>
          </a:p>
          <a:p>
            <a:pPr marL="171450" indent="-171450">
              <a:buFont typeface="Arial" panose="020B0604020202020204" pitchFamily="34" charset="0"/>
              <a:buChar char="•"/>
            </a:pPr>
            <a:r>
              <a:rPr lang="es-MX" b="1" dirty="0" err="1"/>
              <a:t>Traditional</a:t>
            </a:r>
            <a:r>
              <a:rPr lang="es-MX" b="1" dirty="0"/>
              <a:t> vertical software + AI </a:t>
            </a:r>
            <a:r>
              <a:rPr lang="es-MX" b="1" dirty="0" err="1"/>
              <a:t>copilots</a:t>
            </a:r>
            <a:endParaRPr lang="es-MX" dirty="0"/>
          </a:p>
          <a:p>
            <a:pPr marL="0" indent="0">
              <a:buFont typeface="Arial" panose="020B0604020202020204" pitchFamily="34" charset="0"/>
              <a:buNone/>
            </a:pPr>
            <a:r>
              <a:rPr lang="es-MX" dirty="0"/>
              <a:t>    Software </a:t>
            </a:r>
            <a:r>
              <a:rPr lang="es-MX" dirty="0" err="1"/>
              <a:t>organizes</a:t>
            </a:r>
            <a:r>
              <a:rPr lang="es-MX" dirty="0"/>
              <a:t> </a:t>
            </a:r>
            <a:r>
              <a:rPr lang="es-MX" dirty="0" err="1"/>
              <a:t>work</a:t>
            </a:r>
            <a:r>
              <a:rPr lang="es-MX" dirty="0"/>
              <a:t> and AI </a:t>
            </a:r>
            <a:r>
              <a:rPr lang="es-MX" dirty="0" err="1"/>
              <a:t>helps</a:t>
            </a:r>
            <a:r>
              <a:rPr lang="es-MX" dirty="0"/>
              <a:t>.</a:t>
            </a:r>
          </a:p>
          <a:p>
            <a:pPr marL="171450" indent="-171450">
              <a:buFont typeface="Arial" panose="020B0604020202020204" pitchFamily="34" charset="0"/>
              <a:buChar char="•"/>
            </a:pPr>
            <a:r>
              <a:rPr lang="es-MX" b="1" dirty="0"/>
              <a:t>General </a:t>
            </a:r>
            <a:r>
              <a:rPr lang="es-MX" b="1" dirty="0" err="1"/>
              <a:t>agents</a:t>
            </a:r>
            <a:endParaRPr lang="es-MX" b="1" dirty="0"/>
          </a:p>
          <a:p>
            <a:pPr marL="0" indent="0">
              <a:buFont typeface="Arial" panose="020B0604020202020204" pitchFamily="34" charset="0"/>
              <a:buNone/>
            </a:pPr>
            <a:r>
              <a:rPr lang="es-MX" b="1" dirty="0"/>
              <a:t>    </a:t>
            </a:r>
            <a:r>
              <a:rPr lang="es-MX" dirty="0"/>
              <a:t>AI can </a:t>
            </a:r>
            <a:r>
              <a:rPr lang="es-MX" dirty="0" err="1"/>
              <a:t>execute</a:t>
            </a:r>
            <a:r>
              <a:rPr lang="es-MX" dirty="0"/>
              <a:t>, </a:t>
            </a:r>
            <a:r>
              <a:rPr lang="es-MX" dirty="0" err="1"/>
              <a:t>but</a:t>
            </a:r>
            <a:r>
              <a:rPr lang="es-MX" dirty="0"/>
              <a:t> </a:t>
            </a:r>
            <a:r>
              <a:rPr lang="es-MX" dirty="0" err="1"/>
              <a:t>customer</a:t>
            </a:r>
            <a:r>
              <a:rPr lang="es-MX" dirty="0"/>
              <a:t> </a:t>
            </a:r>
            <a:r>
              <a:rPr lang="es-MX" dirty="0" err="1"/>
              <a:t>must</a:t>
            </a:r>
            <a:r>
              <a:rPr lang="es-MX" dirty="0"/>
              <a:t> </a:t>
            </a:r>
            <a:r>
              <a:rPr lang="es-MX" dirty="0" err="1"/>
              <a:t>assemble</a:t>
            </a:r>
            <a:r>
              <a:rPr lang="es-MX" dirty="0"/>
              <a:t> the vertical </a:t>
            </a:r>
            <a:r>
              <a:rPr lang="es-MX" dirty="0" err="1"/>
              <a:t>operating</a:t>
            </a:r>
            <a:r>
              <a:rPr lang="es-MX" dirty="0"/>
              <a:t> </a:t>
            </a:r>
            <a:r>
              <a:rPr lang="es-MX" dirty="0" err="1"/>
              <a:t>layer</a:t>
            </a:r>
            <a:r>
              <a:rPr lang="es-MX" dirty="0"/>
              <a:t>.</a:t>
            </a:r>
          </a:p>
          <a:p>
            <a:pPr marL="171450" indent="-171450">
              <a:buFont typeface="Arial" panose="020B0604020202020204" pitchFamily="34" charset="0"/>
              <a:buChar char="•"/>
            </a:pPr>
            <a:r>
              <a:rPr lang="es-MX" b="1" dirty="0"/>
              <a:t>Vertical </a:t>
            </a:r>
            <a:r>
              <a:rPr lang="es-MX" b="1" dirty="0" err="1"/>
              <a:t>agentic</a:t>
            </a:r>
            <a:r>
              <a:rPr lang="es-MX" b="1" dirty="0"/>
              <a:t> </a:t>
            </a:r>
            <a:r>
              <a:rPr lang="es-MX" b="1" dirty="0" err="1"/>
              <a:t>platforms</a:t>
            </a:r>
            <a:endParaRPr lang="es-MX" dirty="0"/>
          </a:p>
          <a:p>
            <a:pPr marL="0" indent="0">
              <a:buFont typeface="Arial" panose="020B0604020202020204" pitchFamily="34" charset="0"/>
              <a:buNone/>
            </a:pPr>
            <a:r>
              <a:rPr lang="es-MX" dirty="0"/>
              <a:t>    Vertical </a:t>
            </a:r>
            <a:r>
              <a:rPr lang="es-MX" dirty="0" err="1"/>
              <a:t>execution</a:t>
            </a:r>
            <a:r>
              <a:rPr lang="es-MX" dirty="0"/>
              <a:t> </a:t>
            </a:r>
            <a:r>
              <a:rPr lang="es-MX" dirty="0" err="1"/>
              <a:t>already</a:t>
            </a:r>
            <a:r>
              <a:rPr lang="es-MX" dirty="0"/>
              <a:t> </a:t>
            </a:r>
            <a:r>
              <a:rPr lang="es-MX" dirty="0" err="1"/>
              <a:t>exists</a:t>
            </a:r>
            <a:r>
              <a:rPr lang="es-MX" dirty="0"/>
              <a:t>; </a:t>
            </a:r>
            <a:r>
              <a:rPr lang="es-MX" dirty="0" err="1"/>
              <a:t>this</a:t>
            </a:r>
            <a:r>
              <a:rPr lang="es-MX" dirty="0"/>
              <a:t> </a:t>
            </a:r>
            <a:r>
              <a:rPr lang="es-MX" dirty="0" err="1"/>
              <a:t>is</a:t>
            </a:r>
            <a:r>
              <a:rPr lang="es-MX" dirty="0"/>
              <a:t> the </a:t>
            </a:r>
            <a:r>
              <a:rPr lang="es-MX" dirty="0" err="1"/>
              <a:t>closest</a:t>
            </a:r>
            <a:r>
              <a:rPr lang="es-MX" dirty="0"/>
              <a:t> competitive </a:t>
            </a:r>
            <a:r>
              <a:rPr lang="es-MX" dirty="0" err="1"/>
              <a:t>battleground</a:t>
            </a:r>
            <a:r>
              <a:rPr lang="es-MX" dirty="0"/>
              <a:t>.</a:t>
            </a:r>
          </a:p>
          <a:p>
            <a:pPr marL="171450" indent="-171450">
              <a:buFont typeface="Arial" panose="020B0604020202020204" pitchFamily="34" charset="0"/>
              <a:buChar char="•"/>
            </a:pPr>
            <a:r>
              <a:rPr lang="es-MX" b="1" dirty="0"/>
              <a:t>Ungga</a:t>
            </a:r>
            <a:endParaRPr lang="es-MX" dirty="0"/>
          </a:p>
          <a:p>
            <a:r>
              <a:rPr lang="es-MX" dirty="0"/>
              <a:t>    One </a:t>
            </a:r>
            <a:r>
              <a:rPr lang="es-MX" dirty="0" err="1"/>
              <a:t>Gu</a:t>
            </a:r>
            <a:r>
              <a:rPr lang="es-MX" dirty="0"/>
              <a:t> </a:t>
            </a:r>
            <a:r>
              <a:rPr lang="es-MX" dirty="0" err="1"/>
              <a:t>experience</a:t>
            </a:r>
            <a:r>
              <a:rPr lang="es-MX" dirty="0"/>
              <a:t> </a:t>
            </a:r>
            <a:r>
              <a:rPr lang="es-MX" dirty="0" err="1"/>
              <a:t>over</a:t>
            </a:r>
            <a:r>
              <a:rPr lang="es-MX" dirty="0"/>
              <a:t> durable, </a:t>
            </a:r>
            <a:r>
              <a:rPr lang="es-MX" dirty="0" err="1"/>
              <a:t>company-specific</a:t>
            </a:r>
            <a:r>
              <a:rPr lang="es-MX" dirty="0"/>
              <a:t>, </a:t>
            </a:r>
            <a:r>
              <a:rPr lang="es-MX" dirty="0" err="1"/>
              <a:t>connected</a:t>
            </a:r>
            <a:r>
              <a:rPr lang="es-MX" dirty="0"/>
              <a:t> </a:t>
            </a:r>
            <a:r>
              <a:rPr lang="es-MX" dirty="0" err="1"/>
              <a:t>operating</a:t>
            </a:r>
            <a:r>
              <a:rPr lang="es-MX" dirty="0"/>
              <a:t> </a:t>
            </a:r>
            <a:r>
              <a:rPr lang="es-MX" dirty="0" err="1"/>
              <a:t>intelligence</a:t>
            </a:r>
            <a:r>
              <a:rPr lang="es-MX" dirty="0"/>
              <a:t>.</a:t>
            </a:r>
          </a:p>
          <a:p>
            <a:endParaRPr lang="es-MX" dirty="0"/>
          </a:p>
          <a:p>
            <a:r>
              <a:rPr lang="es-MX" dirty="0"/>
              <a:t>Eso es mucho mejor que una tabla típica de:</a:t>
            </a:r>
          </a:p>
          <a:p>
            <a:r>
              <a:rPr lang="es-MX" dirty="0"/>
              <a:t>✅ nosotros</a:t>
            </a:r>
            <a:br>
              <a:rPr lang="es-MX" dirty="0"/>
            </a:br>
            <a:r>
              <a:rPr lang="es-MX" dirty="0"/>
              <a:t>❌ todos los demás.</a:t>
            </a:r>
          </a:p>
          <a:p>
            <a:endParaRPr lang="es-MX" dirty="0"/>
          </a:p>
          <a:p>
            <a:endParaRPr lang="es-MX" dirty="0"/>
          </a:p>
          <a:p>
            <a:r>
              <a:rPr lang="es-MX" dirty="0"/>
              <a:t>---</a:t>
            </a:r>
          </a:p>
          <a:p>
            <a:r>
              <a:rPr lang="es-MX" dirty="0"/>
              <a:t>Después de revisar nuevamente la información pública actual de </a:t>
            </a:r>
            <a:r>
              <a:rPr lang="es-MX" b="1" dirty="0"/>
              <a:t>KOVA</a:t>
            </a:r>
            <a:r>
              <a:rPr lang="es-MX" dirty="0"/>
              <a:t> y </a:t>
            </a:r>
            <a:r>
              <a:rPr lang="es-MX" b="1" dirty="0" err="1"/>
              <a:t>Uniti</a:t>
            </a:r>
            <a:r>
              <a:rPr lang="es-MX" dirty="0"/>
              <a:t>, creo que tu lectura va en una dirección correcta, pero hay que afinarla porque las dos empresas son bastante distintas entre sí. Y esto también me hace cambiar cómo describiría nuestro </a:t>
            </a:r>
            <a:r>
              <a:rPr lang="es-MX" b="1" dirty="0"/>
              <a:t>“CURRENT EDGE”</a:t>
            </a:r>
            <a:r>
              <a:rPr lang="es-MX" dirty="0"/>
              <a:t>.</a:t>
            </a:r>
          </a:p>
          <a:p>
            <a:endParaRPr lang="es-MX" dirty="0"/>
          </a:p>
          <a:p>
            <a:r>
              <a:rPr lang="es-MX" b="1" dirty="0"/>
              <a:t>0) No llamaría a </a:t>
            </a:r>
            <a:r>
              <a:rPr lang="es-MX" sz="1200" b="1" kern="1200" dirty="0">
                <a:solidFill>
                  <a:schemeClr val="tx1"/>
                </a:solidFill>
                <a:latin typeface="+mn-lt"/>
                <a:ea typeface="+mn-ea"/>
                <a:cs typeface="+mn-cs"/>
              </a:rPr>
              <a:t>durable </a:t>
            </a:r>
            <a:r>
              <a:rPr lang="es-MX" sz="1200" b="1" kern="1200" dirty="0" err="1">
                <a:solidFill>
                  <a:schemeClr val="tx1"/>
                </a:solidFill>
                <a:latin typeface="+mn-lt"/>
                <a:ea typeface="+mn-ea"/>
                <a:cs typeface="+mn-cs"/>
              </a:rPr>
              <a:t>operation</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foundation</a:t>
            </a:r>
            <a:r>
              <a:rPr lang="es-MX" b="1" dirty="0"/>
              <a:t> y </a:t>
            </a:r>
            <a:r>
              <a:rPr lang="es-MX" sz="1200" b="1" kern="1200" dirty="0" err="1">
                <a:solidFill>
                  <a:schemeClr val="tx1"/>
                </a:solidFill>
                <a:latin typeface="+mn-lt"/>
                <a:ea typeface="+mn-ea"/>
                <a:cs typeface="+mn-cs"/>
              </a:rPr>
              <a:t>brokerage-specific</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context</a:t>
            </a:r>
            <a:r>
              <a:rPr lang="es-MX" b="1" dirty="0"/>
              <a:t> ventajas competitivas demostradas todavía</a:t>
            </a:r>
          </a:p>
          <a:p>
            <a:r>
              <a:rPr lang="es-MX" b="1" dirty="0"/>
              <a:t>Durable </a:t>
            </a:r>
            <a:r>
              <a:rPr lang="es-MX" b="1" dirty="0" err="1"/>
              <a:t>operation</a:t>
            </a:r>
            <a:r>
              <a:rPr lang="es-MX" b="1" dirty="0"/>
              <a:t> </a:t>
            </a:r>
            <a:r>
              <a:rPr lang="es-MX" b="1" dirty="0" err="1"/>
              <a:t>foundation</a:t>
            </a:r>
            <a:r>
              <a:rPr lang="es-MX" b="1" dirty="0"/>
              <a:t> sí es un activo real de Ungga</a:t>
            </a:r>
            <a:r>
              <a:rPr lang="es-MX" dirty="0"/>
              <a:t>, pero no podemos afirmar hoy que sea una ventaja diferenciadora frente a todos los vertical-</a:t>
            </a:r>
            <a:r>
              <a:rPr lang="es-MX" dirty="0" err="1"/>
              <a:t>agentic</a:t>
            </a:r>
            <a:r>
              <a:rPr lang="es-MX" dirty="0"/>
              <a:t> </a:t>
            </a:r>
            <a:r>
              <a:rPr lang="es-MX" dirty="0" err="1"/>
              <a:t>competitors</a:t>
            </a:r>
            <a:r>
              <a:rPr lang="es-MX" dirty="0"/>
              <a:t>. </a:t>
            </a:r>
            <a:r>
              <a:rPr lang="es-MX" dirty="0" err="1"/>
              <a:t>Uniti</a:t>
            </a:r>
            <a:r>
              <a:rPr lang="es-MX" dirty="0"/>
              <a:t>, por ejemplo, habla públicamente de un </a:t>
            </a:r>
            <a:r>
              <a:rPr lang="es-MX" i="1" dirty="0"/>
              <a:t>Agent </a:t>
            </a:r>
            <a:r>
              <a:rPr lang="es-MX" i="1" dirty="0" err="1"/>
              <a:t>Operating</a:t>
            </a:r>
            <a:r>
              <a:rPr lang="es-MX" i="1" dirty="0"/>
              <a:t> </a:t>
            </a:r>
            <a:r>
              <a:rPr lang="es-MX" i="1" dirty="0" err="1"/>
              <a:t>System</a:t>
            </a:r>
            <a:r>
              <a:rPr lang="es-MX" dirty="0"/>
              <a:t>, continuidad de contexto entre canales, integración con PMS/CRM y agentes que observan continuamente el sistema y ejecutan </a:t>
            </a:r>
            <a:r>
              <a:rPr lang="es-MX" dirty="0" err="1"/>
              <a:t>workflows</a:t>
            </a:r>
            <a:r>
              <a:rPr lang="es-MX" dirty="0"/>
              <a:t>. Eso sugiere que también han resuelto al menos una parte importante del problema de continuidad/durabilidad operacional. </a:t>
            </a:r>
          </a:p>
          <a:p>
            <a:r>
              <a:rPr lang="es-MX" dirty="0"/>
              <a:t>Con KOVA es menos claro arquitectónicamente, pero tampoco podemos asumir que sólo tiene un </a:t>
            </a:r>
            <a:r>
              <a:rPr lang="es-MX" dirty="0" err="1"/>
              <a:t>chatbot</a:t>
            </a:r>
            <a:r>
              <a:rPr lang="es-MX" dirty="0"/>
              <a:t>: públicamente afirma que responde leads automáticamente por WhatsApp y mueve el pipeline basándose en respuestas y acciones del prospecto. </a:t>
            </a:r>
          </a:p>
          <a:p>
            <a:r>
              <a:rPr lang="es-MX" dirty="0"/>
              <a:t>Entonces yo distinguiría:</a:t>
            </a:r>
          </a:p>
          <a:p>
            <a:r>
              <a:rPr lang="es-MX" b="1" dirty="0"/>
              <a:t>CURRENT ASSETS</a:t>
            </a:r>
            <a:r>
              <a:rPr lang="es-MX" dirty="0"/>
              <a:t> ≠ </a:t>
            </a:r>
            <a:r>
              <a:rPr lang="es-MX" b="1" dirty="0"/>
              <a:t>PROVEN COMPETITIVE EDGE</a:t>
            </a:r>
            <a:endParaRPr lang="es-MX" dirty="0"/>
          </a:p>
          <a:p>
            <a:r>
              <a:rPr lang="es-MX" dirty="0" err="1"/>
              <a:t>Gu</a:t>
            </a:r>
            <a:r>
              <a:rPr lang="es-MX" dirty="0"/>
              <a:t> OS durable </a:t>
            </a:r>
            <a:r>
              <a:rPr lang="es-MX" dirty="0" err="1"/>
              <a:t>work</a:t>
            </a:r>
            <a:r>
              <a:rPr lang="es-MX" dirty="0"/>
              <a:t> es un </a:t>
            </a:r>
            <a:r>
              <a:rPr lang="es-MX" b="1" dirty="0" err="1"/>
              <a:t>current</a:t>
            </a:r>
            <a:r>
              <a:rPr lang="es-MX" b="1" dirty="0"/>
              <a:t> </a:t>
            </a:r>
            <a:r>
              <a:rPr lang="es-MX" b="1" dirty="0" err="1"/>
              <a:t>asset</a:t>
            </a:r>
            <a:r>
              <a:rPr lang="es-MX" dirty="0"/>
              <a:t>. Puede convertirse en </a:t>
            </a:r>
            <a:r>
              <a:rPr lang="es-MX" dirty="0" err="1"/>
              <a:t>edge</a:t>
            </a:r>
            <a:r>
              <a:rPr lang="es-MX" dirty="0"/>
              <a:t> si demostramos que nos permite cubrir operaciones más complejas/mejor que ellos, pero no sabemos que ellos carezcan de algo equivalente.</a:t>
            </a:r>
          </a:p>
          <a:p>
            <a:r>
              <a:rPr lang="es-MX" dirty="0"/>
              <a:t>Con </a:t>
            </a:r>
            <a:r>
              <a:rPr lang="es-MX" sz="1200" kern="1200" dirty="0" err="1">
                <a:solidFill>
                  <a:schemeClr val="tx1"/>
                </a:solidFill>
                <a:latin typeface="+mn-lt"/>
                <a:ea typeface="+mn-ea"/>
                <a:cs typeface="+mn-cs"/>
              </a:rPr>
              <a:t>brokerage-specific</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context</a:t>
            </a:r>
            <a:r>
              <a:rPr lang="es-MX" dirty="0"/>
              <a:t> pasa algo parecido. </a:t>
            </a:r>
            <a:r>
              <a:rPr lang="es-MX" dirty="0" err="1"/>
              <a:t>Gu</a:t>
            </a:r>
            <a:r>
              <a:rPr lang="es-MX" dirty="0"/>
              <a:t> sí tiene hoy contexto real de propiedades, leads, conversaciones, </a:t>
            </a:r>
            <a:r>
              <a:rPr lang="es-MX" dirty="0" err="1"/>
              <a:t>appointments</a:t>
            </a:r>
            <a:r>
              <a:rPr lang="es-MX" dirty="0"/>
              <a:t>, etc. Pero la noción amplia de </a:t>
            </a:r>
            <a:r>
              <a:rPr lang="es-MX" b="1" dirty="0" err="1"/>
              <a:t>company-specific</a:t>
            </a:r>
            <a:r>
              <a:rPr lang="es-MX" b="1" dirty="0"/>
              <a:t> </a:t>
            </a:r>
            <a:r>
              <a:rPr lang="es-MX" b="1" dirty="0" err="1"/>
              <a:t>operating</a:t>
            </a:r>
            <a:r>
              <a:rPr lang="es-MX" b="1" dirty="0"/>
              <a:t> </a:t>
            </a:r>
            <a:r>
              <a:rPr lang="es-MX" b="1" dirty="0" err="1"/>
              <a:t>intelligence</a:t>
            </a:r>
            <a:r>
              <a:rPr lang="es-MX" b="1" dirty="0"/>
              <a:t> / Business Brain</a:t>
            </a:r>
            <a:r>
              <a:rPr lang="es-MX" dirty="0"/>
              <a:t> todavía está en formación. No la vendería como </a:t>
            </a:r>
            <a:r>
              <a:rPr lang="es-MX" dirty="0" err="1"/>
              <a:t>moat</a:t>
            </a:r>
            <a:r>
              <a:rPr lang="es-MX" dirty="0"/>
              <a:t> actual.</a:t>
            </a:r>
          </a:p>
          <a:p>
            <a:r>
              <a:rPr lang="es-MX" dirty="0"/>
              <a:t>En cambio, </a:t>
            </a:r>
            <a:r>
              <a:rPr lang="es-MX" b="1" dirty="0" err="1"/>
              <a:t>Shared</a:t>
            </a:r>
            <a:r>
              <a:rPr lang="es-MX" b="1" dirty="0"/>
              <a:t> </a:t>
            </a:r>
            <a:r>
              <a:rPr lang="es-MX" b="1" dirty="0" err="1"/>
              <a:t>Inventory</a:t>
            </a:r>
            <a:r>
              <a:rPr lang="es-MX" b="1" dirty="0"/>
              <a:t> sí me parece un </a:t>
            </a:r>
            <a:r>
              <a:rPr lang="es-MX" b="1" dirty="0" err="1"/>
              <a:t>current</a:t>
            </a:r>
            <a:r>
              <a:rPr lang="es-MX" b="1" dirty="0"/>
              <a:t> </a:t>
            </a:r>
            <a:r>
              <a:rPr lang="es-MX" b="1" dirty="0" err="1"/>
              <a:t>differentiator</a:t>
            </a:r>
            <a:r>
              <a:rPr lang="es-MX" b="1" dirty="0"/>
              <a:t> bastante más concreto</a:t>
            </a:r>
            <a:r>
              <a:rPr lang="es-MX" dirty="0"/>
              <a:t>, especialmente en México. En la revisión de los productos públicos de KOVA y </a:t>
            </a:r>
            <a:r>
              <a:rPr lang="es-MX" dirty="0" err="1"/>
              <a:t>Uniti</a:t>
            </a:r>
            <a:r>
              <a:rPr lang="es-MX" dirty="0"/>
              <a:t> no encontré una capacidad equivalente de red entre inmobiliarias que permita a una inmobiliaria movilizar inventario de otras y generar oportunidades cruzadas. Eso no prueba que no exista internamente, pero </a:t>
            </a:r>
            <a:r>
              <a:rPr lang="es-MX" b="1" dirty="0"/>
              <a:t>no es una </a:t>
            </a:r>
            <a:r>
              <a:rPr lang="es-MX" b="1" dirty="0" err="1"/>
              <a:t>capability</a:t>
            </a:r>
            <a:r>
              <a:rPr lang="es-MX" b="1" dirty="0"/>
              <a:t> que estén presentando públicamente como parte de su producto</a:t>
            </a:r>
            <a:r>
              <a:rPr lang="es-MX" dirty="0"/>
              <a:t>. KOVA enfatiza CRM/pipeline/operación/IA y </a:t>
            </a:r>
            <a:r>
              <a:rPr lang="es-MX" dirty="0" err="1"/>
              <a:t>Uniti</a:t>
            </a:r>
            <a:r>
              <a:rPr lang="es-MX" dirty="0"/>
              <a:t> integración con PMS/CRM y agentes funcionales. </a:t>
            </a:r>
          </a:p>
          <a:p>
            <a:br>
              <a:rPr lang="es-MX" dirty="0"/>
            </a:br>
            <a:endParaRPr lang="es-MX" dirty="0"/>
          </a:p>
          <a:p>
            <a:r>
              <a:rPr lang="es-MX" b="1" dirty="0"/>
              <a:t>1) KOVA: sí veo el patrón que estás detectando, pero no lo llamaría simplemente “</a:t>
            </a:r>
            <a:r>
              <a:rPr lang="es-MX" b="1" dirty="0" err="1"/>
              <a:t>not</a:t>
            </a:r>
            <a:r>
              <a:rPr lang="es-MX" b="1" dirty="0"/>
              <a:t> AI-</a:t>
            </a:r>
            <a:r>
              <a:rPr lang="es-MX" b="1" dirty="0" err="1"/>
              <a:t>first</a:t>
            </a:r>
            <a:r>
              <a:rPr lang="es-MX" b="1" dirty="0"/>
              <a:t>”</a:t>
            </a:r>
          </a:p>
          <a:p>
            <a:r>
              <a:rPr lang="es-MX" dirty="0"/>
              <a:t>Aquí hay un matiz muy importante.</a:t>
            </a:r>
          </a:p>
          <a:p>
            <a:r>
              <a:rPr lang="es-MX" dirty="0"/>
              <a:t>La página pública de KOVA efectivamente mantiene muchas metáforas de </a:t>
            </a:r>
            <a:r>
              <a:rPr lang="es-MX" b="1" dirty="0"/>
              <a:t>software que el humano opera</a:t>
            </a:r>
            <a:r>
              <a:rPr lang="es-MX" dirty="0"/>
              <a:t>: pipeline con etapas </a:t>
            </a:r>
            <a:r>
              <a:rPr lang="es-MX" sz="1200" kern="1200" dirty="0">
                <a:solidFill>
                  <a:schemeClr val="tx1"/>
                </a:solidFill>
                <a:latin typeface="+mn-lt"/>
                <a:ea typeface="+mn-ea"/>
                <a:cs typeface="+mn-cs"/>
              </a:rPr>
              <a:t>Prospecto → Cita → Negociación → Documentación → Cierre</a:t>
            </a:r>
            <a:r>
              <a:rPr lang="es-MX" dirty="0"/>
              <a:t>, repositorio documental, pasos sugeridos por etapa y el mensaje:</a:t>
            </a:r>
          </a:p>
          <a:p>
            <a:r>
              <a:rPr lang="es-MX" dirty="0"/>
              <a:t>“KOVA te dice a quién darle seguimiento hoy.”</a:t>
            </a:r>
          </a:p>
          <a:p>
            <a:r>
              <a:rPr lang="es-MX" dirty="0"/>
              <a:t>Todo eso tiene bastante sabor de </a:t>
            </a:r>
            <a:r>
              <a:rPr lang="es-MX" b="1" dirty="0"/>
              <a:t>vertical SaaS/CRM evolucionado con IA</a:t>
            </a:r>
            <a:r>
              <a:rPr lang="es-MX" dirty="0"/>
              <a:t>. </a:t>
            </a:r>
          </a:p>
          <a:p>
            <a:r>
              <a:rPr lang="es-MX" dirty="0"/>
              <a:t>Y coincido contigo en tu interpretación de esa frase. Si el sistema:</a:t>
            </a:r>
          </a:p>
          <a:p>
            <a:r>
              <a:rPr lang="es-MX" b="1" dirty="0"/>
              <a:t>“te dice a quién darle seguimiento”</a:t>
            </a:r>
            <a:endParaRPr lang="es-MX" dirty="0"/>
          </a:p>
          <a:p>
            <a:r>
              <a:rPr lang="es-MX" dirty="0"/>
              <a:t>pero el trabajo operativo siguiente sigue dependiendo de que el asesor vea la lista, priorice y haga el seguimiento, estamos mucho más cerca de:</a:t>
            </a:r>
          </a:p>
          <a:p>
            <a:r>
              <a:rPr lang="es-MX" b="1" dirty="0"/>
              <a:t>AI </a:t>
            </a:r>
            <a:r>
              <a:rPr lang="es-MX" b="1" dirty="0" err="1"/>
              <a:t>recommends</a:t>
            </a:r>
            <a:r>
              <a:rPr lang="es-MX" b="1" dirty="0"/>
              <a:t> → human </a:t>
            </a:r>
            <a:r>
              <a:rPr lang="es-MX" b="1" dirty="0" err="1"/>
              <a:t>operates</a:t>
            </a:r>
            <a:endParaRPr lang="es-MX" dirty="0"/>
          </a:p>
          <a:p>
            <a:r>
              <a:rPr lang="es-MX" dirty="0"/>
              <a:t>que de nuestra tesis:</a:t>
            </a:r>
          </a:p>
          <a:p>
            <a:r>
              <a:rPr lang="es-MX" b="1" dirty="0"/>
              <a:t>AI </a:t>
            </a:r>
            <a:r>
              <a:rPr lang="es-MX" b="1" dirty="0" err="1"/>
              <a:t>understands</a:t>
            </a:r>
            <a:r>
              <a:rPr lang="es-MX" b="1" dirty="0"/>
              <a:t> → decides </a:t>
            </a:r>
            <a:r>
              <a:rPr lang="es-MX" b="1" dirty="0" err="1"/>
              <a:t>within</a:t>
            </a:r>
            <a:r>
              <a:rPr lang="es-MX" b="1" dirty="0"/>
              <a:t> </a:t>
            </a:r>
            <a:r>
              <a:rPr lang="es-MX" b="1" dirty="0" err="1"/>
              <a:t>policy</a:t>
            </a:r>
            <a:r>
              <a:rPr lang="es-MX" b="1" dirty="0"/>
              <a:t> → </a:t>
            </a:r>
            <a:r>
              <a:rPr lang="es-MX" b="1" dirty="0" err="1"/>
              <a:t>executes</a:t>
            </a:r>
            <a:r>
              <a:rPr lang="es-MX" b="1" dirty="0"/>
              <a:t> → human </a:t>
            </a:r>
            <a:r>
              <a:rPr lang="es-MX" b="1" dirty="0" err="1"/>
              <a:t>intervenes</a:t>
            </a:r>
            <a:r>
              <a:rPr lang="es-MX" b="1" dirty="0"/>
              <a:t> </a:t>
            </a:r>
            <a:r>
              <a:rPr lang="es-MX" b="1" dirty="0" err="1"/>
              <a:t>when</a:t>
            </a:r>
            <a:r>
              <a:rPr lang="es-MX" b="1" dirty="0"/>
              <a:t> </a:t>
            </a:r>
            <a:r>
              <a:rPr lang="es-MX" b="1" dirty="0" err="1"/>
              <a:t>judgment</a:t>
            </a:r>
            <a:r>
              <a:rPr lang="es-MX" b="1" dirty="0"/>
              <a:t>/</a:t>
            </a:r>
            <a:r>
              <a:rPr lang="es-MX" b="1" dirty="0" err="1"/>
              <a:t>authority</a:t>
            </a:r>
            <a:r>
              <a:rPr lang="es-MX" b="1" dirty="0"/>
              <a:t> </a:t>
            </a:r>
            <a:r>
              <a:rPr lang="es-MX" b="1" dirty="0" err="1"/>
              <a:t>is</a:t>
            </a:r>
            <a:r>
              <a:rPr lang="es-MX" b="1" dirty="0"/>
              <a:t> </a:t>
            </a:r>
            <a:r>
              <a:rPr lang="es-MX" b="1" dirty="0" err="1"/>
              <a:t>actually</a:t>
            </a:r>
            <a:r>
              <a:rPr lang="es-MX" b="1" dirty="0"/>
              <a:t> </a:t>
            </a:r>
            <a:r>
              <a:rPr lang="es-MX" b="1" dirty="0" err="1"/>
              <a:t>required</a:t>
            </a:r>
            <a:r>
              <a:rPr lang="es-MX" b="1" dirty="0"/>
              <a:t>.</a:t>
            </a:r>
            <a:endParaRPr lang="es-MX" dirty="0"/>
          </a:p>
          <a:p>
            <a:r>
              <a:rPr lang="es-MX" dirty="0"/>
              <a:t>Eso sería una diferencia importante.</a:t>
            </a:r>
          </a:p>
          <a:p>
            <a:r>
              <a:rPr lang="es-MX" b="1" dirty="0"/>
              <a:t>Pero</a:t>
            </a:r>
            <a:r>
              <a:rPr lang="es-MX" dirty="0"/>
              <a:t> no debemos llevar esa interpretación demasiado lejos, porque KOVA también publica capacidades bastante más autónomas. Por ejemplo, afirma que puede responder leads automáticamente por WhatsApp con lenguaje natural y mover el pipeline según las respuestas/acciones del prospecto. </a:t>
            </a:r>
          </a:p>
          <a:p>
            <a:r>
              <a:rPr lang="es-MX" dirty="0"/>
              <a:t>Por tanto, yo describiría a KOVA así:</a:t>
            </a:r>
          </a:p>
          <a:p>
            <a:r>
              <a:rPr lang="es-MX" b="1" dirty="0"/>
              <a:t>KOVA </a:t>
            </a:r>
            <a:r>
              <a:rPr lang="es-MX" b="1" dirty="0" err="1"/>
              <a:t>appears</a:t>
            </a:r>
            <a:r>
              <a:rPr lang="es-MX" b="1" dirty="0"/>
              <a:t> </a:t>
            </a:r>
            <a:r>
              <a:rPr lang="es-MX" b="1" dirty="0" err="1"/>
              <a:t>publicly</a:t>
            </a:r>
            <a:r>
              <a:rPr lang="es-MX" b="1" dirty="0"/>
              <a:t> as a </a:t>
            </a:r>
            <a:r>
              <a:rPr lang="es-MX" b="1" dirty="0" err="1"/>
              <a:t>hybrid</a:t>
            </a:r>
            <a:r>
              <a:rPr lang="es-MX" b="1" dirty="0"/>
              <a:t>: vertical CRM/</a:t>
            </a:r>
            <a:r>
              <a:rPr lang="es-MX" b="1" dirty="0" err="1"/>
              <a:t>operating</a:t>
            </a:r>
            <a:r>
              <a:rPr lang="es-MX" b="1" dirty="0"/>
              <a:t> software </a:t>
            </a:r>
            <a:r>
              <a:rPr lang="es-MX" b="1" dirty="0" err="1"/>
              <a:t>with</a:t>
            </a:r>
            <a:r>
              <a:rPr lang="es-MX" b="1" dirty="0"/>
              <a:t> </a:t>
            </a:r>
            <a:r>
              <a:rPr lang="es-MX" b="1" dirty="0" err="1"/>
              <a:t>meaningful</a:t>
            </a:r>
            <a:r>
              <a:rPr lang="es-MX" b="1" dirty="0"/>
              <a:t> AI </a:t>
            </a:r>
            <a:r>
              <a:rPr lang="es-MX" b="1" dirty="0" err="1"/>
              <a:t>automation</a:t>
            </a:r>
            <a:r>
              <a:rPr lang="es-MX" b="1" dirty="0"/>
              <a:t> and </a:t>
            </a:r>
            <a:r>
              <a:rPr lang="es-MX" b="1" dirty="0" err="1"/>
              <a:t>agentic</a:t>
            </a:r>
            <a:r>
              <a:rPr lang="es-MX" b="1" dirty="0"/>
              <a:t> </a:t>
            </a:r>
            <a:r>
              <a:rPr lang="es-MX" b="1" dirty="0" err="1"/>
              <a:t>capabilities</a:t>
            </a:r>
            <a:r>
              <a:rPr lang="es-MX" b="1" dirty="0"/>
              <a:t>, </a:t>
            </a:r>
            <a:r>
              <a:rPr lang="es-MX" b="1" dirty="0" err="1"/>
              <a:t>but</a:t>
            </a:r>
            <a:r>
              <a:rPr lang="es-MX" b="1" dirty="0"/>
              <a:t> </a:t>
            </a:r>
            <a:r>
              <a:rPr lang="es-MX" b="1" dirty="0" err="1"/>
              <a:t>with</a:t>
            </a:r>
            <a:r>
              <a:rPr lang="es-MX" b="1" dirty="0"/>
              <a:t> </a:t>
            </a:r>
            <a:r>
              <a:rPr lang="es-MX" b="1" dirty="0" err="1"/>
              <a:t>significant</a:t>
            </a:r>
            <a:r>
              <a:rPr lang="es-MX" b="1" dirty="0"/>
              <a:t> </a:t>
            </a:r>
            <a:r>
              <a:rPr lang="es-MX" b="1" dirty="0" err="1"/>
              <a:t>parts</a:t>
            </a:r>
            <a:r>
              <a:rPr lang="es-MX" b="1" dirty="0"/>
              <a:t> </a:t>
            </a:r>
            <a:r>
              <a:rPr lang="es-MX" b="1" dirty="0" err="1"/>
              <a:t>of</a:t>
            </a:r>
            <a:r>
              <a:rPr lang="es-MX" b="1" dirty="0"/>
              <a:t> the </a:t>
            </a:r>
            <a:r>
              <a:rPr lang="es-MX" b="1" dirty="0" err="1"/>
              <a:t>operating</a:t>
            </a:r>
            <a:r>
              <a:rPr lang="es-MX" b="1" dirty="0"/>
              <a:t> </a:t>
            </a:r>
            <a:r>
              <a:rPr lang="es-MX" b="1" dirty="0" err="1"/>
              <a:t>model</a:t>
            </a:r>
            <a:r>
              <a:rPr lang="es-MX" b="1" dirty="0"/>
              <a:t> </a:t>
            </a:r>
            <a:r>
              <a:rPr lang="es-MX" b="1" dirty="0" err="1"/>
              <a:t>still</a:t>
            </a:r>
            <a:r>
              <a:rPr lang="es-MX" b="1" dirty="0"/>
              <a:t> </a:t>
            </a:r>
            <a:r>
              <a:rPr lang="es-MX" b="1" dirty="0" err="1"/>
              <a:t>exposed</a:t>
            </a:r>
            <a:r>
              <a:rPr lang="es-MX" b="1" dirty="0"/>
              <a:t> as software the </a:t>
            </a:r>
            <a:r>
              <a:rPr lang="es-MX" b="1" dirty="0" err="1"/>
              <a:t>user</a:t>
            </a:r>
            <a:r>
              <a:rPr lang="es-MX" b="1" dirty="0"/>
              <a:t> </a:t>
            </a:r>
            <a:r>
              <a:rPr lang="es-MX" b="1" dirty="0" err="1"/>
              <a:t>operates</a:t>
            </a:r>
            <a:r>
              <a:rPr lang="es-MX" b="1" dirty="0"/>
              <a:t>.</a:t>
            </a:r>
            <a:endParaRPr lang="es-MX" dirty="0"/>
          </a:p>
          <a:p>
            <a:r>
              <a:rPr lang="es-MX" dirty="0"/>
              <a:t>No afirmaría:</a:t>
            </a:r>
          </a:p>
          <a:p>
            <a:r>
              <a:rPr lang="es-MX" dirty="0"/>
              <a:t>“KOVA </a:t>
            </a:r>
            <a:r>
              <a:rPr lang="es-MX" dirty="0" err="1"/>
              <a:t>is</a:t>
            </a:r>
            <a:r>
              <a:rPr lang="es-MX" dirty="0"/>
              <a:t> </a:t>
            </a:r>
            <a:r>
              <a:rPr lang="es-MX" dirty="0" err="1"/>
              <a:t>not</a:t>
            </a:r>
            <a:r>
              <a:rPr lang="es-MX" dirty="0"/>
              <a:t> AI-</a:t>
            </a:r>
            <a:r>
              <a:rPr lang="es-MX" dirty="0" err="1"/>
              <a:t>first</a:t>
            </a:r>
            <a:r>
              <a:rPr lang="es-MX" dirty="0"/>
              <a:t>.”</a:t>
            </a:r>
          </a:p>
          <a:p>
            <a:r>
              <a:rPr lang="es-MX" dirty="0"/>
              <a:t>porque no conocemos suficientemente su arquitectura interna y ellos mismos hablan de IA </a:t>
            </a:r>
            <a:r>
              <a:rPr lang="es-MX" dirty="0" err="1"/>
              <a:t>agéntica</a:t>
            </a:r>
            <a:r>
              <a:rPr lang="es-MX" dirty="0"/>
              <a:t>. </a:t>
            </a:r>
          </a:p>
          <a:p>
            <a:r>
              <a:rPr lang="es-MX" dirty="0"/>
              <a:t>Pero sí podemos decir:</a:t>
            </a:r>
          </a:p>
          <a:p>
            <a:r>
              <a:rPr lang="es-MX" b="1" dirty="0" err="1"/>
              <a:t>Their</a:t>
            </a:r>
            <a:r>
              <a:rPr lang="es-MX" b="1" dirty="0"/>
              <a:t> </a:t>
            </a:r>
            <a:r>
              <a:rPr lang="es-MX" b="1" dirty="0" err="1"/>
              <a:t>public</a:t>
            </a:r>
            <a:r>
              <a:rPr lang="es-MX" b="1" dirty="0"/>
              <a:t> UX and </a:t>
            </a:r>
            <a:r>
              <a:rPr lang="es-MX" b="1" dirty="0" err="1"/>
              <a:t>positioning</a:t>
            </a:r>
            <a:r>
              <a:rPr lang="es-MX" b="1" dirty="0"/>
              <a:t> </a:t>
            </a:r>
            <a:r>
              <a:rPr lang="es-MX" b="1" dirty="0" err="1"/>
              <a:t>appear</a:t>
            </a:r>
            <a:r>
              <a:rPr lang="es-MX" b="1" dirty="0"/>
              <a:t> more </a:t>
            </a:r>
            <a:r>
              <a:rPr lang="es-MX" b="1" dirty="0" err="1"/>
              <a:t>hybrid</a:t>
            </a:r>
            <a:r>
              <a:rPr lang="es-MX" b="1" dirty="0"/>
              <a:t> </a:t>
            </a:r>
            <a:r>
              <a:rPr lang="es-MX" b="1" dirty="0" err="1"/>
              <a:t>between</a:t>
            </a:r>
            <a:r>
              <a:rPr lang="es-MX" b="1" dirty="0"/>
              <a:t> </a:t>
            </a:r>
            <a:r>
              <a:rPr lang="es-MX" b="1" dirty="0" err="1"/>
              <a:t>traditional</a:t>
            </a:r>
            <a:r>
              <a:rPr lang="es-MX" b="1" dirty="0"/>
              <a:t> vertical software and </a:t>
            </a:r>
            <a:r>
              <a:rPr lang="es-MX" b="1" dirty="0" err="1"/>
              <a:t>agentic</a:t>
            </a:r>
            <a:r>
              <a:rPr lang="es-MX" b="1" dirty="0"/>
              <a:t> </a:t>
            </a:r>
            <a:r>
              <a:rPr lang="es-MX" b="1" dirty="0" err="1"/>
              <a:t>operation</a:t>
            </a:r>
            <a:r>
              <a:rPr lang="es-MX" b="1" dirty="0"/>
              <a:t> </a:t>
            </a:r>
            <a:r>
              <a:rPr lang="es-MX" b="1" dirty="0" err="1"/>
              <a:t>than</a:t>
            </a:r>
            <a:r>
              <a:rPr lang="es-MX" b="1" dirty="0"/>
              <a:t> </a:t>
            </a:r>
            <a:r>
              <a:rPr lang="es-MX" b="1" dirty="0" err="1"/>
              <a:t>Ungga’s</a:t>
            </a:r>
            <a:r>
              <a:rPr lang="es-MX" b="1" dirty="0"/>
              <a:t> </a:t>
            </a:r>
            <a:r>
              <a:rPr lang="es-MX" b="1" dirty="0" err="1"/>
              <a:t>intended</a:t>
            </a:r>
            <a:r>
              <a:rPr lang="es-MX" b="1" dirty="0"/>
              <a:t> “</a:t>
            </a:r>
            <a:r>
              <a:rPr lang="es-MX" b="1" dirty="0" err="1"/>
              <a:t>delegate</a:t>
            </a:r>
            <a:r>
              <a:rPr lang="es-MX" b="1" dirty="0"/>
              <a:t> the </a:t>
            </a:r>
            <a:r>
              <a:rPr lang="es-MX" b="1" dirty="0" err="1"/>
              <a:t>work</a:t>
            </a:r>
            <a:r>
              <a:rPr lang="es-MX" b="1" dirty="0"/>
              <a:t>, </a:t>
            </a:r>
            <a:r>
              <a:rPr lang="es-MX" b="1" dirty="0" err="1"/>
              <a:t>don’t</a:t>
            </a:r>
            <a:r>
              <a:rPr lang="es-MX" b="1" dirty="0"/>
              <a:t> </a:t>
            </a:r>
            <a:r>
              <a:rPr lang="es-MX" b="1" dirty="0" err="1"/>
              <a:t>operate</a:t>
            </a:r>
            <a:r>
              <a:rPr lang="es-MX" b="1" dirty="0"/>
              <a:t> the software” </a:t>
            </a:r>
            <a:r>
              <a:rPr lang="es-MX" b="1" dirty="0" err="1"/>
              <a:t>model</a:t>
            </a:r>
            <a:r>
              <a:rPr lang="es-MX" b="1" dirty="0"/>
              <a:t>.</a:t>
            </a:r>
            <a:endParaRPr lang="es-MX" dirty="0"/>
          </a:p>
          <a:p>
            <a:r>
              <a:rPr lang="es-MX" dirty="0"/>
              <a:t>Y eso me parece una diferenciación mucho más defendible.</a:t>
            </a:r>
          </a:p>
          <a:p>
            <a:br>
              <a:rPr lang="es-MX" dirty="0"/>
            </a:br>
            <a:endParaRPr lang="es-MX" dirty="0"/>
          </a:p>
          <a:p>
            <a:r>
              <a:rPr lang="es-MX" b="1" dirty="0"/>
              <a:t>2) </a:t>
            </a:r>
            <a:r>
              <a:rPr lang="es-MX" b="1" dirty="0" err="1"/>
              <a:t>Uniti</a:t>
            </a:r>
            <a:r>
              <a:rPr lang="es-MX" b="1" dirty="0"/>
              <a:t> es un competidor conceptualmente distinto —y probablemente más “</a:t>
            </a:r>
            <a:r>
              <a:rPr lang="es-MX" b="1" dirty="0" err="1"/>
              <a:t>agent-first</a:t>
            </a:r>
            <a:r>
              <a:rPr lang="es-MX" b="1" dirty="0"/>
              <a:t>”</a:t>
            </a:r>
          </a:p>
          <a:p>
            <a:r>
              <a:rPr lang="es-MX" dirty="0" err="1"/>
              <a:t>Uniti</a:t>
            </a:r>
            <a:r>
              <a:rPr lang="es-MX" dirty="0"/>
              <a:t> es mucho más explícitamente </a:t>
            </a:r>
            <a:r>
              <a:rPr lang="es-MX" dirty="0" err="1"/>
              <a:t>agentic</a:t>
            </a:r>
            <a:r>
              <a:rPr lang="es-MX" dirty="0"/>
              <a:t>. Se define como </a:t>
            </a:r>
            <a:r>
              <a:rPr lang="es-MX" b="1" dirty="0"/>
              <a:t>“The </a:t>
            </a:r>
            <a:r>
              <a:rPr lang="es-MX" b="1" dirty="0" err="1"/>
              <a:t>Agentic</a:t>
            </a:r>
            <a:r>
              <a:rPr lang="es-MX" b="1" dirty="0"/>
              <a:t> AI </a:t>
            </a:r>
            <a:r>
              <a:rPr lang="es-MX" b="1" dirty="0" err="1"/>
              <a:t>Platform</a:t>
            </a:r>
            <a:r>
              <a:rPr lang="es-MX" b="1" dirty="0"/>
              <a:t> </a:t>
            </a:r>
            <a:r>
              <a:rPr lang="es-MX" b="1" dirty="0" err="1"/>
              <a:t>for</a:t>
            </a:r>
            <a:r>
              <a:rPr lang="es-MX" b="1" dirty="0"/>
              <a:t> Real Estate </a:t>
            </a:r>
            <a:r>
              <a:rPr lang="es-MX" b="1" dirty="0" err="1"/>
              <a:t>Operators</a:t>
            </a:r>
            <a:r>
              <a:rPr lang="es-MX" b="1" dirty="0"/>
              <a:t>”</a:t>
            </a:r>
            <a:r>
              <a:rPr lang="es-MX" dirty="0"/>
              <a:t> y ofrece agentes especializados para Sales &amp; Leasing, Support &amp; Service, </a:t>
            </a:r>
            <a:r>
              <a:rPr lang="es-MX" dirty="0" err="1"/>
              <a:t>Maintenance</a:t>
            </a:r>
            <a:r>
              <a:rPr lang="es-MX" dirty="0"/>
              <a:t>, </a:t>
            </a:r>
            <a:r>
              <a:rPr lang="es-MX" dirty="0" err="1"/>
              <a:t>Collections</a:t>
            </a:r>
            <a:r>
              <a:rPr lang="es-MX" dirty="0"/>
              <a:t>, </a:t>
            </a:r>
            <a:r>
              <a:rPr lang="es-MX" dirty="0" err="1"/>
              <a:t>Customer</a:t>
            </a:r>
            <a:r>
              <a:rPr lang="es-MX" dirty="0"/>
              <a:t> </a:t>
            </a:r>
            <a:r>
              <a:rPr lang="es-MX" dirty="0" err="1"/>
              <a:t>Reviews</a:t>
            </a:r>
            <a:r>
              <a:rPr lang="es-MX" dirty="0"/>
              <a:t>, </a:t>
            </a:r>
            <a:r>
              <a:rPr lang="es-MX" dirty="0" err="1"/>
              <a:t>Renewals</a:t>
            </a:r>
            <a:r>
              <a:rPr lang="es-MX" dirty="0"/>
              <a:t>, Data </a:t>
            </a:r>
            <a:r>
              <a:rPr lang="es-MX" dirty="0" err="1"/>
              <a:t>Analysis</a:t>
            </a:r>
            <a:r>
              <a:rPr lang="es-MX" dirty="0"/>
              <a:t> y </a:t>
            </a:r>
            <a:r>
              <a:rPr lang="es-MX" dirty="0" err="1"/>
              <a:t>Payments</a:t>
            </a:r>
            <a:r>
              <a:rPr lang="es-MX" dirty="0"/>
              <a:t>. Además opera por Voice, SMS/WhatsApp, Email y Web Chat, dentro de los PMS/CRM existentes. </a:t>
            </a:r>
          </a:p>
          <a:p>
            <a:r>
              <a:rPr lang="es-MX" dirty="0"/>
              <a:t>Y no son simplemente agentes que aconsejan. Por ejemplo, su </a:t>
            </a:r>
            <a:r>
              <a:rPr lang="es-MX" dirty="0" err="1"/>
              <a:t>Renewal</a:t>
            </a:r>
            <a:r>
              <a:rPr lang="es-MX" dirty="0"/>
              <a:t> Agent dice que observa continuamente el PMS y detecta </a:t>
            </a:r>
            <a:r>
              <a:rPr lang="es-MX" dirty="0" err="1"/>
              <a:t>leases</a:t>
            </a:r>
            <a:r>
              <a:rPr lang="es-MX" dirty="0"/>
              <a:t> próximos a </a:t>
            </a:r>
            <a:r>
              <a:rPr lang="es-MX" dirty="0" err="1"/>
              <a:t>renewal</a:t>
            </a:r>
            <a:r>
              <a:rPr lang="es-MX" dirty="0"/>
              <a:t>; otras páginas describen resolución automática de llamadas, pagos, </a:t>
            </a:r>
            <a:r>
              <a:rPr lang="es-MX" dirty="0" err="1"/>
              <a:t>maintenance</a:t>
            </a:r>
            <a:r>
              <a:rPr lang="es-MX" dirty="0"/>
              <a:t>, etc. </a:t>
            </a:r>
          </a:p>
          <a:p>
            <a:r>
              <a:rPr lang="es-MX" dirty="0"/>
              <a:t>Por eso yo diría que </a:t>
            </a:r>
            <a:r>
              <a:rPr lang="es-MX" b="1" dirty="0" err="1"/>
              <a:t>Uniti</a:t>
            </a:r>
            <a:r>
              <a:rPr lang="es-MX" b="1" dirty="0"/>
              <a:t> está más cerca de nuestra filosofía de AI </a:t>
            </a:r>
            <a:r>
              <a:rPr lang="es-MX" b="1" dirty="0" err="1"/>
              <a:t>doing</a:t>
            </a:r>
            <a:r>
              <a:rPr lang="es-MX" b="1" dirty="0"/>
              <a:t> the </a:t>
            </a:r>
            <a:r>
              <a:rPr lang="es-MX" b="1" dirty="0" err="1"/>
              <a:t>work</a:t>
            </a:r>
            <a:r>
              <a:rPr lang="es-MX" b="1" dirty="0"/>
              <a:t> que KOVA</a:t>
            </a:r>
            <a:r>
              <a:rPr lang="es-MX" dirty="0"/>
              <a:t>, al menos por lo que muestran públicamente.</a:t>
            </a:r>
          </a:p>
          <a:p>
            <a:r>
              <a:rPr lang="es-MX" dirty="0"/>
              <a:t>Pero tiene dos diferencias estratégicas grandes respecto a Ungga.</a:t>
            </a:r>
          </a:p>
          <a:p>
            <a:r>
              <a:rPr lang="es-MX" dirty="0"/>
              <a:t>Primero, su mercado público está muy orientado a </a:t>
            </a:r>
            <a:r>
              <a:rPr lang="es-MX" b="1" dirty="0"/>
              <a:t>real-estate </a:t>
            </a:r>
            <a:r>
              <a:rPr lang="es-MX" b="1" dirty="0" err="1"/>
              <a:t>operators</a:t>
            </a:r>
            <a:r>
              <a:rPr lang="es-MX" dirty="0"/>
              <a:t>: </a:t>
            </a:r>
            <a:r>
              <a:rPr lang="es-MX" dirty="0" err="1"/>
              <a:t>self-storage</a:t>
            </a:r>
            <a:r>
              <a:rPr lang="es-MX" dirty="0"/>
              <a:t>, </a:t>
            </a:r>
            <a:r>
              <a:rPr lang="es-MX" dirty="0" err="1"/>
              <a:t>multifamily</a:t>
            </a:r>
            <a:r>
              <a:rPr lang="es-MX" dirty="0"/>
              <a:t>/</a:t>
            </a:r>
            <a:r>
              <a:rPr lang="es-MX" dirty="0" err="1"/>
              <a:t>student</a:t>
            </a:r>
            <a:r>
              <a:rPr lang="es-MX" dirty="0"/>
              <a:t> </a:t>
            </a:r>
            <a:r>
              <a:rPr lang="es-MX" dirty="0" err="1"/>
              <a:t>housing</a:t>
            </a:r>
            <a:r>
              <a:rPr lang="es-MX" dirty="0"/>
              <a:t>, senior living, </a:t>
            </a:r>
            <a:r>
              <a:rPr lang="es-MX" dirty="0" err="1"/>
              <a:t>manufactured</a:t>
            </a:r>
            <a:r>
              <a:rPr lang="es-MX" dirty="0"/>
              <a:t> </a:t>
            </a:r>
            <a:r>
              <a:rPr lang="es-MX" dirty="0" err="1"/>
              <a:t>housing</a:t>
            </a:r>
            <a:r>
              <a:rPr lang="es-MX" dirty="0"/>
              <a:t>, office/</a:t>
            </a:r>
            <a:r>
              <a:rPr lang="es-MX" dirty="0" err="1"/>
              <a:t>flex</a:t>
            </a:r>
            <a:r>
              <a:rPr lang="es-MX" dirty="0"/>
              <a:t> </a:t>
            </a:r>
            <a:r>
              <a:rPr lang="es-MX" dirty="0" err="1"/>
              <a:t>workspace</a:t>
            </a:r>
            <a:r>
              <a:rPr lang="es-MX" dirty="0"/>
              <a:t>, etc.; no principalmente al </a:t>
            </a:r>
            <a:r>
              <a:rPr lang="es-MX" dirty="0" err="1"/>
              <a:t>brokerage</a:t>
            </a:r>
            <a:r>
              <a:rPr lang="es-MX" dirty="0"/>
              <a:t> residencial mexicano que constituye nuestro </a:t>
            </a:r>
            <a:r>
              <a:rPr lang="es-MX" dirty="0" err="1"/>
              <a:t>wedge</a:t>
            </a:r>
            <a:r>
              <a:rPr lang="es-MX" dirty="0"/>
              <a:t>. </a:t>
            </a:r>
          </a:p>
          <a:p>
            <a:r>
              <a:rPr lang="es-MX" dirty="0"/>
              <a:t>Segundo, su arquitectura/</a:t>
            </a:r>
            <a:r>
              <a:rPr lang="es-MX" dirty="0" err="1"/>
              <a:t>product</a:t>
            </a:r>
            <a:r>
              <a:rPr lang="es-MX" dirty="0"/>
              <a:t> </a:t>
            </a:r>
            <a:r>
              <a:rPr lang="es-MX" dirty="0" err="1"/>
              <a:t>packaging</a:t>
            </a:r>
            <a:r>
              <a:rPr lang="es-MX" dirty="0"/>
              <a:t> es explícitamente de </a:t>
            </a:r>
            <a:r>
              <a:rPr lang="es-MX" b="1" dirty="0"/>
              <a:t>múltiples agentes especializados</a:t>
            </a:r>
            <a:r>
              <a:rPr lang="es-MX" dirty="0"/>
              <a:t>.</a:t>
            </a:r>
          </a:p>
          <a:p>
            <a:r>
              <a:rPr lang="es-MX" dirty="0"/>
              <a:t>Y aquí vuelvo a la diferencia que habíamos identificado:</a:t>
            </a:r>
          </a:p>
          <a:p>
            <a:r>
              <a:rPr lang="es-MX" b="1" dirty="0" err="1"/>
              <a:t>Uniti</a:t>
            </a:r>
            <a:r>
              <a:rPr lang="es-MX" b="1" dirty="0"/>
              <a:t>: </a:t>
            </a:r>
            <a:r>
              <a:rPr lang="es-MX" b="1" dirty="0" err="1"/>
              <a:t>specialized</a:t>
            </a:r>
            <a:r>
              <a:rPr lang="es-MX" b="1" dirty="0"/>
              <a:t> </a:t>
            </a:r>
            <a:r>
              <a:rPr lang="es-MX" b="1" dirty="0" err="1"/>
              <a:t>agents</a:t>
            </a:r>
            <a:r>
              <a:rPr lang="es-MX" b="1" dirty="0"/>
              <a:t> </a:t>
            </a:r>
            <a:r>
              <a:rPr lang="es-MX" b="1" dirty="0" err="1"/>
              <a:t>exposed</a:t>
            </a:r>
            <a:r>
              <a:rPr lang="es-MX" b="1" dirty="0"/>
              <a:t> as a </a:t>
            </a:r>
            <a:r>
              <a:rPr lang="es-MX" b="1" dirty="0" err="1"/>
              <a:t>team</a:t>
            </a:r>
            <a:r>
              <a:rPr lang="es-MX" b="1" dirty="0"/>
              <a:t> + </a:t>
            </a:r>
            <a:r>
              <a:rPr lang="es-MX" b="1" dirty="0" err="1"/>
              <a:t>shared</a:t>
            </a:r>
            <a:r>
              <a:rPr lang="es-MX" b="1" dirty="0"/>
              <a:t> </a:t>
            </a:r>
            <a:r>
              <a:rPr lang="es-MX" b="1" dirty="0" err="1"/>
              <a:t>agent</a:t>
            </a:r>
            <a:r>
              <a:rPr lang="es-MX" b="1" dirty="0"/>
              <a:t> </a:t>
            </a:r>
            <a:r>
              <a:rPr lang="es-MX" b="1" dirty="0" err="1"/>
              <a:t>operating</a:t>
            </a:r>
            <a:r>
              <a:rPr lang="es-MX" b="1" dirty="0"/>
              <a:t> </a:t>
            </a:r>
            <a:r>
              <a:rPr lang="es-MX" b="1" dirty="0" err="1"/>
              <a:t>system</a:t>
            </a:r>
            <a:r>
              <a:rPr lang="es-MX" b="1" dirty="0"/>
              <a:t>.</a:t>
            </a:r>
            <a:br>
              <a:rPr lang="es-MX" dirty="0"/>
            </a:br>
            <a:r>
              <a:rPr lang="es-MX" b="1" dirty="0"/>
              <a:t>Ungga: one </a:t>
            </a:r>
            <a:r>
              <a:rPr lang="es-MX" b="1" dirty="0" err="1"/>
              <a:t>Gu</a:t>
            </a:r>
            <a:r>
              <a:rPr lang="es-MX" b="1" dirty="0"/>
              <a:t> </a:t>
            </a:r>
            <a:r>
              <a:rPr lang="es-MX" b="1" dirty="0" err="1"/>
              <a:t>coworker</a:t>
            </a:r>
            <a:r>
              <a:rPr lang="es-MX" b="1" dirty="0"/>
              <a:t> </a:t>
            </a:r>
            <a:r>
              <a:rPr lang="es-MX" b="1" dirty="0" err="1"/>
              <a:t>experience</a:t>
            </a:r>
            <a:r>
              <a:rPr lang="es-MX" b="1" dirty="0"/>
              <a:t> + </a:t>
            </a:r>
            <a:r>
              <a:rPr lang="es-MX" b="1" dirty="0" err="1"/>
              <a:t>many</a:t>
            </a:r>
            <a:r>
              <a:rPr lang="es-MX" b="1" dirty="0"/>
              <a:t> </a:t>
            </a:r>
            <a:r>
              <a:rPr lang="es-MX" b="1" dirty="0" err="1"/>
              <a:t>Skills</a:t>
            </a:r>
            <a:r>
              <a:rPr lang="es-MX" b="1" dirty="0"/>
              <a:t>/</a:t>
            </a:r>
            <a:r>
              <a:rPr lang="es-MX" b="1" dirty="0" err="1"/>
              <a:t>tools</a:t>
            </a:r>
            <a:r>
              <a:rPr lang="es-MX" b="1" dirty="0"/>
              <a:t>/</a:t>
            </a:r>
            <a:r>
              <a:rPr lang="es-MX" b="1" dirty="0" err="1"/>
              <a:t>workflows</a:t>
            </a:r>
            <a:r>
              <a:rPr lang="es-MX" b="1" dirty="0"/>
              <a:t>/</a:t>
            </a:r>
            <a:r>
              <a:rPr lang="es-MX" b="1" dirty="0" err="1"/>
              <a:t>specialized</a:t>
            </a:r>
            <a:r>
              <a:rPr lang="es-MX" b="1" dirty="0"/>
              <a:t> </a:t>
            </a:r>
            <a:r>
              <a:rPr lang="es-MX" b="1" dirty="0" err="1"/>
              <a:t>capabilities</a:t>
            </a:r>
            <a:r>
              <a:rPr lang="es-MX" b="1" dirty="0"/>
              <a:t> </a:t>
            </a:r>
            <a:r>
              <a:rPr lang="es-MX" b="1" dirty="0" err="1"/>
              <a:t>behind</a:t>
            </a:r>
            <a:r>
              <a:rPr lang="es-MX" b="1" dirty="0"/>
              <a:t> </a:t>
            </a:r>
            <a:r>
              <a:rPr lang="es-MX" b="1" dirty="0" err="1"/>
              <a:t>Gu</a:t>
            </a:r>
            <a:r>
              <a:rPr lang="es-MX" b="1" dirty="0"/>
              <a:t> OS.</a:t>
            </a:r>
            <a:endParaRPr lang="es-MX" dirty="0"/>
          </a:p>
          <a:p>
            <a:r>
              <a:rPr lang="es-MX" dirty="0"/>
              <a:t>Eso no significa que el enfoque de </a:t>
            </a:r>
            <a:r>
              <a:rPr lang="es-MX" dirty="0" err="1"/>
              <a:t>Uniti</a:t>
            </a:r>
            <a:r>
              <a:rPr lang="es-MX" dirty="0"/>
              <a:t> sea inferior. Tiene ventajas claras: cada agente es fácil de entender, comprar, medir y optimizar; los </a:t>
            </a:r>
            <a:r>
              <a:rPr lang="es-MX" dirty="0" err="1"/>
              <a:t>boundaries</a:t>
            </a:r>
            <a:r>
              <a:rPr lang="es-MX" dirty="0"/>
              <a:t> de Sales, </a:t>
            </a:r>
            <a:r>
              <a:rPr lang="es-MX" dirty="0" err="1"/>
              <a:t>Collections</a:t>
            </a:r>
            <a:r>
              <a:rPr lang="es-MX" dirty="0"/>
              <a:t>, </a:t>
            </a:r>
            <a:r>
              <a:rPr lang="es-MX" dirty="0" err="1"/>
              <a:t>Maintenance</a:t>
            </a:r>
            <a:r>
              <a:rPr lang="es-MX" dirty="0"/>
              <a:t>, </a:t>
            </a:r>
            <a:r>
              <a:rPr lang="es-MX" dirty="0" err="1"/>
              <a:t>Renewals</a:t>
            </a:r>
            <a:r>
              <a:rPr lang="es-MX" dirty="0"/>
              <a:t>, etc. pueden ser muy claros. </a:t>
            </a:r>
            <a:r>
              <a:rPr lang="es-MX" dirty="0" err="1"/>
              <a:t>Uniti</a:t>
            </a:r>
            <a:r>
              <a:rPr lang="es-MX" dirty="0"/>
              <a:t> además tiene una capa de </a:t>
            </a:r>
            <a:r>
              <a:rPr lang="es-MX" dirty="0" err="1"/>
              <a:t>operating</a:t>
            </a:r>
            <a:r>
              <a:rPr lang="es-MX" dirty="0"/>
              <a:t> </a:t>
            </a:r>
            <a:r>
              <a:rPr lang="es-MX" dirty="0" err="1"/>
              <a:t>system</a:t>
            </a:r>
            <a:r>
              <a:rPr lang="es-MX" dirty="0"/>
              <a:t> y continuidad entre canales, precisamente para mitigar el problema de fragmentación entre agentes. </a:t>
            </a:r>
          </a:p>
          <a:p>
            <a:r>
              <a:rPr lang="es-MX" dirty="0"/>
              <a:t>El </a:t>
            </a:r>
            <a:r>
              <a:rPr lang="es-MX" dirty="0" err="1"/>
              <a:t>tradeoff</a:t>
            </a:r>
            <a:r>
              <a:rPr lang="es-MX" dirty="0"/>
              <a:t> potencial es que cuando el trabajo atraviesa funciones, alguien —el sistema— debe resolver </a:t>
            </a:r>
            <a:r>
              <a:rPr lang="es-MX" dirty="0" err="1"/>
              <a:t>ownership</a:t>
            </a:r>
            <a:r>
              <a:rPr lang="es-MX" dirty="0"/>
              <a:t>, </a:t>
            </a:r>
            <a:r>
              <a:rPr lang="es-MX" dirty="0" err="1"/>
              <a:t>handoffs</a:t>
            </a:r>
            <a:r>
              <a:rPr lang="es-MX" dirty="0"/>
              <a:t>, contexto global y coordinación entre agentes. Nuestra apuesta es diferente:</a:t>
            </a:r>
          </a:p>
          <a:p>
            <a:r>
              <a:rPr lang="es-MX" b="1" dirty="0"/>
              <a:t>One </a:t>
            </a:r>
            <a:r>
              <a:rPr lang="es-MX" b="1" dirty="0" err="1"/>
              <a:t>front</a:t>
            </a:r>
            <a:r>
              <a:rPr lang="es-MX" b="1" dirty="0"/>
              <a:t> </a:t>
            </a:r>
            <a:r>
              <a:rPr lang="es-MX" b="1" dirty="0" err="1"/>
              <a:t>door</a:t>
            </a:r>
            <a:r>
              <a:rPr lang="es-MX" b="1" dirty="0"/>
              <a:t>. Many </a:t>
            </a:r>
            <a:r>
              <a:rPr lang="es-MX" b="1" dirty="0" err="1"/>
              <a:t>capabilities</a:t>
            </a:r>
            <a:r>
              <a:rPr lang="es-MX" b="1" dirty="0"/>
              <a:t> </a:t>
            </a:r>
            <a:r>
              <a:rPr lang="es-MX" b="1" dirty="0" err="1"/>
              <a:t>underneath</a:t>
            </a:r>
            <a:r>
              <a:rPr lang="es-MX" b="1" dirty="0"/>
              <a:t>.</a:t>
            </a:r>
            <a:endParaRPr lang="es-MX" dirty="0"/>
          </a:p>
          <a:p>
            <a:r>
              <a:rPr lang="es-MX" dirty="0"/>
              <a:t>El usuario trabaja con </a:t>
            </a:r>
            <a:r>
              <a:rPr lang="es-MX" b="1" dirty="0" err="1"/>
              <a:t>Gu</a:t>
            </a:r>
            <a:r>
              <a:rPr lang="es-MX" dirty="0"/>
              <a:t>, no tiene que decidir si necesita “el </a:t>
            </a:r>
            <a:r>
              <a:rPr lang="es-MX" dirty="0" err="1"/>
              <a:t>Collections</a:t>
            </a:r>
            <a:r>
              <a:rPr lang="es-MX" dirty="0"/>
              <a:t> Agent”, “el </a:t>
            </a:r>
            <a:r>
              <a:rPr lang="es-MX" dirty="0" err="1"/>
              <a:t>Listing</a:t>
            </a:r>
            <a:r>
              <a:rPr lang="es-MX" dirty="0"/>
              <a:t> Agent”, “el Marketing Agent” o “el </a:t>
            </a:r>
            <a:r>
              <a:rPr lang="es-MX" dirty="0" err="1"/>
              <a:t>Contracts</a:t>
            </a:r>
            <a:r>
              <a:rPr lang="es-MX" dirty="0"/>
              <a:t> Agent”. </a:t>
            </a:r>
            <a:r>
              <a:rPr lang="es-MX" dirty="0" err="1"/>
              <a:t>Gu</a:t>
            </a:r>
            <a:r>
              <a:rPr lang="es-MX" dirty="0"/>
              <a:t> OS debería determinar cómo movilizar las capacidades adecuadas.</a:t>
            </a:r>
          </a:p>
          <a:p>
            <a:r>
              <a:rPr lang="es-MX" dirty="0"/>
              <a:t>Eso puede reducir cognitive </a:t>
            </a:r>
            <a:r>
              <a:rPr lang="es-MX" dirty="0" err="1"/>
              <a:t>overhead</a:t>
            </a:r>
            <a:r>
              <a:rPr lang="es-MX" dirty="0"/>
              <a:t> y favorecer continuidad </a:t>
            </a:r>
            <a:r>
              <a:rPr lang="es-MX" dirty="0" err="1"/>
              <a:t>cross-workflow</a:t>
            </a:r>
            <a:r>
              <a:rPr lang="es-MX" dirty="0"/>
              <a:t>, </a:t>
            </a:r>
            <a:r>
              <a:rPr lang="es-MX" b="1" dirty="0"/>
              <a:t>pero todavía es una </a:t>
            </a:r>
            <a:r>
              <a:rPr lang="es-MX" b="1" dirty="0" err="1"/>
              <a:t>thesis</a:t>
            </a:r>
            <a:r>
              <a:rPr lang="es-MX" b="1" dirty="0"/>
              <a:t> que tenemos que demostrar</a:t>
            </a:r>
            <a:r>
              <a:rPr lang="es-MX" dirty="0"/>
              <a:t>, no una superioridad comprobada.</a:t>
            </a:r>
          </a:p>
          <a:p>
            <a:br>
              <a:rPr lang="es-MX" dirty="0"/>
            </a:br>
            <a:endParaRPr lang="es-MX" dirty="0"/>
          </a:p>
          <a:p>
            <a:r>
              <a:rPr lang="es-MX" b="1" dirty="0"/>
              <a:t>Entonces cambiaría cómo pensamos la columna de Ungga en esa </a:t>
            </a:r>
            <a:r>
              <a:rPr lang="es-MX" b="1" dirty="0" err="1"/>
              <a:t>slide</a:t>
            </a:r>
            <a:endParaRPr lang="es-MX" b="1" dirty="0"/>
          </a:p>
          <a:p>
            <a:r>
              <a:rPr lang="es-MX" dirty="0"/>
              <a:t>En vez de </a:t>
            </a:r>
            <a:r>
              <a:rPr lang="es-MX" b="1" dirty="0"/>
              <a:t>CURRENT EDGE</a:t>
            </a:r>
            <a:r>
              <a:rPr lang="es-MX" dirty="0"/>
              <a:t>, usaría algo más intelectualmente honesto como:</a:t>
            </a:r>
          </a:p>
          <a:p>
            <a:endParaRPr lang="es-MX" dirty="0"/>
          </a:p>
          <a:p>
            <a:r>
              <a:rPr lang="es-MX" b="1" dirty="0"/>
              <a:t>CURRENT ASSETS</a:t>
            </a:r>
          </a:p>
          <a:p>
            <a:r>
              <a:rPr lang="es-MX" b="1" dirty="0" err="1"/>
              <a:t>Existing</a:t>
            </a:r>
            <a:r>
              <a:rPr lang="es-MX" b="1" dirty="0"/>
              <a:t> </a:t>
            </a:r>
            <a:r>
              <a:rPr lang="es-MX" b="1" dirty="0" err="1"/>
              <a:t>Gu</a:t>
            </a:r>
            <a:r>
              <a:rPr lang="es-MX" b="1" dirty="0"/>
              <a:t> lead-</a:t>
            </a:r>
            <a:r>
              <a:rPr lang="es-MX" b="1" dirty="0" err="1"/>
              <a:t>conversion</a:t>
            </a:r>
            <a:r>
              <a:rPr lang="es-MX" b="1" dirty="0"/>
              <a:t> </a:t>
            </a:r>
            <a:r>
              <a:rPr lang="es-MX" b="1" dirty="0" err="1"/>
              <a:t>worker</a:t>
            </a:r>
            <a:r>
              <a:rPr lang="es-MX" b="1" dirty="0"/>
              <a:t> </a:t>
            </a:r>
            <a:r>
              <a:rPr lang="es-MX" b="1" dirty="0" err="1"/>
              <a:t>with</a:t>
            </a:r>
            <a:r>
              <a:rPr lang="es-MX" b="1" dirty="0"/>
              <a:t> real </a:t>
            </a:r>
            <a:r>
              <a:rPr lang="es-MX" b="1" dirty="0" err="1"/>
              <a:t>brokerage</a:t>
            </a:r>
            <a:r>
              <a:rPr lang="es-MX" b="1" dirty="0"/>
              <a:t> </a:t>
            </a:r>
            <a:r>
              <a:rPr lang="es-MX" b="1" dirty="0" err="1"/>
              <a:t>usage</a:t>
            </a:r>
            <a:br>
              <a:rPr lang="es-MX" dirty="0"/>
            </a:br>
            <a:r>
              <a:rPr lang="es-MX" b="1" dirty="0" err="1"/>
              <a:t>Shared</a:t>
            </a:r>
            <a:r>
              <a:rPr lang="es-MX" b="1" dirty="0"/>
              <a:t> </a:t>
            </a:r>
            <a:r>
              <a:rPr lang="es-MX" b="1" dirty="0" err="1"/>
              <a:t>inventory</a:t>
            </a:r>
            <a:r>
              <a:rPr lang="es-MX" b="1" dirty="0"/>
              <a:t> + </a:t>
            </a:r>
            <a:r>
              <a:rPr lang="es-MX" b="1" dirty="0" err="1"/>
              <a:t>cross-brokerage</a:t>
            </a:r>
            <a:r>
              <a:rPr lang="es-MX" b="1" dirty="0"/>
              <a:t> </a:t>
            </a:r>
            <a:r>
              <a:rPr lang="es-MX" b="1" dirty="0" err="1"/>
              <a:t>opportunity</a:t>
            </a:r>
            <a:r>
              <a:rPr lang="es-MX" b="1" dirty="0"/>
              <a:t> </a:t>
            </a:r>
            <a:r>
              <a:rPr lang="es-MX" b="1" dirty="0" err="1"/>
              <a:t>mechanism</a:t>
            </a:r>
            <a:br>
              <a:rPr lang="es-MX" dirty="0"/>
            </a:br>
            <a:r>
              <a:rPr lang="es-MX" b="1" dirty="0"/>
              <a:t>Local CRM / real-estate </a:t>
            </a:r>
            <a:r>
              <a:rPr lang="es-MX" b="1" dirty="0" err="1"/>
              <a:t>service</a:t>
            </a:r>
            <a:r>
              <a:rPr lang="es-MX" b="1" dirty="0"/>
              <a:t> </a:t>
            </a:r>
            <a:r>
              <a:rPr lang="es-MX" b="1" dirty="0" err="1"/>
              <a:t>integrations</a:t>
            </a:r>
            <a:br>
              <a:rPr lang="es-MX" dirty="0"/>
            </a:br>
            <a:r>
              <a:rPr lang="es-MX" b="1" dirty="0" err="1"/>
              <a:t>Gu</a:t>
            </a:r>
            <a:r>
              <a:rPr lang="es-MX" b="1" dirty="0"/>
              <a:t> OS durable-</a:t>
            </a:r>
            <a:r>
              <a:rPr lang="es-MX" b="1" dirty="0" err="1"/>
              <a:t>work</a:t>
            </a:r>
            <a:r>
              <a:rPr lang="es-MX" b="1" dirty="0"/>
              <a:t> </a:t>
            </a:r>
            <a:r>
              <a:rPr lang="es-MX" b="1" dirty="0" err="1"/>
              <a:t>foundation</a:t>
            </a:r>
            <a:br>
              <a:rPr lang="es-MX" dirty="0"/>
            </a:br>
            <a:r>
              <a:rPr lang="es-MX" b="1" dirty="0" err="1"/>
              <a:t>Mexico</a:t>
            </a:r>
            <a:r>
              <a:rPr lang="es-MX" b="1" dirty="0"/>
              <a:t> </a:t>
            </a:r>
            <a:r>
              <a:rPr lang="es-MX" b="1" dirty="0" err="1"/>
              <a:t>brokerage</a:t>
            </a:r>
            <a:r>
              <a:rPr lang="es-MX" b="1" dirty="0"/>
              <a:t> </a:t>
            </a:r>
            <a:r>
              <a:rPr lang="es-MX" b="1" dirty="0" err="1"/>
              <a:t>operating</a:t>
            </a:r>
            <a:r>
              <a:rPr lang="es-MX" b="1" dirty="0"/>
              <a:t> </a:t>
            </a:r>
            <a:r>
              <a:rPr lang="es-MX" b="1" dirty="0" err="1"/>
              <a:t>experience</a:t>
            </a:r>
            <a:endParaRPr lang="es-MX" dirty="0"/>
          </a:p>
          <a:p>
            <a:endParaRPr lang="es-MX" dirty="0"/>
          </a:p>
          <a:p>
            <a:r>
              <a:rPr lang="es-MX" dirty="0"/>
              <a:t>Y luego:</a:t>
            </a:r>
          </a:p>
          <a:p>
            <a:r>
              <a:rPr lang="es-MX" b="1" dirty="0"/>
              <a:t>DIFFERENTIATION WE ARE BUILDING</a:t>
            </a:r>
          </a:p>
          <a:p>
            <a:r>
              <a:rPr lang="es-MX" b="1" dirty="0"/>
              <a:t>One </a:t>
            </a:r>
            <a:r>
              <a:rPr lang="es-MX" b="1" dirty="0" err="1"/>
              <a:t>Gu</a:t>
            </a:r>
            <a:r>
              <a:rPr lang="es-MX" b="1" dirty="0"/>
              <a:t> </a:t>
            </a:r>
            <a:r>
              <a:rPr lang="es-MX" b="1" dirty="0" err="1"/>
              <a:t>experience</a:t>
            </a:r>
            <a:r>
              <a:rPr lang="es-MX" b="1" dirty="0"/>
              <a:t> </a:t>
            </a:r>
            <a:r>
              <a:rPr lang="es-MX" b="1" dirty="0" err="1"/>
              <a:t>across</a:t>
            </a:r>
            <a:r>
              <a:rPr lang="es-MX" b="1" dirty="0"/>
              <a:t> </a:t>
            </a:r>
            <a:r>
              <a:rPr lang="es-MX" b="1" dirty="0" err="1"/>
              <a:t>workflows</a:t>
            </a:r>
            <a:br>
              <a:rPr lang="es-MX" dirty="0"/>
            </a:br>
            <a:r>
              <a:rPr lang="es-MX" b="1" dirty="0"/>
              <a:t>Company-</a:t>
            </a:r>
            <a:r>
              <a:rPr lang="es-MX" b="1" dirty="0" err="1"/>
              <a:t>specific</a:t>
            </a:r>
            <a:r>
              <a:rPr lang="es-MX" b="1" dirty="0"/>
              <a:t> </a:t>
            </a:r>
            <a:r>
              <a:rPr lang="es-MX" b="1" dirty="0" err="1"/>
              <a:t>operating</a:t>
            </a:r>
            <a:r>
              <a:rPr lang="es-MX" b="1" dirty="0"/>
              <a:t> </a:t>
            </a:r>
            <a:r>
              <a:rPr lang="es-MX" b="1" dirty="0" err="1"/>
              <a:t>intelligence</a:t>
            </a:r>
            <a:br>
              <a:rPr lang="es-MX" dirty="0"/>
            </a:br>
            <a:r>
              <a:rPr lang="es-MX" b="1" dirty="0" err="1"/>
              <a:t>Outcome-connected</a:t>
            </a:r>
            <a:r>
              <a:rPr lang="es-MX" b="1" dirty="0"/>
              <a:t> </a:t>
            </a:r>
            <a:r>
              <a:rPr lang="es-MX" b="1" dirty="0" err="1"/>
              <a:t>decision</a:t>
            </a:r>
            <a:r>
              <a:rPr lang="es-MX" b="1" dirty="0"/>
              <a:t> </a:t>
            </a:r>
            <a:r>
              <a:rPr lang="es-MX" b="1" dirty="0" err="1"/>
              <a:t>making</a:t>
            </a:r>
            <a:br>
              <a:rPr lang="es-MX" dirty="0"/>
            </a:br>
            <a:r>
              <a:rPr lang="es-MX" b="1" dirty="0" err="1"/>
              <a:t>Compounding</a:t>
            </a:r>
            <a:r>
              <a:rPr lang="es-MX" b="1" dirty="0"/>
              <a:t> </a:t>
            </a:r>
            <a:r>
              <a:rPr lang="es-MX" b="1" dirty="0" err="1"/>
              <a:t>network</a:t>
            </a:r>
            <a:r>
              <a:rPr lang="es-MX" b="1" dirty="0"/>
              <a:t> / </a:t>
            </a:r>
            <a:r>
              <a:rPr lang="es-MX" b="1" dirty="0" err="1"/>
              <a:t>ecosystem</a:t>
            </a:r>
            <a:endParaRPr lang="es-MX" dirty="0"/>
          </a:p>
          <a:p>
            <a:endParaRPr lang="es-MX" dirty="0"/>
          </a:p>
          <a:p>
            <a:r>
              <a:rPr lang="es-MX" dirty="0"/>
              <a:t>Esto me gusta bastante más que etiquetar todo como “</a:t>
            </a:r>
            <a:r>
              <a:rPr lang="es-MX" dirty="0" err="1"/>
              <a:t>edge</a:t>
            </a:r>
            <a:r>
              <a:rPr lang="es-MX" dirty="0"/>
              <a:t>”. Algunos son ya </a:t>
            </a:r>
            <a:r>
              <a:rPr lang="es-MX" b="1" dirty="0"/>
              <a:t>activos reales</a:t>
            </a:r>
            <a:r>
              <a:rPr lang="es-MX" dirty="0"/>
              <a:t>; lo que todavía falta demostrar es cuánto se convierten en una </a:t>
            </a:r>
            <a:r>
              <a:rPr lang="es-MX" b="1" dirty="0"/>
              <a:t>ventaja competitiva</a:t>
            </a:r>
            <a:r>
              <a:rPr lang="es-MX" dirty="0"/>
              <a:t>.</a:t>
            </a:r>
          </a:p>
          <a:p>
            <a:endParaRPr lang="es-MX" dirty="0"/>
          </a:p>
          <a:p>
            <a:r>
              <a:rPr lang="es-MX" dirty="0"/>
              <a:t>Y en </a:t>
            </a:r>
            <a:r>
              <a:rPr lang="es-MX" sz="1200" kern="1200" dirty="0">
                <a:solidFill>
                  <a:schemeClr val="tx1"/>
                </a:solidFill>
                <a:latin typeface="+mn-lt"/>
                <a:ea typeface="+mn-ea"/>
                <a:cs typeface="+mn-cs"/>
              </a:rPr>
              <a:t>VERTICAL AGENTIC PLATFORMS</a:t>
            </a:r>
            <a:r>
              <a:rPr lang="es-MX" dirty="0"/>
              <a:t> incluso distinguiría internamente a los dos:</a:t>
            </a:r>
          </a:p>
          <a:p>
            <a:r>
              <a:rPr lang="es-MX" b="1" dirty="0"/>
              <a:t>KOVA — </a:t>
            </a:r>
            <a:r>
              <a:rPr lang="es-MX" b="1" dirty="0" err="1"/>
              <a:t>Mexico</a:t>
            </a:r>
            <a:r>
              <a:rPr lang="es-MX" b="1" dirty="0"/>
              <a:t> </a:t>
            </a:r>
            <a:r>
              <a:rPr lang="es-MX" b="1" dirty="0" err="1"/>
              <a:t>brokerage</a:t>
            </a:r>
            <a:r>
              <a:rPr lang="es-MX" b="1" dirty="0"/>
              <a:t> OS; </a:t>
            </a:r>
            <a:r>
              <a:rPr lang="es-MX" b="1" dirty="0" err="1"/>
              <a:t>hybrid</a:t>
            </a:r>
            <a:r>
              <a:rPr lang="es-MX" b="1" dirty="0"/>
              <a:t> vertical software + AI </a:t>
            </a:r>
            <a:r>
              <a:rPr lang="es-MX" b="1" dirty="0" err="1"/>
              <a:t>automation</a:t>
            </a:r>
            <a:br>
              <a:rPr lang="es-MX" dirty="0"/>
            </a:br>
            <a:r>
              <a:rPr lang="es-MX" b="1" dirty="0" err="1"/>
              <a:t>Uniti</a:t>
            </a:r>
            <a:r>
              <a:rPr lang="es-MX" b="1" dirty="0"/>
              <a:t> — AI-</a:t>
            </a:r>
            <a:r>
              <a:rPr lang="es-MX" b="1" dirty="0" err="1"/>
              <a:t>first</a:t>
            </a:r>
            <a:r>
              <a:rPr lang="es-MX" b="1" dirty="0"/>
              <a:t> </a:t>
            </a:r>
            <a:r>
              <a:rPr lang="es-MX" b="1" dirty="0" err="1"/>
              <a:t>multi-agent</a:t>
            </a:r>
            <a:r>
              <a:rPr lang="es-MX" b="1" dirty="0"/>
              <a:t> </a:t>
            </a:r>
            <a:r>
              <a:rPr lang="es-MX" b="1" dirty="0" err="1"/>
              <a:t>platform</a:t>
            </a:r>
            <a:r>
              <a:rPr lang="es-MX" b="1" dirty="0"/>
              <a:t> </a:t>
            </a:r>
            <a:r>
              <a:rPr lang="es-MX" b="1" dirty="0" err="1"/>
              <a:t>for</a:t>
            </a:r>
            <a:r>
              <a:rPr lang="es-MX" b="1" dirty="0"/>
              <a:t> real-estate </a:t>
            </a:r>
            <a:r>
              <a:rPr lang="es-MX" b="1" dirty="0" err="1"/>
              <a:t>operators</a:t>
            </a:r>
            <a:endParaRPr lang="es-MX" dirty="0"/>
          </a:p>
          <a:p>
            <a:endParaRPr lang="es-MX" dirty="0"/>
          </a:p>
          <a:p>
            <a:r>
              <a:rPr lang="es-MX" dirty="0"/>
              <a:t>La conclusión sería:</a:t>
            </a:r>
          </a:p>
          <a:p>
            <a:r>
              <a:rPr lang="es-MX" b="1" dirty="0" err="1"/>
              <a:t>Closest</a:t>
            </a:r>
            <a:r>
              <a:rPr lang="es-MX" b="1" dirty="0"/>
              <a:t> </a:t>
            </a:r>
            <a:r>
              <a:rPr lang="es-MX" b="1" dirty="0" err="1"/>
              <a:t>battleground</a:t>
            </a:r>
            <a:r>
              <a:rPr lang="es-MX" b="1" dirty="0"/>
              <a:t>: </a:t>
            </a:r>
            <a:r>
              <a:rPr lang="es-MX" b="1" dirty="0" err="1"/>
              <a:t>who</a:t>
            </a:r>
            <a:r>
              <a:rPr lang="es-MX" b="1" dirty="0"/>
              <a:t> </a:t>
            </a:r>
            <a:r>
              <a:rPr lang="es-MX" b="1" dirty="0" err="1"/>
              <a:t>becomes</a:t>
            </a:r>
            <a:r>
              <a:rPr lang="es-MX" b="1" dirty="0"/>
              <a:t> the </a:t>
            </a:r>
            <a:r>
              <a:rPr lang="es-MX" b="1" dirty="0" err="1"/>
              <a:t>operating</a:t>
            </a:r>
            <a:r>
              <a:rPr lang="es-MX" b="1" dirty="0"/>
              <a:t> </a:t>
            </a:r>
            <a:r>
              <a:rPr lang="es-MX" b="1" dirty="0" err="1"/>
              <a:t>intelligence</a:t>
            </a:r>
            <a:r>
              <a:rPr lang="es-MX" b="1" dirty="0"/>
              <a:t> </a:t>
            </a:r>
            <a:r>
              <a:rPr lang="es-MX" b="1" dirty="0" err="1"/>
              <a:t>layer</a:t>
            </a:r>
            <a:r>
              <a:rPr lang="es-MX" b="1" dirty="0"/>
              <a:t> </a:t>
            </a:r>
            <a:r>
              <a:rPr lang="es-MX" b="1" dirty="0" err="1"/>
              <a:t>across</a:t>
            </a:r>
            <a:r>
              <a:rPr lang="es-MX" b="1" dirty="0"/>
              <a:t> the real-estate </a:t>
            </a:r>
            <a:r>
              <a:rPr lang="es-MX" b="1" dirty="0" err="1"/>
              <a:t>company</a:t>
            </a:r>
            <a:r>
              <a:rPr lang="es-MX" b="1" dirty="0"/>
              <a:t>—</a:t>
            </a:r>
            <a:r>
              <a:rPr lang="es-MX" b="1" dirty="0" err="1"/>
              <a:t>not</a:t>
            </a:r>
            <a:r>
              <a:rPr lang="es-MX" b="1" dirty="0"/>
              <a:t> </a:t>
            </a:r>
            <a:r>
              <a:rPr lang="es-MX" b="1" dirty="0" err="1"/>
              <a:t>simply</a:t>
            </a:r>
            <a:r>
              <a:rPr lang="es-MX" b="1" dirty="0"/>
              <a:t> </a:t>
            </a:r>
            <a:r>
              <a:rPr lang="es-MX" b="1" dirty="0" err="1"/>
              <a:t>who</a:t>
            </a:r>
            <a:r>
              <a:rPr lang="es-MX" b="1" dirty="0"/>
              <a:t> </a:t>
            </a:r>
            <a:r>
              <a:rPr lang="es-MX" b="1" dirty="0" err="1"/>
              <a:t>ships</a:t>
            </a:r>
            <a:r>
              <a:rPr lang="es-MX" b="1" dirty="0"/>
              <a:t> the </a:t>
            </a:r>
            <a:r>
              <a:rPr lang="es-MX" b="1" dirty="0" err="1"/>
              <a:t>most</a:t>
            </a:r>
            <a:r>
              <a:rPr lang="es-MX" b="1" dirty="0"/>
              <a:t> AI </a:t>
            </a:r>
            <a:r>
              <a:rPr lang="es-MX" b="1" dirty="0" err="1"/>
              <a:t>agents</a:t>
            </a:r>
            <a:r>
              <a:rPr lang="es-MX" b="1" dirty="0"/>
              <a:t>.</a:t>
            </a:r>
            <a:endParaRPr lang="es-MX" dirty="0"/>
          </a:p>
          <a:p>
            <a:r>
              <a:rPr lang="es-MX" dirty="0"/>
              <a:t>Creo que esta versión captura mucho mejor la realidad competitiva: </a:t>
            </a:r>
          </a:p>
          <a:p>
            <a:r>
              <a:rPr lang="es-MX" b="1" dirty="0"/>
              <a:t>KOVA es probablemente el </a:t>
            </a:r>
            <a:r>
              <a:rPr lang="es-MX" b="1" dirty="0" err="1"/>
              <a:t>overlap</a:t>
            </a:r>
            <a:r>
              <a:rPr lang="es-MX" b="1" dirty="0"/>
              <a:t> local más directo; </a:t>
            </a:r>
          </a:p>
          <a:p>
            <a:r>
              <a:rPr lang="es-MX" b="1" dirty="0" err="1"/>
              <a:t>Uniti</a:t>
            </a:r>
            <a:r>
              <a:rPr lang="es-MX" b="1" dirty="0"/>
              <a:t> es probablemente el </a:t>
            </a:r>
            <a:r>
              <a:rPr lang="es-MX" b="1" dirty="0" err="1"/>
              <a:t>benchmark</a:t>
            </a:r>
            <a:r>
              <a:rPr lang="es-MX" b="1" dirty="0"/>
              <a:t> </a:t>
            </a:r>
            <a:r>
              <a:rPr lang="es-MX" b="1" dirty="0" err="1"/>
              <a:t>agentic</a:t>
            </a:r>
            <a:r>
              <a:rPr lang="es-MX" b="1" dirty="0"/>
              <a:t> más sofisticado, pero en segmentos distintos; y </a:t>
            </a:r>
            <a:r>
              <a:rPr lang="es-MX" b="1" dirty="0" err="1"/>
              <a:t>Shared</a:t>
            </a:r>
            <a:r>
              <a:rPr lang="es-MX" b="1" dirty="0"/>
              <a:t> </a:t>
            </a:r>
            <a:r>
              <a:rPr lang="es-MX" b="1" dirty="0" err="1"/>
              <a:t>Inventory</a:t>
            </a:r>
            <a:r>
              <a:rPr lang="es-MX" b="1" dirty="0"/>
              <a:t> + la apuesta “one </a:t>
            </a:r>
            <a:r>
              <a:rPr lang="es-MX" b="1" dirty="0" err="1"/>
              <a:t>Gu</a:t>
            </a:r>
            <a:r>
              <a:rPr lang="es-MX" b="1" dirty="0"/>
              <a:t> + </a:t>
            </a:r>
            <a:r>
              <a:rPr lang="es-MX" b="1" dirty="0" err="1"/>
              <a:t>Gu</a:t>
            </a:r>
            <a:r>
              <a:rPr lang="es-MX" b="1" dirty="0"/>
              <a:t> OS” son dos áreas donde sí tenemos una historia particularmente propia.</a:t>
            </a:r>
            <a:endParaRPr lang="es-MX" dirty="0"/>
          </a:p>
          <a:p>
            <a:endParaRPr lang="es-MX" dirty="0"/>
          </a:p>
          <a:p>
            <a:r>
              <a:rPr lang="es-MX" dirty="0"/>
              <a:t>--</a:t>
            </a:r>
          </a:p>
          <a:p>
            <a:r>
              <a:rPr lang="es-MX" dirty="0"/>
              <a:t>El modelo de “muchos agentes especializados” </a:t>
            </a:r>
            <a:r>
              <a:rPr lang="es-MX" b="1" dirty="0"/>
              <a:t>puede reflejar y reforzar la estructura funcional tradicional de una organización</a:t>
            </a:r>
            <a:r>
              <a:rPr lang="es-MX" dirty="0"/>
              <a:t>, aunque no necesariamente obliga técnicamente a operar en silos.</a:t>
            </a:r>
          </a:p>
          <a:p>
            <a:r>
              <a:rPr lang="es-MX" dirty="0" err="1"/>
              <a:t>Uniti</a:t>
            </a:r>
            <a:r>
              <a:rPr lang="es-MX" dirty="0"/>
              <a:t>, por ejemplo, empaqueta públicamente agentes como </a:t>
            </a:r>
            <a:r>
              <a:rPr lang="es-MX" b="1" dirty="0"/>
              <a:t>Sales &amp; Leasing, Support &amp; Service, </a:t>
            </a:r>
            <a:r>
              <a:rPr lang="es-MX" b="1" dirty="0" err="1"/>
              <a:t>Maintenance</a:t>
            </a:r>
            <a:r>
              <a:rPr lang="es-MX" b="1" dirty="0"/>
              <a:t>, </a:t>
            </a:r>
            <a:r>
              <a:rPr lang="es-MX" b="1" dirty="0" err="1"/>
              <a:t>Collections</a:t>
            </a:r>
            <a:r>
              <a:rPr lang="es-MX" b="1" dirty="0"/>
              <a:t>, </a:t>
            </a:r>
            <a:r>
              <a:rPr lang="es-MX" b="1" dirty="0" err="1"/>
              <a:t>Renewals</a:t>
            </a:r>
            <a:r>
              <a:rPr lang="es-MX" b="1" dirty="0"/>
              <a:t>, </a:t>
            </a:r>
            <a:r>
              <a:rPr lang="es-MX" b="1" dirty="0" err="1"/>
              <a:t>Payments</a:t>
            </a:r>
            <a:r>
              <a:rPr lang="es-MX" dirty="0"/>
              <a:t>, etc. Eso hace que cada agente sea fácil de entender, comprar y medir. Al mismo tiempo, </a:t>
            </a:r>
            <a:r>
              <a:rPr lang="es-MX" dirty="0" err="1"/>
              <a:t>Uniti</a:t>
            </a:r>
            <a:r>
              <a:rPr lang="es-MX" dirty="0"/>
              <a:t> dice tener un </a:t>
            </a:r>
            <a:r>
              <a:rPr lang="es-MX" i="1" dirty="0"/>
              <a:t>Agent </a:t>
            </a:r>
            <a:r>
              <a:rPr lang="es-MX" i="1" dirty="0" err="1"/>
              <a:t>Operating</a:t>
            </a:r>
            <a:r>
              <a:rPr lang="es-MX" i="1" dirty="0"/>
              <a:t> </a:t>
            </a:r>
            <a:r>
              <a:rPr lang="es-MX" i="1" dirty="0" err="1"/>
              <a:t>System</a:t>
            </a:r>
            <a:r>
              <a:rPr lang="es-MX" dirty="0"/>
              <a:t> compartido, continuidad entre canales e integraciones con PMS/CRM, así que no sería correcto concluir que sus agentes están técnicamente aislados. </a:t>
            </a:r>
          </a:p>
          <a:p>
            <a:r>
              <a:rPr lang="es-MX" dirty="0"/>
              <a:t>Pero tu intuición estratégica sí es interesante.</a:t>
            </a:r>
          </a:p>
          <a:p>
            <a:endParaRPr lang="es-MX" b="1" dirty="0"/>
          </a:p>
          <a:p>
            <a:r>
              <a:rPr lang="es-MX" b="1" dirty="0"/>
              <a:t>Dos paradigmas distintos</a:t>
            </a:r>
          </a:p>
          <a:p>
            <a:endParaRPr lang="es-MX" dirty="0"/>
          </a:p>
          <a:p>
            <a:r>
              <a:rPr lang="es-MX" dirty="0"/>
              <a:t>El enfoque de múltiples agentes tiende naturalmente a pensar:</a:t>
            </a:r>
          </a:p>
          <a:p>
            <a:endParaRPr lang="es-MX" b="1" dirty="0"/>
          </a:p>
          <a:p>
            <a:r>
              <a:rPr lang="es-MX" b="1" dirty="0" err="1"/>
              <a:t>What</a:t>
            </a:r>
            <a:r>
              <a:rPr lang="es-MX" b="1" dirty="0"/>
              <a:t> </a:t>
            </a:r>
            <a:r>
              <a:rPr lang="es-MX" b="1" dirty="0" err="1"/>
              <a:t>function</a:t>
            </a:r>
            <a:r>
              <a:rPr lang="es-MX" b="1" dirty="0"/>
              <a:t> </a:t>
            </a:r>
            <a:r>
              <a:rPr lang="es-MX" b="1" dirty="0" err="1"/>
              <a:t>or</a:t>
            </a:r>
            <a:r>
              <a:rPr lang="es-MX" b="1" dirty="0"/>
              <a:t> role </a:t>
            </a:r>
            <a:r>
              <a:rPr lang="es-MX" b="1" dirty="0" err="1"/>
              <a:t>owns</a:t>
            </a:r>
            <a:r>
              <a:rPr lang="es-MX" b="1" dirty="0"/>
              <a:t> </a:t>
            </a:r>
            <a:r>
              <a:rPr lang="es-MX" b="1" dirty="0" err="1"/>
              <a:t>this</a:t>
            </a:r>
            <a:r>
              <a:rPr lang="es-MX" b="1" dirty="0"/>
              <a:t> </a:t>
            </a:r>
            <a:r>
              <a:rPr lang="es-MX" b="1" dirty="0" err="1"/>
              <a:t>work</a:t>
            </a:r>
            <a:r>
              <a:rPr lang="es-MX" b="1" dirty="0"/>
              <a:t>?</a:t>
            </a:r>
            <a:endParaRPr lang="es-MX" dirty="0"/>
          </a:p>
          <a:p>
            <a:r>
              <a:rPr lang="es-MX" dirty="0"/>
              <a:t>Sales Agent</a:t>
            </a:r>
            <a:br>
              <a:rPr lang="es-MX" dirty="0"/>
            </a:br>
            <a:r>
              <a:rPr lang="es-MX" dirty="0"/>
              <a:t>→ </a:t>
            </a:r>
            <a:r>
              <a:rPr lang="es-MX" dirty="0" err="1"/>
              <a:t>Collections</a:t>
            </a:r>
            <a:r>
              <a:rPr lang="es-MX" dirty="0"/>
              <a:t> Agent</a:t>
            </a:r>
            <a:br>
              <a:rPr lang="es-MX" dirty="0"/>
            </a:br>
            <a:r>
              <a:rPr lang="es-MX" dirty="0"/>
              <a:t>→ </a:t>
            </a:r>
            <a:r>
              <a:rPr lang="es-MX" dirty="0" err="1"/>
              <a:t>Maintenance</a:t>
            </a:r>
            <a:r>
              <a:rPr lang="es-MX" dirty="0"/>
              <a:t> Agent</a:t>
            </a:r>
            <a:br>
              <a:rPr lang="es-MX" dirty="0"/>
            </a:br>
            <a:r>
              <a:rPr lang="es-MX" dirty="0"/>
              <a:t>→ </a:t>
            </a:r>
            <a:r>
              <a:rPr lang="es-MX" dirty="0" err="1"/>
              <a:t>Renewal</a:t>
            </a:r>
            <a:r>
              <a:rPr lang="es-MX" dirty="0"/>
              <a:t> Agent</a:t>
            </a:r>
          </a:p>
          <a:p>
            <a:endParaRPr lang="es-MX" dirty="0"/>
          </a:p>
          <a:p>
            <a:r>
              <a:rPr lang="es-MX" dirty="0"/>
              <a:t>Es parecido a traducir el organigrama humano a una </a:t>
            </a:r>
            <a:r>
              <a:rPr lang="es-MX" b="1" dirty="0"/>
              <a:t>organización digital de agentes especializados</a:t>
            </a:r>
            <a:r>
              <a:rPr lang="es-MX" dirty="0"/>
              <a:t>.</a:t>
            </a:r>
          </a:p>
          <a:p>
            <a:r>
              <a:rPr lang="es-MX" dirty="0"/>
              <a:t>Eso tiene ventajas reales: </a:t>
            </a:r>
            <a:r>
              <a:rPr lang="es-MX" dirty="0" err="1"/>
              <a:t>ownership</a:t>
            </a:r>
            <a:r>
              <a:rPr lang="es-MX" dirty="0"/>
              <a:t> claro, </a:t>
            </a:r>
            <a:r>
              <a:rPr lang="es-MX" dirty="0" err="1"/>
              <a:t>KPIs</a:t>
            </a:r>
            <a:r>
              <a:rPr lang="es-MX" dirty="0"/>
              <a:t> claros, permisos más fáciles de acotar, </a:t>
            </a:r>
            <a:r>
              <a:rPr lang="es-MX" dirty="0" err="1"/>
              <a:t>packaging</a:t>
            </a:r>
            <a:r>
              <a:rPr lang="es-MX" dirty="0"/>
              <a:t> comercial sencillo.</a:t>
            </a:r>
          </a:p>
          <a:p>
            <a:endParaRPr lang="es-MX" dirty="0"/>
          </a:p>
          <a:p>
            <a:r>
              <a:rPr lang="es-MX" dirty="0"/>
              <a:t>Pero potencialmente puede traer consigo el mismo problema conceptual de una organización funcional:</a:t>
            </a:r>
          </a:p>
          <a:p>
            <a:r>
              <a:rPr lang="es-MX" b="1" dirty="0"/>
              <a:t>el valor real para el cliente rara vez cabe perfectamente dentro de una sola función.</a:t>
            </a:r>
            <a:endParaRPr lang="es-MX" dirty="0"/>
          </a:p>
          <a:p>
            <a:endParaRPr lang="es-MX" dirty="0"/>
          </a:p>
          <a:p>
            <a:r>
              <a:rPr lang="es-MX" dirty="0"/>
              <a:t>Un proceso puede atravesar:</a:t>
            </a:r>
          </a:p>
          <a:p>
            <a:r>
              <a:rPr lang="es-MX" dirty="0"/>
              <a:t>lead → </a:t>
            </a:r>
            <a:r>
              <a:rPr lang="es-MX" dirty="0" err="1"/>
              <a:t>matching</a:t>
            </a:r>
            <a:r>
              <a:rPr lang="es-MX" dirty="0"/>
              <a:t> → </a:t>
            </a:r>
            <a:r>
              <a:rPr lang="es-MX" dirty="0" err="1"/>
              <a:t>visit</a:t>
            </a:r>
            <a:r>
              <a:rPr lang="es-MX" dirty="0"/>
              <a:t> → </a:t>
            </a:r>
            <a:r>
              <a:rPr lang="es-MX" dirty="0" err="1"/>
              <a:t>negotiation</a:t>
            </a:r>
            <a:r>
              <a:rPr lang="es-MX" dirty="0"/>
              <a:t> → </a:t>
            </a:r>
            <a:r>
              <a:rPr lang="es-MX" dirty="0" err="1"/>
              <a:t>documents</a:t>
            </a:r>
            <a:r>
              <a:rPr lang="es-MX" dirty="0"/>
              <a:t> → </a:t>
            </a:r>
            <a:r>
              <a:rPr lang="es-MX" dirty="0" err="1"/>
              <a:t>financing</a:t>
            </a:r>
            <a:r>
              <a:rPr lang="es-MX" dirty="0"/>
              <a:t> → </a:t>
            </a:r>
            <a:r>
              <a:rPr lang="es-MX" dirty="0" err="1"/>
              <a:t>closing</a:t>
            </a:r>
            <a:r>
              <a:rPr lang="es-MX" dirty="0"/>
              <a:t> → </a:t>
            </a:r>
            <a:r>
              <a:rPr lang="es-MX" dirty="0" err="1"/>
              <a:t>follow</a:t>
            </a:r>
            <a:r>
              <a:rPr lang="es-MX" dirty="0"/>
              <a:t>-up</a:t>
            </a:r>
          </a:p>
          <a:p>
            <a:r>
              <a:rPr lang="es-MX" dirty="0"/>
              <a:t>sin que al cliente le importe demasiado qué “departamento digital” está ejecutando cada paso.</a:t>
            </a:r>
          </a:p>
          <a:p>
            <a:endParaRPr lang="es-MX" dirty="0"/>
          </a:p>
          <a:p>
            <a:r>
              <a:rPr lang="es-MX" b="1" dirty="0"/>
              <a:t>La apuesta de </a:t>
            </a:r>
            <a:r>
              <a:rPr lang="es-MX" b="1" dirty="0" err="1"/>
              <a:t>Gu</a:t>
            </a:r>
            <a:r>
              <a:rPr lang="es-MX" b="1" dirty="0"/>
              <a:t> puede ser diferente</a:t>
            </a:r>
          </a:p>
          <a:p>
            <a:r>
              <a:rPr lang="es-MX" dirty="0"/>
              <a:t>Nuestra filosofía puede partir de:</a:t>
            </a:r>
          </a:p>
          <a:p>
            <a:r>
              <a:rPr lang="es-MX" b="1" dirty="0" err="1"/>
              <a:t>What</a:t>
            </a:r>
            <a:r>
              <a:rPr lang="es-MX" b="1" dirty="0"/>
              <a:t> </a:t>
            </a:r>
            <a:r>
              <a:rPr lang="es-MX" b="1" dirty="0" err="1"/>
              <a:t>outcome</a:t>
            </a:r>
            <a:r>
              <a:rPr lang="es-MX" b="1" dirty="0"/>
              <a:t> </a:t>
            </a:r>
            <a:r>
              <a:rPr lang="es-MX" b="1" dirty="0" err="1"/>
              <a:t>or</a:t>
            </a:r>
            <a:r>
              <a:rPr lang="es-MX" b="1" dirty="0"/>
              <a:t> </a:t>
            </a:r>
            <a:r>
              <a:rPr lang="es-MX" b="1" dirty="0" err="1"/>
              <a:t>business</a:t>
            </a:r>
            <a:r>
              <a:rPr lang="es-MX" b="1" dirty="0"/>
              <a:t> case are </a:t>
            </a:r>
            <a:r>
              <a:rPr lang="es-MX" b="1" dirty="0" err="1"/>
              <a:t>we</a:t>
            </a:r>
            <a:r>
              <a:rPr lang="es-MX" b="1" dirty="0"/>
              <a:t> </a:t>
            </a:r>
            <a:r>
              <a:rPr lang="es-MX" b="1" dirty="0" err="1"/>
              <a:t>trying</a:t>
            </a:r>
            <a:r>
              <a:rPr lang="es-MX" b="1" dirty="0"/>
              <a:t> </a:t>
            </a:r>
            <a:r>
              <a:rPr lang="es-MX" b="1" dirty="0" err="1"/>
              <a:t>to</a:t>
            </a:r>
            <a:r>
              <a:rPr lang="es-MX" b="1" dirty="0"/>
              <a:t> </a:t>
            </a:r>
            <a:r>
              <a:rPr lang="es-MX" b="1" dirty="0" err="1"/>
              <a:t>advance</a:t>
            </a:r>
            <a:r>
              <a:rPr lang="es-MX" b="1" dirty="0"/>
              <a:t>?</a:t>
            </a:r>
            <a:endParaRPr lang="es-MX" dirty="0"/>
          </a:p>
          <a:p>
            <a:r>
              <a:rPr lang="es-MX" dirty="0"/>
              <a:t>y no de:</a:t>
            </a:r>
          </a:p>
          <a:p>
            <a:r>
              <a:rPr lang="es-MX" b="1" dirty="0" err="1"/>
              <a:t>Which</a:t>
            </a:r>
            <a:r>
              <a:rPr lang="es-MX" b="1" dirty="0"/>
              <a:t> </a:t>
            </a:r>
            <a:r>
              <a:rPr lang="es-MX" b="1" dirty="0" err="1"/>
              <a:t>agent</a:t>
            </a:r>
            <a:r>
              <a:rPr lang="es-MX" b="1" dirty="0"/>
              <a:t> </a:t>
            </a:r>
            <a:r>
              <a:rPr lang="es-MX" b="1" dirty="0" err="1"/>
              <a:t>owns</a:t>
            </a:r>
            <a:r>
              <a:rPr lang="es-MX" b="1" dirty="0"/>
              <a:t> </a:t>
            </a:r>
            <a:r>
              <a:rPr lang="es-MX" b="1" dirty="0" err="1"/>
              <a:t>this</a:t>
            </a:r>
            <a:r>
              <a:rPr lang="es-MX" b="1" dirty="0"/>
              <a:t> </a:t>
            </a:r>
            <a:r>
              <a:rPr lang="es-MX" b="1" dirty="0" err="1"/>
              <a:t>function</a:t>
            </a:r>
            <a:r>
              <a:rPr lang="es-MX" b="1" dirty="0"/>
              <a:t>?</a:t>
            </a:r>
            <a:endParaRPr lang="es-MX" dirty="0"/>
          </a:p>
          <a:p>
            <a:r>
              <a:rPr lang="es-MX" dirty="0"/>
              <a:t>Entonces </a:t>
            </a:r>
            <a:r>
              <a:rPr lang="es-MX" dirty="0" err="1"/>
              <a:t>Gu</a:t>
            </a:r>
            <a:r>
              <a:rPr lang="es-MX" dirty="0"/>
              <a:t> recibe el objetivo:</a:t>
            </a:r>
          </a:p>
          <a:p>
            <a:r>
              <a:rPr lang="es-MX" dirty="0"/>
              <a:t>“</a:t>
            </a:r>
            <a:r>
              <a:rPr lang="es-MX" dirty="0" err="1"/>
              <a:t>Move</a:t>
            </a:r>
            <a:r>
              <a:rPr lang="es-MX" dirty="0"/>
              <a:t> </a:t>
            </a:r>
            <a:r>
              <a:rPr lang="es-MX" dirty="0" err="1"/>
              <a:t>this</a:t>
            </a:r>
            <a:r>
              <a:rPr lang="es-MX" dirty="0"/>
              <a:t> </a:t>
            </a:r>
            <a:r>
              <a:rPr lang="es-MX" dirty="0" err="1"/>
              <a:t>buyer</a:t>
            </a:r>
            <a:r>
              <a:rPr lang="es-MX" dirty="0"/>
              <a:t> </a:t>
            </a:r>
            <a:r>
              <a:rPr lang="es-MX" dirty="0" err="1"/>
              <a:t>toward</a:t>
            </a:r>
            <a:r>
              <a:rPr lang="es-MX" dirty="0"/>
              <a:t> the </a:t>
            </a:r>
            <a:r>
              <a:rPr lang="es-MX" dirty="0" err="1"/>
              <a:t>right</a:t>
            </a:r>
            <a:r>
              <a:rPr lang="es-MX" dirty="0"/>
              <a:t> </a:t>
            </a:r>
            <a:r>
              <a:rPr lang="es-MX" dirty="0" err="1"/>
              <a:t>property</a:t>
            </a:r>
            <a:r>
              <a:rPr lang="es-MX" dirty="0"/>
              <a:t> and a </a:t>
            </a:r>
            <a:r>
              <a:rPr lang="es-MX" dirty="0" err="1"/>
              <a:t>visit</a:t>
            </a:r>
            <a:r>
              <a:rPr lang="es-MX" dirty="0"/>
              <a:t>.”</a:t>
            </a:r>
          </a:p>
          <a:p>
            <a:r>
              <a:rPr lang="es-MX" dirty="0"/>
              <a:t>o:</a:t>
            </a:r>
          </a:p>
          <a:p>
            <a:r>
              <a:rPr lang="es-MX" dirty="0"/>
              <a:t>“</a:t>
            </a:r>
            <a:r>
              <a:rPr lang="es-MX" dirty="0" err="1"/>
              <a:t>Get</a:t>
            </a:r>
            <a:r>
              <a:rPr lang="es-MX" dirty="0"/>
              <a:t> </a:t>
            </a:r>
            <a:r>
              <a:rPr lang="es-MX" dirty="0" err="1"/>
              <a:t>this</a:t>
            </a:r>
            <a:r>
              <a:rPr lang="es-MX" dirty="0"/>
              <a:t> </a:t>
            </a:r>
            <a:r>
              <a:rPr lang="es-MX" dirty="0" err="1"/>
              <a:t>property</a:t>
            </a:r>
            <a:r>
              <a:rPr lang="es-MX" dirty="0"/>
              <a:t> </a:t>
            </a:r>
            <a:r>
              <a:rPr lang="es-MX" dirty="0" err="1"/>
              <a:t>captured</a:t>
            </a:r>
            <a:r>
              <a:rPr lang="es-MX" dirty="0"/>
              <a:t>, </a:t>
            </a:r>
            <a:r>
              <a:rPr lang="es-MX" dirty="0" err="1"/>
              <a:t>approved</a:t>
            </a:r>
            <a:r>
              <a:rPr lang="es-MX" dirty="0"/>
              <a:t> and </a:t>
            </a:r>
            <a:r>
              <a:rPr lang="es-MX" dirty="0" err="1"/>
              <a:t>published</a:t>
            </a:r>
            <a:r>
              <a:rPr lang="es-MX" dirty="0"/>
              <a:t>.”</a:t>
            </a:r>
          </a:p>
          <a:p>
            <a:r>
              <a:rPr lang="es-MX" dirty="0"/>
              <a:t>Y </a:t>
            </a:r>
            <a:r>
              <a:rPr lang="es-MX" b="1" dirty="0" err="1"/>
              <a:t>Gu</a:t>
            </a:r>
            <a:r>
              <a:rPr lang="es-MX" b="1" dirty="0"/>
              <a:t> OS determina qué combinación de </a:t>
            </a:r>
            <a:r>
              <a:rPr lang="es-MX" b="1" dirty="0" err="1"/>
              <a:t>workflows</a:t>
            </a:r>
            <a:r>
              <a:rPr lang="es-MX" b="1" dirty="0"/>
              <a:t>, </a:t>
            </a:r>
            <a:r>
              <a:rPr lang="es-MX" b="1" dirty="0" err="1"/>
              <a:t>Skills</a:t>
            </a:r>
            <a:r>
              <a:rPr lang="es-MX" b="1" dirty="0"/>
              <a:t>, </a:t>
            </a:r>
            <a:r>
              <a:rPr lang="es-MX" b="1" dirty="0" err="1"/>
              <a:t>tools</a:t>
            </a:r>
            <a:r>
              <a:rPr lang="es-MX" b="1" dirty="0"/>
              <a:t>, </a:t>
            </a:r>
            <a:r>
              <a:rPr lang="es-MX" b="1" dirty="0" err="1"/>
              <a:t>deterministic</a:t>
            </a:r>
            <a:r>
              <a:rPr lang="es-MX" b="1" dirty="0"/>
              <a:t> </a:t>
            </a:r>
            <a:r>
              <a:rPr lang="es-MX" b="1" dirty="0" err="1"/>
              <a:t>services</a:t>
            </a:r>
            <a:r>
              <a:rPr lang="es-MX" b="1" dirty="0"/>
              <a:t>, </a:t>
            </a:r>
            <a:r>
              <a:rPr lang="es-MX" b="1" dirty="0" err="1"/>
              <a:t>specialized</a:t>
            </a:r>
            <a:r>
              <a:rPr lang="es-MX" b="1" dirty="0"/>
              <a:t> </a:t>
            </a:r>
            <a:r>
              <a:rPr lang="es-MX" b="1" dirty="0" err="1"/>
              <a:t>workers</a:t>
            </a:r>
            <a:r>
              <a:rPr lang="es-MX" b="1" dirty="0"/>
              <a:t> and </a:t>
            </a:r>
            <a:r>
              <a:rPr lang="es-MX" b="1" dirty="0" err="1"/>
              <a:t>humans</a:t>
            </a:r>
            <a:r>
              <a:rPr lang="es-MX" b="1" dirty="0"/>
              <a:t> necesita</a:t>
            </a:r>
            <a:r>
              <a:rPr lang="es-MX" dirty="0"/>
              <a:t>.</a:t>
            </a:r>
          </a:p>
          <a:p>
            <a:endParaRPr lang="es-MX" dirty="0"/>
          </a:p>
          <a:p>
            <a:r>
              <a:rPr lang="es-MX" dirty="0"/>
              <a:t>Por eso una frase que me parece particularmente potente es:</a:t>
            </a:r>
          </a:p>
          <a:p>
            <a:r>
              <a:rPr lang="es-MX" b="1" dirty="0"/>
              <a:t>Many </a:t>
            </a:r>
            <a:r>
              <a:rPr lang="es-MX" b="1" dirty="0" err="1"/>
              <a:t>specialized</a:t>
            </a:r>
            <a:r>
              <a:rPr lang="es-MX" b="1" dirty="0"/>
              <a:t> </a:t>
            </a:r>
            <a:r>
              <a:rPr lang="es-MX" b="1" dirty="0" err="1"/>
              <a:t>agents</a:t>
            </a:r>
            <a:r>
              <a:rPr lang="es-MX" b="1" dirty="0"/>
              <a:t> </a:t>
            </a:r>
            <a:r>
              <a:rPr lang="es-MX" b="1" dirty="0" err="1"/>
              <a:t>map</a:t>
            </a:r>
            <a:r>
              <a:rPr lang="es-MX" b="1" dirty="0"/>
              <a:t> AI </a:t>
            </a:r>
            <a:r>
              <a:rPr lang="es-MX" b="1" dirty="0" err="1"/>
              <a:t>to</a:t>
            </a:r>
            <a:r>
              <a:rPr lang="es-MX" b="1" dirty="0"/>
              <a:t> </a:t>
            </a:r>
            <a:r>
              <a:rPr lang="es-MX" b="1" dirty="0" err="1"/>
              <a:t>functions</a:t>
            </a:r>
            <a:r>
              <a:rPr lang="es-MX" b="1" dirty="0"/>
              <a:t>. One </a:t>
            </a:r>
            <a:r>
              <a:rPr lang="es-MX" b="1" dirty="0" err="1"/>
              <a:t>Gu</a:t>
            </a:r>
            <a:r>
              <a:rPr lang="es-MX" b="1" dirty="0"/>
              <a:t> can </a:t>
            </a:r>
            <a:r>
              <a:rPr lang="es-MX" b="1" dirty="0" err="1"/>
              <a:t>map</a:t>
            </a:r>
            <a:r>
              <a:rPr lang="es-MX" b="1" dirty="0"/>
              <a:t> AI </a:t>
            </a:r>
            <a:r>
              <a:rPr lang="es-MX" b="1" dirty="0" err="1"/>
              <a:t>to</a:t>
            </a:r>
            <a:r>
              <a:rPr lang="es-MX" b="1" dirty="0"/>
              <a:t> </a:t>
            </a:r>
            <a:r>
              <a:rPr lang="es-MX" b="1" dirty="0" err="1"/>
              <a:t>business</a:t>
            </a:r>
            <a:r>
              <a:rPr lang="es-MX" b="1" dirty="0"/>
              <a:t> </a:t>
            </a:r>
            <a:r>
              <a:rPr lang="es-MX" b="1" dirty="0" err="1"/>
              <a:t>objectives</a:t>
            </a:r>
            <a:r>
              <a:rPr lang="es-MX" b="1" dirty="0"/>
              <a:t> and </a:t>
            </a:r>
            <a:r>
              <a:rPr lang="es-MX" b="1" dirty="0" err="1"/>
              <a:t>workflows</a:t>
            </a:r>
            <a:r>
              <a:rPr lang="es-MX" b="1" dirty="0"/>
              <a:t>.</a:t>
            </a:r>
            <a:endParaRPr lang="es-MX" dirty="0"/>
          </a:p>
          <a:p>
            <a:r>
              <a:rPr lang="es-MX" dirty="0"/>
              <a:t>No significa que </a:t>
            </a:r>
            <a:r>
              <a:rPr lang="es-MX" dirty="0" err="1"/>
              <a:t>Gu</a:t>
            </a:r>
            <a:r>
              <a:rPr lang="es-MX" dirty="0"/>
              <a:t> OS no pueda tener especialización interna. Todo lo contrario.</a:t>
            </a:r>
          </a:p>
          <a:p>
            <a:r>
              <a:rPr lang="es-MX" dirty="0"/>
              <a:t>Debajo de </a:t>
            </a:r>
            <a:r>
              <a:rPr lang="es-MX" dirty="0" err="1"/>
              <a:t>Gu</a:t>
            </a:r>
            <a:r>
              <a:rPr lang="es-MX" dirty="0"/>
              <a:t> podría haber:</a:t>
            </a:r>
          </a:p>
          <a:p>
            <a:pPr marL="171450" lvl="0" indent="-171450">
              <a:buFont typeface="Arial" panose="020B0604020202020204" pitchFamily="34" charset="0"/>
              <a:buChar char="•"/>
            </a:pPr>
            <a:r>
              <a:rPr lang="es-MX" dirty="0" err="1"/>
              <a:t>workers</a:t>
            </a:r>
            <a:r>
              <a:rPr lang="es-MX" dirty="0"/>
              <a:t> especializados; </a:t>
            </a:r>
          </a:p>
          <a:p>
            <a:pPr marL="171450" lvl="0" indent="-171450">
              <a:buFont typeface="Arial" panose="020B0604020202020204" pitchFamily="34" charset="0"/>
              <a:buChar char="•"/>
            </a:pPr>
            <a:r>
              <a:rPr lang="es-MX" dirty="0" err="1"/>
              <a:t>Skills</a:t>
            </a:r>
            <a:r>
              <a:rPr lang="es-MX" dirty="0"/>
              <a:t> especializados; </a:t>
            </a:r>
          </a:p>
          <a:p>
            <a:pPr marL="171450" lvl="0" indent="-171450">
              <a:buFont typeface="Arial" panose="020B0604020202020204" pitchFamily="34" charset="0"/>
              <a:buChar char="•"/>
            </a:pPr>
            <a:r>
              <a:rPr lang="es-MX" dirty="0"/>
              <a:t>herramientas de valuación; </a:t>
            </a:r>
          </a:p>
          <a:p>
            <a:pPr marL="171450" lvl="0" indent="-171450">
              <a:buFont typeface="Arial" panose="020B0604020202020204" pitchFamily="34" charset="0"/>
              <a:buChar char="•"/>
            </a:pPr>
            <a:r>
              <a:rPr lang="es-MX" dirty="0" err="1"/>
              <a:t>campaign</a:t>
            </a:r>
            <a:r>
              <a:rPr lang="es-MX" dirty="0"/>
              <a:t> </a:t>
            </a:r>
            <a:r>
              <a:rPr lang="es-MX" dirty="0" err="1"/>
              <a:t>capabilities</a:t>
            </a:r>
            <a:r>
              <a:rPr lang="es-MX" dirty="0"/>
              <a:t>; </a:t>
            </a:r>
          </a:p>
          <a:p>
            <a:pPr marL="171450" lvl="0" indent="-171450">
              <a:buFont typeface="Arial" panose="020B0604020202020204" pitchFamily="34" charset="0"/>
              <a:buChar char="•"/>
            </a:pPr>
            <a:r>
              <a:rPr lang="es-MX" dirty="0" err="1"/>
              <a:t>document</a:t>
            </a:r>
            <a:r>
              <a:rPr lang="es-MX" dirty="0"/>
              <a:t> </a:t>
            </a:r>
            <a:r>
              <a:rPr lang="es-MX" dirty="0" err="1"/>
              <a:t>processing</a:t>
            </a:r>
            <a:r>
              <a:rPr lang="es-MX" dirty="0"/>
              <a:t>; </a:t>
            </a:r>
          </a:p>
          <a:p>
            <a:pPr marL="171450" lvl="0" indent="-171450">
              <a:buFont typeface="Arial" panose="020B0604020202020204" pitchFamily="34" charset="0"/>
              <a:buChar char="•"/>
            </a:pPr>
            <a:r>
              <a:rPr lang="es-MX" dirty="0" err="1"/>
              <a:t>scheduling</a:t>
            </a:r>
            <a:r>
              <a:rPr lang="es-MX" dirty="0"/>
              <a:t>; </a:t>
            </a:r>
          </a:p>
          <a:p>
            <a:pPr marL="171450" lvl="0" indent="-171450">
              <a:buFont typeface="Arial" panose="020B0604020202020204" pitchFamily="34" charset="0"/>
              <a:buChar char="•"/>
            </a:pPr>
            <a:r>
              <a:rPr lang="es-MX" dirty="0"/>
              <a:t>etc. </a:t>
            </a:r>
          </a:p>
          <a:p>
            <a:endParaRPr lang="es-MX" dirty="0"/>
          </a:p>
          <a:p>
            <a:r>
              <a:rPr lang="es-MX" dirty="0"/>
              <a:t>Pero </a:t>
            </a:r>
            <a:r>
              <a:rPr lang="es-MX" b="1" dirty="0"/>
              <a:t>el usuario no tiene que organizar mentalmente ese </a:t>
            </a:r>
            <a:r>
              <a:rPr lang="es-MX" b="1" dirty="0" err="1"/>
              <a:t>workforce</a:t>
            </a:r>
            <a:r>
              <a:rPr lang="es-MX" dirty="0"/>
              <a:t>.</a:t>
            </a:r>
          </a:p>
          <a:p>
            <a:r>
              <a:rPr lang="es-MX" dirty="0"/>
              <a:t>Eso es el principio:</a:t>
            </a:r>
          </a:p>
          <a:p>
            <a:r>
              <a:rPr lang="es-MX" b="1" dirty="0"/>
              <a:t>One </a:t>
            </a:r>
            <a:r>
              <a:rPr lang="es-MX" b="1" dirty="0" err="1"/>
              <a:t>front</a:t>
            </a:r>
            <a:r>
              <a:rPr lang="es-MX" b="1" dirty="0"/>
              <a:t> </a:t>
            </a:r>
            <a:r>
              <a:rPr lang="es-MX" b="1" dirty="0" err="1"/>
              <a:t>door</a:t>
            </a:r>
            <a:r>
              <a:rPr lang="es-MX" b="1" dirty="0"/>
              <a:t>. Many </a:t>
            </a:r>
            <a:r>
              <a:rPr lang="es-MX" b="1" dirty="0" err="1"/>
              <a:t>capabilities</a:t>
            </a:r>
            <a:r>
              <a:rPr lang="es-MX" b="1" dirty="0"/>
              <a:t> </a:t>
            </a:r>
            <a:r>
              <a:rPr lang="es-MX" b="1" dirty="0" err="1"/>
              <a:t>underneath</a:t>
            </a:r>
            <a:r>
              <a:rPr lang="es-MX" b="1" dirty="0"/>
              <a:t>.</a:t>
            </a:r>
            <a:endParaRPr lang="es-MX" dirty="0"/>
          </a:p>
          <a:p>
            <a:endParaRPr lang="es-MX" dirty="0"/>
          </a:p>
          <a:p>
            <a:r>
              <a:rPr lang="es-MX" b="1" dirty="0"/>
              <a:t>Y sí: ahí </a:t>
            </a:r>
            <a:r>
              <a:rPr lang="es-MX" sz="1200" b="1" kern="1200" dirty="0">
                <a:solidFill>
                  <a:schemeClr val="tx1"/>
                </a:solidFill>
                <a:latin typeface="+mn-lt"/>
                <a:ea typeface="+mn-ea"/>
                <a:cs typeface="+mn-cs"/>
              </a:rPr>
              <a:t>One </a:t>
            </a:r>
            <a:r>
              <a:rPr lang="es-MX" sz="1200" b="1" kern="1200" dirty="0" err="1">
                <a:solidFill>
                  <a:schemeClr val="tx1"/>
                </a:solidFill>
                <a:latin typeface="+mn-lt"/>
                <a:ea typeface="+mn-ea"/>
                <a:cs typeface="+mn-cs"/>
              </a:rPr>
              <a:t>Gu</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experience</a:t>
            </a:r>
            <a:r>
              <a:rPr lang="es-MX" b="1" dirty="0"/>
              <a:t> puede ser una ventaja importante</a:t>
            </a:r>
          </a:p>
          <a:p>
            <a:r>
              <a:rPr lang="es-MX" dirty="0"/>
              <a:t>No solamente por simplicidad de UX.</a:t>
            </a:r>
          </a:p>
          <a:p>
            <a:r>
              <a:rPr lang="es-MX" dirty="0"/>
              <a:t>Tiene potencialmente cuatro ventajas más profundas:</a:t>
            </a:r>
          </a:p>
          <a:p>
            <a:r>
              <a:rPr lang="es-MX" b="1" dirty="0"/>
              <a:t>1. Lower cognitive </a:t>
            </a:r>
            <a:r>
              <a:rPr lang="es-MX" b="1" dirty="0" err="1"/>
              <a:t>overhead</a:t>
            </a:r>
            <a:br>
              <a:rPr lang="es-MX" dirty="0"/>
            </a:br>
            <a:r>
              <a:rPr lang="es-MX" dirty="0"/>
              <a:t>El usuario no tiene que decidir qué </a:t>
            </a:r>
            <a:r>
              <a:rPr lang="es-MX" dirty="0" err="1"/>
              <a:t>bot</a:t>
            </a:r>
            <a:r>
              <a:rPr lang="es-MX" dirty="0"/>
              <a:t>/agente usar.</a:t>
            </a:r>
          </a:p>
          <a:p>
            <a:r>
              <a:rPr lang="es-MX" b="1" dirty="0"/>
              <a:t>2. Cross-</a:t>
            </a:r>
            <a:r>
              <a:rPr lang="es-MX" b="1" dirty="0" err="1"/>
              <a:t>workflow</a:t>
            </a:r>
            <a:r>
              <a:rPr lang="es-MX" b="1" dirty="0"/>
              <a:t> </a:t>
            </a:r>
            <a:r>
              <a:rPr lang="es-MX" b="1" dirty="0" err="1"/>
              <a:t>continuity</a:t>
            </a:r>
            <a:br>
              <a:rPr lang="es-MX" dirty="0"/>
            </a:br>
            <a:r>
              <a:rPr lang="es-MX" dirty="0" err="1"/>
              <a:t>Gu</a:t>
            </a:r>
            <a:r>
              <a:rPr lang="es-MX" dirty="0"/>
              <a:t> puede continuar un mismo </a:t>
            </a:r>
            <a:r>
              <a:rPr lang="es-MX" dirty="0" err="1"/>
              <a:t>business</a:t>
            </a:r>
            <a:r>
              <a:rPr lang="es-MX" dirty="0"/>
              <a:t> case cuando cambia la naturaleza del trabajo.</a:t>
            </a:r>
          </a:p>
          <a:p>
            <a:r>
              <a:rPr lang="es-MX" b="1" dirty="0"/>
              <a:t>3. </a:t>
            </a:r>
            <a:r>
              <a:rPr lang="es-MX" b="1" dirty="0" err="1"/>
              <a:t>Objective-first</a:t>
            </a:r>
            <a:r>
              <a:rPr lang="es-MX" b="1" dirty="0"/>
              <a:t> </a:t>
            </a:r>
            <a:r>
              <a:rPr lang="es-MX" b="1" dirty="0" err="1"/>
              <a:t>orchestration</a:t>
            </a:r>
            <a:br>
              <a:rPr lang="es-MX" dirty="0"/>
            </a:br>
            <a:r>
              <a:rPr lang="es-MX" dirty="0"/>
              <a:t>La unidad organizadora puede ser el </a:t>
            </a:r>
            <a:r>
              <a:rPr lang="es-MX" b="1" dirty="0"/>
              <a:t>objetivo/case</a:t>
            </a:r>
            <a:r>
              <a:rPr lang="es-MX" dirty="0"/>
              <a:t>, no el departamento.</a:t>
            </a:r>
          </a:p>
          <a:p>
            <a:r>
              <a:rPr lang="es-MX" b="1" dirty="0"/>
              <a:t>4. Company-</a:t>
            </a:r>
            <a:r>
              <a:rPr lang="es-MX" b="1" dirty="0" err="1"/>
              <a:t>level</a:t>
            </a:r>
            <a:r>
              <a:rPr lang="es-MX" b="1" dirty="0"/>
              <a:t> </a:t>
            </a:r>
            <a:r>
              <a:rPr lang="es-MX" b="1" dirty="0" err="1"/>
              <a:t>context</a:t>
            </a:r>
            <a:br>
              <a:rPr lang="es-MX" dirty="0"/>
            </a:br>
            <a:r>
              <a:rPr lang="es-MX" dirty="0"/>
              <a:t>El mismo </a:t>
            </a:r>
            <a:r>
              <a:rPr lang="es-MX" dirty="0" err="1"/>
              <a:t>coworker</a:t>
            </a:r>
            <a:r>
              <a:rPr lang="es-MX" dirty="0"/>
              <a:t> puede interpretar información proveniente de distintas partes de la empresa dentro de un contexto común.</a:t>
            </a:r>
          </a:p>
          <a:p>
            <a:r>
              <a:rPr lang="es-MX" dirty="0"/>
              <a:t>Eso se acerca bastante más a nuestra idea de </a:t>
            </a:r>
            <a:r>
              <a:rPr lang="es-MX" b="1" dirty="0"/>
              <a:t>AI-native </a:t>
            </a:r>
            <a:r>
              <a:rPr lang="es-MX" b="1" dirty="0" err="1"/>
              <a:t>organization</a:t>
            </a:r>
            <a:r>
              <a:rPr lang="es-MX" dirty="0"/>
              <a:t> que simplemente digitalizar el organigrama humano con agentes.</a:t>
            </a:r>
          </a:p>
          <a:p>
            <a:endParaRPr lang="es-MX" dirty="0"/>
          </a:p>
          <a:p>
            <a:r>
              <a:rPr lang="es-MX" b="1" dirty="0"/>
              <a:t>Pero no vendería “one </a:t>
            </a:r>
            <a:r>
              <a:rPr lang="es-MX" b="1" dirty="0" err="1"/>
              <a:t>agent</a:t>
            </a:r>
            <a:r>
              <a:rPr lang="es-MX" b="1" dirty="0"/>
              <a:t>” como intrínsecamente superior</a:t>
            </a:r>
          </a:p>
          <a:p>
            <a:r>
              <a:rPr lang="es-MX" dirty="0"/>
              <a:t>También tiene riesgos.</a:t>
            </a:r>
          </a:p>
          <a:p>
            <a:r>
              <a:rPr lang="es-MX" dirty="0"/>
              <a:t>Un único </a:t>
            </a:r>
            <a:r>
              <a:rPr lang="es-MX" dirty="0" err="1"/>
              <a:t>Gu</a:t>
            </a:r>
            <a:r>
              <a:rPr lang="es-MX" dirty="0"/>
              <a:t> tiene que evitar convertirse en:</a:t>
            </a:r>
          </a:p>
          <a:p>
            <a:r>
              <a:rPr lang="es-MX" dirty="0"/>
              <a:t>“un superagente genérico que intenta hacer todo”.</a:t>
            </a:r>
          </a:p>
          <a:p>
            <a:r>
              <a:rPr lang="es-MX" dirty="0"/>
              <a:t>Para que funcione, </a:t>
            </a:r>
            <a:r>
              <a:rPr lang="es-MX" dirty="0" err="1"/>
              <a:t>Gu</a:t>
            </a:r>
            <a:r>
              <a:rPr lang="es-MX" dirty="0"/>
              <a:t> OS necesita resolver muy bien:</a:t>
            </a:r>
          </a:p>
          <a:p>
            <a:pPr marL="171450" lvl="0" indent="-171450">
              <a:buFont typeface="Arial" panose="020B0604020202020204" pitchFamily="34" charset="0"/>
              <a:buChar char="•"/>
            </a:pPr>
            <a:r>
              <a:rPr lang="es-MX" dirty="0" err="1"/>
              <a:t>routing</a:t>
            </a:r>
            <a:r>
              <a:rPr lang="es-MX" dirty="0"/>
              <a:t>; </a:t>
            </a:r>
          </a:p>
          <a:p>
            <a:pPr marL="171450" lvl="0" indent="-171450">
              <a:buFont typeface="Arial" panose="020B0604020202020204" pitchFamily="34" charset="0"/>
              <a:buChar char="•"/>
            </a:pPr>
            <a:r>
              <a:rPr lang="es-MX" dirty="0" err="1"/>
              <a:t>permissions</a:t>
            </a:r>
            <a:r>
              <a:rPr lang="es-MX" dirty="0"/>
              <a:t>; </a:t>
            </a:r>
          </a:p>
          <a:p>
            <a:pPr marL="171450" lvl="0" indent="-171450">
              <a:buFont typeface="Arial" panose="020B0604020202020204" pitchFamily="34" charset="0"/>
              <a:buChar char="•"/>
            </a:pPr>
            <a:r>
              <a:rPr lang="es-MX" dirty="0" err="1"/>
              <a:t>specialization</a:t>
            </a:r>
            <a:r>
              <a:rPr lang="es-MX" dirty="0"/>
              <a:t>; </a:t>
            </a:r>
          </a:p>
          <a:p>
            <a:pPr marL="171450" lvl="0" indent="-171450">
              <a:buFont typeface="Arial" panose="020B0604020202020204" pitchFamily="34" charset="0"/>
              <a:buChar char="•"/>
            </a:pPr>
            <a:r>
              <a:rPr lang="es-MX" dirty="0"/>
              <a:t>durable cases; </a:t>
            </a:r>
          </a:p>
          <a:p>
            <a:pPr marL="171450" lvl="0" indent="-171450">
              <a:buFont typeface="Arial" panose="020B0604020202020204" pitchFamily="34" charset="0"/>
              <a:buChar char="•"/>
            </a:pPr>
            <a:r>
              <a:rPr lang="es-MX" dirty="0" err="1"/>
              <a:t>tool</a:t>
            </a:r>
            <a:r>
              <a:rPr lang="es-MX" dirty="0"/>
              <a:t> </a:t>
            </a:r>
            <a:r>
              <a:rPr lang="es-MX" dirty="0" err="1"/>
              <a:t>selection</a:t>
            </a:r>
            <a:r>
              <a:rPr lang="es-MX" dirty="0"/>
              <a:t>; </a:t>
            </a:r>
          </a:p>
          <a:p>
            <a:pPr marL="171450" lvl="0" indent="-171450">
              <a:buFont typeface="Arial" panose="020B0604020202020204" pitchFamily="34" charset="0"/>
              <a:buChar char="•"/>
            </a:pPr>
            <a:r>
              <a:rPr lang="es-MX" dirty="0"/>
              <a:t>human </a:t>
            </a:r>
            <a:r>
              <a:rPr lang="es-MX" dirty="0" err="1"/>
              <a:t>authority</a:t>
            </a:r>
            <a:r>
              <a:rPr lang="es-MX" dirty="0"/>
              <a:t>; </a:t>
            </a:r>
          </a:p>
          <a:p>
            <a:pPr marL="171450" lvl="0" indent="-171450">
              <a:buFont typeface="Arial" panose="020B0604020202020204" pitchFamily="34" charset="0"/>
              <a:buChar char="•"/>
            </a:pPr>
            <a:r>
              <a:rPr lang="es-MX" dirty="0" err="1"/>
              <a:t>verification</a:t>
            </a:r>
            <a:r>
              <a:rPr lang="es-MX" dirty="0"/>
              <a:t>. </a:t>
            </a:r>
          </a:p>
          <a:p>
            <a:endParaRPr lang="es-MX" dirty="0"/>
          </a:p>
          <a:p>
            <a:r>
              <a:rPr lang="es-MX" dirty="0"/>
              <a:t>Es decir, </a:t>
            </a:r>
            <a:r>
              <a:rPr lang="es-MX" b="1" dirty="0"/>
              <a:t>la simplicidad externa exige sofisticación interna</a:t>
            </a:r>
            <a:r>
              <a:rPr lang="es-MX" dirty="0"/>
              <a:t>.</a:t>
            </a:r>
          </a:p>
          <a:p>
            <a:r>
              <a:rPr lang="es-MX" dirty="0"/>
              <a:t>Y ésa puede convertirse precisamente en parte del valor de </a:t>
            </a:r>
            <a:r>
              <a:rPr lang="es-MX" dirty="0" err="1"/>
              <a:t>Gu</a:t>
            </a:r>
            <a:r>
              <a:rPr lang="es-MX" dirty="0"/>
              <a:t> OS.</a:t>
            </a:r>
          </a:p>
          <a:p>
            <a:br>
              <a:rPr lang="es-MX" dirty="0"/>
            </a:br>
            <a:endParaRPr lang="es-MX" dirty="0"/>
          </a:p>
          <a:p>
            <a:r>
              <a:rPr lang="es-MX" b="1" dirty="0"/>
              <a:t>Creo que encontramos una distinción competitiva bastante buena</a:t>
            </a:r>
          </a:p>
          <a:p>
            <a:r>
              <a:rPr lang="es-MX" dirty="0"/>
              <a:t>Podríamos expresarla así:</a:t>
            </a:r>
          </a:p>
          <a:p>
            <a:r>
              <a:rPr lang="es-MX" b="1" dirty="0" err="1"/>
              <a:t>Specialized-agent</a:t>
            </a:r>
            <a:r>
              <a:rPr lang="es-MX" b="1" dirty="0"/>
              <a:t> </a:t>
            </a:r>
            <a:r>
              <a:rPr lang="es-MX" b="1" dirty="0" err="1"/>
              <a:t>model</a:t>
            </a:r>
            <a:endParaRPr lang="es-MX" b="1" dirty="0"/>
          </a:p>
          <a:p>
            <a:r>
              <a:rPr lang="es-MX" b="1" dirty="0" err="1"/>
              <a:t>Organize</a:t>
            </a:r>
            <a:r>
              <a:rPr lang="es-MX" b="1" dirty="0"/>
              <a:t> AI </a:t>
            </a:r>
            <a:r>
              <a:rPr lang="es-MX" b="1" dirty="0" err="1"/>
              <a:t>around</a:t>
            </a:r>
            <a:r>
              <a:rPr lang="es-MX" b="1" dirty="0"/>
              <a:t> </a:t>
            </a:r>
            <a:r>
              <a:rPr lang="es-MX" b="1" dirty="0" err="1"/>
              <a:t>functions</a:t>
            </a:r>
            <a:r>
              <a:rPr lang="es-MX" b="1" dirty="0"/>
              <a:t>.</a:t>
            </a:r>
            <a:endParaRPr lang="es-MX" dirty="0"/>
          </a:p>
          <a:p>
            <a:r>
              <a:rPr lang="es-MX" b="1" dirty="0" err="1"/>
              <a:t>Gu</a:t>
            </a:r>
            <a:r>
              <a:rPr lang="es-MX" b="1" dirty="0"/>
              <a:t> / </a:t>
            </a:r>
            <a:r>
              <a:rPr lang="es-MX" b="1" dirty="0" err="1"/>
              <a:t>Gu</a:t>
            </a:r>
            <a:r>
              <a:rPr lang="es-MX" b="1" dirty="0"/>
              <a:t> OS</a:t>
            </a:r>
          </a:p>
          <a:p>
            <a:r>
              <a:rPr lang="es-MX" b="1" dirty="0" err="1"/>
              <a:t>Organize</a:t>
            </a:r>
            <a:r>
              <a:rPr lang="es-MX" b="1" dirty="0"/>
              <a:t> AI </a:t>
            </a:r>
            <a:r>
              <a:rPr lang="es-MX" b="1" dirty="0" err="1"/>
              <a:t>around</a:t>
            </a:r>
            <a:r>
              <a:rPr lang="es-MX" b="1" dirty="0"/>
              <a:t> </a:t>
            </a:r>
            <a:r>
              <a:rPr lang="es-MX" b="1" dirty="0" err="1"/>
              <a:t>business</a:t>
            </a:r>
            <a:r>
              <a:rPr lang="es-MX" b="1" dirty="0"/>
              <a:t> </a:t>
            </a:r>
            <a:r>
              <a:rPr lang="es-MX" b="1" dirty="0" err="1"/>
              <a:t>objectives</a:t>
            </a:r>
            <a:r>
              <a:rPr lang="es-MX" b="1" dirty="0"/>
              <a:t> and </a:t>
            </a:r>
            <a:r>
              <a:rPr lang="es-MX" b="1" dirty="0" err="1"/>
              <a:t>end-to-end</a:t>
            </a:r>
            <a:r>
              <a:rPr lang="es-MX" b="1" dirty="0"/>
              <a:t> </a:t>
            </a:r>
            <a:r>
              <a:rPr lang="es-MX" b="1" dirty="0" err="1"/>
              <a:t>work</a:t>
            </a:r>
            <a:r>
              <a:rPr lang="es-MX" b="1" dirty="0"/>
              <a:t>.</a:t>
            </a:r>
            <a:endParaRPr lang="es-MX" dirty="0"/>
          </a:p>
          <a:p>
            <a:r>
              <a:rPr lang="es-MX" dirty="0"/>
              <a:t>O todavía más provocador:</a:t>
            </a:r>
          </a:p>
          <a:p>
            <a:r>
              <a:rPr lang="es-MX" b="1" dirty="0" err="1"/>
              <a:t>Others</a:t>
            </a:r>
            <a:r>
              <a:rPr lang="es-MX" b="1" dirty="0"/>
              <a:t> </a:t>
            </a:r>
            <a:r>
              <a:rPr lang="es-MX" b="1" dirty="0" err="1"/>
              <a:t>may</a:t>
            </a:r>
            <a:r>
              <a:rPr lang="es-MX" b="1" dirty="0"/>
              <a:t> </a:t>
            </a:r>
            <a:r>
              <a:rPr lang="es-MX" b="1" dirty="0" err="1"/>
              <a:t>digitize</a:t>
            </a:r>
            <a:r>
              <a:rPr lang="es-MX" b="1" dirty="0"/>
              <a:t> the </a:t>
            </a:r>
            <a:r>
              <a:rPr lang="es-MX" b="1" dirty="0" err="1"/>
              <a:t>org</a:t>
            </a:r>
            <a:r>
              <a:rPr lang="es-MX" b="1" dirty="0"/>
              <a:t> chart </a:t>
            </a:r>
            <a:r>
              <a:rPr lang="es-MX" b="1" dirty="0" err="1"/>
              <a:t>with</a:t>
            </a:r>
            <a:r>
              <a:rPr lang="es-MX" b="1" dirty="0"/>
              <a:t> AI </a:t>
            </a:r>
            <a:r>
              <a:rPr lang="es-MX" b="1" dirty="0" err="1"/>
              <a:t>agents</a:t>
            </a:r>
            <a:r>
              <a:rPr lang="es-MX" b="1" dirty="0"/>
              <a:t>. </a:t>
            </a:r>
            <a:r>
              <a:rPr lang="es-MX" b="1" dirty="0" err="1"/>
              <a:t>Gu</a:t>
            </a:r>
            <a:r>
              <a:rPr lang="es-MX" b="1" dirty="0"/>
              <a:t> OS </a:t>
            </a:r>
            <a:r>
              <a:rPr lang="es-MX" b="1" dirty="0" err="1"/>
              <a:t>aims</a:t>
            </a:r>
            <a:r>
              <a:rPr lang="es-MX" b="1" dirty="0"/>
              <a:t> </a:t>
            </a:r>
            <a:r>
              <a:rPr lang="es-MX" b="1" dirty="0" err="1"/>
              <a:t>to</a:t>
            </a:r>
            <a:r>
              <a:rPr lang="es-MX" b="1" dirty="0"/>
              <a:t> </a:t>
            </a:r>
            <a:r>
              <a:rPr lang="es-MX" b="1" dirty="0" err="1"/>
              <a:t>organize</a:t>
            </a:r>
            <a:r>
              <a:rPr lang="es-MX" b="1" dirty="0"/>
              <a:t> AI </a:t>
            </a:r>
            <a:r>
              <a:rPr lang="es-MX" b="1" dirty="0" err="1"/>
              <a:t>around</a:t>
            </a:r>
            <a:r>
              <a:rPr lang="es-MX" b="1" dirty="0"/>
              <a:t> the </a:t>
            </a:r>
            <a:r>
              <a:rPr lang="es-MX" b="1" dirty="0" err="1"/>
              <a:t>work</a:t>
            </a:r>
            <a:r>
              <a:rPr lang="es-MX" b="1" dirty="0"/>
              <a:t> </a:t>
            </a:r>
            <a:r>
              <a:rPr lang="es-MX" b="1" dirty="0" err="1"/>
              <a:t>itself</a:t>
            </a:r>
            <a:r>
              <a:rPr lang="es-MX" b="1" dirty="0"/>
              <a:t>.</a:t>
            </a:r>
            <a:endParaRPr lang="es-MX" dirty="0"/>
          </a:p>
          <a:p>
            <a:r>
              <a:rPr lang="es-MX" dirty="0"/>
              <a:t>Esta última me gusta mucho conceptualmente, aunque yo la usaría con cuidado porque no debemos afirmar que </a:t>
            </a:r>
            <a:r>
              <a:rPr lang="es-MX" dirty="0" err="1"/>
              <a:t>Uniti</a:t>
            </a:r>
            <a:r>
              <a:rPr lang="es-MX" dirty="0"/>
              <a:t> </a:t>
            </a:r>
            <a:r>
              <a:rPr lang="es-MX" i="1" dirty="0"/>
              <a:t>sólo</a:t>
            </a:r>
            <a:r>
              <a:rPr lang="es-MX" dirty="0"/>
              <a:t> replica el organigrama; eso sería una inferencia excesiva a partir de su </a:t>
            </a:r>
            <a:r>
              <a:rPr lang="es-MX" dirty="0" err="1"/>
              <a:t>packaging</a:t>
            </a:r>
            <a:r>
              <a:rPr lang="es-MX" dirty="0"/>
              <a:t> público. </a:t>
            </a:r>
            <a:r>
              <a:rPr lang="es-MX" dirty="0" err="1"/>
              <a:t>Uniti</a:t>
            </a:r>
            <a:r>
              <a:rPr lang="es-MX" dirty="0"/>
              <a:t> sí muestra coordinación e infraestructura compartida entre sus agentes. </a:t>
            </a:r>
          </a:p>
          <a:p>
            <a:r>
              <a:rPr lang="es-MX" dirty="0"/>
              <a:t>Pero como </a:t>
            </a:r>
            <a:r>
              <a:rPr lang="es-MX" b="1" dirty="0"/>
              <a:t>filosofía de producto de Ungga</a:t>
            </a:r>
            <a:r>
              <a:rPr lang="es-MX" dirty="0"/>
              <a:t>, me parece una idea muy poderosa:</a:t>
            </a:r>
          </a:p>
          <a:p>
            <a:r>
              <a:rPr lang="es-MX" b="1" dirty="0"/>
              <a:t>Not a </a:t>
            </a:r>
            <a:r>
              <a:rPr lang="es-MX" b="1" dirty="0" err="1"/>
              <a:t>collection</a:t>
            </a:r>
            <a:r>
              <a:rPr lang="es-MX" b="1" dirty="0"/>
              <a:t> </a:t>
            </a:r>
            <a:r>
              <a:rPr lang="es-MX" b="1" dirty="0" err="1"/>
              <a:t>of</a:t>
            </a:r>
            <a:r>
              <a:rPr lang="es-MX" b="1" dirty="0"/>
              <a:t> digital </a:t>
            </a:r>
            <a:r>
              <a:rPr lang="es-MX" b="1" dirty="0" err="1"/>
              <a:t>departments</a:t>
            </a:r>
            <a:r>
              <a:rPr lang="es-MX" b="1" dirty="0"/>
              <a:t>. One AI </a:t>
            </a:r>
            <a:r>
              <a:rPr lang="es-MX" b="1" dirty="0" err="1"/>
              <a:t>coworker</a:t>
            </a:r>
            <a:r>
              <a:rPr lang="es-MX" b="1" dirty="0"/>
              <a:t> </a:t>
            </a:r>
            <a:r>
              <a:rPr lang="es-MX" b="1" dirty="0" err="1"/>
              <a:t>that</a:t>
            </a:r>
            <a:r>
              <a:rPr lang="es-MX" b="1" dirty="0"/>
              <a:t> can </a:t>
            </a:r>
            <a:r>
              <a:rPr lang="es-MX" b="1" dirty="0" err="1"/>
              <a:t>coordinate</a:t>
            </a:r>
            <a:r>
              <a:rPr lang="es-MX" b="1" dirty="0"/>
              <a:t> </a:t>
            </a:r>
            <a:r>
              <a:rPr lang="es-MX" b="1" dirty="0" err="1"/>
              <a:t>work</a:t>
            </a:r>
            <a:r>
              <a:rPr lang="es-MX" b="1" dirty="0"/>
              <a:t> </a:t>
            </a:r>
            <a:r>
              <a:rPr lang="es-MX" b="1" dirty="0" err="1"/>
              <a:t>across</a:t>
            </a:r>
            <a:r>
              <a:rPr lang="es-MX" b="1" dirty="0"/>
              <a:t> the </a:t>
            </a:r>
            <a:r>
              <a:rPr lang="es-MX" b="1" dirty="0" err="1"/>
              <a:t>company</a:t>
            </a:r>
            <a:r>
              <a:rPr lang="es-MX" b="1" dirty="0"/>
              <a:t>.</a:t>
            </a:r>
            <a:endParaRPr lang="es-MX" dirty="0"/>
          </a:p>
          <a:p>
            <a:r>
              <a:rPr lang="es-MX" dirty="0"/>
              <a:t>Y sí: creo que eso conecta de forma muy natural </a:t>
            </a:r>
            <a:r>
              <a:rPr lang="es-MX" b="1" dirty="0"/>
              <a:t>One </a:t>
            </a:r>
            <a:r>
              <a:rPr lang="es-MX" b="1" dirty="0" err="1"/>
              <a:t>Gu</a:t>
            </a:r>
            <a:r>
              <a:rPr lang="es-MX" b="1" dirty="0"/>
              <a:t> </a:t>
            </a:r>
            <a:r>
              <a:rPr lang="es-MX" b="1" dirty="0" err="1"/>
              <a:t>experience</a:t>
            </a:r>
            <a:r>
              <a:rPr lang="es-MX" b="1" dirty="0"/>
              <a:t> + </a:t>
            </a:r>
            <a:r>
              <a:rPr lang="es-MX" b="1" dirty="0" err="1"/>
              <a:t>dynamic</a:t>
            </a:r>
            <a:r>
              <a:rPr lang="es-MX" b="1" dirty="0"/>
              <a:t> </a:t>
            </a:r>
            <a:r>
              <a:rPr lang="es-MX" b="1" dirty="0" err="1"/>
              <a:t>workflows</a:t>
            </a:r>
            <a:r>
              <a:rPr lang="es-MX" b="1" dirty="0"/>
              <a:t> + durable cases + </a:t>
            </a:r>
            <a:r>
              <a:rPr lang="es-MX" b="1" dirty="0" err="1"/>
              <a:t>Gu</a:t>
            </a:r>
            <a:r>
              <a:rPr lang="es-MX" b="1" dirty="0"/>
              <a:t> OS + Business Brain</a:t>
            </a:r>
            <a:r>
              <a:rPr lang="es-MX" dirty="0"/>
              <a:t> en una sola tesis.</a:t>
            </a:r>
          </a:p>
          <a:p>
            <a:endParaRPr lang="es-MX" dirty="0"/>
          </a:p>
        </p:txBody>
      </p:sp>
    </p:spTree>
    <p:extLst>
      <p:ext uri="{BB962C8B-B14F-4D97-AF65-F5344CB8AC3E}">
        <p14:creationId xmlns:p14="http://schemas.microsoft.com/office/powerpoint/2010/main" val="3124737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GGA_LIGHT">
    <p:bg>
      <p:bgPr>
        <a:solidFill>
          <a:srgbClr val="FBFA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5B2DB6"/>
          </a:solidFill>
          <a:ln w="12700">
            <a:solidFill>
              <a:srgbClr val="5B2DB6"/>
            </a:solidFill>
            <a:prstDash val="solid"/>
          </a:ln>
        </p:spPr>
        <p:txBody>
          <a:bodyPr/>
          <a:lstStyle/>
          <a:p>
            <a:endParaRPr lang="es-MX"/>
          </a:p>
        </p:txBody>
      </p:sp>
      <p:sp>
        <p:nvSpPr>
          <p:cNvPr id="3" name="Text 1"/>
          <p:cNvSpPr/>
          <p:nvPr/>
        </p:nvSpPr>
        <p:spPr>
          <a:xfrm>
            <a:off x="566928" y="6537960"/>
            <a:ext cx="1097280" cy="164592"/>
          </a:xfrm>
          <a:prstGeom prst="rect">
            <a:avLst/>
          </a:prstGeom>
          <a:noFill/>
          <a:ln/>
        </p:spPr>
        <p:txBody>
          <a:bodyPr wrap="square" lIns="0" tIns="0" rIns="0" bIns="0" rtlCol="0" anchor="ctr"/>
          <a:lstStyle/>
          <a:p>
            <a:pPr marL="0" indent="0">
              <a:buNone/>
            </a:pPr>
            <a:r>
              <a:rPr lang="en-US" sz="750" kern="0" spc="120" dirty="0">
                <a:solidFill>
                  <a:srgbClr val="8D86A0"/>
                </a:solidFill>
                <a:latin typeface="Inter" pitchFamily="34" charset="0"/>
                <a:ea typeface="Inter" pitchFamily="34" charset="-122"/>
                <a:cs typeface="Inter" pitchFamily="34" charset="-120"/>
              </a:rPr>
              <a:t>CONFIDENTIAL</a:t>
            </a:r>
            <a:endParaRPr lang="en-US" sz="750" dirty="0"/>
          </a:p>
        </p:txBody>
      </p:sp>
      <p:sp>
        <p:nvSpPr>
          <p:cNvPr id="4" name="Text 2"/>
          <p:cNvSpPr/>
          <p:nvPr/>
        </p:nvSpPr>
        <p:spPr>
          <a:xfrm>
            <a:off x="10561320" y="6510528"/>
            <a:ext cx="914400" cy="182880"/>
          </a:xfrm>
          <a:prstGeom prst="rect">
            <a:avLst/>
          </a:prstGeom>
          <a:noFill/>
          <a:ln/>
        </p:spPr>
        <p:txBody>
          <a:bodyPr wrap="square" lIns="0" tIns="0" rIns="0" bIns="0" rtlCol="0" anchor="ctr"/>
          <a:lstStyle/>
          <a:p>
            <a:pPr marL="0" indent="0" algn="r">
              <a:buNone/>
            </a:pPr>
            <a:r>
              <a:rPr lang="en-US" sz="800" dirty="0">
                <a:solidFill>
                  <a:srgbClr val="8D86A0"/>
                </a:solidFill>
                <a:latin typeface="Inter" pitchFamily="34" charset="0"/>
                <a:ea typeface="Inter" pitchFamily="34" charset="-122"/>
                <a:cs typeface="Inter" pitchFamily="34" charset="-120"/>
              </a:rPr>
              <a:t>ungga.com</a:t>
            </a:r>
            <a:endParaRPr lang="en-US" sz="800" dirty="0"/>
          </a:p>
        </p:txBody>
      </p:sp>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NGGA_DARK">
    <p:bg>
      <p:bgPr>
        <a:solidFill>
          <a:srgbClr val="1A1231"/>
        </a:solidFill>
        <a:effectLst/>
      </p:bgPr>
    </p:bg>
    <p:spTree>
      <p:nvGrpSpPr>
        <p:cNvPr id="1" name=""/>
        <p:cNvGrpSpPr/>
        <p:nvPr/>
      </p:nvGrpSpPr>
      <p:grpSpPr>
        <a:xfrm>
          <a:off x="0" y="0"/>
          <a:ext cx="0" cy="0"/>
          <a:chOff x="0" y="0"/>
          <a:chExt cx="0" cy="0"/>
        </a:xfrm>
      </p:grpSpPr>
      <p:sp>
        <p:nvSpPr>
          <p:cNvPr id="2" name="Text 0"/>
          <p:cNvSpPr/>
          <p:nvPr/>
        </p:nvSpPr>
        <p:spPr>
          <a:xfrm>
            <a:off x="566928" y="6537960"/>
            <a:ext cx="1097280" cy="164592"/>
          </a:xfrm>
          <a:prstGeom prst="rect">
            <a:avLst/>
          </a:prstGeom>
          <a:noFill/>
          <a:ln/>
        </p:spPr>
        <p:txBody>
          <a:bodyPr wrap="square" lIns="0" tIns="0" rIns="0" bIns="0" rtlCol="0" anchor="ctr"/>
          <a:lstStyle/>
          <a:p>
            <a:pPr marL="0" indent="0">
              <a:buNone/>
            </a:pPr>
            <a:r>
              <a:rPr lang="en-US" sz="750" kern="0" spc="120" dirty="0">
                <a:solidFill>
                  <a:srgbClr val="BFB5D8"/>
                </a:solidFill>
                <a:latin typeface="Inter" pitchFamily="34" charset="0"/>
                <a:ea typeface="Inter" pitchFamily="34" charset="-122"/>
                <a:cs typeface="Inter" pitchFamily="34" charset="-120"/>
              </a:rPr>
              <a:t>CONFIDENTIAL</a:t>
            </a:r>
            <a:endParaRPr lang="en-US" sz="750" dirty="0"/>
          </a:p>
        </p:txBody>
      </p:sp>
      <p:sp>
        <p:nvSpPr>
          <p:cNvPr id="3" name="Text 1"/>
          <p:cNvSpPr/>
          <p:nvPr/>
        </p:nvSpPr>
        <p:spPr>
          <a:xfrm>
            <a:off x="10561320" y="6510528"/>
            <a:ext cx="914400" cy="182880"/>
          </a:xfrm>
          <a:prstGeom prst="rect">
            <a:avLst/>
          </a:prstGeom>
          <a:noFill/>
          <a:ln/>
        </p:spPr>
        <p:txBody>
          <a:bodyPr wrap="square" lIns="0" tIns="0" rIns="0" bIns="0" rtlCol="0" anchor="ctr"/>
          <a:lstStyle/>
          <a:p>
            <a:pPr marL="0" indent="0" algn="r">
              <a:buNone/>
            </a:pPr>
            <a:r>
              <a:rPr lang="en-US" sz="800" dirty="0">
                <a:solidFill>
                  <a:srgbClr val="BFB5D8"/>
                </a:solidFill>
                <a:latin typeface="Inter" pitchFamily="34" charset="0"/>
                <a:ea typeface="Inter" pitchFamily="34" charset="-122"/>
                <a:cs typeface="Inter" pitchFamily="34" charset="-120"/>
              </a:rPr>
              <a:t>ungga.com</a:t>
            </a:r>
            <a:endParaRPr lang="en-US" sz="800" dirty="0"/>
          </a:p>
        </p:txBody>
      </p:sp>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BFB5D8"/>
                </a:solidFill>
                <a:latin typeface="Inter"/>
                <a:ea typeface="Inter"/>
                <a:cs typeface="Inter"/>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MX" smtClean="0"/>
              <a:pPr algn="r"/>
              <a:t>‹Nº›</a:t>
            </a:fld>
            <a:endParaRPr lang="es-MX"/>
          </a:p>
        </p:txBody>
      </p:sp>
    </p:spTree>
    <p:extLst>
      <p:ext uri="{BB962C8B-B14F-4D97-AF65-F5344CB8AC3E}">
        <p14:creationId xmlns:p14="http://schemas.microsoft.com/office/powerpoint/2010/main" val="2742338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361008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ungga.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498080" y="0"/>
            <a:ext cx="4846320" cy="4846320"/>
          </a:xfrm>
          <a:prstGeom prst="ellipse">
            <a:avLst/>
          </a:prstGeom>
          <a:solidFill>
            <a:srgbClr val="5B2DB6">
              <a:alpha val="80000"/>
            </a:srgbClr>
          </a:solidFill>
          <a:ln w="12700">
            <a:solidFill>
              <a:srgbClr val="FFFFFF">
                <a:alpha val="0"/>
              </a:srgbClr>
            </a:solidFill>
            <a:prstDash val="solid"/>
          </a:ln>
        </p:spPr>
        <p:txBody>
          <a:bodyPr/>
          <a:lstStyle/>
          <a:p>
            <a:endParaRPr lang="es-MX"/>
          </a:p>
        </p:txBody>
      </p:sp>
      <p:sp>
        <p:nvSpPr>
          <p:cNvPr id="3" name="Shape 1"/>
          <p:cNvSpPr/>
          <p:nvPr/>
        </p:nvSpPr>
        <p:spPr>
          <a:xfrm>
            <a:off x="8321040" y="502920"/>
            <a:ext cx="3657600" cy="3657600"/>
          </a:xfrm>
          <a:prstGeom prst="ellipse">
            <a:avLst/>
          </a:prstGeom>
          <a:solidFill>
            <a:srgbClr val="8B5CF6">
              <a:alpha val="58000"/>
            </a:srgbClr>
          </a:solidFill>
          <a:ln w="12700">
            <a:solidFill>
              <a:srgbClr val="FFFFFF">
                <a:alpha val="0"/>
              </a:srgbClr>
            </a:solidFill>
            <a:prstDash val="solid"/>
          </a:ln>
        </p:spPr>
        <p:txBody>
          <a:bodyPr/>
          <a:lstStyle/>
          <a:p>
            <a:endParaRPr lang="es-MX"/>
          </a:p>
        </p:txBody>
      </p:sp>
      <p:pic>
        <p:nvPicPr>
          <p:cNvPr id="4" name="Image 0" descr="/mnt/data/ungga_logo_white.png"/>
          <p:cNvPicPr>
            <a:picLocks noChangeAspect="1"/>
          </p:cNvPicPr>
          <p:nvPr/>
        </p:nvPicPr>
        <p:blipFill>
          <a:blip r:embed="rId3"/>
          <a:stretch>
            <a:fillRect/>
          </a:stretch>
        </p:blipFill>
        <p:spPr>
          <a:xfrm>
            <a:off x="781529" y="502920"/>
            <a:ext cx="988118" cy="822960"/>
          </a:xfrm>
          <a:prstGeom prst="rect">
            <a:avLst/>
          </a:prstGeom>
        </p:spPr>
      </p:pic>
      <p:sp>
        <p:nvSpPr>
          <p:cNvPr id="7" name="Text 4"/>
          <p:cNvSpPr txBox="1"/>
          <p:nvPr/>
        </p:nvSpPr>
        <p:spPr>
          <a:xfrm>
            <a:off x="676656" y="1901952"/>
            <a:ext cx="6949440" cy="1481328"/>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FFFFFF"/>
                </a:solidFill>
                <a:latin typeface="Aptos" panose="020B0004020202020204" pitchFamily="34" charset="0"/>
                <a:ea typeface="Inter Display" pitchFamily="34" charset="-122"/>
                <a:cs typeface="Inter Display" pitchFamily="34" charset="-120"/>
              </a:rPr>
              <a:t>The AI Operating System</a:t>
            </a:r>
            <a:endParaRPr lang="en-US" sz="3500" dirty="0">
              <a:latin typeface="Aptos" panose="020B0004020202020204" pitchFamily="34" charset="0"/>
            </a:endParaRPr>
          </a:p>
          <a:p>
            <a:pPr marL="0" indent="0" algn="l">
              <a:lnSpc>
                <a:spcPct val="100000"/>
              </a:lnSpc>
              <a:buNone/>
            </a:pPr>
            <a:r>
              <a:rPr lang="en-US" sz="3500" b="1" dirty="0">
                <a:solidFill>
                  <a:srgbClr val="FFFFFF"/>
                </a:solidFill>
                <a:latin typeface="Aptos" panose="020B0004020202020204" pitchFamily="34" charset="0"/>
                <a:ea typeface="Inter Display" pitchFamily="34" charset="-122"/>
                <a:cs typeface="Inter Display" pitchFamily="34" charset="-120"/>
              </a:rPr>
              <a:t>for Real Estate</a:t>
            </a:r>
            <a:endParaRPr lang="en-US" sz="3500" dirty="0">
              <a:latin typeface="Aptos" panose="020B0004020202020204" pitchFamily="34" charset="0"/>
            </a:endParaRPr>
          </a:p>
        </p:txBody>
      </p:sp>
      <p:sp>
        <p:nvSpPr>
          <p:cNvPr id="8" name="Text 5"/>
          <p:cNvSpPr txBox="1"/>
          <p:nvPr/>
        </p:nvSpPr>
        <p:spPr>
          <a:xfrm>
            <a:off x="694944" y="3255802"/>
            <a:ext cx="5748887" cy="841248"/>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DED7EC"/>
                </a:solidFill>
                <a:latin typeface="Aptos" panose="020B0004020202020204" pitchFamily="34" charset="0"/>
                <a:ea typeface="Inter" pitchFamily="34" charset="-122"/>
                <a:cs typeface="Inter" pitchFamily="34" charset="-120"/>
              </a:rPr>
              <a:t>With Gu as the AI coworker that helps real-estate teams understand what’s happening, make better decisions, and get work done</a:t>
            </a:r>
            <a:r>
              <a:rPr lang="en-US" sz="1500" dirty="0">
                <a:solidFill>
                  <a:srgbClr val="DED7EC"/>
                </a:solidFill>
                <a:latin typeface="Inter" pitchFamily="34" charset="0"/>
                <a:ea typeface="Inter" pitchFamily="34" charset="-122"/>
                <a:cs typeface="Inter" pitchFamily="34" charset="-120"/>
              </a:rPr>
              <a:t>.</a:t>
            </a:r>
            <a:endParaRPr lang="en-US" sz="1500" dirty="0"/>
          </a:p>
        </p:txBody>
      </p:sp>
      <p:sp>
        <p:nvSpPr>
          <p:cNvPr id="9" name="Text 6"/>
          <p:cNvSpPr txBox="1"/>
          <p:nvPr/>
        </p:nvSpPr>
        <p:spPr>
          <a:xfrm>
            <a:off x="694944" y="4127189"/>
            <a:ext cx="5394960" cy="457200"/>
          </a:xfrm>
          <a:prstGeom prst="rect">
            <a:avLst/>
          </a:prstGeom>
          <a:noFill/>
          <a:ln/>
        </p:spPr>
        <p:txBody>
          <a:bodyPr wrap="square" lIns="0" tIns="0" rIns="0" bIns="0" rtlCol="0" anchor="ctr">
            <a:normAutofit/>
          </a:bodyPr>
          <a:lstStyle/>
          <a:p>
            <a:pPr marL="0" indent="0" algn="l">
              <a:lnSpc>
                <a:spcPct val="100000"/>
              </a:lnSpc>
              <a:buNone/>
            </a:pPr>
            <a:r>
              <a:rPr lang="en-US" sz="1900" b="1" dirty="0">
                <a:solidFill>
                  <a:srgbClr val="D6C4FF"/>
                </a:solidFill>
                <a:latin typeface="Aptos" panose="020B0004020202020204" pitchFamily="34" charset="0"/>
                <a:ea typeface="Inter Display" pitchFamily="34" charset="-122"/>
                <a:cs typeface="Inter Display" pitchFamily="34" charset="-120"/>
              </a:rPr>
              <a:t>Humans lead. Gu gets work done.</a:t>
            </a:r>
            <a:endParaRPr lang="en-US" sz="1900" dirty="0">
              <a:latin typeface="Aptos" panose="020B0004020202020204" pitchFamily="34" charset="0"/>
            </a:endParaRPr>
          </a:p>
        </p:txBody>
      </p:sp>
      <p:pic>
        <p:nvPicPr>
          <p:cNvPr id="10" name="Image 1" descr="/mnt/data/gu_current.png"/>
          <p:cNvPicPr>
            <a:picLocks noChangeAspect="1"/>
          </p:cNvPicPr>
          <p:nvPr/>
        </p:nvPicPr>
        <p:blipFill>
          <a:blip r:embed="rId4"/>
          <a:stretch>
            <a:fillRect/>
          </a:stretch>
        </p:blipFill>
        <p:spPr>
          <a:xfrm>
            <a:off x="6995160" y="1001268"/>
            <a:ext cx="4892040" cy="4892040"/>
          </a:xfrm>
          <a:prstGeom prst="rect">
            <a:avLst/>
          </a:prstGeom>
        </p:spPr>
      </p:pic>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BFB5D8"/>
                </a:solidFill>
                <a:latin typeface="Inter"/>
                <a:ea typeface="Inter"/>
                <a:cs typeface="Inter"/>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THE PAIN</a:t>
            </a:r>
            <a:endParaRPr lang="en-US" sz="950" dirty="0"/>
          </a:p>
        </p:txBody>
      </p:sp>
      <p:sp>
        <p:nvSpPr>
          <p:cNvPr id="5" name="Shape 2"/>
          <p:cNvSpPr/>
          <p:nvPr/>
        </p:nvSpPr>
        <p:spPr>
          <a:xfrm>
            <a:off x="566928" y="1795780"/>
            <a:ext cx="5358384" cy="4315968"/>
          </a:xfrm>
          <a:prstGeom prst="roundRect">
            <a:avLst>
              <a:gd name="adj" fmla="val 2542"/>
            </a:avLst>
          </a:prstGeom>
          <a:solidFill>
            <a:srgbClr val="FFFFFF"/>
          </a:solidFill>
          <a:ln w="12700">
            <a:solidFill>
              <a:srgbClr val="E4DDEF"/>
            </a:solidFill>
            <a:prstDash val="solid"/>
          </a:ln>
          <a:effectLst>
            <a:outerShdw blurRad="19050" dist="50800" dir="2700000" algn="bl" rotWithShape="0">
              <a:srgbClr val="C6BCD8">
                <a:alpha val="16000"/>
              </a:srgbClr>
            </a:outerShdw>
          </a:effectLst>
        </p:spPr>
        <p:txBody>
          <a:bodyPr/>
          <a:lstStyle/>
          <a:p>
            <a:endParaRPr lang="es-MX"/>
          </a:p>
        </p:txBody>
      </p:sp>
      <p:sp>
        <p:nvSpPr>
          <p:cNvPr id="6" name="Shape 3"/>
          <p:cNvSpPr/>
          <p:nvPr/>
        </p:nvSpPr>
        <p:spPr>
          <a:xfrm>
            <a:off x="6103835" y="1795780"/>
            <a:ext cx="5657233" cy="4315968"/>
          </a:xfrm>
          <a:prstGeom prst="roundRect">
            <a:avLst>
              <a:gd name="adj" fmla="val 2542"/>
            </a:avLst>
          </a:prstGeom>
          <a:solidFill>
            <a:srgbClr val="FFFFFF"/>
          </a:solidFill>
          <a:ln w="12700">
            <a:solidFill>
              <a:srgbClr val="E4DDEF"/>
            </a:solidFill>
            <a:prstDash val="solid"/>
          </a:ln>
          <a:effectLst>
            <a:outerShdw blurRad="19050" dist="50800" dir="2700000" algn="bl" rotWithShape="0">
              <a:srgbClr val="C6BCD8">
                <a:alpha val="16000"/>
              </a:srgbClr>
            </a:outerShdw>
          </a:effectLst>
        </p:spPr>
        <p:txBody>
          <a:bodyPr/>
          <a:lstStyle/>
          <a:p>
            <a:endParaRPr lang="es-MX"/>
          </a:p>
        </p:txBody>
      </p:sp>
      <p:sp>
        <p:nvSpPr>
          <p:cNvPr id="7" name="Shape 4"/>
          <p:cNvSpPr/>
          <p:nvPr/>
        </p:nvSpPr>
        <p:spPr>
          <a:xfrm>
            <a:off x="832104" y="2042668"/>
            <a:ext cx="1627632"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a:p>
        </p:txBody>
      </p:sp>
      <p:sp>
        <p:nvSpPr>
          <p:cNvPr id="9" name="Text 6"/>
          <p:cNvSpPr txBox="1"/>
          <p:nvPr/>
        </p:nvSpPr>
        <p:spPr>
          <a:xfrm>
            <a:off x="841248" y="2518156"/>
            <a:ext cx="4572000" cy="713232"/>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8152B"/>
                </a:solidFill>
                <a:latin typeface="Aptos" panose="020B0004020202020204" pitchFamily="34" charset="0"/>
                <a:ea typeface="Inter Display" pitchFamily="34" charset="-122"/>
                <a:cs typeface="Inter Display" pitchFamily="34" charset="-120"/>
              </a:rPr>
              <a:t>Enough qualified opportunities are hard to generate predictably.</a:t>
            </a:r>
            <a:endParaRPr lang="en-US" sz="2000" dirty="0">
              <a:latin typeface="Aptos" panose="020B0004020202020204" pitchFamily="34" charset="0"/>
            </a:endParaRPr>
          </a:p>
        </p:txBody>
      </p:sp>
      <p:sp>
        <p:nvSpPr>
          <p:cNvPr id="10" name="Shape 7"/>
          <p:cNvSpPr/>
          <p:nvPr/>
        </p:nvSpPr>
        <p:spPr>
          <a:xfrm>
            <a:off x="914400" y="3450844"/>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11" name="Text 8"/>
          <p:cNvSpPr txBox="1"/>
          <p:nvPr/>
        </p:nvSpPr>
        <p:spPr>
          <a:xfrm>
            <a:off x="914400" y="3455416"/>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Portals</a:t>
            </a:r>
            <a:endParaRPr lang="en-US" sz="1400" dirty="0"/>
          </a:p>
        </p:txBody>
      </p:sp>
      <p:sp>
        <p:nvSpPr>
          <p:cNvPr id="12" name="Shape 9"/>
          <p:cNvSpPr/>
          <p:nvPr/>
        </p:nvSpPr>
        <p:spPr>
          <a:xfrm>
            <a:off x="2057400" y="3450844"/>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13" name="Text 10"/>
          <p:cNvSpPr txBox="1"/>
          <p:nvPr/>
        </p:nvSpPr>
        <p:spPr>
          <a:xfrm>
            <a:off x="2057400" y="3455416"/>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Paid social</a:t>
            </a:r>
            <a:endParaRPr lang="en-US" sz="1400" dirty="0"/>
          </a:p>
        </p:txBody>
      </p:sp>
      <p:sp>
        <p:nvSpPr>
          <p:cNvPr id="14" name="Shape 11"/>
          <p:cNvSpPr/>
          <p:nvPr/>
        </p:nvSpPr>
        <p:spPr>
          <a:xfrm>
            <a:off x="3474720" y="3450844"/>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15" name="Text 12"/>
          <p:cNvSpPr txBox="1"/>
          <p:nvPr/>
        </p:nvSpPr>
        <p:spPr>
          <a:xfrm>
            <a:off x="3474720" y="3455416"/>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Organic</a:t>
            </a:r>
            <a:endParaRPr lang="en-US" sz="1400" dirty="0"/>
          </a:p>
        </p:txBody>
      </p:sp>
      <p:sp>
        <p:nvSpPr>
          <p:cNvPr id="16" name="Shape 13"/>
          <p:cNvSpPr/>
          <p:nvPr/>
        </p:nvSpPr>
        <p:spPr>
          <a:xfrm>
            <a:off x="914400" y="3944620"/>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17" name="Text 14"/>
          <p:cNvSpPr txBox="1"/>
          <p:nvPr/>
        </p:nvSpPr>
        <p:spPr>
          <a:xfrm>
            <a:off x="914400" y="3949192"/>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Referrals</a:t>
            </a:r>
            <a:endParaRPr lang="en-US" sz="1400" dirty="0"/>
          </a:p>
        </p:txBody>
      </p:sp>
      <p:sp>
        <p:nvSpPr>
          <p:cNvPr id="18" name="Shape 15"/>
          <p:cNvSpPr/>
          <p:nvPr/>
        </p:nvSpPr>
        <p:spPr>
          <a:xfrm>
            <a:off x="2148840" y="3944620"/>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19" name="Text 16"/>
          <p:cNvSpPr txBox="1"/>
          <p:nvPr/>
        </p:nvSpPr>
        <p:spPr>
          <a:xfrm>
            <a:off x="2148840" y="3949192"/>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Offline</a:t>
            </a:r>
            <a:endParaRPr lang="en-US" sz="1400" dirty="0"/>
          </a:p>
        </p:txBody>
      </p:sp>
      <p:sp>
        <p:nvSpPr>
          <p:cNvPr id="20" name="Shape 17"/>
          <p:cNvSpPr/>
          <p:nvPr/>
        </p:nvSpPr>
        <p:spPr>
          <a:xfrm>
            <a:off x="3246120" y="3944620"/>
            <a:ext cx="1024128" cy="310896"/>
          </a:xfrm>
          <a:prstGeom prst="roundRect">
            <a:avLst>
              <a:gd name="adj" fmla="val 23529"/>
            </a:avLst>
          </a:prstGeom>
          <a:solidFill>
            <a:srgbClr val="F5F1FF"/>
          </a:solidFill>
          <a:ln w="12700">
            <a:solidFill>
              <a:srgbClr val="F5F1FF">
                <a:alpha val="0"/>
              </a:srgbClr>
            </a:solidFill>
            <a:prstDash val="solid"/>
          </a:ln>
        </p:spPr>
        <p:txBody>
          <a:bodyPr/>
          <a:lstStyle/>
          <a:p>
            <a:endParaRPr lang="es-MX" sz="1400"/>
          </a:p>
        </p:txBody>
      </p:sp>
      <p:sp>
        <p:nvSpPr>
          <p:cNvPr id="21" name="Text 18"/>
          <p:cNvSpPr txBox="1"/>
          <p:nvPr/>
        </p:nvSpPr>
        <p:spPr>
          <a:xfrm>
            <a:off x="3246120" y="3949192"/>
            <a:ext cx="102412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Agencies</a:t>
            </a:r>
            <a:endParaRPr lang="en-US" sz="1400" dirty="0"/>
          </a:p>
        </p:txBody>
      </p:sp>
      <p:sp>
        <p:nvSpPr>
          <p:cNvPr id="22" name="Text 19"/>
          <p:cNvSpPr txBox="1"/>
          <p:nvPr/>
        </p:nvSpPr>
        <p:spPr>
          <a:xfrm>
            <a:off x="832105" y="4497023"/>
            <a:ext cx="4937758" cy="502920"/>
          </a:xfrm>
          <a:prstGeom prst="rect">
            <a:avLst/>
          </a:prstGeom>
          <a:noFill/>
          <a:ln/>
        </p:spPr>
        <p:txBody>
          <a:bodyPr wrap="square" lIns="0" tIns="0" rIns="0" bIns="0" rtlCol="0" anchor="ctr">
            <a:normAutofit/>
          </a:bodyPr>
          <a:lstStyle/>
          <a:p>
            <a:r>
              <a:rPr lang="en-US" sz="1300" b="1" dirty="0">
                <a:solidFill>
                  <a:srgbClr val="6F6882"/>
                </a:solidFill>
                <a:latin typeface="Inter" pitchFamily="34" charset="0"/>
                <a:ea typeface="Inter" pitchFamily="34" charset="-122"/>
                <a:cs typeface="Inter" pitchFamily="34" charset="-120"/>
              </a:rPr>
              <a:t>Multiple sources </a:t>
            </a:r>
            <a:r>
              <a:rPr lang="es-MX" sz="1300" dirty="0">
                <a:solidFill>
                  <a:schemeClr val="tx1">
                    <a:lumMod val="50000"/>
                    <a:lumOff val="50000"/>
                  </a:schemeClr>
                </a:solidFill>
              </a:rPr>
              <a:t>→</a:t>
            </a:r>
            <a:r>
              <a:rPr lang="es-MX" sz="1300" dirty="0"/>
              <a:t> </a:t>
            </a:r>
            <a:r>
              <a:rPr lang="en-US" sz="1300" b="1" dirty="0">
                <a:solidFill>
                  <a:srgbClr val="6F6882"/>
                </a:solidFill>
                <a:latin typeface="Inter" pitchFamily="34" charset="0"/>
                <a:ea typeface="Inter" pitchFamily="34" charset="-122"/>
                <a:cs typeface="Inter" pitchFamily="34" charset="-120"/>
              </a:rPr>
              <a:t>Si</a:t>
            </a:r>
            <a:r>
              <a:rPr lang="en-US" sz="1300" b="1" dirty="0">
                <a:solidFill>
                  <a:schemeClr val="tx1">
                    <a:lumMod val="50000"/>
                    <a:lumOff val="50000"/>
                  </a:schemeClr>
                </a:solidFill>
                <a:latin typeface="Inter" pitchFamily="34" charset="0"/>
                <a:ea typeface="Inter" pitchFamily="34" charset="-122"/>
                <a:cs typeface="Inter" pitchFamily="34" charset="-120"/>
              </a:rPr>
              <a:t>gni</a:t>
            </a:r>
            <a:r>
              <a:rPr lang="en-US" sz="1300" b="1" dirty="0">
                <a:solidFill>
                  <a:srgbClr val="6F6882"/>
                </a:solidFill>
                <a:latin typeface="Inter" pitchFamily="34" charset="0"/>
                <a:ea typeface="Inter" pitchFamily="34" charset="-122"/>
                <a:cs typeface="Inter" pitchFamily="34" charset="-120"/>
              </a:rPr>
              <a:t>ficant effort </a:t>
            </a:r>
            <a:r>
              <a:rPr lang="es-MX" sz="1300" dirty="0">
                <a:solidFill>
                  <a:schemeClr val="tx1">
                    <a:lumMod val="50000"/>
                    <a:lumOff val="50000"/>
                  </a:schemeClr>
                </a:solidFill>
              </a:rPr>
              <a:t>→ </a:t>
            </a:r>
            <a:r>
              <a:rPr lang="en-US" sz="1300" b="1" dirty="0">
                <a:solidFill>
                  <a:srgbClr val="6F6882"/>
                </a:solidFill>
                <a:latin typeface="Inter" pitchFamily="34" charset="0"/>
                <a:ea typeface="Inter" pitchFamily="34" charset="-122"/>
                <a:cs typeface="Inter" pitchFamily="34" charset="-120"/>
              </a:rPr>
              <a:t>Uncertain downstream results</a:t>
            </a:r>
            <a:endParaRPr lang="en-US" sz="1300" dirty="0"/>
          </a:p>
        </p:txBody>
      </p:sp>
      <p:sp>
        <p:nvSpPr>
          <p:cNvPr id="27" name="Shape 24"/>
          <p:cNvSpPr/>
          <p:nvPr/>
        </p:nvSpPr>
        <p:spPr>
          <a:xfrm>
            <a:off x="6359868" y="2042668"/>
            <a:ext cx="1691640" cy="310896"/>
          </a:xfrm>
          <a:prstGeom prst="roundRect">
            <a:avLst>
              <a:gd name="adj" fmla="val 17647"/>
            </a:avLst>
          </a:prstGeom>
          <a:solidFill>
            <a:srgbClr val="8B4B72"/>
          </a:solidFill>
          <a:ln w="12700">
            <a:solidFill>
              <a:srgbClr val="FFFFFF">
                <a:alpha val="0"/>
              </a:srgbClr>
            </a:solidFill>
            <a:prstDash val="solid"/>
          </a:ln>
        </p:spPr>
        <p:txBody>
          <a:bodyPr/>
          <a:lstStyle/>
          <a:p>
            <a:endParaRPr lang="es-MX"/>
          </a:p>
        </p:txBody>
      </p:sp>
      <p:sp>
        <p:nvSpPr>
          <p:cNvPr id="28" name="Text 25"/>
          <p:cNvSpPr txBox="1"/>
          <p:nvPr/>
        </p:nvSpPr>
        <p:spPr>
          <a:xfrm>
            <a:off x="6359868" y="2045411"/>
            <a:ext cx="1691640" cy="310896"/>
          </a:xfrm>
          <a:prstGeom prst="rect">
            <a:avLst/>
          </a:prstGeom>
          <a:noFill/>
          <a:ln/>
        </p:spPr>
        <p:txBody>
          <a:bodyPr wrap="square" lIns="0" tIns="0" rIns="0" bIns="0" rtlCol="0" anchor="ctr">
            <a:normAutofit/>
          </a:bodyPr>
          <a:lstStyle/>
          <a:p>
            <a:pPr marL="0" indent="0" algn="ctr">
              <a:lnSpc>
                <a:spcPct val="100000"/>
              </a:lnSpc>
              <a:buNone/>
            </a:pPr>
            <a:r>
              <a:rPr lang="en-US" sz="1000" b="1" kern="0" spc="80" dirty="0">
                <a:solidFill>
                  <a:srgbClr val="FFFFFF"/>
                </a:solidFill>
                <a:latin typeface="Inter" pitchFamily="34" charset="0"/>
                <a:ea typeface="Inter" pitchFamily="34" charset="-122"/>
                <a:cs typeface="Inter" pitchFamily="34" charset="-120"/>
              </a:rPr>
              <a:t>CONVERTING DEMAND</a:t>
            </a:r>
            <a:endParaRPr lang="en-US" sz="1000" dirty="0"/>
          </a:p>
        </p:txBody>
      </p:sp>
      <p:sp>
        <p:nvSpPr>
          <p:cNvPr id="29" name="Text 26"/>
          <p:cNvSpPr txBox="1"/>
          <p:nvPr/>
        </p:nvSpPr>
        <p:spPr>
          <a:xfrm>
            <a:off x="6369012" y="2518156"/>
            <a:ext cx="4526280" cy="658368"/>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8152B"/>
                </a:solidFill>
                <a:latin typeface="Aptos" panose="020B0004020202020204" pitchFamily="34" charset="0"/>
                <a:ea typeface="Inter Display" pitchFamily="34" charset="-122"/>
                <a:cs typeface="Inter Display" pitchFamily="34" charset="-120"/>
              </a:rPr>
              <a:t>Too many opportunities stall before reaching a visit.</a:t>
            </a:r>
            <a:endParaRPr lang="en-US" sz="2000" dirty="0">
              <a:latin typeface="Aptos" panose="020B0004020202020204" pitchFamily="34" charset="0"/>
            </a:endParaRPr>
          </a:p>
        </p:txBody>
      </p:sp>
      <p:sp>
        <p:nvSpPr>
          <p:cNvPr id="30" name="Shape 27"/>
          <p:cNvSpPr/>
          <p:nvPr/>
        </p:nvSpPr>
        <p:spPr>
          <a:xfrm>
            <a:off x="6387300" y="3322828"/>
            <a:ext cx="109728" cy="109728"/>
          </a:xfrm>
          <a:prstGeom prst="ellipse">
            <a:avLst/>
          </a:prstGeom>
          <a:solidFill>
            <a:srgbClr val="C96A8A"/>
          </a:solidFill>
          <a:ln w="12700">
            <a:solidFill>
              <a:srgbClr val="FFFFFF">
                <a:alpha val="0"/>
              </a:srgbClr>
            </a:solidFill>
            <a:prstDash val="solid"/>
          </a:ln>
        </p:spPr>
        <p:txBody>
          <a:bodyPr/>
          <a:lstStyle/>
          <a:p>
            <a:endParaRPr lang="es-MX"/>
          </a:p>
        </p:txBody>
      </p:sp>
      <p:sp>
        <p:nvSpPr>
          <p:cNvPr id="31" name="Text 28"/>
          <p:cNvSpPr txBox="1"/>
          <p:nvPr/>
        </p:nvSpPr>
        <p:spPr>
          <a:xfrm>
            <a:off x="6606756" y="3267964"/>
            <a:ext cx="1572768" cy="22860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Slow response</a:t>
            </a:r>
            <a:endParaRPr lang="en-US" sz="1400" dirty="0"/>
          </a:p>
        </p:txBody>
      </p:sp>
      <p:sp>
        <p:nvSpPr>
          <p:cNvPr id="32" name="Text 29"/>
          <p:cNvSpPr txBox="1"/>
          <p:nvPr/>
        </p:nvSpPr>
        <p:spPr>
          <a:xfrm>
            <a:off x="8495927" y="3267964"/>
            <a:ext cx="3065155" cy="274320"/>
          </a:xfrm>
          <a:prstGeom prst="rect">
            <a:avLst/>
          </a:prstGeom>
          <a:noFill/>
          <a:ln/>
        </p:spPr>
        <p:txBody>
          <a:bodyPr wrap="square" lIns="0" tIns="0" rIns="0" bIns="0" rtlCol="0" anchor="ctr">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Demand arrives 24/7. Human attention doesn’t.</a:t>
            </a:r>
            <a:endParaRPr lang="en-US" sz="1200" dirty="0"/>
          </a:p>
        </p:txBody>
      </p:sp>
      <p:sp>
        <p:nvSpPr>
          <p:cNvPr id="33" name="Shape 30"/>
          <p:cNvSpPr/>
          <p:nvPr/>
        </p:nvSpPr>
        <p:spPr>
          <a:xfrm>
            <a:off x="6387300" y="3825748"/>
            <a:ext cx="109728" cy="109728"/>
          </a:xfrm>
          <a:prstGeom prst="ellipse">
            <a:avLst/>
          </a:prstGeom>
          <a:solidFill>
            <a:srgbClr val="7446E8"/>
          </a:solidFill>
          <a:ln w="12700">
            <a:solidFill>
              <a:srgbClr val="FFFFFF">
                <a:alpha val="0"/>
              </a:srgbClr>
            </a:solidFill>
            <a:prstDash val="solid"/>
          </a:ln>
        </p:spPr>
        <p:txBody>
          <a:bodyPr/>
          <a:lstStyle/>
          <a:p>
            <a:endParaRPr lang="es-MX"/>
          </a:p>
        </p:txBody>
      </p:sp>
      <p:sp>
        <p:nvSpPr>
          <p:cNvPr id="34" name="Text 31"/>
          <p:cNvSpPr txBox="1"/>
          <p:nvPr/>
        </p:nvSpPr>
        <p:spPr>
          <a:xfrm>
            <a:off x="6606755" y="3770884"/>
            <a:ext cx="1688357" cy="204724"/>
          </a:xfrm>
          <a:prstGeom prst="rect">
            <a:avLst/>
          </a:prstGeom>
          <a:noFill/>
          <a:ln/>
        </p:spPr>
        <p:txBody>
          <a:bodyPr wrap="square" lIns="0" tIns="0" rIns="0" bIns="0" rtlCol="0" anchor="ctr">
            <a:no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Inconsistent follow-up</a:t>
            </a:r>
            <a:endParaRPr lang="en-US" sz="1400" dirty="0"/>
          </a:p>
        </p:txBody>
      </p:sp>
      <p:sp>
        <p:nvSpPr>
          <p:cNvPr id="35" name="Text 32"/>
          <p:cNvSpPr txBox="1"/>
          <p:nvPr/>
        </p:nvSpPr>
        <p:spPr>
          <a:xfrm>
            <a:off x="8495927" y="3770884"/>
            <a:ext cx="3065155" cy="246888"/>
          </a:xfrm>
          <a:prstGeom prst="rect">
            <a:avLst/>
          </a:prstGeom>
          <a:noFill/>
          <a:ln/>
        </p:spPr>
        <p:txBody>
          <a:bodyPr wrap="square" lIns="0" tIns="0" rIns="0" bIns="0" rtlCol="0" anchor="ctr">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Opportunities depend on memory and discipline.</a:t>
            </a:r>
            <a:endParaRPr lang="en-US" sz="1200" dirty="0"/>
          </a:p>
        </p:txBody>
      </p:sp>
      <p:sp>
        <p:nvSpPr>
          <p:cNvPr id="36" name="Shape 33"/>
          <p:cNvSpPr/>
          <p:nvPr/>
        </p:nvSpPr>
        <p:spPr>
          <a:xfrm>
            <a:off x="6387300" y="4328668"/>
            <a:ext cx="109728" cy="109728"/>
          </a:xfrm>
          <a:prstGeom prst="ellipse">
            <a:avLst/>
          </a:prstGeom>
          <a:solidFill>
            <a:srgbClr val="7446E8"/>
          </a:solidFill>
          <a:ln w="12700">
            <a:solidFill>
              <a:srgbClr val="FFFFFF">
                <a:alpha val="0"/>
              </a:srgbClr>
            </a:solidFill>
            <a:prstDash val="solid"/>
          </a:ln>
        </p:spPr>
        <p:txBody>
          <a:bodyPr/>
          <a:lstStyle/>
          <a:p>
            <a:endParaRPr lang="es-MX"/>
          </a:p>
        </p:txBody>
      </p:sp>
      <p:sp>
        <p:nvSpPr>
          <p:cNvPr id="37" name="Text 34"/>
          <p:cNvSpPr txBox="1"/>
          <p:nvPr/>
        </p:nvSpPr>
        <p:spPr>
          <a:xfrm>
            <a:off x="6606756" y="4273804"/>
            <a:ext cx="1572768" cy="22860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Missed matches</a:t>
            </a:r>
            <a:endParaRPr lang="en-US" sz="1400" dirty="0"/>
          </a:p>
        </p:txBody>
      </p:sp>
      <p:sp>
        <p:nvSpPr>
          <p:cNvPr id="38" name="Text 35"/>
          <p:cNvSpPr txBox="1"/>
          <p:nvPr/>
        </p:nvSpPr>
        <p:spPr>
          <a:xfrm>
            <a:off x="8495927" y="4273804"/>
            <a:ext cx="3065155" cy="246888"/>
          </a:xfrm>
          <a:prstGeom prst="rect">
            <a:avLst/>
          </a:prstGeom>
          <a:noFill/>
          <a:ln/>
        </p:spPr>
        <p:txBody>
          <a:bodyPr wrap="square" lIns="0" tIns="0" rIns="0" bIns="0" rtlCol="0" anchor="ctr">
            <a:norm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The right inventory may sit elsewhere.</a:t>
            </a:r>
            <a:endParaRPr lang="en-US" sz="1200" dirty="0"/>
          </a:p>
        </p:txBody>
      </p:sp>
      <p:sp>
        <p:nvSpPr>
          <p:cNvPr id="39" name="Shape 36"/>
          <p:cNvSpPr/>
          <p:nvPr/>
        </p:nvSpPr>
        <p:spPr>
          <a:xfrm>
            <a:off x="6387300" y="4831588"/>
            <a:ext cx="109728" cy="109728"/>
          </a:xfrm>
          <a:prstGeom prst="ellipse">
            <a:avLst/>
          </a:prstGeom>
          <a:solidFill>
            <a:srgbClr val="7446E8"/>
          </a:solidFill>
          <a:ln w="12700">
            <a:solidFill>
              <a:srgbClr val="FFFFFF">
                <a:alpha val="0"/>
              </a:srgbClr>
            </a:solidFill>
            <a:prstDash val="solid"/>
          </a:ln>
        </p:spPr>
        <p:txBody>
          <a:bodyPr/>
          <a:lstStyle/>
          <a:p>
            <a:endParaRPr lang="es-MX"/>
          </a:p>
        </p:txBody>
      </p:sp>
      <p:sp>
        <p:nvSpPr>
          <p:cNvPr id="40" name="Text 37"/>
          <p:cNvSpPr txBox="1"/>
          <p:nvPr/>
        </p:nvSpPr>
        <p:spPr>
          <a:xfrm>
            <a:off x="6606756" y="4776724"/>
            <a:ext cx="1572768" cy="22860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No-shows</a:t>
            </a:r>
            <a:endParaRPr lang="en-US" sz="1400" dirty="0"/>
          </a:p>
        </p:txBody>
      </p:sp>
      <p:sp>
        <p:nvSpPr>
          <p:cNvPr id="41" name="Text 38"/>
          <p:cNvSpPr txBox="1"/>
          <p:nvPr/>
        </p:nvSpPr>
        <p:spPr>
          <a:xfrm>
            <a:off x="8495927" y="4776724"/>
            <a:ext cx="3065155" cy="246888"/>
          </a:xfrm>
          <a:prstGeom prst="rect">
            <a:avLst/>
          </a:prstGeom>
          <a:noFill/>
          <a:ln/>
        </p:spPr>
        <p:txBody>
          <a:bodyPr wrap="square" lIns="0" tIns="0" rIns="0" bIns="0" rtlCol="0" anchor="ctr">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Scheduled does not always mean attended.</a:t>
            </a:r>
            <a:endParaRPr lang="en-US" sz="1200" dirty="0"/>
          </a:p>
        </p:txBody>
      </p:sp>
      <p:sp>
        <p:nvSpPr>
          <p:cNvPr id="42" name="Shape 39"/>
          <p:cNvSpPr/>
          <p:nvPr/>
        </p:nvSpPr>
        <p:spPr>
          <a:xfrm>
            <a:off x="6387300" y="5334508"/>
            <a:ext cx="109728" cy="109728"/>
          </a:xfrm>
          <a:prstGeom prst="ellipse">
            <a:avLst/>
          </a:prstGeom>
          <a:solidFill>
            <a:srgbClr val="7446E8"/>
          </a:solidFill>
          <a:ln w="12700">
            <a:solidFill>
              <a:srgbClr val="FFFFFF">
                <a:alpha val="0"/>
              </a:srgbClr>
            </a:solidFill>
            <a:prstDash val="solid"/>
          </a:ln>
        </p:spPr>
        <p:txBody>
          <a:bodyPr/>
          <a:lstStyle/>
          <a:p>
            <a:endParaRPr lang="es-MX"/>
          </a:p>
        </p:txBody>
      </p:sp>
      <p:sp>
        <p:nvSpPr>
          <p:cNvPr id="43" name="Text 40"/>
          <p:cNvSpPr txBox="1"/>
          <p:nvPr/>
        </p:nvSpPr>
        <p:spPr>
          <a:xfrm>
            <a:off x="6606756" y="5279644"/>
            <a:ext cx="1572768" cy="22860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Stalled opportunities</a:t>
            </a:r>
            <a:endParaRPr lang="en-US" sz="1400" dirty="0"/>
          </a:p>
        </p:txBody>
      </p:sp>
      <p:sp>
        <p:nvSpPr>
          <p:cNvPr id="44" name="Text 41"/>
          <p:cNvSpPr txBox="1"/>
          <p:nvPr/>
        </p:nvSpPr>
        <p:spPr>
          <a:xfrm>
            <a:off x="8495927" y="5279644"/>
            <a:ext cx="3065155" cy="223012"/>
          </a:xfrm>
          <a:prstGeom prst="rect">
            <a:avLst/>
          </a:prstGeom>
          <a:noFill/>
          <a:ln/>
        </p:spPr>
        <p:txBody>
          <a:bodyPr wrap="square" lIns="0" tIns="0" rIns="0" bIns="0" rtlCol="0" anchor="ctr">
            <a:norm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Momentum decays without a next action.</a:t>
            </a:r>
            <a:endParaRPr lang="en-US" sz="1200" dirty="0"/>
          </a:p>
        </p:txBody>
      </p:sp>
      <p:sp>
        <p:nvSpPr>
          <p:cNvPr id="45" name="Shape 42"/>
          <p:cNvSpPr/>
          <p:nvPr/>
        </p:nvSpPr>
        <p:spPr>
          <a:xfrm>
            <a:off x="821799" y="5846572"/>
            <a:ext cx="10693663" cy="475488"/>
          </a:xfrm>
          <a:prstGeom prst="roundRect">
            <a:avLst>
              <a:gd name="adj" fmla="val 13462"/>
            </a:avLst>
          </a:prstGeom>
          <a:solidFill>
            <a:srgbClr val="F4EEFF"/>
          </a:solidFill>
          <a:ln w="12700">
            <a:solidFill>
              <a:srgbClr val="E4D8FF"/>
            </a:solidFill>
            <a:prstDash val="solid"/>
          </a:ln>
        </p:spPr>
        <p:txBody>
          <a:bodyPr/>
          <a:lstStyle/>
          <a:p>
            <a:endParaRPr lang="es-MX"/>
          </a:p>
        </p:txBody>
      </p:sp>
      <p:sp>
        <p:nvSpPr>
          <p:cNvPr id="46" name="Text 43"/>
          <p:cNvSpPr txBox="1"/>
          <p:nvPr/>
        </p:nvSpPr>
        <p:spPr>
          <a:xfrm>
            <a:off x="9062366" y="5949541"/>
            <a:ext cx="2180243" cy="203669"/>
          </a:xfrm>
          <a:prstGeom prst="rect">
            <a:avLst/>
          </a:prstGeom>
          <a:noFill/>
          <a:ln/>
        </p:spPr>
        <p:txBody>
          <a:bodyPr wrap="square" lIns="0" tIns="0" rIns="0" bIns="0" rtlCol="0" anchor="ctr">
            <a:normAutofit/>
          </a:bodyPr>
          <a:lstStyle/>
          <a:p>
            <a:r>
              <a:rPr lang="en-US" sz="1250" b="1" dirty="0">
                <a:solidFill>
                  <a:srgbClr val="9A4D78"/>
                </a:solidFill>
                <a:latin typeface="Inter" pitchFamily="34" charset="0"/>
                <a:ea typeface="Inter" pitchFamily="34" charset="-122"/>
                <a:cs typeface="Inter" pitchFamily="34" charset="-120"/>
              </a:rPr>
              <a:t>Lost commissions (revenue)</a:t>
            </a:r>
            <a:endParaRPr lang="en-US" sz="1250" dirty="0"/>
          </a:p>
        </p:txBody>
      </p:sp>
      <p:sp>
        <p:nvSpPr>
          <p:cNvPr id="47" name="Text 44"/>
          <p:cNvSpPr txBox="1"/>
          <p:nvPr/>
        </p:nvSpPr>
        <p:spPr>
          <a:xfrm>
            <a:off x="4979831" y="5930061"/>
            <a:ext cx="182880" cy="228600"/>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6F6882"/>
                </a:solidFill>
                <a:latin typeface="Inter" pitchFamily="34" charset="0"/>
                <a:ea typeface="Inter" pitchFamily="34" charset="-122"/>
                <a:cs typeface="Inter" pitchFamily="34" charset="-120"/>
              </a:rPr>
              <a:t>·</a:t>
            </a:r>
            <a:endParaRPr lang="en-US" sz="1500" dirty="0"/>
          </a:p>
        </p:txBody>
      </p:sp>
      <p:sp>
        <p:nvSpPr>
          <p:cNvPr id="48" name="Text 45"/>
          <p:cNvSpPr txBox="1"/>
          <p:nvPr/>
        </p:nvSpPr>
        <p:spPr>
          <a:xfrm>
            <a:off x="2743014" y="5952042"/>
            <a:ext cx="1930170" cy="201168"/>
          </a:xfrm>
          <a:prstGeom prst="rect">
            <a:avLst/>
          </a:prstGeom>
          <a:noFill/>
          <a:ln/>
        </p:spPr>
        <p:txBody>
          <a:bodyPr wrap="square" lIns="0" tIns="0" rIns="0" bIns="0" rtlCol="0" anchor="ctr">
            <a:normAutofit/>
          </a:bodyPr>
          <a:lstStyle/>
          <a:p>
            <a:r>
              <a:rPr lang="en-US" sz="1250" b="1" dirty="0">
                <a:solidFill>
                  <a:schemeClr val="tx1">
                    <a:lumMod val="65000"/>
                    <a:lumOff val="35000"/>
                  </a:schemeClr>
                </a:solidFill>
                <a:latin typeface="Inter" pitchFamily="34" charset="0"/>
                <a:ea typeface="Inter" pitchFamily="34" charset="-122"/>
                <a:cs typeface="Inter" pitchFamily="34" charset="-120"/>
              </a:rPr>
              <a:t>Wasted acquisition effort</a:t>
            </a:r>
            <a:endParaRPr lang="en-US" sz="1250" dirty="0">
              <a:solidFill>
                <a:schemeClr val="tx1">
                  <a:lumMod val="65000"/>
                  <a:lumOff val="35000"/>
                </a:schemeClr>
              </a:solidFill>
            </a:endParaRPr>
          </a:p>
        </p:txBody>
      </p:sp>
      <p:sp>
        <p:nvSpPr>
          <p:cNvPr id="49" name="Text 46"/>
          <p:cNvSpPr txBox="1"/>
          <p:nvPr/>
        </p:nvSpPr>
        <p:spPr>
          <a:xfrm>
            <a:off x="6970332" y="5929663"/>
            <a:ext cx="182880" cy="228600"/>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6F6882"/>
                </a:solidFill>
                <a:latin typeface="Inter" pitchFamily="34" charset="0"/>
                <a:ea typeface="Inter" pitchFamily="34" charset="-122"/>
                <a:cs typeface="Inter" pitchFamily="34" charset="-120"/>
              </a:rPr>
              <a:t>·</a:t>
            </a:r>
            <a:endParaRPr lang="en-US" sz="1500" dirty="0"/>
          </a:p>
        </p:txBody>
      </p:sp>
      <p:sp>
        <p:nvSpPr>
          <p:cNvPr id="50" name="Text 47"/>
          <p:cNvSpPr txBox="1"/>
          <p:nvPr/>
        </p:nvSpPr>
        <p:spPr>
          <a:xfrm>
            <a:off x="5215830" y="5934832"/>
            <a:ext cx="1622914" cy="237744"/>
          </a:xfrm>
          <a:prstGeom prst="rect">
            <a:avLst/>
          </a:prstGeom>
          <a:noFill/>
          <a:ln/>
        </p:spPr>
        <p:txBody>
          <a:bodyPr wrap="square" lIns="0" tIns="0" rIns="0" bIns="0" rtlCol="0" anchor="ctr">
            <a:normAutofit/>
          </a:bodyPr>
          <a:lstStyle/>
          <a:p>
            <a:pPr marL="0" indent="0" algn="l">
              <a:lnSpc>
                <a:spcPct val="100000"/>
              </a:lnSpc>
              <a:buNone/>
            </a:pPr>
            <a:r>
              <a:rPr lang="en-US" sz="1250" b="1" dirty="0">
                <a:solidFill>
                  <a:schemeClr val="tx1">
                    <a:lumMod val="65000"/>
                    <a:lumOff val="35000"/>
                  </a:schemeClr>
                </a:solidFill>
                <a:latin typeface="Inter" pitchFamily="34" charset="0"/>
                <a:ea typeface="Inter" pitchFamily="34" charset="-122"/>
                <a:cs typeface="Inter" pitchFamily="34" charset="-120"/>
              </a:rPr>
              <a:t>Constrained growth</a:t>
            </a:r>
            <a:endParaRPr lang="en-US" sz="1250" dirty="0">
              <a:solidFill>
                <a:schemeClr val="tx1">
                  <a:lumMod val="65000"/>
                  <a:lumOff val="35000"/>
                </a:schemeClr>
              </a:solidFill>
            </a:endParaRPr>
          </a:p>
        </p:txBody>
      </p:sp>
      <p:sp>
        <p:nvSpPr>
          <p:cNvPr id="51" name="Text 48"/>
          <p:cNvSpPr txBox="1"/>
          <p:nvPr/>
        </p:nvSpPr>
        <p:spPr>
          <a:xfrm>
            <a:off x="8836529" y="5929663"/>
            <a:ext cx="182880" cy="228600"/>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6F6882"/>
                </a:solidFill>
                <a:latin typeface="Inter" pitchFamily="34" charset="0"/>
                <a:ea typeface="Inter" pitchFamily="34" charset="-122"/>
                <a:cs typeface="Inter" pitchFamily="34" charset="-120"/>
              </a:rPr>
              <a:t>·</a:t>
            </a:r>
            <a:endParaRPr lang="en-US" sz="1500" dirty="0"/>
          </a:p>
        </p:txBody>
      </p:sp>
      <p:sp>
        <p:nvSpPr>
          <p:cNvPr id="52" name="Text 49"/>
          <p:cNvSpPr txBox="1"/>
          <p:nvPr/>
        </p:nvSpPr>
        <p:spPr>
          <a:xfrm>
            <a:off x="7205331" y="5930291"/>
            <a:ext cx="1264655" cy="247850"/>
          </a:xfrm>
          <a:prstGeom prst="rect">
            <a:avLst/>
          </a:prstGeom>
          <a:noFill/>
          <a:ln/>
        </p:spPr>
        <p:txBody>
          <a:bodyPr wrap="square" lIns="0" tIns="0" rIns="0" bIns="0" rtlCol="0" anchor="ctr">
            <a:noAutofit/>
          </a:bodyPr>
          <a:lstStyle/>
          <a:p>
            <a:pPr marL="0" indent="0" algn="l">
              <a:lnSpc>
                <a:spcPct val="100000"/>
              </a:lnSpc>
              <a:buNone/>
            </a:pPr>
            <a:r>
              <a:rPr lang="en-US" sz="1250" b="1" dirty="0">
                <a:solidFill>
                  <a:schemeClr val="tx1">
                    <a:lumMod val="65000"/>
                    <a:lumOff val="35000"/>
                  </a:schemeClr>
                </a:solidFill>
                <a:latin typeface="Inter" pitchFamily="34" charset="0"/>
                <a:ea typeface="Inter" pitchFamily="34" charset="-122"/>
                <a:cs typeface="Inter" pitchFamily="34" charset="-120"/>
              </a:rPr>
              <a:t>Team overload</a:t>
            </a:r>
            <a:endParaRPr lang="en-US" sz="1250" dirty="0">
              <a:solidFill>
                <a:schemeClr val="tx1">
                  <a:lumMod val="65000"/>
                  <a:lumOff val="35000"/>
                </a:schemeClr>
              </a:solidFill>
            </a:endParaRPr>
          </a:p>
        </p:txBody>
      </p:sp>
      <p:sp>
        <p:nvSpPr>
          <p:cNvPr id="53"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2</a:t>
            </a:fld>
            <a:endParaRPr lang="en-US"/>
          </a:p>
        </p:txBody>
      </p:sp>
      <p:sp>
        <p:nvSpPr>
          <p:cNvPr id="55" name="Text 46">
            <a:extLst>
              <a:ext uri="{FF2B5EF4-FFF2-40B4-BE49-F238E27FC236}">
                <a16:creationId xmlns:a16="http://schemas.microsoft.com/office/drawing/2014/main" id="{B7D7194E-967C-925A-E737-8448C27B7CEE}"/>
              </a:ext>
            </a:extLst>
          </p:cNvPr>
          <p:cNvSpPr txBox="1"/>
          <p:nvPr/>
        </p:nvSpPr>
        <p:spPr>
          <a:xfrm>
            <a:off x="2500541" y="5938807"/>
            <a:ext cx="182880" cy="228600"/>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6F6882"/>
                </a:solidFill>
                <a:latin typeface="Inter" pitchFamily="34" charset="0"/>
                <a:ea typeface="Inter" pitchFamily="34" charset="-122"/>
                <a:cs typeface="Inter" pitchFamily="34" charset="-120"/>
              </a:rPr>
              <a:t>·</a:t>
            </a:r>
            <a:endParaRPr lang="en-US" sz="1500" dirty="0"/>
          </a:p>
        </p:txBody>
      </p:sp>
      <p:sp>
        <p:nvSpPr>
          <p:cNvPr id="57" name="Text 43">
            <a:extLst>
              <a:ext uri="{FF2B5EF4-FFF2-40B4-BE49-F238E27FC236}">
                <a16:creationId xmlns:a16="http://schemas.microsoft.com/office/drawing/2014/main" id="{AD374B12-A0D3-0C9F-EC33-048115B71276}"/>
              </a:ext>
            </a:extLst>
          </p:cNvPr>
          <p:cNvSpPr txBox="1"/>
          <p:nvPr/>
        </p:nvSpPr>
        <p:spPr>
          <a:xfrm>
            <a:off x="1002237" y="5957890"/>
            <a:ext cx="1252697" cy="219456"/>
          </a:xfrm>
          <a:prstGeom prst="rect">
            <a:avLst/>
          </a:prstGeom>
          <a:noFill/>
          <a:ln/>
        </p:spPr>
        <p:txBody>
          <a:bodyPr wrap="square" lIns="0" tIns="0" rIns="0" bIns="0" rtlCol="0" anchor="ctr">
            <a:normAutofit/>
          </a:bodyPr>
          <a:lstStyle/>
          <a:p>
            <a:pPr marL="0" indent="0" algn="l">
              <a:lnSpc>
                <a:spcPct val="100000"/>
              </a:lnSpc>
              <a:buNone/>
            </a:pPr>
            <a:r>
              <a:rPr lang="en-US" sz="1250" b="1" dirty="0">
                <a:solidFill>
                  <a:schemeClr val="tx1">
                    <a:lumMod val="95000"/>
                    <a:lumOff val="5000"/>
                  </a:schemeClr>
                </a:solidFill>
                <a:latin typeface="Inter" pitchFamily="34" charset="0"/>
                <a:ea typeface="Inter" pitchFamily="34" charset="-122"/>
              </a:rPr>
              <a:t>BUSINESS IMPACT:</a:t>
            </a:r>
            <a:endParaRPr lang="en-US" sz="1250" dirty="0">
              <a:solidFill>
                <a:schemeClr val="tx1">
                  <a:lumMod val="95000"/>
                  <a:lumOff val="5000"/>
                </a:schemeClr>
              </a:solidFill>
            </a:endParaRPr>
          </a:p>
        </p:txBody>
      </p:sp>
      <p:sp>
        <p:nvSpPr>
          <p:cNvPr id="24" name="Text 1">
            <a:extLst>
              <a:ext uri="{FF2B5EF4-FFF2-40B4-BE49-F238E27FC236}">
                <a16:creationId xmlns:a16="http://schemas.microsoft.com/office/drawing/2014/main" id="{58C28AE8-3BAF-1903-2A5B-4872028FD7C9}"/>
              </a:ext>
            </a:extLst>
          </p:cNvPr>
          <p:cNvSpPr txBox="1"/>
          <p:nvPr/>
        </p:nvSpPr>
        <p:spPr>
          <a:xfrm>
            <a:off x="566927" y="658368"/>
            <a:ext cx="10276663" cy="658368"/>
          </a:xfrm>
          <a:prstGeom prst="rect">
            <a:avLst/>
          </a:prstGeom>
          <a:noFill/>
          <a:ln/>
        </p:spPr>
        <p:txBody>
          <a:bodyPr wrap="square" lIns="0" tIns="0" rIns="0" bIns="0" rtlCol="0" anchor="t">
            <a:noAutofit/>
          </a:bodyPr>
          <a:lstStyle/>
          <a:p>
            <a:pPr marL="0" indent="0" algn="l">
              <a:lnSpc>
                <a:spcPct val="100000"/>
              </a:lnSpc>
              <a:buNone/>
            </a:pPr>
            <a:r>
              <a:rPr lang="en-US" sz="2800" b="1" dirty="0">
                <a:solidFill>
                  <a:srgbClr val="18152B"/>
                </a:solidFill>
                <a:latin typeface="Aptos" panose="020B0004020202020204" pitchFamily="34" charset="0"/>
                <a:ea typeface="Inter Display" pitchFamily="34" charset="-122"/>
                <a:cs typeface="Inter Display" pitchFamily="34" charset="-120"/>
              </a:rPr>
              <a:t>Brokerages struggle to generate enough qualified opportunities and lose many before they become visits and transactions.</a:t>
            </a:r>
            <a:endParaRPr lang="en-US" sz="2800" dirty="0">
              <a:latin typeface="Aptos" panose="020B0004020202020204" pitchFamily="34" charset="0"/>
            </a:endParaRPr>
          </a:p>
        </p:txBody>
      </p:sp>
      <p:sp>
        <p:nvSpPr>
          <p:cNvPr id="25" name="Text 25">
            <a:extLst>
              <a:ext uri="{FF2B5EF4-FFF2-40B4-BE49-F238E27FC236}">
                <a16:creationId xmlns:a16="http://schemas.microsoft.com/office/drawing/2014/main" id="{F3B7875F-21BF-960C-E81C-4C8B2BDD11D4}"/>
              </a:ext>
            </a:extLst>
          </p:cNvPr>
          <p:cNvSpPr txBox="1"/>
          <p:nvPr/>
        </p:nvSpPr>
        <p:spPr>
          <a:xfrm>
            <a:off x="792390" y="2053525"/>
            <a:ext cx="1691640" cy="310896"/>
          </a:xfrm>
          <a:prstGeom prst="rect">
            <a:avLst/>
          </a:prstGeom>
          <a:noFill/>
          <a:ln/>
        </p:spPr>
        <p:txBody>
          <a:bodyPr wrap="square" lIns="0" tIns="0" rIns="0" bIns="0" rtlCol="0" anchor="ctr">
            <a:normAutofit/>
          </a:bodyPr>
          <a:lstStyle/>
          <a:p>
            <a:pPr marL="0" indent="0" algn="ctr">
              <a:lnSpc>
                <a:spcPct val="100000"/>
              </a:lnSpc>
              <a:buNone/>
            </a:pPr>
            <a:r>
              <a:rPr lang="en-US" sz="1000" b="1" kern="0" spc="80" dirty="0">
                <a:solidFill>
                  <a:srgbClr val="FFFFFF"/>
                </a:solidFill>
                <a:latin typeface="Inter" pitchFamily="34" charset="0"/>
                <a:ea typeface="Inter" pitchFamily="34" charset="-122"/>
                <a:cs typeface="Inter" pitchFamily="34" charset="-120"/>
              </a:rPr>
              <a:t>GENERATING DEMAND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E43E9"/>
          </a:solidFill>
          <a:ln w="12700">
            <a:solidFill>
              <a:srgbClr val="6E43E9"/>
            </a:solidFill>
            <a:prstDash val="solid"/>
          </a:ln>
        </p:spPr>
        <p:txBody>
          <a:bodyPr/>
          <a:lstStyle/>
          <a:p>
            <a:endParaRPr lang="es-MX"/>
          </a:p>
        </p:txBody>
      </p:sp>
      <p:sp>
        <p:nvSpPr>
          <p:cNvPr id="5" name="Text 2"/>
          <p:cNvSpPr/>
          <p:nvPr/>
        </p:nvSpPr>
        <p:spPr>
          <a:xfrm>
            <a:off x="566928" y="595807"/>
            <a:ext cx="9601200" cy="502920"/>
          </a:xfrm>
          <a:prstGeom prst="rect">
            <a:avLst/>
          </a:prstGeom>
          <a:noFill/>
          <a:ln/>
        </p:spPr>
        <p:txBody>
          <a:bodyPr wrap="square" lIns="0" tIns="0" rIns="0" bIns="0" rtlCol="0" anchor="ctr"/>
          <a:lstStyle/>
          <a:p>
            <a:pPr marL="0" indent="0">
              <a:buNone/>
            </a:pPr>
            <a:r>
              <a:rPr lang="en-US" sz="2800" b="1" dirty="0">
                <a:solidFill>
                  <a:srgbClr val="191529"/>
                </a:solidFill>
                <a:latin typeface="Aptos" panose="020B0004020202020204" pitchFamily="34" charset="0"/>
                <a:ea typeface="Aptos Display" pitchFamily="34" charset="-122"/>
                <a:cs typeface="Aptos Display" pitchFamily="34" charset="-120"/>
              </a:rPr>
              <a:t>The human is still the operating system.</a:t>
            </a:r>
            <a:endParaRPr lang="en-US" sz="2800" dirty="0">
              <a:latin typeface="Aptos" panose="020B0004020202020204" pitchFamily="34" charset="0"/>
            </a:endParaRPr>
          </a:p>
        </p:txBody>
      </p:sp>
      <p:sp>
        <p:nvSpPr>
          <p:cNvPr id="6" name="Text 3"/>
          <p:cNvSpPr/>
          <p:nvPr/>
        </p:nvSpPr>
        <p:spPr>
          <a:xfrm>
            <a:off x="566928" y="1148916"/>
            <a:ext cx="11155680" cy="312343"/>
          </a:xfrm>
          <a:prstGeom prst="rect">
            <a:avLst/>
          </a:prstGeom>
          <a:noFill/>
          <a:ln/>
        </p:spPr>
        <p:txBody>
          <a:bodyPr wrap="square" lIns="0" tIns="0" rIns="0" bIns="0" rtlCol="0" anchor="ctr"/>
          <a:lstStyle/>
          <a:p>
            <a:pPr marL="0" indent="0">
              <a:buNone/>
            </a:pPr>
            <a:r>
              <a:rPr lang="en-US" dirty="0">
                <a:solidFill>
                  <a:srgbClr val="736A89"/>
                </a:solidFill>
                <a:ea typeface="Aptos" pitchFamily="34" charset="-122"/>
                <a:cs typeface="Aptos" pitchFamily="34" charset="-120"/>
              </a:rPr>
              <a:t>Software digitized the pieces, but people still have to manually connect demand, conversations, systems and execution.</a:t>
            </a:r>
            <a:endParaRPr lang="en-US" dirty="0"/>
          </a:p>
        </p:txBody>
      </p:sp>
      <p:sp>
        <p:nvSpPr>
          <p:cNvPr id="7" name="Shape 4"/>
          <p:cNvSpPr/>
          <p:nvPr/>
        </p:nvSpPr>
        <p:spPr>
          <a:xfrm>
            <a:off x="566928" y="1975104"/>
            <a:ext cx="1627632"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8" name="Text 5"/>
          <p:cNvSpPr/>
          <p:nvPr/>
        </p:nvSpPr>
        <p:spPr>
          <a:xfrm>
            <a:off x="676656" y="2139696"/>
            <a:ext cx="1408176" cy="182880"/>
          </a:xfrm>
          <a:prstGeom prst="rect">
            <a:avLst/>
          </a:prstGeom>
          <a:noFill/>
          <a:ln/>
        </p:spPr>
        <p:txBody>
          <a:bodyPr wrap="square" lIns="0" tIns="0" rIns="0" bIns="0" rtlCol="0" anchor="ctr"/>
          <a:lstStyle/>
          <a:p>
            <a:pPr marL="0" indent="0" algn="ctr">
              <a:buNone/>
            </a:pPr>
            <a:r>
              <a:rPr lang="en-US" sz="830" b="1" dirty="0">
                <a:solidFill>
                  <a:srgbClr val="6E43E9"/>
                </a:solidFill>
                <a:latin typeface="Aptos" pitchFamily="34" charset="0"/>
                <a:ea typeface="Aptos" pitchFamily="34" charset="-122"/>
                <a:cs typeface="Aptos" pitchFamily="34" charset="-120"/>
              </a:rPr>
              <a:t>DEMAND SOURCES</a:t>
            </a:r>
            <a:endParaRPr lang="en-US" sz="830" dirty="0"/>
          </a:p>
        </p:txBody>
      </p:sp>
      <p:sp>
        <p:nvSpPr>
          <p:cNvPr id="9" name="Text 6"/>
          <p:cNvSpPr/>
          <p:nvPr/>
        </p:nvSpPr>
        <p:spPr>
          <a:xfrm>
            <a:off x="676656" y="2404872"/>
            <a:ext cx="1408176" cy="256032"/>
          </a:xfrm>
          <a:prstGeom prst="rect">
            <a:avLst/>
          </a:prstGeom>
          <a:noFill/>
          <a:ln/>
        </p:spPr>
        <p:txBody>
          <a:bodyPr wrap="square" lIns="0" tIns="0" rIns="0" bIns="0" rtlCol="0" anchor="ctr">
            <a:normAutofit/>
          </a:bodyPr>
          <a:lstStyle/>
          <a:p>
            <a:pPr marL="0" indent="0" algn="ctr">
              <a:buNone/>
            </a:pPr>
            <a:r>
              <a:rPr lang="en-US" sz="930" dirty="0">
                <a:solidFill>
                  <a:srgbClr val="736A89"/>
                </a:solidFill>
                <a:latin typeface="Aptos" pitchFamily="34" charset="0"/>
                <a:ea typeface="Aptos" pitchFamily="34" charset="-122"/>
                <a:cs typeface="Aptos" pitchFamily="34" charset="-120"/>
              </a:rPr>
              <a:t>Where opportunities begin</a:t>
            </a:r>
            <a:endParaRPr lang="en-US" sz="930" dirty="0"/>
          </a:p>
        </p:txBody>
      </p:sp>
      <p:sp>
        <p:nvSpPr>
          <p:cNvPr id="10" name="Text 7"/>
          <p:cNvSpPr/>
          <p:nvPr/>
        </p:nvSpPr>
        <p:spPr>
          <a:xfrm>
            <a:off x="731520" y="2916936"/>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Portals</a:t>
            </a:r>
            <a:endParaRPr lang="en-US" sz="760" dirty="0"/>
          </a:p>
        </p:txBody>
      </p:sp>
      <p:sp>
        <p:nvSpPr>
          <p:cNvPr id="11" name="Text 8"/>
          <p:cNvSpPr/>
          <p:nvPr/>
        </p:nvSpPr>
        <p:spPr>
          <a:xfrm>
            <a:off x="1463040" y="2916936"/>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Paid</a:t>
            </a:r>
            <a:endParaRPr lang="en-US" sz="760" dirty="0"/>
          </a:p>
        </p:txBody>
      </p:sp>
      <p:sp>
        <p:nvSpPr>
          <p:cNvPr id="12" name="Text 9"/>
          <p:cNvSpPr/>
          <p:nvPr/>
        </p:nvSpPr>
        <p:spPr>
          <a:xfrm>
            <a:off x="731520" y="3255264"/>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Organic</a:t>
            </a:r>
            <a:endParaRPr lang="en-US" sz="760" dirty="0"/>
          </a:p>
        </p:txBody>
      </p:sp>
      <p:sp>
        <p:nvSpPr>
          <p:cNvPr id="13" name="Text 10"/>
          <p:cNvSpPr/>
          <p:nvPr/>
        </p:nvSpPr>
        <p:spPr>
          <a:xfrm>
            <a:off x="1463040" y="3255264"/>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Referrals</a:t>
            </a:r>
            <a:endParaRPr lang="en-US" sz="760" dirty="0"/>
          </a:p>
        </p:txBody>
      </p:sp>
      <p:sp>
        <p:nvSpPr>
          <p:cNvPr id="14" name="Text 11"/>
          <p:cNvSpPr/>
          <p:nvPr/>
        </p:nvSpPr>
        <p:spPr>
          <a:xfrm>
            <a:off x="731520" y="3593592"/>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Offline</a:t>
            </a:r>
            <a:endParaRPr lang="en-US" sz="760" dirty="0"/>
          </a:p>
        </p:txBody>
      </p:sp>
      <p:sp>
        <p:nvSpPr>
          <p:cNvPr id="15" name="Text 12"/>
          <p:cNvSpPr/>
          <p:nvPr/>
        </p:nvSpPr>
        <p:spPr>
          <a:xfrm>
            <a:off x="1463040" y="3593592"/>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Agencies</a:t>
            </a:r>
            <a:endParaRPr lang="en-US" sz="760" dirty="0"/>
          </a:p>
        </p:txBody>
      </p:sp>
      <p:sp>
        <p:nvSpPr>
          <p:cNvPr id="16" name="Shape 13"/>
          <p:cNvSpPr/>
          <p:nvPr/>
        </p:nvSpPr>
        <p:spPr>
          <a:xfrm>
            <a:off x="2560320" y="1975104"/>
            <a:ext cx="160020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17" name="Text 14"/>
          <p:cNvSpPr/>
          <p:nvPr/>
        </p:nvSpPr>
        <p:spPr>
          <a:xfrm>
            <a:off x="2670048" y="2139696"/>
            <a:ext cx="1380744" cy="182880"/>
          </a:xfrm>
          <a:prstGeom prst="rect">
            <a:avLst/>
          </a:prstGeom>
          <a:noFill/>
          <a:ln/>
        </p:spPr>
        <p:txBody>
          <a:bodyPr wrap="square" lIns="0" tIns="0" rIns="0" bIns="0" rtlCol="0" anchor="ctr"/>
          <a:lstStyle/>
          <a:p>
            <a:pPr marL="0" indent="0" algn="ctr">
              <a:buNone/>
            </a:pPr>
            <a:r>
              <a:rPr lang="en-US" sz="830" b="1" dirty="0">
                <a:solidFill>
                  <a:srgbClr val="6E43E9"/>
                </a:solidFill>
                <a:latin typeface="Aptos" pitchFamily="34" charset="0"/>
                <a:ea typeface="Aptos" pitchFamily="34" charset="-122"/>
                <a:cs typeface="Aptos" pitchFamily="34" charset="-120"/>
              </a:rPr>
              <a:t>INBOUND</a:t>
            </a:r>
            <a:endParaRPr lang="en-US" sz="830" dirty="0"/>
          </a:p>
        </p:txBody>
      </p:sp>
      <p:sp>
        <p:nvSpPr>
          <p:cNvPr id="18" name="Text 15"/>
          <p:cNvSpPr/>
          <p:nvPr/>
        </p:nvSpPr>
        <p:spPr>
          <a:xfrm>
            <a:off x="2670048" y="2404872"/>
            <a:ext cx="1380744" cy="256032"/>
          </a:xfrm>
          <a:prstGeom prst="rect">
            <a:avLst/>
          </a:prstGeom>
          <a:noFill/>
          <a:ln/>
        </p:spPr>
        <p:txBody>
          <a:bodyPr wrap="square" lIns="0" tIns="0" rIns="0" bIns="0" rtlCol="0" anchor="ctr">
            <a:normAutofit/>
          </a:bodyPr>
          <a:lstStyle/>
          <a:p>
            <a:pPr marL="0" indent="0" algn="ctr">
              <a:buNone/>
            </a:pPr>
            <a:r>
              <a:rPr lang="en-US" sz="930" dirty="0">
                <a:solidFill>
                  <a:srgbClr val="736A89"/>
                </a:solidFill>
                <a:latin typeface="Aptos" pitchFamily="34" charset="0"/>
                <a:ea typeface="Aptos" pitchFamily="34" charset="-122"/>
                <a:cs typeface="Aptos" pitchFamily="34" charset="-120"/>
              </a:rPr>
              <a:t>Conversations start here</a:t>
            </a:r>
            <a:endParaRPr lang="en-US" sz="930" dirty="0"/>
          </a:p>
        </p:txBody>
      </p:sp>
      <p:sp>
        <p:nvSpPr>
          <p:cNvPr id="19" name="Text 16"/>
          <p:cNvSpPr/>
          <p:nvPr/>
        </p:nvSpPr>
        <p:spPr>
          <a:xfrm>
            <a:off x="2788920" y="2980944"/>
            <a:ext cx="1143000"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WhatsApp</a:t>
            </a:r>
            <a:endParaRPr lang="en-US" sz="760" dirty="0"/>
          </a:p>
        </p:txBody>
      </p:sp>
      <p:sp>
        <p:nvSpPr>
          <p:cNvPr id="20" name="Text 17"/>
          <p:cNvSpPr/>
          <p:nvPr/>
        </p:nvSpPr>
        <p:spPr>
          <a:xfrm>
            <a:off x="2788920" y="3392424"/>
            <a:ext cx="521208"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Web</a:t>
            </a:r>
            <a:endParaRPr lang="en-US" sz="760" dirty="0"/>
          </a:p>
        </p:txBody>
      </p:sp>
      <p:sp>
        <p:nvSpPr>
          <p:cNvPr id="21" name="Text 18"/>
          <p:cNvSpPr/>
          <p:nvPr/>
        </p:nvSpPr>
        <p:spPr>
          <a:xfrm>
            <a:off x="3410712" y="3392424"/>
            <a:ext cx="521208"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Telegram</a:t>
            </a:r>
            <a:endParaRPr lang="en-US" sz="760" dirty="0"/>
          </a:p>
        </p:txBody>
      </p:sp>
      <p:sp>
        <p:nvSpPr>
          <p:cNvPr id="22" name="Shape 19"/>
          <p:cNvSpPr/>
          <p:nvPr/>
        </p:nvSpPr>
        <p:spPr>
          <a:xfrm>
            <a:off x="4572000" y="1901952"/>
            <a:ext cx="2286000" cy="2596896"/>
          </a:xfrm>
          <a:prstGeom prst="roundRect">
            <a:avLst/>
          </a:prstGeom>
          <a:solidFill>
            <a:srgbClr val="23173D"/>
          </a:solidFill>
          <a:ln w="12700">
            <a:solidFill>
              <a:srgbClr val="3A2A57"/>
            </a:solidFill>
            <a:prstDash val="solid"/>
          </a:ln>
          <a:effectLst>
            <a:outerShdw blurRad="25400" dist="13970" dir="2700000" algn="bl" rotWithShape="0">
              <a:srgbClr val="000000">
                <a:alpha val="18000"/>
              </a:srgbClr>
            </a:outerShdw>
          </a:effectLst>
        </p:spPr>
        <p:txBody>
          <a:bodyPr/>
          <a:lstStyle/>
          <a:p>
            <a:endParaRPr lang="es-MX"/>
          </a:p>
        </p:txBody>
      </p:sp>
      <p:sp>
        <p:nvSpPr>
          <p:cNvPr id="23" name="Text 20"/>
          <p:cNvSpPr/>
          <p:nvPr/>
        </p:nvSpPr>
        <p:spPr>
          <a:xfrm>
            <a:off x="5084064" y="1904836"/>
            <a:ext cx="1261872" cy="201168"/>
          </a:xfrm>
          <a:prstGeom prst="rect">
            <a:avLst/>
          </a:prstGeom>
          <a:solidFill>
            <a:srgbClr val="6E43E9"/>
          </a:solidFill>
          <a:ln>
            <a:solidFill>
              <a:srgbClr val="6E43E9"/>
            </a:solidFill>
          </a:ln>
        </p:spPr>
        <p:txBody>
          <a:bodyPr wrap="square" lIns="127" tIns="127" rIns="127" bIns="127" rtlCol="0" anchor="ctr"/>
          <a:lstStyle/>
          <a:p>
            <a:pPr marL="0" indent="0" algn="ctr">
              <a:buNone/>
            </a:pPr>
            <a:r>
              <a:rPr lang="en-US" sz="740" b="1" dirty="0">
                <a:solidFill>
                  <a:srgbClr val="FFFFFF"/>
                </a:solidFill>
                <a:latin typeface="Aptos" pitchFamily="34" charset="0"/>
                <a:ea typeface="Aptos" pitchFamily="34" charset="-122"/>
                <a:cs typeface="Aptos" pitchFamily="34" charset="-120"/>
              </a:rPr>
              <a:t>manual middleware</a:t>
            </a:r>
            <a:endParaRPr lang="en-US" sz="740" dirty="0"/>
          </a:p>
        </p:txBody>
      </p:sp>
      <p:sp>
        <p:nvSpPr>
          <p:cNvPr id="24" name="Text 21"/>
          <p:cNvSpPr/>
          <p:nvPr/>
        </p:nvSpPr>
        <p:spPr>
          <a:xfrm>
            <a:off x="4773168" y="2404872"/>
            <a:ext cx="1883664" cy="896112"/>
          </a:xfrm>
          <a:prstGeom prst="rect">
            <a:avLst/>
          </a:prstGeom>
          <a:noFill/>
          <a:ln/>
        </p:spPr>
        <p:txBody>
          <a:bodyPr wrap="square" lIns="127" tIns="127" rIns="127" bIns="127" rtlCol="0" anchor="ctr">
            <a:normAutofit lnSpcReduction="10000"/>
          </a:bodyP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HUMAN</a:t>
            </a:r>
            <a:endParaRPr lang="en-US" sz="2000" dirty="0"/>
          </a:p>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COORDINATION</a:t>
            </a:r>
            <a:endParaRPr lang="en-US" sz="2000" dirty="0"/>
          </a:p>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LAYER</a:t>
            </a:r>
            <a:endParaRPr lang="en-US" sz="2000" dirty="0"/>
          </a:p>
        </p:txBody>
      </p:sp>
      <p:sp>
        <p:nvSpPr>
          <p:cNvPr id="25" name="Text 22"/>
          <p:cNvSpPr/>
          <p:nvPr/>
        </p:nvSpPr>
        <p:spPr>
          <a:xfrm>
            <a:off x="4791456" y="3575304"/>
            <a:ext cx="1847088" cy="438912"/>
          </a:xfrm>
          <a:prstGeom prst="rect">
            <a:avLst/>
          </a:prstGeom>
          <a:noFill/>
          <a:ln/>
        </p:spPr>
        <p:txBody>
          <a:bodyPr wrap="square" lIns="127" tIns="127" rIns="127" bIns="127" rtlCol="0" anchor="ctr">
            <a:normAutofit/>
          </a:bodyPr>
          <a:lstStyle/>
          <a:p>
            <a:pPr marL="0" indent="0" algn="ctr">
              <a:buNone/>
            </a:pPr>
            <a:r>
              <a:rPr lang="en-US" sz="1010" dirty="0">
                <a:solidFill>
                  <a:srgbClr val="E6DFF8"/>
                </a:solidFill>
                <a:latin typeface="Aptos" pitchFamily="34" charset="0"/>
                <a:ea typeface="Aptos" pitchFamily="34" charset="-122"/>
                <a:cs typeface="Aptos" pitchFamily="34" charset="-120"/>
              </a:rPr>
              <a:t>Respond · Remember · Search</a:t>
            </a:r>
            <a:endParaRPr lang="en-US" sz="1010" dirty="0"/>
          </a:p>
          <a:p>
            <a:pPr marL="0" indent="0" algn="ctr">
              <a:buNone/>
            </a:pPr>
            <a:r>
              <a:rPr lang="en-US" sz="1010" dirty="0">
                <a:solidFill>
                  <a:srgbClr val="E6DFF8"/>
                </a:solidFill>
                <a:latin typeface="Aptos" pitchFamily="34" charset="0"/>
                <a:ea typeface="Aptos" pitchFamily="34" charset="-122"/>
                <a:cs typeface="Aptos" pitchFamily="34" charset="-120"/>
              </a:rPr>
              <a:t>Coordinate · Update · Follow up </a:t>
            </a:r>
            <a:endParaRPr lang="en-US" sz="1010" dirty="0"/>
          </a:p>
        </p:txBody>
      </p:sp>
      <p:sp>
        <p:nvSpPr>
          <p:cNvPr id="26" name="Shape 23"/>
          <p:cNvSpPr/>
          <p:nvPr/>
        </p:nvSpPr>
        <p:spPr>
          <a:xfrm>
            <a:off x="7333488" y="1975104"/>
            <a:ext cx="205740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27" name="Text 24"/>
          <p:cNvSpPr/>
          <p:nvPr/>
        </p:nvSpPr>
        <p:spPr>
          <a:xfrm>
            <a:off x="7443216" y="2139696"/>
            <a:ext cx="1837944" cy="182880"/>
          </a:xfrm>
          <a:prstGeom prst="rect">
            <a:avLst/>
          </a:prstGeom>
          <a:noFill/>
          <a:ln/>
        </p:spPr>
        <p:txBody>
          <a:bodyPr wrap="square" lIns="0" tIns="0" rIns="0" bIns="0" rtlCol="0" anchor="ctr"/>
          <a:lstStyle/>
          <a:p>
            <a:pPr marL="0" indent="0" algn="ctr">
              <a:buNone/>
            </a:pPr>
            <a:r>
              <a:rPr lang="en-US" sz="830" b="1" dirty="0">
                <a:solidFill>
                  <a:srgbClr val="6E43E9"/>
                </a:solidFill>
                <a:latin typeface="Aptos" pitchFamily="34" charset="0"/>
                <a:ea typeface="Aptos" pitchFamily="34" charset="-122"/>
                <a:cs typeface="Aptos" pitchFamily="34" charset="-120"/>
              </a:rPr>
              <a:t>SYSTEMS + EXECUTION</a:t>
            </a:r>
            <a:endParaRPr lang="en-US" sz="830" dirty="0"/>
          </a:p>
        </p:txBody>
      </p:sp>
      <p:sp>
        <p:nvSpPr>
          <p:cNvPr id="28" name="Text 25"/>
          <p:cNvSpPr/>
          <p:nvPr/>
        </p:nvSpPr>
        <p:spPr>
          <a:xfrm>
            <a:off x="7443216" y="2404872"/>
            <a:ext cx="1837944" cy="256032"/>
          </a:xfrm>
          <a:prstGeom prst="rect">
            <a:avLst/>
          </a:prstGeom>
          <a:noFill/>
          <a:ln/>
        </p:spPr>
        <p:txBody>
          <a:bodyPr wrap="square" lIns="0" tIns="0" rIns="0" bIns="0" rtlCol="0" anchor="ctr">
            <a:normAutofit/>
          </a:bodyPr>
          <a:lstStyle/>
          <a:p>
            <a:pPr marL="0" indent="0" algn="ctr">
              <a:buNone/>
            </a:pPr>
            <a:r>
              <a:rPr lang="en-US" sz="930" dirty="0">
                <a:solidFill>
                  <a:srgbClr val="736A89"/>
                </a:solidFill>
                <a:latin typeface="Aptos" pitchFamily="34" charset="0"/>
                <a:ea typeface="Aptos" pitchFamily="34" charset="-122"/>
                <a:cs typeface="Aptos" pitchFamily="34" charset="-120"/>
              </a:rPr>
              <a:t>Where work must happen</a:t>
            </a:r>
            <a:endParaRPr lang="en-US" sz="930" dirty="0"/>
          </a:p>
        </p:txBody>
      </p:sp>
      <p:sp>
        <p:nvSpPr>
          <p:cNvPr id="29" name="Text 26"/>
          <p:cNvSpPr/>
          <p:nvPr/>
        </p:nvSpPr>
        <p:spPr>
          <a:xfrm>
            <a:off x="7498080" y="2916936"/>
            <a:ext cx="56692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CRM</a:t>
            </a:r>
            <a:endParaRPr lang="en-US" sz="760" dirty="0"/>
          </a:p>
        </p:txBody>
      </p:sp>
      <p:sp>
        <p:nvSpPr>
          <p:cNvPr id="30" name="Text 27"/>
          <p:cNvSpPr/>
          <p:nvPr/>
        </p:nvSpPr>
        <p:spPr>
          <a:xfrm>
            <a:off x="8193024" y="2916936"/>
            <a:ext cx="74980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Inventory</a:t>
            </a:r>
            <a:endParaRPr lang="en-US" sz="760" dirty="0"/>
          </a:p>
        </p:txBody>
      </p:sp>
      <p:sp>
        <p:nvSpPr>
          <p:cNvPr id="31" name="Text 28"/>
          <p:cNvSpPr/>
          <p:nvPr/>
        </p:nvSpPr>
        <p:spPr>
          <a:xfrm>
            <a:off x="7498080" y="3255264"/>
            <a:ext cx="713232"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Calendar</a:t>
            </a:r>
            <a:endParaRPr lang="en-US" sz="760" dirty="0"/>
          </a:p>
        </p:txBody>
      </p:sp>
      <p:sp>
        <p:nvSpPr>
          <p:cNvPr id="32" name="Text 29"/>
          <p:cNvSpPr/>
          <p:nvPr/>
        </p:nvSpPr>
        <p:spPr>
          <a:xfrm>
            <a:off x="8357616" y="3255264"/>
            <a:ext cx="502920"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Docs</a:t>
            </a:r>
            <a:endParaRPr lang="en-US" sz="760" dirty="0"/>
          </a:p>
        </p:txBody>
      </p:sp>
      <p:sp>
        <p:nvSpPr>
          <p:cNvPr id="33" name="Text 30"/>
          <p:cNvSpPr/>
          <p:nvPr/>
        </p:nvSpPr>
        <p:spPr>
          <a:xfrm>
            <a:off x="7498080" y="3593592"/>
            <a:ext cx="65836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People</a:t>
            </a:r>
            <a:endParaRPr lang="en-US" sz="760" dirty="0"/>
          </a:p>
        </p:txBody>
      </p:sp>
      <p:sp>
        <p:nvSpPr>
          <p:cNvPr id="34" name="Text 31"/>
          <p:cNvSpPr/>
          <p:nvPr/>
        </p:nvSpPr>
        <p:spPr>
          <a:xfrm>
            <a:off x="8275320" y="3593592"/>
            <a:ext cx="74980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Providers</a:t>
            </a:r>
            <a:endParaRPr lang="en-US" sz="760" dirty="0"/>
          </a:p>
        </p:txBody>
      </p:sp>
      <p:sp>
        <p:nvSpPr>
          <p:cNvPr id="35" name="Shape 32"/>
          <p:cNvSpPr/>
          <p:nvPr/>
        </p:nvSpPr>
        <p:spPr>
          <a:xfrm>
            <a:off x="9802368" y="1975104"/>
            <a:ext cx="178308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36" name="Text 33"/>
          <p:cNvSpPr/>
          <p:nvPr/>
        </p:nvSpPr>
        <p:spPr>
          <a:xfrm>
            <a:off x="9912096" y="2139696"/>
            <a:ext cx="1563624" cy="182880"/>
          </a:xfrm>
          <a:prstGeom prst="rect">
            <a:avLst/>
          </a:prstGeom>
          <a:noFill/>
          <a:ln/>
        </p:spPr>
        <p:txBody>
          <a:bodyPr wrap="square" lIns="0" tIns="0" rIns="0" bIns="0" rtlCol="0" anchor="ctr"/>
          <a:lstStyle/>
          <a:p>
            <a:pPr marL="0" indent="0" algn="ctr">
              <a:buNone/>
            </a:pPr>
            <a:r>
              <a:rPr lang="en-US" sz="830" b="1" dirty="0">
                <a:solidFill>
                  <a:srgbClr val="6E43E9"/>
                </a:solidFill>
                <a:latin typeface="Aptos" pitchFamily="34" charset="0"/>
                <a:ea typeface="Aptos" pitchFamily="34" charset="-122"/>
                <a:cs typeface="Aptos" pitchFamily="34" charset="-120"/>
              </a:rPr>
              <a:t>OUTCOMES</a:t>
            </a:r>
            <a:endParaRPr lang="en-US" sz="830" dirty="0"/>
          </a:p>
        </p:txBody>
      </p:sp>
      <p:sp>
        <p:nvSpPr>
          <p:cNvPr id="37" name="Text 34"/>
          <p:cNvSpPr/>
          <p:nvPr/>
        </p:nvSpPr>
        <p:spPr>
          <a:xfrm>
            <a:off x="9912096" y="2404872"/>
            <a:ext cx="1563624" cy="256032"/>
          </a:xfrm>
          <a:prstGeom prst="rect">
            <a:avLst/>
          </a:prstGeom>
          <a:noFill/>
          <a:ln/>
        </p:spPr>
        <p:txBody>
          <a:bodyPr wrap="square" lIns="0" tIns="0" rIns="0" bIns="0" rtlCol="0" anchor="ctr">
            <a:normAutofit lnSpcReduction="10000"/>
          </a:bodyPr>
          <a:lstStyle/>
          <a:p>
            <a:pPr marL="0" indent="0" algn="ctr">
              <a:buNone/>
            </a:pPr>
            <a:r>
              <a:rPr lang="en-US" sz="930" dirty="0">
                <a:solidFill>
                  <a:srgbClr val="736A89"/>
                </a:solidFill>
                <a:latin typeface="Aptos" pitchFamily="34" charset="0"/>
                <a:ea typeface="Aptos" pitchFamily="34" charset="-122"/>
                <a:cs typeface="Aptos" pitchFamily="34" charset="-120"/>
              </a:rPr>
              <a:t>Where revenue becomes possible</a:t>
            </a:r>
            <a:endParaRPr lang="en-US" sz="930" dirty="0"/>
          </a:p>
        </p:txBody>
      </p:sp>
      <p:sp>
        <p:nvSpPr>
          <p:cNvPr id="38" name="Text 35"/>
          <p:cNvSpPr/>
          <p:nvPr/>
        </p:nvSpPr>
        <p:spPr>
          <a:xfrm>
            <a:off x="10058400" y="2962656"/>
            <a:ext cx="1261872" cy="301752"/>
          </a:xfrm>
          <a:prstGeom prst="rect">
            <a:avLst/>
          </a:prstGeom>
          <a:solidFill>
            <a:srgbClr val="F0EAFD"/>
          </a:solidFill>
          <a:ln>
            <a:solidFill>
              <a:srgbClr val="F0EAFD"/>
            </a:solidFill>
          </a:ln>
        </p:spPr>
        <p:txBody>
          <a:bodyPr wrap="square" lIns="127" tIns="127" rIns="127" bIns="127" rtlCol="0" anchor="ctr"/>
          <a:lstStyle/>
          <a:p>
            <a:pPr marL="0" indent="0" algn="ctr">
              <a:buNone/>
            </a:pPr>
            <a:r>
              <a:rPr lang="en-US" sz="870" b="1" dirty="0">
                <a:solidFill>
                  <a:srgbClr val="5B2DBB"/>
                </a:solidFill>
                <a:latin typeface="Aptos" pitchFamily="34" charset="0"/>
                <a:ea typeface="Aptos" pitchFamily="34" charset="-122"/>
                <a:cs typeface="Aptos" pitchFamily="34" charset="-120"/>
              </a:rPr>
              <a:t>VISITS</a:t>
            </a:r>
            <a:endParaRPr lang="en-US" sz="870" dirty="0"/>
          </a:p>
        </p:txBody>
      </p:sp>
      <p:sp>
        <p:nvSpPr>
          <p:cNvPr id="39" name="Text 36"/>
          <p:cNvSpPr/>
          <p:nvPr/>
        </p:nvSpPr>
        <p:spPr>
          <a:xfrm>
            <a:off x="10058400" y="3438144"/>
            <a:ext cx="1261872" cy="301752"/>
          </a:xfrm>
          <a:prstGeom prst="rect">
            <a:avLst/>
          </a:prstGeom>
          <a:solidFill>
            <a:srgbClr val="E5F5EE"/>
          </a:solidFill>
          <a:ln>
            <a:solidFill>
              <a:srgbClr val="E5F5EE"/>
            </a:solidFill>
          </a:ln>
        </p:spPr>
        <p:txBody>
          <a:bodyPr wrap="square" lIns="127" tIns="127" rIns="127" bIns="127" rtlCol="0" anchor="ctr"/>
          <a:lstStyle/>
          <a:p>
            <a:pPr marL="0" indent="0" algn="ctr">
              <a:buNone/>
            </a:pPr>
            <a:r>
              <a:rPr lang="en-US" sz="850" b="1" dirty="0">
                <a:solidFill>
                  <a:srgbClr val="0E8A53"/>
                </a:solidFill>
                <a:latin typeface="Aptos" pitchFamily="34" charset="0"/>
                <a:ea typeface="Aptos" pitchFamily="34" charset="-122"/>
                <a:cs typeface="Aptos" pitchFamily="34" charset="-120"/>
              </a:rPr>
              <a:t>TRANSACTIONS</a:t>
            </a:r>
            <a:endParaRPr lang="en-US" sz="850" dirty="0"/>
          </a:p>
        </p:txBody>
      </p:sp>
      <p:sp>
        <p:nvSpPr>
          <p:cNvPr id="40" name="Shape 37"/>
          <p:cNvSpPr/>
          <p:nvPr/>
        </p:nvSpPr>
        <p:spPr>
          <a:xfrm>
            <a:off x="10689336" y="3282696"/>
            <a:ext cx="0" cy="128016"/>
          </a:xfrm>
          <a:prstGeom prst="line">
            <a:avLst/>
          </a:prstGeom>
          <a:noFill/>
          <a:ln w="12700">
            <a:solidFill>
              <a:srgbClr val="6E43E9"/>
            </a:solidFill>
            <a:prstDash val="solid"/>
            <a:headEnd type="none"/>
            <a:tailEnd type="triangle"/>
          </a:ln>
        </p:spPr>
        <p:txBody>
          <a:bodyPr/>
          <a:lstStyle/>
          <a:p>
            <a:endParaRPr lang="es-MX"/>
          </a:p>
        </p:txBody>
      </p:sp>
      <p:sp>
        <p:nvSpPr>
          <p:cNvPr id="41" name="Shape 38"/>
          <p:cNvSpPr/>
          <p:nvPr/>
        </p:nvSpPr>
        <p:spPr>
          <a:xfrm>
            <a:off x="2258568" y="3200400"/>
            <a:ext cx="192024" cy="0"/>
          </a:xfrm>
          <a:prstGeom prst="line">
            <a:avLst/>
          </a:prstGeom>
          <a:noFill/>
          <a:ln w="17145">
            <a:solidFill>
              <a:srgbClr val="6E43E9"/>
            </a:solidFill>
            <a:prstDash val="solid"/>
            <a:headEnd type="none"/>
            <a:tailEnd type="triangle"/>
          </a:ln>
        </p:spPr>
        <p:txBody>
          <a:bodyPr/>
          <a:lstStyle/>
          <a:p>
            <a:endParaRPr lang="es-MX"/>
          </a:p>
        </p:txBody>
      </p:sp>
      <p:sp>
        <p:nvSpPr>
          <p:cNvPr id="42" name="Shape 39"/>
          <p:cNvSpPr/>
          <p:nvPr/>
        </p:nvSpPr>
        <p:spPr>
          <a:xfrm>
            <a:off x="4224528" y="3200400"/>
            <a:ext cx="219456" cy="0"/>
          </a:xfrm>
          <a:prstGeom prst="line">
            <a:avLst/>
          </a:prstGeom>
          <a:noFill/>
          <a:ln w="17145">
            <a:solidFill>
              <a:srgbClr val="6E43E9"/>
            </a:solidFill>
            <a:prstDash val="solid"/>
            <a:headEnd type="none"/>
            <a:tailEnd type="triangle"/>
          </a:ln>
        </p:spPr>
        <p:txBody>
          <a:bodyPr/>
          <a:lstStyle/>
          <a:p>
            <a:endParaRPr lang="es-MX"/>
          </a:p>
        </p:txBody>
      </p:sp>
      <p:sp>
        <p:nvSpPr>
          <p:cNvPr id="43" name="Shape 40"/>
          <p:cNvSpPr/>
          <p:nvPr/>
        </p:nvSpPr>
        <p:spPr>
          <a:xfrm>
            <a:off x="6986016" y="3200400"/>
            <a:ext cx="219456" cy="0"/>
          </a:xfrm>
          <a:prstGeom prst="line">
            <a:avLst/>
          </a:prstGeom>
          <a:noFill/>
          <a:ln w="17145">
            <a:solidFill>
              <a:srgbClr val="6E43E9"/>
            </a:solidFill>
            <a:prstDash val="solid"/>
            <a:headEnd type="none"/>
            <a:tailEnd type="triangle"/>
          </a:ln>
        </p:spPr>
        <p:txBody>
          <a:bodyPr/>
          <a:lstStyle/>
          <a:p>
            <a:endParaRPr lang="es-MX"/>
          </a:p>
        </p:txBody>
      </p:sp>
      <p:sp>
        <p:nvSpPr>
          <p:cNvPr id="44" name="Shape 41"/>
          <p:cNvSpPr/>
          <p:nvPr/>
        </p:nvSpPr>
        <p:spPr>
          <a:xfrm>
            <a:off x="9454896" y="3200400"/>
            <a:ext cx="219456" cy="0"/>
          </a:xfrm>
          <a:prstGeom prst="line">
            <a:avLst/>
          </a:prstGeom>
          <a:noFill/>
          <a:ln w="17145">
            <a:solidFill>
              <a:srgbClr val="6E43E9"/>
            </a:solidFill>
            <a:prstDash val="solid"/>
            <a:headEnd type="none"/>
            <a:tailEnd type="triangle"/>
          </a:ln>
        </p:spPr>
        <p:txBody>
          <a:bodyPr/>
          <a:lstStyle/>
          <a:p>
            <a:endParaRPr lang="es-MX"/>
          </a:p>
        </p:txBody>
      </p:sp>
      <p:sp>
        <p:nvSpPr>
          <p:cNvPr id="45" name="Shape 42"/>
          <p:cNvSpPr/>
          <p:nvPr/>
        </p:nvSpPr>
        <p:spPr>
          <a:xfrm>
            <a:off x="868680" y="4736592"/>
            <a:ext cx="10469880" cy="566928"/>
          </a:xfrm>
          <a:prstGeom prst="roundRect">
            <a:avLst/>
          </a:prstGeom>
          <a:solidFill>
            <a:srgbClr val="F5F0FF"/>
          </a:solidFill>
          <a:ln w="12700">
            <a:solidFill>
              <a:srgbClr val="DACDF6"/>
            </a:solidFill>
            <a:prstDash val="solid"/>
          </a:ln>
        </p:spPr>
        <p:txBody>
          <a:bodyPr/>
          <a:lstStyle/>
          <a:p>
            <a:endParaRPr lang="es-MX"/>
          </a:p>
        </p:txBody>
      </p:sp>
      <p:sp>
        <p:nvSpPr>
          <p:cNvPr id="46" name="Text 43"/>
          <p:cNvSpPr/>
          <p:nvPr/>
        </p:nvSpPr>
        <p:spPr>
          <a:xfrm>
            <a:off x="1078992" y="4873752"/>
            <a:ext cx="10058400" cy="228600"/>
          </a:xfrm>
          <a:prstGeom prst="rect">
            <a:avLst/>
          </a:prstGeom>
          <a:noFill/>
          <a:ln/>
        </p:spPr>
        <p:txBody>
          <a:bodyPr wrap="square" lIns="0" tIns="0" rIns="0" bIns="0" rtlCol="0" anchor="ctr"/>
          <a:lstStyle/>
          <a:p>
            <a:pPr marL="0" indent="0" algn="ctr">
              <a:buNone/>
            </a:pPr>
            <a:r>
              <a:rPr lang="en-US" sz="1400" b="1" dirty="0">
                <a:solidFill>
                  <a:srgbClr val="191529"/>
                </a:solidFill>
                <a:latin typeface="Aptos" pitchFamily="34" charset="0"/>
                <a:ea typeface="Aptos" pitchFamily="34" charset="-122"/>
                <a:cs typeface="Aptos" pitchFamily="34" charset="-120"/>
              </a:rPr>
              <a:t>The bottleneck is not the lack of tools — it is the human effort required to keep the operation connected.</a:t>
            </a:r>
            <a:endParaRPr lang="en-US" sz="1400" dirty="0"/>
          </a:p>
        </p:txBody>
      </p:sp>
      <p:sp>
        <p:nvSpPr>
          <p:cNvPr id="47" name="Text 44"/>
          <p:cNvSpPr/>
          <p:nvPr/>
        </p:nvSpPr>
        <p:spPr>
          <a:xfrm>
            <a:off x="676656" y="5623560"/>
            <a:ext cx="3429000" cy="393192"/>
          </a:xfrm>
          <a:prstGeom prst="rect">
            <a:avLst/>
          </a:prstGeom>
          <a:noFill/>
          <a:ln/>
        </p:spPr>
        <p:txBody>
          <a:bodyPr wrap="square" lIns="0" tIns="0" rIns="0" bIns="0" rtlCol="0" anchor="ctr">
            <a:normAutofit/>
          </a:bodyPr>
          <a:lstStyle/>
          <a:p>
            <a:pPr marL="0" indent="0">
              <a:buNone/>
            </a:pPr>
            <a:r>
              <a:rPr lang="en-US" sz="1200" b="1" dirty="0">
                <a:solidFill>
                  <a:srgbClr val="6E43E9"/>
                </a:solidFill>
                <a:latin typeface="Aptos" pitchFamily="34" charset="0"/>
                <a:ea typeface="Aptos" pitchFamily="34" charset="-122"/>
                <a:cs typeface="Aptos" pitchFamily="34" charset="-120"/>
              </a:rPr>
              <a:t>●  </a:t>
            </a:r>
            <a:r>
              <a:rPr lang="en-US" sz="1200" b="1" dirty="0">
                <a:solidFill>
                  <a:srgbClr val="191529"/>
                </a:solidFill>
                <a:latin typeface="Aptos" pitchFamily="34" charset="0"/>
                <a:ea typeface="Aptos" pitchFamily="34" charset="-122"/>
                <a:cs typeface="Aptos" pitchFamily="34" charset="-120"/>
              </a:rPr>
              <a:t>Multiple demand sources</a:t>
            </a:r>
            <a:endParaRPr lang="en-US" sz="1200" dirty="0"/>
          </a:p>
          <a:p>
            <a:pPr marL="0" indent="0">
              <a:buNone/>
            </a:pPr>
            <a:r>
              <a:rPr lang="en-US" sz="1200" dirty="0">
                <a:solidFill>
                  <a:srgbClr val="736A89"/>
                </a:solidFill>
                <a:latin typeface="Aptos" pitchFamily="34" charset="0"/>
                <a:ea typeface="Aptos" pitchFamily="34" charset="-122"/>
                <a:cs typeface="Aptos" pitchFamily="34" charset="-120"/>
              </a:rPr>
              <a:t>Fragmented inputs create coordination work.</a:t>
            </a:r>
            <a:endParaRPr lang="en-US" sz="1200" dirty="0"/>
          </a:p>
        </p:txBody>
      </p:sp>
      <p:sp>
        <p:nvSpPr>
          <p:cNvPr id="48" name="Text 45"/>
          <p:cNvSpPr/>
          <p:nvPr/>
        </p:nvSpPr>
        <p:spPr>
          <a:xfrm>
            <a:off x="4004280" y="5623560"/>
            <a:ext cx="3429000" cy="393192"/>
          </a:xfrm>
          <a:prstGeom prst="rect">
            <a:avLst/>
          </a:prstGeom>
          <a:noFill/>
          <a:ln/>
        </p:spPr>
        <p:txBody>
          <a:bodyPr wrap="square" lIns="0" tIns="0" rIns="0" bIns="0" rtlCol="0" anchor="ctr">
            <a:normAutofit/>
          </a:bodyPr>
          <a:lstStyle/>
          <a:p>
            <a:pPr marL="0" indent="0">
              <a:buNone/>
            </a:pPr>
            <a:r>
              <a:rPr lang="en-US" sz="1200" b="1" dirty="0">
                <a:solidFill>
                  <a:srgbClr val="6E43E9"/>
                </a:solidFill>
                <a:latin typeface="Aptos" pitchFamily="34" charset="0"/>
                <a:ea typeface="Aptos" pitchFamily="34" charset="-122"/>
                <a:cs typeface="Aptos" pitchFamily="34" charset="-120"/>
              </a:rPr>
              <a:t>●  </a:t>
            </a:r>
            <a:r>
              <a:rPr lang="en-US" sz="1200" b="1" dirty="0">
                <a:solidFill>
                  <a:srgbClr val="191529"/>
                </a:solidFill>
                <a:latin typeface="Aptos" pitchFamily="34" charset="0"/>
                <a:ea typeface="Aptos" pitchFamily="34" charset="-122"/>
                <a:cs typeface="Aptos" pitchFamily="34" charset="-120"/>
              </a:rPr>
              <a:t>Work spans systems &amp; people</a:t>
            </a:r>
            <a:endParaRPr lang="en-US" sz="1200" dirty="0"/>
          </a:p>
          <a:p>
            <a:pPr marL="0" indent="0">
              <a:buNone/>
            </a:pPr>
            <a:r>
              <a:rPr lang="en-US" sz="1200" dirty="0">
                <a:solidFill>
                  <a:srgbClr val="736A89"/>
                </a:solidFill>
                <a:latin typeface="Aptos" pitchFamily="34" charset="0"/>
                <a:ea typeface="Aptos" pitchFamily="34" charset="-122"/>
                <a:cs typeface="Aptos" pitchFamily="34" charset="-120"/>
              </a:rPr>
              <a:t>No single tool contains the full operational reality.</a:t>
            </a:r>
            <a:endParaRPr lang="en-US" sz="1200" dirty="0"/>
          </a:p>
        </p:txBody>
      </p:sp>
      <p:sp>
        <p:nvSpPr>
          <p:cNvPr id="49" name="Text 46"/>
          <p:cNvSpPr/>
          <p:nvPr/>
        </p:nvSpPr>
        <p:spPr>
          <a:xfrm>
            <a:off x="7659891" y="5623560"/>
            <a:ext cx="4078224" cy="393192"/>
          </a:xfrm>
          <a:prstGeom prst="rect">
            <a:avLst/>
          </a:prstGeom>
          <a:noFill/>
          <a:ln/>
        </p:spPr>
        <p:txBody>
          <a:bodyPr wrap="square" lIns="0" tIns="0" rIns="0" bIns="0" rtlCol="0" anchor="ctr">
            <a:noAutofit/>
          </a:bodyPr>
          <a:lstStyle/>
          <a:p>
            <a:pPr marL="0" indent="0">
              <a:buNone/>
            </a:pPr>
            <a:r>
              <a:rPr lang="en-US" sz="1200" b="1" dirty="0">
                <a:solidFill>
                  <a:srgbClr val="C76B8E"/>
                </a:solidFill>
                <a:latin typeface="Aptos" pitchFamily="34" charset="0"/>
                <a:ea typeface="Aptos" pitchFamily="34" charset="-122"/>
                <a:cs typeface="Aptos" pitchFamily="34" charset="-120"/>
              </a:rPr>
              <a:t>●  </a:t>
            </a:r>
            <a:r>
              <a:rPr lang="en-US" sz="1200" b="1" dirty="0">
                <a:solidFill>
                  <a:srgbClr val="191529"/>
                </a:solidFill>
                <a:latin typeface="Aptos" pitchFamily="34" charset="0"/>
                <a:ea typeface="Aptos" pitchFamily="34" charset="-122"/>
                <a:cs typeface="Aptos" pitchFamily="34" charset="-120"/>
              </a:rPr>
              <a:t>Execution remains human-dependent</a:t>
            </a:r>
            <a:endParaRPr lang="en-US" sz="1200" dirty="0"/>
          </a:p>
          <a:p>
            <a:pPr marL="0" indent="0">
              <a:buNone/>
            </a:pPr>
            <a:r>
              <a:rPr lang="en-US" sz="1200" dirty="0">
                <a:solidFill>
                  <a:srgbClr val="736A89"/>
                </a:solidFill>
                <a:latin typeface="Aptos" pitchFamily="34" charset="0"/>
                <a:ea typeface="Aptos" pitchFamily="34" charset="-122"/>
                <a:cs typeface="Aptos" pitchFamily="34" charset="-120"/>
              </a:rPr>
              <a:t>Availability, memory and follow-through still shape outcomes.</a:t>
            </a:r>
            <a:endParaRPr lang="en-US" sz="1200" dirty="0"/>
          </a:p>
        </p:txBody>
      </p:sp>
      <p:sp>
        <p:nvSpPr>
          <p:cNvPr id="50" name="Text 47"/>
          <p:cNvSpPr/>
          <p:nvPr/>
        </p:nvSpPr>
        <p:spPr>
          <a:xfrm>
            <a:off x="566928" y="6510528"/>
            <a:ext cx="1371600" cy="146304"/>
          </a:xfrm>
          <a:prstGeom prst="rect">
            <a:avLst/>
          </a:prstGeom>
          <a:noFill/>
          <a:ln/>
        </p:spPr>
        <p:txBody>
          <a:bodyPr wrap="square" lIns="0" tIns="0" rIns="0" bIns="0" rtlCol="0" anchor="ctr"/>
          <a:lstStyle/>
          <a:p>
            <a:pPr marL="0" indent="0">
              <a:buNone/>
            </a:pPr>
            <a:r>
              <a:rPr lang="en-US" sz="680" b="1" dirty="0">
                <a:solidFill>
                  <a:srgbClr val="9B94AF"/>
                </a:solidFill>
                <a:latin typeface="Aptos" pitchFamily="34" charset="0"/>
                <a:ea typeface="Aptos" pitchFamily="34" charset="-122"/>
                <a:cs typeface="Aptos" pitchFamily="34" charset="-120"/>
              </a:rPr>
              <a:t>CONFIDENTIAL</a:t>
            </a:r>
            <a:endParaRPr lang="en-US" sz="680" dirty="0"/>
          </a:p>
        </p:txBody>
      </p:sp>
      <p:sp>
        <p:nvSpPr>
          <p:cNvPr id="51" name="Text 48"/>
          <p:cNvSpPr/>
          <p:nvPr/>
        </p:nvSpPr>
        <p:spPr>
          <a:xfrm>
            <a:off x="10927080" y="6510528"/>
            <a:ext cx="640080" cy="146304"/>
          </a:xfrm>
          <a:prstGeom prst="rect">
            <a:avLst/>
          </a:prstGeom>
          <a:noFill/>
          <a:ln/>
        </p:spPr>
        <p:txBody>
          <a:bodyPr wrap="square" lIns="0" tIns="0" rIns="0" bIns="0" rtlCol="0" anchor="ctr"/>
          <a:lstStyle/>
          <a:p>
            <a:pPr marL="0" indent="0" algn="r">
              <a:buNone/>
            </a:pPr>
            <a:r>
              <a:rPr lang="en-US" sz="680" dirty="0">
                <a:solidFill>
                  <a:srgbClr val="837B94"/>
                </a:solidFill>
                <a:latin typeface="Aptos" pitchFamily="34" charset="0"/>
                <a:ea typeface="Aptos" pitchFamily="34" charset="-122"/>
                <a:cs typeface="Aptos" pitchFamily="34" charset="-120"/>
              </a:rPr>
              <a:t>ungga.com</a:t>
            </a:r>
            <a:endParaRPr lang="en-US" sz="680" dirty="0"/>
          </a:p>
        </p:txBody>
      </p:sp>
      <p:sp>
        <p:nvSpPr>
          <p:cNvPr id="52" name="Text 49"/>
          <p:cNvSpPr/>
          <p:nvPr/>
        </p:nvSpPr>
        <p:spPr>
          <a:xfrm>
            <a:off x="11722608" y="6510528"/>
            <a:ext cx="91440" cy="146304"/>
          </a:xfrm>
          <a:prstGeom prst="rect">
            <a:avLst/>
          </a:prstGeom>
          <a:noFill/>
          <a:ln/>
        </p:spPr>
        <p:txBody>
          <a:bodyPr wrap="square" lIns="0" tIns="0" rIns="0" bIns="0" rtlCol="0" anchor="ctr"/>
          <a:lstStyle/>
          <a:p>
            <a:pPr marL="0" indent="0" algn="r">
              <a:buNone/>
            </a:pPr>
            <a:r>
              <a:rPr lang="en-US" sz="680" dirty="0">
                <a:solidFill>
                  <a:srgbClr val="837B94"/>
                </a:solidFill>
                <a:latin typeface="Aptos" pitchFamily="34" charset="0"/>
                <a:ea typeface="Aptos" pitchFamily="34" charset="-122"/>
                <a:cs typeface="Aptos" pitchFamily="34" charset="-120"/>
              </a:rPr>
              <a:t>3</a:t>
            </a:r>
            <a:endParaRPr lang="en-US" sz="680" dirty="0"/>
          </a:p>
        </p:txBody>
      </p:sp>
      <p:sp>
        <p:nvSpPr>
          <p:cNvPr id="54" name="Text 0">
            <a:extLst>
              <a:ext uri="{FF2B5EF4-FFF2-40B4-BE49-F238E27FC236}">
                <a16:creationId xmlns:a16="http://schemas.microsoft.com/office/drawing/2014/main" id="{9D6EB1CC-C543-DB9C-80DD-C648EE8D825F}"/>
              </a:ext>
            </a:extLst>
          </p:cNvPr>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WHY THE PROBLEM PERSISTS</a:t>
            </a:r>
            <a:endParaRPr lang="en-US" sz="950" dirty="0"/>
          </a:p>
        </p:txBody>
      </p:sp>
      <p:pic>
        <p:nvPicPr>
          <p:cNvPr id="53" name="Image 0" descr="/mnt/data/ungga_logo_purple.png">
            <a:extLst>
              <a:ext uri="{FF2B5EF4-FFF2-40B4-BE49-F238E27FC236}">
                <a16:creationId xmlns:a16="http://schemas.microsoft.com/office/drawing/2014/main" id="{A46B6EEB-52B6-AFD5-0E75-394EFEC63F34}"/>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WHY NOW</a:t>
            </a:r>
            <a:endParaRPr lang="en-US" sz="950" dirty="0"/>
          </a:p>
        </p:txBody>
      </p:sp>
      <p:sp>
        <p:nvSpPr>
          <p:cNvPr id="4" name="Text 1"/>
          <p:cNvSpPr txBox="1"/>
          <p:nvPr/>
        </p:nvSpPr>
        <p:spPr>
          <a:xfrm>
            <a:off x="566928" y="658368"/>
            <a:ext cx="10405872" cy="658368"/>
          </a:xfrm>
          <a:prstGeom prst="rect">
            <a:avLst/>
          </a:prstGeom>
          <a:noFill/>
          <a:ln/>
        </p:spPr>
        <p:txBody>
          <a:bodyPr wrap="square" lIns="0" tIns="0" rIns="0" bIns="0" rtlCol="0" anchor="t">
            <a:normAutofit fontScale="92500"/>
          </a:bodyPr>
          <a:lstStyle/>
          <a:p>
            <a:pPr marL="0" indent="0" algn="l">
              <a:lnSpc>
                <a:spcPct val="100000"/>
              </a:lnSpc>
              <a:buNone/>
            </a:pPr>
            <a:r>
              <a:rPr lang="en-US" sz="2850" b="1" dirty="0">
                <a:solidFill>
                  <a:srgbClr val="18152B"/>
                </a:solidFill>
                <a:latin typeface="Aptos" panose="020B0004020202020204" pitchFamily="34" charset="0"/>
                <a:ea typeface="Inter Display" pitchFamily="34" charset="-122"/>
                <a:cs typeface="Inter Display" pitchFamily="34" charset="-120"/>
              </a:rPr>
              <a:t>AI can now participate in the operation—not just assist the user.</a:t>
            </a:r>
            <a:endParaRPr lang="en-US" sz="2850" dirty="0">
              <a:latin typeface="Aptos" panose="020B0004020202020204" pitchFamily="34" charset="0"/>
            </a:endParaRPr>
          </a:p>
        </p:txBody>
      </p:sp>
      <p:sp>
        <p:nvSpPr>
          <p:cNvPr id="5" name="Text 2"/>
          <p:cNvSpPr txBox="1"/>
          <p:nvPr/>
        </p:nvSpPr>
        <p:spPr>
          <a:xfrm>
            <a:off x="566928" y="1163213"/>
            <a:ext cx="10881360" cy="475488"/>
          </a:xfrm>
          <a:prstGeom prst="rect">
            <a:avLst/>
          </a:prstGeom>
          <a:noFill/>
          <a:ln/>
        </p:spPr>
        <p:txBody>
          <a:bodyPr wrap="square" lIns="0" tIns="0" rIns="0" bIns="0" rtlCol="0" anchor="t">
            <a:normAutofit/>
          </a:bodyPr>
          <a:lstStyle/>
          <a:p>
            <a:pPr marL="0" indent="0" algn="l">
              <a:lnSpc>
                <a:spcPct val="100000"/>
              </a:lnSpc>
              <a:buNone/>
            </a:pPr>
            <a:r>
              <a:rPr lang="en-US" dirty="0">
                <a:solidFill>
                  <a:srgbClr val="6F6882"/>
                </a:solidFill>
                <a:latin typeface="Inter" pitchFamily="34" charset="0"/>
                <a:ea typeface="Inter" pitchFamily="34" charset="-122"/>
                <a:cs typeface="Inter" pitchFamily="34" charset="-120"/>
              </a:rPr>
              <a:t>The relationship between people and software is changing.</a:t>
            </a:r>
            <a:endParaRPr lang="en-US" dirty="0"/>
          </a:p>
        </p:txBody>
      </p:sp>
      <p:sp>
        <p:nvSpPr>
          <p:cNvPr id="6" name="Shape 3"/>
          <p:cNvSpPr/>
          <p:nvPr/>
        </p:nvSpPr>
        <p:spPr>
          <a:xfrm>
            <a:off x="603504" y="1792224"/>
            <a:ext cx="5422392" cy="4041648"/>
          </a:xfrm>
          <a:prstGeom prst="roundRect">
            <a:avLst>
              <a:gd name="adj" fmla="val 2715"/>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7" name="Shape 4"/>
          <p:cNvSpPr/>
          <p:nvPr/>
        </p:nvSpPr>
        <p:spPr>
          <a:xfrm>
            <a:off x="6181344" y="1792224"/>
            <a:ext cx="5404104" cy="4041648"/>
          </a:xfrm>
          <a:prstGeom prst="roundRect">
            <a:avLst>
              <a:gd name="adj" fmla="val 2715"/>
            </a:avLst>
          </a:prstGeom>
          <a:solidFill>
            <a:srgbClr val="F8F5FF"/>
          </a:solidFill>
          <a:ln w="12700">
            <a:solidFill>
              <a:srgbClr val="DDD2FA"/>
            </a:solidFill>
            <a:prstDash val="solid"/>
          </a:ln>
          <a:effectLst>
            <a:outerShdw blurRad="19050" dist="50800" dir="2700000" algn="bl" rotWithShape="0">
              <a:srgbClr val="C6BCD8">
                <a:alpha val="16000"/>
              </a:srgbClr>
            </a:outerShdw>
          </a:effectLst>
        </p:spPr>
        <p:txBody>
          <a:bodyPr/>
          <a:lstStyle/>
          <a:p>
            <a:endParaRPr lang="es-MX"/>
          </a:p>
        </p:txBody>
      </p:sp>
      <p:sp>
        <p:nvSpPr>
          <p:cNvPr id="8" name="Shape 5"/>
          <p:cNvSpPr/>
          <p:nvPr/>
        </p:nvSpPr>
        <p:spPr>
          <a:xfrm>
            <a:off x="896112" y="2020824"/>
            <a:ext cx="2684486" cy="310896"/>
          </a:xfrm>
          <a:prstGeom prst="roundRect">
            <a:avLst>
              <a:gd name="adj" fmla="val 17647"/>
            </a:avLst>
          </a:prstGeom>
          <a:solidFill>
            <a:srgbClr val="EEEAF1"/>
          </a:solidFill>
          <a:ln w="12700">
            <a:solidFill>
              <a:srgbClr val="FFFFFF">
                <a:alpha val="0"/>
              </a:srgbClr>
            </a:solidFill>
            <a:prstDash val="solid"/>
          </a:ln>
        </p:spPr>
        <p:txBody>
          <a:bodyPr/>
          <a:lstStyle/>
          <a:p>
            <a:endParaRPr lang="es-MX"/>
          </a:p>
        </p:txBody>
      </p:sp>
      <p:sp>
        <p:nvSpPr>
          <p:cNvPr id="9" name="Text 6"/>
          <p:cNvSpPr txBox="1"/>
          <p:nvPr/>
        </p:nvSpPr>
        <p:spPr>
          <a:xfrm>
            <a:off x="896112" y="2023567"/>
            <a:ext cx="2578608" cy="310896"/>
          </a:xfrm>
          <a:prstGeom prst="rect">
            <a:avLst/>
          </a:prstGeom>
          <a:noFill/>
          <a:ln/>
        </p:spPr>
        <p:txBody>
          <a:bodyPr wrap="square" lIns="0" tIns="0" rIns="0" bIns="0" rtlCol="0" anchor="ctr">
            <a:noAutofit/>
          </a:bodyPr>
          <a:lstStyle/>
          <a:p>
            <a:pPr marL="0" indent="0" algn="ctr">
              <a:lnSpc>
                <a:spcPct val="100000"/>
              </a:lnSpc>
              <a:buNone/>
            </a:pPr>
            <a:r>
              <a:rPr lang="en-US" sz="1400" b="1" kern="0" spc="80" dirty="0">
                <a:solidFill>
                  <a:srgbClr val="18152B"/>
                </a:solidFill>
                <a:latin typeface="Inter" pitchFamily="34" charset="0"/>
                <a:ea typeface="Inter" pitchFamily="34" charset="-122"/>
                <a:cs typeface="Inter" pitchFamily="34" charset="-120"/>
              </a:rPr>
              <a:t>TRADITIONAL SOFTWARE</a:t>
            </a:r>
            <a:endParaRPr lang="en-US" sz="1400" dirty="0"/>
          </a:p>
        </p:txBody>
      </p:sp>
      <p:sp>
        <p:nvSpPr>
          <p:cNvPr id="10" name="Shape 7"/>
          <p:cNvSpPr/>
          <p:nvPr/>
        </p:nvSpPr>
        <p:spPr>
          <a:xfrm>
            <a:off x="6473952" y="2020824"/>
            <a:ext cx="2670048"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a:p>
        </p:txBody>
      </p:sp>
      <p:sp>
        <p:nvSpPr>
          <p:cNvPr id="11" name="Text 8"/>
          <p:cNvSpPr txBox="1"/>
          <p:nvPr/>
        </p:nvSpPr>
        <p:spPr>
          <a:xfrm>
            <a:off x="6473952" y="2023567"/>
            <a:ext cx="2544920" cy="310896"/>
          </a:xfrm>
          <a:prstGeom prst="rect">
            <a:avLst/>
          </a:prstGeom>
          <a:noFill/>
          <a:ln/>
        </p:spPr>
        <p:txBody>
          <a:bodyPr wrap="square" lIns="0" tIns="0" rIns="0" bIns="0" rtlCol="0" anchor="ctr">
            <a:normAutofit/>
          </a:bodyPr>
          <a:lstStyle/>
          <a:p>
            <a:pPr marL="0" indent="0" algn="ctr">
              <a:lnSpc>
                <a:spcPct val="100000"/>
              </a:lnSpc>
              <a:buNone/>
            </a:pPr>
            <a:r>
              <a:rPr lang="en-US" sz="1400" b="1" kern="0" spc="80" dirty="0">
                <a:solidFill>
                  <a:srgbClr val="FFFFFF"/>
                </a:solidFill>
                <a:latin typeface="Inter" pitchFamily="34" charset="0"/>
                <a:ea typeface="Inter" pitchFamily="34" charset="-122"/>
                <a:cs typeface="Inter" pitchFamily="34" charset="-120"/>
              </a:rPr>
              <a:t>AI-NATIVE OPERATION</a:t>
            </a:r>
            <a:endParaRPr lang="en-US" sz="1400" dirty="0"/>
          </a:p>
        </p:txBody>
      </p:sp>
      <p:sp>
        <p:nvSpPr>
          <p:cNvPr id="12" name="Shape 9"/>
          <p:cNvSpPr/>
          <p:nvPr/>
        </p:nvSpPr>
        <p:spPr>
          <a:xfrm>
            <a:off x="909828" y="2592324"/>
            <a:ext cx="265176" cy="265176"/>
          </a:xfrm>
          <a:prstGeom prst="ellipse">
            <a:avLst/>
          </a:prstGeom>
          <a:solidFill>
            <a:srgbClr val="F0EDF4"/>
          </a:solidFill>
          <a:ln w="12700">
            <a:solidFill>
              <a:srgbClr val="DCD5E5"/>
            </a:solidFill>
            <a:prstDash val="solid"/>
          </a:ln>
        </p:spPr>
        <p:txBody>
          <a:bodyPr/>
          <a:lstStyle/>
          <a:p>
            <a:endParaRPr lang="es-MX"/>
          </a:p>
        </p:txBody>
      </p:sp>
      <p:sp>
        <p:nvSpPr>
          <p:cNvPr id="13" name="Text 10"/>
          <p:cNvSpPr txBox="1"/>
          <p:nvPr/>
        </p:nvSpPr>
        <p:spPr>
          <a:xfrm>
            <a:off x="955548" y="2610612"/>
            <a:ext cx="173736" cy="228600"/>
          </a:xfrm>
          <a:prstGeom prst="rect">
            <a:avLst/>
          </a:prstGeom>
          <a:noFill/>
          <a:ln/>
        </p:spPr>
        <p:txBody>
          <a:bodyPr wrap="square" lIns="0" tIns="0" rIns="0" bIns="0" rtlCol="0" anchor="ctr">
            <a:normAutofit/>
          </a:bodyPr>
          <a:lstStyle/>
          <a:p>
            <a:pPr marL="0" indent="0" algn="ctr">
              <a:lnSpc>
                <a:spcPct val="100000"/>
              </a:lnSpc>
              <a:buNone/>
            </a:pPr>
            <a:r>
              <a:rPr lang="en-US" sz="900" b="1" dirty="0">
                <a:solidFill>
                  <a:srgbClr val="6F6882"/>
                </a:solidFill>
                <a:latin typeface="Inter" pitchFamily="34" charset="0"/>
                <a:ea typeface="Inter" pitchFamily="34" charset="-122"/>
                <a:cs typeface="Inter" pitchFamily="34" charset="-120"/>
              </a:rPr>
              <a:t>1</a:t>
            </a:r>
            <a:endParaRPr lang="en-US" sz="900" dirty="0"/>
          </a:p>
        </p:txBody>
      </p:sp>
      <p:sp>
        <p:nvSpPr>
          <p:cNvPr id="14" name="Text 11"/>
          <p:cNvSpPr txBox="1"/>
          <p:nvPr/>
        </p:nvSpPr>
        <p:spPr>
          <a:xfrm>
            <a:off x="1289304" y="2578608"/>
            <a:ext cx="4187952" cy="292608"/>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 understands what is happening</a:t>
            </a:r>
            <a:endParaRPr lang="en-US" sz="1400" dirty="0"/>
          </a:p>
        </p:txBody>
      </p:sp>
      <p:sp>
        <p:nvSpPr>
          <p:cNvPr id="15" name="Shape 12"/>
          <p:cNvSpPr/>
          <p:nvPr/>
        </p:nvSpPr>
        <p:spPr>
          <a:xfrm>
            <a:off x="1042416" y="2889504"/>
            <a:ext cx="0" cy="173736"/>
          </a:xfrm>
          <a:prstGeom prst="line">
            <a:avLst/>
          </a:prstGeom>
          <a:noFill/>
          <a:ln w="12700">
            <a:solidFill>
              <a:srgbClr val="C7BECF"/>
            </a:solidFill>
            <a:prstDash val="solid"/>
            <a:headEnd type="none"/>
            <a:tailEnd type="triangle"/>
          </a:ln>
        </p:spPr>
        <p:txBody>
          <a:bodyPr/>
          <a:lstStyle/>
          <a:p>
            <a:endParaRPr lang="es-MX"/>
          </a:p>
        </p:txBody>
      </p:sp>
      <p:sp>
        <p:nvSpPr>
          <p:cNvPr id="16" name="Shape 13"/>
          <p:cNvSpPr/>
          <p:nvPr/>
        </p:nvSpPr>
        <p:spPr>
          <a:xfrm>
            <a:off x="909828" y="3104388"/>
            <a:ext cx="265176" cy="265176"/>
          </a:xfrm>
          <a:prstGeom prst="ellipse">
            <a:avLst/>
          </a:prstGeom>
          <a:solidFill>
            <a:srgbClr val="F0EDF4"/>
          </a:solidFill>
          <a:ln w="12700">
            <a:solidFill>
              <a:srgbClr val="DCD5E5"/>
            </a:solidFill>
            <a:prstDash val="solid"/>
          </a:ln>
        </p:spPr>
        <p:txBody>
          <a:bodyPr/>
          <a:lstStyle/>
          <a:p>
            <a:endParaRPr lang="es-MX"/>
          </a:p>
        </p:txBody>
      </p:sp>
      <p:sp>
        <p:nvSpPr>
          <p:cNvPr id="17" name="Text 14"/>
          <p:cNvSpPr txBox="1"/>
          <p:nvPr/>
        </p:nvSpPr>
        <p:spPr>
          <a:xfrm>
            <a:off x="955548" y="3122676"/>
            <a:ext cx="173736" cy="228600"/>
          </a:xfrm>
          <a:prstGeom prst="rect">
            <a:avLst/>
          </a:prstGeom>
          <a:noFill/>
          <a:ln/>
        </p:spPr>
        <p:txBody>
          <a:bodyPr wrap="square" lIns="0" tIns="0" rIns="0" bIns="0" rtlCol="0" anchor="ctr">
            <a:normAutofit/>
          </a:bodyPr>
          <a:lstStyle/>
          <a:p>
            <a:pPr marL="0" indent="0" algn="ctr">
              <a:lnSpc>
                <a:spcPct val="100000"/>
              </a:lnSpc>
              <a:buNone/>
            </a:pPr>
            <a:r>
              <a:rPr lang="en-US" sz="900" b="1" dirty="0">
                <a:solidFill>
                  <a:srgbClr val="6F6882"/>
                </a:solidFill>
                <a:latin typeface="Inter" pitchFamily="34" charset="0"/>
                <a:ea typeface="Inter" pitchFamily="34" charset="-122"/>
                <a:cs typeface="Inter" pitchFamily="34" charset="-120"/>
              </a:rPr>
              <a:t>2</a:t>
            </a:r>
            <a:endParaRPr lang="en-US" sz="900" dirty="0"/>
          </a:p>
        </p:txBody>
      </p:sp>
      <p:sp>
        <p:nvSpPr>
          <p:cNvPr id="18" name="Text 15"/>
          <p:cNvSpPr txBox="1"/>
          <p:nvPr/>
        </p:nvSpPr>
        <p:spPr>
          <a:xfrm>
            <a:off x="1289304" y="3090672"/>
            <a:ext cx="4187952" cy="292608"/>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 decides what to do</a:t>
            </a:r>
            <a:endParaRPr lang="en-US" sz="1400" dirty="0"/>
          </a:p>
        </p:txBody>
      </p:sp>
      <p:sp>
        <p:nvSpPr>
          <p:cNvPr id="19" name="Shape 16"/>
          <p:cNvSpPr/>
          <p:nvPr/>
        </p:nvSpPr>
        <p:spPr>
          <a:xfrm>
            <a:off x="1042416" y="3401568"/>
            <a:ext cx="0" cy="173736"/>
          </a:xfrm>
          <a:prstGeom prst="line">
            <a:avLst/>
          </a:prstGeom>
          <a:noFill/>
          <a:ln w="12700">
            <a:solidFill>
              <a:srgbClr val="C7BECF"/>
            </a:solidFill>
            <a:prstDash val="solid"/>
            <a:headEnd type="none"/>
            <a:tailEnd type="triangle"/>
          </a:ln>
        </p:spPr>
        <p:txBody>
          <a:bodyPr/>
          <a:lstStyle/>
          <a:p>
            <a:endParaRPr lang="es-MX"/>
          </a:p>
        </p:txBody>
      </p:sp>
      <p:sp>
        <p:nvSpPr>
          <p:cNvPr id="20" name="Shape 17"/>
          <p:cNvSpPr/>
          <p:nvPr/>
        </p:nvSpPr>
        <p:spPr>
          <a:xfrm>
            <a:off x="909828" y="3616452"/>
            <a:ext cx="265176" cy="265176"/>
          </a:xfrm>
          <a:prstGeom prst="ellipse">
            <a:avLst/>
          </a:prstGeom>
          <a:solidFill>
            <a:srgbClr val="F0EDF4"/>
          </a:solidFill>
          <a:ln w="12700">
            <a:solidFill>
              <a:srgbClr val="DCD5E5"/>
            </a:solidFill>
            <a:prstDash val="solid"/>
          </a:ln>
        </p:spPr>
        <p:txBody>
          <a:bodyPr/>
          <a:lstStyle/>
          <a:p>
            <a:endParaRPr lang="es-MX"/>
          </a:p>
        </p:txBody>
      </p:sp>
      <p:sp>
        <p:nvSpPr>
          <p:cNvPr id="21" name="Text 18"/>
          <p:cNvSpPr txBox="1"/>
          <p:nvPr/>
        </p:nvSpPr>
        <p:spPr>
          <a:xfrm>
            <a:off x="955548" y="3634740"/>
            <a:ext cx="173736" cy="228600"/>
          </a:xfrm>
          <a:prstGeom prst="rect">
            <a:avLst/>
          </a:prstGeom>
          <a:noFill/>
          <a:ln/>
        </p:spPr>
        <p:txBody>
          <a:bodyPr wrap="square" lIns="0" tIns="0" rIns="0" bIns="0" rtlCol="0" anchor="ctr">
            <a:normAutofit/>
          </a:bodyPr>
          <a:lstStyle/>
          <a:p>
            <a:pPr marL="0" indent="0" algn="ctr">
              <a:lnSpc>
                <a:spcPct val="100000"/>
              </a:lnSpc>
              <a:buNone/>
            </a:pPr>
            <a:r>
              <a:rPr lang="en-US" sz="900" b="1" dirty="0">
                <a:solidFill>
                  <a:srgbClr val="6F6882"/>
                </a:solidFill>
                <a:latin typeface="Inter" pitchFamily="34" charset="0"/>
                <a:ea typeface="Inter" pitchFamily="34" charset="-122"/>
                <a:cs typeface="Inter" pitchFamily="34" charset="-120"/>
              </a:rPr>
              <a:t>3</a:t>
            </a:r>
            <a:endParaRPr lang="en-US" sz="900" dirty="0"/>
          </a:p>
        </p:txBody>
      </p:sp>
      <p:sp>
        <p:nvSpPr>
          <p:cNvPr id="22" name="Text 19"/>
          <p:cNvSpPr txBox="1"/>
          <p:nvPr/>
        </p:nvSpPr>
        <p:spPr>
          <a:xfrm>
            <a:off x="1289304" y="3602736"/>
            <a:ext cx="4187952" cy="292608"/>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 finds the right software</a:t>
            </a:r>
            <a:endParaRPr lang="en-US" sz="1400" dirty="0"/>
          </a:p>
        </p:txBody>
      </p:sp>
      <p:sp>
        <p:nvSpPr>
          <p:cNvPr id="23" name="Shape 20"/>
          <p:cNvSpPr/>
          <p:nvPr/>
        </p:nvSpPr>
        <p:spPr>
          <a:xfrm>
            <a:off x="1042416" y="3913632"/>
            <a:ext cx="0" cy="173736"/>
          </a:xfrm>
          <a:prstGeom prst="line">
            <a:avLst/>
          </a:prstGeom>
          <a:noFill/>
          <a:ln w="12700">
            <a:solidFill>
              <a:srgbClr val="C7BECF"/>
            </a:solidFill>
            <a:prstDash val="solid"/>
            <a:headEnd type="none"/>
            <a:tailEnd type="triangle"/>
          </a:ln>
        </p:spPr>
        <p:txBody>
          <a:bodyPr/>
          <a:lstStyle/>
          <a:p>
            <a:endParaRPr lang="es-MX"/>
          </a:p>
        </p:txBody>
      </p:sp>
      <p:sp>
        <p:nvSpPr>
          <p:cNvPr id="24" name="Shape 21"/>
          <p:cNvSpPr/>
          <p:nvPr/>
        </p:nvSpPr>
        <p:spPr>
          <a:xfrm>
            <a:off x="909828" y="4128516"/>
            <a:ext cx="265176" cy="265176"/>
          </a:xfrm>
          <a:prstGeom prst="ellipse">
            <a:avLst/>
          </a:prstGeom>
          <a:solidFill>
            <a:srgbClr val="F0EDF4"/>
          </a:solidFill>
          <a:ln w="12700">
            <a:solidFill>
              <a:srgbClr val="DCD5E5"/>
            </a:solidFill>
            <a:prstDash val="solid"/>
          </a:ln>
        </p:spPr>
        <p:txBody>
          <a:bodyPr/>
          <a:lstStyle/>
          <a:p>
            <a:endParaRPr lang="es-MX"/>
          </a:p>
        </p:txBody>
      </p:sp>
      <p:sp>
        <p:nvSpPr>
          <p:cNvPr id="25" name="Text 22"/>
          <p:cNvSpPr txBox="1"/>
          <p:nvPr/>
        </p:nvSpPr>
        <p:spPr>
          <a:xfrm>
            <a:off x="955548" y="4146804"/>
            <a:ext cx="173736" cy="228600"/>
          </a:xfrm>
          <a:prstGeom prst="rect">
            <a:avLst/>
          </a:prstGeom>
          <a:noFill/>
          <a:ln/>
        </p:spPr>
        <p:txBody>
          <a:bodyPr wrap="square" lIns="0" tIns="0" rIns="0" bIns="0" rtlCol="0" anchor="ctr">
            <a:normAutofit/>
          </a:bodyPr>
          <a:lstStyle/>
          <a:p>
            <a:pPr marL="0" indent="0" algn="ctr">
              <a:lnSpc>
                <a:spcPct val="100000"/>
              </a:lnSpc>
              <a:buNone/>
            </a:pPr>
            <a:r>
              <a:rPr lang="en-US" sz="900" b="1" dirty="0">
                <a:solidFill>
                  <a:srgbClr val="6F6882"/>
                </a:solidFill>
                <a:latin typeface="Inter" pitchFamily="34" charset="0"/>
                <a:ea typeface="Inter" pitchFamily="34" charset="-122"/>
                <a:cs typeface="Inter" pitchFamily="34" charset="-120"/>
              </a:rPr>
              <a:t>4</a:t>
            </a:r>
            <a:endParaRPr lang="en-US" sz="900" dirty="0"/>
          </a:p>
        </p:txBody>
      </p:sp>
      <p:sp>
        <p:nvSpPr>
          <p:cNvPr id="26" name="Text 23"/>
          <p:cNvSpPr txBox="1"/>
          <p:nvPr/>
        </p:nvSpPr>
        <p:spPr>
          <a:xfrm>
            <a:off x="1289304" y="4114800"/>
            <a:ext cx="4187952" cy="292608"/>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 enters data / clicks / coordinates</a:t>
            </a:r>
            <a:endParaRPr lang="en-US" sz="1400" dirty="0"/>
          </a:p>
        </p:txBody>
      </p:sp>
      <p:sp>
        <p:nvSpPr>
          <p:cNvPr id="27" name="Shape 24"/>
          <p:cNvSpPr/>
          <p:nvPr/>
        </p:nvSpPr>
        <p:spPr>
          <a:xfrm>
            <a:off x="1042416" y="4425696"/>
            <a:ext cx="0" cy="173736"/>
          </a:xfrm>
          <a:prstGeom prst="line">
            <a:avLst/>
          </a:prstGeom>
          <a:noFill/>
          <a:ln w="12700">
            <a:solidFill>
              <a:srgbClr val="C7BECF"/>
            </a:solidFill>
            <a:prstDash val="solid"/>
            <a:headEnd type="none"/>
            <a:tailEnd type="triangle"/>
          </a:ln>
        </p:spPr>
        <p:txBody>
          <a:bodyPr/>
          <a:lstStyle/>
          <a:p>
            <a:endParaRPr lang="es-MX"/>
          </a:p>
        </p:txBody>
      </p:sp>
      <p:sp>
        <p:nvSpPr>
          <p:cNvPr id="28" name="Shape 25"/>
          <p:cNvSpPr/>
          <p:nvPr/>
        </p:nvSpPr>
        <p:spPr>
          <a:xfrm>
            <a:off x="909828" y="4640580"/>
            <a:ext cx="265176" cy="265176"/>
          </a:xfrm>
          <a:prstGeom prst="ellipse">
            <a:avLst/>
          </a:prstGeom>
          <a:solidFill>
            <a:srgbClr val="F0EDF4"/>
          </a:solidFill>
          <a:ln w="12700">
            <a:solidFill>
              <a:srgbClr val="DCD5E5"/>
            </a:solidFill>
            <a:prstDash val="solid"/>
          </a:ln>
        </p:spPr>
        <p:txBody>
          <a:bodyPr/>
          <a:lstStyle/>
          <a:p>
            <a:endParaRPr lang="es-MX"/>
          </a:p>
        </p:txBody>
      </p:sp>
      <p:sp>
        <p:nvSpPr>
          <p:cNvPr id="29" name="Text 26"/>
          <p:cNvSpPr txBox="1"/>
          <p:nvPr/>
        </p:nvSpPr>
        <p:spPr>
          <a:xfrm>
            <a:off x="955548" y="4658868"/>
            <a:ext cx="173736" cy="228600"/>
          </a:xfrm>
          <a:prstGeom prst="rect">
            <a:avLst/>
          </a:prstGeom>
          <a:noFill/>
          <a:ln/>
        </p:spPr>
        <p:txBody>
          <a:bodyPr wrap="square" lIns="0" tIns="0" rIns="0" bIns="0" rtlCol="0" anchor="ctr">
            <a:normAutofit/>
          </a:bodyPr>
          <a:lstStyle/>
          <a:p>
            <a:pPr marL="0" indent="0" algn="ctr">
              <a:lnSpc>
                <a:spcPct val="100000"/>
              </a:lnSpc>
              <a:buNone/>
            </a:pPr>
            <a:r>
              <a:rPr lang="en-US" sz="900" b="1" dirty="0">
                <a:solidFill>
                  <a:srgbClr val="6F6882"/>
                </a:solidFill>
                <a:latin typeface="Inter" pitchFamily="34" charset="0"/>
                <a:ea typeface="Inter" pitchFamily="34" charset="-122"/>
                <a:cs typeface="Inter" pitchFamily="34" charset="-120"/>
              </a:rPr>
              <a:t>5</a:t>
            </a:r>
            <a:endParaRPr lang="en-US" sz="900" dirty="0"/>
          </a:p>
        </p:txBody>
      </p:sp>
      <p:sp>
        <p:nvSpPr>
          <p:cNvPr id="30" name="Text 27"/>
          <p:cNvSpPr txBox="1"/>
          <p:nvPr/>
        </p:nvSpPr>
        <p:spPr>
          <a:xfrm>
            <a:off x="1289304" y="4626864"/>
            <a:ext cx="4187952" cy="292608"/>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 remembers what must happen next</a:t>
            </a:r>
            <a:endParaRPr lang="en-US" sz="1400" dirty="0"/>
          </a:p>
        </p:txBody>
      </p:sp>
      <p:sp>
        <p:nvSpPr>
          <p:cNvPr id="31" name="Text 28"/>
          <p:cNvSpPr txBox="1"/>
          <p:nvPr/>
        </p:nvSpPr>
        <p:spPr>
          <a:xfrm>
            <a:off x="914400" y="5321808"/>
            <a:ext cx="4480560" cy="32004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6F6882"/>
                </a:solidFill>
                <a:latin typeface="Inter" pitchFamily="34" charset="0"/>
                <a:ea typeface="Inter" pitchFamily="34" charset="-122"/>
                <a:cs typeface="Inter" pitchFamily="34" charset="-120"/>
              </a:rPr>
              <a:t>Humans operate the software and connect the workflow.</a:t>
            </a:r>
            <a:endParaRPr lang="en-US" sz="1400" dirty="0"/>
          </a:p>
        </p:txBody>
      </p:sp>
      <p:sp>
        <p:nvSpPr>
          <p:cNvPr id="32" name="Shape 29"/>
          <p:cNvSpPr/>
          <p:nvPr/>
        </p:nvSpPr>
        <p:spPr>
          <a:xfrm>
            <a:off x="6510528" y="2578608"/>
            <a:ext cx="146304" cy="146304"/>
          </a:xfrm>
          <a:prstGeom prst="ellipse">
            <a:avLst/>
          </a:prstGeom>
          <a:solidFill>
            <a:srgbClr val="9A4D78"/>
          </a:solidFill>
          <a:ln w="12700">
            <a:solidFill>
              <a:srgbClr val="FFFFFF">
                <a:alpha val="0"/>
              </a:srgbClr>
            </a:solidFill>
            <a:prstDash val="solid"/>
          </a:ln>
        </p:spPr>
        <p:txBody>
          <a:bodyPr/>
          <a:lstStyle/>
          <a:p>
            <a:endParaRPr lang="es-MX"/>
          </a:p>
        </p:txBody>
      </p:sp>
      <p:sp>
        <p:nvSpPr>
          <p:cNvPr id="33" name="Text 30"/>
          <p:cNvSpPr txBox="1"/>
          <p:nvPr/>
        </p:nvSpPr>
        <p:spPr>
          <a:xfrm>
            <a:off x="6839712" y="2532888"/>
            <a:ext cx="4251960" cy="283464"/>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Human sets intent / objective</a:t>
            </a:r>
            <a:endParaRPr lang="en-US" sz="1400" dirty="0"/>
          </a:p>
        </p:txBody>
      </p:sp>
      <p:sp>
        <p:nvSpPr>
          <p:cNvPr id="34" name="Shape 31"/>
          <p:cNvSpPr/>
          <p:nvPr/>
        </p:nvSpPr>
        <p:spPr>
          <a:xfrm>
            <a:off x="6583680" y="2770632"/>
            <a:ext cx="0" cy="146304"/>
          </a:xfrm>
          <a:prstGeom prst="line">
            <a:avLst/>
          </a:prstGeom>
          <a:noFill/>
          <a:ln w="12700">
            <a:solidFill>
              <a:srgbClr val="A99AE4"/>
            </a:solidFill>
            <a:prstDash val="solid"/>
            <a:headEnd type="none"/>
            <a:tailEnd type="triangle"/>
          </a:ln>
        </p:spPr>
        <p:txBody>
          <a:bodyPr/>
          <a:lstStyle/>
          <a:p>
            <a:endParaRPr lang="es-MX"/>
          </a:p>
        </p:txBody>
      </p:sp>
      <p:sp>
        <p:nvSpPr>
          <p:cNvPr id="35" name="Shape 32"/>
          <p:cNvSpPr/>
          <p:nvPr/>
        </p:nvSpPr>
        <p:spPr>
          <a:xfrm>
            <a:off x="6510528" y="3008376"/>
            <a:ext cx="146304" cy="146304"/>
          </a:xfrm>
          <a:prstGeom prst="ellipse">
            <a:avLst/>
          </a:prstGeom>
          <a:solidFill>
            <a:srgbClr val="7446E8"/>
          </a:solidFill>
          <a:ln w="12700">
            <a:solidFill>
              <a:srgbClr val="FFFFFF">
                <a:alpha val="0"/>
              </a:srgbClr>
            </a:solidFill>
            <a:prstDash val="solid"/>
          </a:ln>
        </p:spPr>
        <p:txBody>
          <a:bodyPr/>
          <a:lstStyle/>
          <a:p>
            <a:endParaRPr lang="es-MX"/>
          </a:p>
        </p:txBody>
      </p:sp>
      <p:sp>
        <p:nvSpPr>
          <p:cNvPr id="36" name="Text 33"/>
          <p:cNvSpPr txBox="1"/>
          <p:nvPr/>
        </p:nvSpPr>
        <p:spPr>
          <a:xfrm>
            <a:off x="6839712" y="2962656"/>
            <a:ext cx="4251960" cy="283464"/>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AI understands context</a:t>
            </a:r>
            <a:endParaRPr lang="en-US" sz="1400" dirty="0"/>
          </a:p>
        </p:txBody>
      </p:sp>
      <p:sp>
        <p:nvSpPr>
          <p:cNvPr id="37" name="Shape 34"/>
          <p:cNvSpPr/>
          <p:nvPr/>
        </p:nvSpPr>
        <p:spPr>
          <a:xfrm>
            <a:off x="6583680" y="3200400"/>
            <a:ext cx="0" cy="146304"/>
          </a:xfrm>
          <a:prstGeom prst="line">
            <a:avLst/>
          </a:prstGeom>
          <a:noFill/>
          <a:ln w="12700">
            <a:solidFill>
              <a:srgbClr val="A99AE4"/>
            </a:solidFill>
            <a:prstDash val="solid"/>
            <a:headEnd type="none"/>
            <a:tailEnd type="triangle"/>
          </a:ln>
        </p:spPr>
        <p:txBody>
          <a:bodyPr/>
          <a:lstStyle/>
          <a:p>
            <a:endParaRPr lang="es-MX"/>
          </a:p>
        </p:txBody>
      </p:sp>
      <p:sp>
        <p:nvSpPr>
          <p:cNvPr id="38" name="Shape 35"/>
          <p:cNvSpPr/>
          <p:nvPr/>
        </p:nvSpPr>
        <p:spPr>
          <a:xfrm>
            <a:off x="6510528" y="3438144"/>
            <a:ext cx="146304" cy="146304"/>
          </a:xfrm>
          <a:prstGeom prst="ellipse">
            <a:avLst/>
          </a:prstGeom>
          <a:solidFill>
            <a:srgbClr val="7446E8"/>
          </a:solidFill>
          <a:ln w="12700">
            <a:solidFill>
              <a:srgbClr val="FFFFFF">
                <a:alpha val="0"/>
              </a:srgbClr>
            </a:solidFill>
            <a:prstDash val="solid"/>
          </a:ln>
        </p:spPr>
        <p:txBody>
          <a:bodyPr/>
          <a:lstStyle/>
          <a:p>
            <a:endParaRPr lang="es-MX"/>
          </a:p>
        </p:txBody>
      </p:sp>
      <p:sp>
        <p:nvSpPr>
          <p:cNvPr id="39" name="Text 36"/>
          <p:cNvSpPr txBox="1"/>
          <p:nvPr/>
        </p:nvSpPr>
        <p:spPr>
          <a:xfrm>
            <a:off x="6839712" y="3392424"/>
            <a:ext cx="4251960" cy="283464"/>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Reasons and uses tools</a:t>
            </a:r>
            <a:endParaRPr lang="en-US" sz="1400" dirty="0"/>
          </a:p>
        </p:txBody>
      </p:sp>
      <p:sp>
        <p:nvSpPr>
          <p:cNvPr id="40" name="Shape 37"/>
          <p:cNvSpPr/>
          <p:nvPr/>
        </p:nvSpPr>
        <p:spPr>
          <a:xfrm>
            <a:off x="6583680" y="3630168"/>
            <a:ext cx="0" cy="146304"/>
          </a:xfrm>
          <a:prstGeom prst="line">
            <a:avLst/>
          </a:prstGeom>
          <a:noFill/>
          <a:ln w="12700">
            <a:solidFill>
              <a:srgbClr val="A99AE4"/>
            </a:solidFill>
            <a:prstDash val="solid"/>
            <a:headEnd type="none"/>
            <a:tailEnd type="triangle"/>
          </a:ln>
        </p:spPr>
        <p:txBody>
          <a:bodyPr/>
          <a:lstStyle/>
          <a:p>
            <a:endParaRPr lang="es-MX"/>
          </a:p>
        </p:txBody>
      </p:sp>
      <p:sp>
        <p:nvSpPr>
          <p:cNvPr id="41" name="Shape 38"/>
          <p:cNvSpPr/>
          <p:nvPr/>
        </p:nvSpPr>
        <p:spPr>
          <a:xfrm>
            <a:off x="6510528" y="3867912"/>
            <a:ext cx="146304" cy="146304"/>
          </a:xfrm>
          <a:prstGeom prst="ellipse">
            <a:avLst/>
          </a:prstGeom>
          <a:solidFill>
            <a:srgbClr val="7446E8"/>
          </a:solidFill>
          <a:ln w="12700">
            <a:solidFill>
              <a:srgbClr val="FFFFFF">
                <a:alpha val="0"/>
              </a:srgbClr>
            </a:solidFill>
            <a:prstDash val="solid"/>
          </a:ln>
        </p:spPr>
        <p:txBody>
          <a:bodyPr/>
          <a:lstStyle/>
          <a:p>
            <a:endParaRPr lang="es-MX"/>
          </a:p>
        </p:txBody>
      </p:sp>
      <p:sp>
        <p:nvSpPr>
          <p:cNvPr id="42" name="Text 39"/>
          <p:cNvSpPr txBox="1"/>
          <p:nvPr/>
        </p:nvSpPr>
        <p:spPr>
          <a:xfrm>
            <a:off x="6839712" y="3822192"/>
            <a:ext cx="4251960" cy="283464"/>
          </a:xfrm>
          <a:prstGeom prst="rect">
            <a:avLst/>
          </a:prstGeom>
          <a:noFill/>
          <a:ln/>
        </p:spPr>
        <p:txBody>
          <a:bodyPr wrap="square" lIns="0" tIns="0" rIns="0" bIns="0" rtlCol="0" anchor="ctr">
            <a:norm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Coordinates multi-step work</a:t>
            </a:r>
            <a:endParaRPr lang="en-US" sz="1400" dirty="0"/>
          </a:p>
        </p:txBody>
      </p:sp>
      <p:sp>
        <p:nvSpPr>
          <p:cNvPr id="43" name="Shape 40"/>
          <p:cNvSpPr/>
          <p:nvPr/>
        </p:nvSpPr>
        <p:spPr>
          <a:xfrm>
            <a:off x="6583680" y="4059936"/>
            <a:ext cx="0" cy="146304"/>
          </a:xfrm>
          <a:prstGeom prst="line">
            <a:avLst/>
          </a:prstGeom>
          <a:noFill/>
          <a:ln w="12700">
            <a:solidFill>
              <a:srgbClr val="A99AE4"/>
            </a:solidFill>
            <a:prstDash val="solid"/>
            <a:headEnd type="none"/>
            <a:tailEnd type="triangle"/>
          </a:ln>
        </p:spPr>
        <p:txBody>
          <a:bodyPr/>
          <a:lstStyle/>
          <a:p>
            <a:endParaRPr lang="es-MX"/>
          </a:p>
        </p:txBody>
      </p:sp>
      <p:sp>
        <p:nvSpPr>
          <p:cNvPr id="44" name="Shape 41"/>
          <p:cNvSpPr/>
          <p:nvPr/>
        </p:nvSpPr>
        <p:spPr>
          <a:xfrm>
            <a:off x="6510528" y="4297680"/>
            <a:ext cx="146304" cy="146304"/>
          </a:xfrm>
          <a:prstGeom prst="ellipse">
            <a:avLst/>
          </a:prstGeom>
          <a:solidFill>
            <a:srgbClr val="7446E8"/>
          </a:solidFill>
          <a:ln w="12700">
            <a:solidFill>
              <a:srgbClr val="FFFFFF">
                <a:alpha val="0"/>
              </a:srgbClr>
            </a:solidFill>
            <a:prstDash val="solid"/>
          </a:ln>
        </p:spPr>
        <p:txBody>
          <a:bodyPr/>
          <a:lstStyle/>
          <a:p>
            <a:endParaRPr lang="es-MX"/>
          </a:p>
        </p:txBody>
      </p:sp>
      <p:sp>
        <p:nvSpPr>
          <p:cNvPr id="45" name="Text 42"/>
          <p:cNvSpPr txBox="1"/>
          <p:nvPr/>
        </p:nvSpPr>
        <p:spPr>
          <a:xfrm>
            <a:off x="6839712" y="4251960"/>
            <a:ext cx="4608576" cy="347472"/>
          </a:xfrm>
          <a:prstGeom prst="rect">
            <a:avLst/>
          </a:prstGeom>
          <a:noFill/>
          <a:ln/>
        </p:spPr>
        <p:txBody>
          <a:bodyPr wrap="square" lIns="0" tIns="0" rIns="0" bIns="0" rtlCol="0" anchor="ctr">
            <a:noAutofit/>
          </a:bodyPr>
          <a:lstStyle/>
          <a:p>
            <a:pPr marL="0" indent="0" algn="l">
              <a:lnSpc>
                <a:spcPct val="100000"/>
              </a:lnSpc>
              <a:buNone/>
            </a:pPr>
            <a:r>
              <a:rPr lang="en-US" sz="1400" dirty="0">
                <a:solidFill>
                  <a:srgbClr val="18152B"/>
                </a:solidFill>
                <a:latin typeface="Inter" pitchFamily="34" charset="0"/>
                <a:ea typeface="Inter" pitchFamily="34" charset="-122"/>
                <a:cs typeface="Inter" pitchFamily="34" charset="-120"/>
              </a:rPr>
              <a:t>Humans intervene where judgment or authorization matters</a:t>
            </a:r>
            <a:endParaRPr lang="en-US" sz="1400" dirty="0"/>
          </a:p>
        </p:txBody>
      </p:sp>
      <p:sp>
        <p:nvSpPr>
          <p:cNvPr id="46" name="Shape 43"/>
          <p:cNvSpPr/>
          <p:nvPr/>
        </p:nvSpPr>
        <p:spPr>
          <a:xfrm>
            <a:off x="6583680" y="4489704"/>
            <a:ext cx="0" cy="146304"/>
          </a:xfrm>
          <a:prstGeom prst="line">
            <a:avLst/>
          </a:prstGeom>
          <a:noFill/>
          <a:ln w="12700">
            <a:solidFill>
              <a:srgbClr val="A99AE4"/>
            </a:solidFill>
            <a:prstDash val="solid"/>
            <a:headEnd type="none"/>
            <a:tailEnd type="triangle"/>
          </a:ln>
        </p:spPr>
        <p:txBody>
          <a:bodyPr/>
          <a:lstStyle/>
          <a:p>
            <a:endParaRPr lang="es-MX"/>
          </a:p>
        </p:txBody>
      </p:sp>
      <p:sp>
        <p:nvSpPr>
          <p:cNvPr id="47" name="Shape 44"/>
          <p:cNvSpPr/>
          <p:nvPr/>
        </p:nvSpPr>
        <p:spPr>
          <a:xfrm>
            <a:off x="6510528" y="4727448"/>
            <a:ext cx="146304" cy="146304"/>
          </a:xfrm>
          <a:prstGeom prst="ellipse">
            <a:avLst/>
          </a:prstGeom>
          <a:solidFill>
            <a:srgbClr val="7446E8"/>
          </a:solidFill>
          <a:ln w="12700">
            <a:solidFill>
              <a:srgbClr val="FFFFFF">
                <a:alpha val="0"/>
              </a:srgbClr>
            </a:solidFill>
            <a:prstDash val="solid"/>
          </a:ln>
        </p:spPr>
        <p:txBody>
          <a:bodyPr/>
          <a:lstStyle/>
          <a:p>
            <a:endParaRPr lang="es-MX"/>
          </a:p>
        </p:txBody>
      </p:sp>
      <p:sp>
        <p:nvSpPr>
          <p:cNvPr id="48" name="Text 45"/>
          <p:cNvSpPr txBox="1"/>
          <p:nvPr/>
        </p:nvSpPr>
        <p:spPr>
          <a:xfrm>
            <a:off x="6839712" y="4681728"/>
            <a:ext cx="4251960" cy="283464"/>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Outcome is verified</a:t>
            </a:r>
            <a:endParaRPr lang="en-US" sz="1400" dirty="0"/>
          </a:p>
        </p:txBody>
      </p:sp>
      <p:sp>
        <p:nvSpPr>
          <p:cNvPr id="49" name="Text 46"/>
          <p:cNvSpPr txBox="1"/>
          <p:nvPr/>
        </p:nvSpPr>
        <p:spPr>
          <a:xfrm>
            <a:off x="6492240" y="5321808"/>
            <a:ext cx="4480560" cy="32004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5B2DB6"/>
                </a:solidFill>
                <a:latin typeface="Inter" pitchFamily="34" charset="0"/>
                <a:ea typeface="Inter" pitchFamily="34" charset="-122"/>
                <a:cs typeface="Inter" pitchFamily="34" charset="-120"/>
              </a:rPr>
              <a:t>AI increasingly participates in operating the work.</a:t>
            </a:r>
            <a:endParaRPr lang="en-US" sz="1400" dirty="0"/>
          </a:p>
        </p:txBody>
      </p:sp>
      <p:sp>
        <p:nvSpPr>
          <p:cNvPr id="50" name="Shape 47"/>
          <p:cNvSpPr/>
          <p:nvPr/>
        </p:nvSpPr>
        <p:spPr>
          <a:xfrm>
            <a:off x="2849078" y="5952744"/>
            <a:ext cx="6371924" cy="310896"/>
          </a:xfrm>
          <a:prstGeom prst="roundRect">
            <a:avLst>
              <a:gd name="adj" fmla="val 23529"/>
            </a:avLst>
          </a:prstGeom>
          <a:solidFill>
            <a:srgbClr val="1F1739"/>
          </a:solidFill>
          <a:ln w="12700">
            <a:solidFill>
              <a:srgbClr val="1F1739">
                <a:alpha val="0"/>
              </a:srgbClr>
            </a:solidFill>
            <a:prstDash val="solid"/>
          </a:ln>
        </p:spPr>
        <p:txBody>
          <a:bodyPr/>
          <a:lstStyle/>
          <a:p>
            <a:endParaRPr lang="es-MX"/>
          </a:p>
        </p:txBody>
      </p:sp>
      <p:sp>
        <p:nvSpPr>
          <p:cNvPr id="51" name="Text 48"/>
          <p:cNvSpPr txBox="1"/>
          <p:nvPr/>
        </p:nvSpPr>
        <p:spPr>
          <a:xfrm>
            <a:off x="3080084" y="5957316"/>
            <a:ext cx="5938788" cy="31089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FFFFFF"/>
                </a:solidFill>
                <a:latin typeface="Inter" pitchFamily="34" charset="0"/>
                <a:ea typeface="Inter" pitchFamily="34" charset="-122"/>
                <a:cs typeface="Inter" pitchFamily="34" charset="-120"/>
              </a:rPr>
              <a:t>Reasoning · Tools · Context · Durable State · Governed Execution</a:t>
            </a:r>
            <a:endParaRPr lang="en-US" sz="1400" dirty="0"/>
          </a:p>
        </p:txBody>
      </p:sp>
      <p:sp>
        <p:nvSpPr>
          <p:cNvPr id="52"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GU TODAY</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Autofit/>
          </a:bodyPr>
          <a:lstStyle/>
          <a:p>
            <a:pPr marL="0" indent="0" algn="l">
              <a:lnSpc>
                <a:spcPct val="100000"/>
              </a:lnSpc>
              <a:buNone/>
            </a:pPr>
            <a:r>
              <a:rPr lang="en-US" sz="2800" b="1" dirty="0">
                <a:solidFill>
                  <a:srgbClr val="18152B"/>
                </a:solidFill>
                <a:latin typeface="Aptos" panose="020B0004020202020204" pitchFamily="34" charset="0"/>
                <a:ea typeface="Inter Display" pitchFamily="34" charset="-122"/>
                <a:cs typeface="Inter Display" pitchFamily="34" charset="-120"/>
              </a:rPr>
              <a:t>We started at a critical step toward revenue: moving prospects from inquiry to property visits.</a:t>
            </a:r>
            <a:endParaRPr lang="en-US" sz="2800" dirty="0">
              <a:latin typeface="Aptos" panose="020B0004020202020204" pitchFamily="34" charset="0"/>
            </a:endParaRPr>
          </a:p>
        </p:txBody>
      </p:sp>
      <p:sp>
        <p:nvSpPr>
          <p:cNvPr id="5" name="Shape 2"/>
          <p:cNvSpPr/>
          <p:nvPr/>
        </p:nvSpPr>
        <p:spPr>
          <a:xfrm>
            <a:off x="603504" y="1686318"/>
            <a:ext cx="2743200" cy="4498848"/>
          </a:xfrm>
          <a:prstGeom prst="roundRect">
            <a:avLst>
              <a:gd name="adj" fmla="val 4000"/>
            </a:avLst>
          </a:prstGeom>
          <a:solidFill>
            <a:srgbClr val="F4EEFF"/>
          </a:solidFill>
          <a:ln w="12700">
            <a:solidFill>
              <a:srgbClr val="E3D7FF"/>
            </a:solidFill>
            <a:prstDash val="solid"/>
          </a:ln>
          <a:effectLst>
            <a:outerShdw blurRad="19050" dist="50800" dir="2700000" algn="bl" rotWithShape="0">
              <a:srgbClr val="C6BCD8">
                <a:alpha val="16000"/>
              </a:srgbClr>
            </a:outerShdw>
          </a:effectLst>
        </p:spPr>
        <p:txBody>
          <a:bodyPr/>
          <a:lstStyle/>
          <a:p>
            <a:endParaRPr lang="es-MX"/>
          </a:p>
        </p:txBody>
      </p:sp>
      <p:sp>
        <p:nvSpPr>
          <p:cNvPr id="6" name="Shape 3"/>
          <p:cNvSpPr/>
          <p:nvPr/>
        </p:nvSpPr>
        <p:spPr>
          <a:xfrm>
            <a:off x="896112" y="1978926"/>
            <a:ext cx="2157984" cy="2157984"/>
          </a:xfrm>
          <a:prstGeom prst="ellipse">
            <a:avLst/>
          </a:prstGeom>
          <a:solidFill>
            <a:srgbClr val="DED0FF"/>
          </a:solidFill>
          <a:ln w="12700">
            <a:solidFill>
              <a:srgbClr val="FFFFFF">
                <a:alpha val="0"/>
              </a:srgbClr>
            </a:solidFill>
            <a:prstDash val="solid"/>
          </a:ln>
        </p:spPr>
        <p:txBody>
          <a:bodyPr/>
          <a:lstStyle/>
          <a:p>
            <a:endParaRPr lang="es-MX"/>
          </a:p>
        </p:txBody>
      </p:sp>
      <p:pic>
        <p:nvPicPr>
          <p:cNvPr id="7" name="Image 1" descr="/mnt/data/gu_perfil_current.png"/>
          <p:cNvPicPr>
            <a:picLocks noChangeAspect="1"/>
          </p:cNvPicPr>
          <p:nvPr/>
        </p:nvPicPr>
        <p:blipFill>
          <a:blip r:embed="rId4"/>
          <a:srcRect/>
          <a:stretch/>
        </p:blipFill>
        <p:spPr>
          <a:xfrm>
            <a:off x="896112" y="1978926"/>
            <a:ext cx="2157984" cy="2157984"/>
          </a:xfrm>
          <a:prstGeom prst="rect">
            <a:avLst/>
          </a:prstGeom>
        </p:spPr>
      </p:pic>
      <p:sp>
        <p:nvSpPr>
          <p:cNvPr id="8" name="Text 4"/>
          <p:cNvSpPr txBox="1"/>
          <p:nvPr/>
        </p:nvSpPr>
        <p:spPr>
          <a:xfrm>
            <a:off x="914400" y="4264926"/>
            <a:ext cx="2130552" cy="32004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8152B"/>
                </a:solidFill>
                <a:latin typeface="Inter Display" pitchFamily="34" charset="0"/>
                <a:ea typeface="Inter Display" pitchFamily="34" charset="-122"/>
                <a:cs typeface="Inter Display" pitchFamily="34" charset="-120"/>
              </a:rPr>
              <a:t>Gu — AI coworker</a:t>
            </a:r>
            <a:endParaRPr lang="en-US" sz="1700" dirty="0"/>
          </a:p>
        </p:txBody>
      </p:sp>
      <p:sp>
        <p:nvSpPr>
          <p:cNvPr id="9" name="Text 5"/>
          <p:cNvSpPr txBox="1"/>
          <p:nvPr/>
        </p:nvSpPr>
        <p:spPr>
          <a:xfrm>
            <a:off x="731520" y="4694694"/>
            <a:ext cx="2485016" cy="67665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6F6882"/>
                </a:solidFill>
                <a:latin typeface="Inter" pitchFamily="34" charset="0"/>
                <a:ea typeface="Inter" pitchFamily="34" charset="-122"/>
                <a:cs typeface="Inter" pitchFamily="34" charset="-120"/>
              </a:rPr>
              <a:t>Always available capacity, with customer-controlled automation.</a:t>
            </a:r>
            <a:endParaRPr lang="en-US" sz="1200" dirty="0"/>
          </a:p>
        </p:txBody>
      </p:sp>
      <p:sp>
        <p:nvSpPr>
          <p:cNvPr id="10" name="Shape 6"/>
          <p:cNvSpPr/>
          <p:nvPr/>
        </p:nvSpPr>
        <p:spPr>
          <a:xfrm>
            <a:off x="731520" y="5554230"/>
            <a:ext cx="1179576" cy="315468"/>
          </a:xfrm>
          <a:prstGeom prst="roundRect">
            <a:avLst>
              <a:gd name="adj" fmla="val 23529"/>
            </a:avLst>
          </a:prstGeom>
          <a:solidFill>
            <a:srgbClr val="FFFFFF"/>
          </a:solidFill>
          <a:ln w="12700">
            <a:solidFill>
              <a:srgbClr val="FFFFFF">
                <a:alpha val="0"/>
              </a:srgbClr>
            </a:solidFill>
            <a:prstDash val="solid"/>
          </a:ln>
        </p:spPr>
        <p:txBody>
          <a:bodyPr/>
          <a:lstStyle/>
          <a:p>
            <a:endParaRPr lang="es-MX"/>
          </a:p>
        </p:txBody>
      </p:sp>
      <p:sp>
        <p:nvSpPr>
          <p:cNvPr id="11" name="Text 7"/>
          <p:cNvSpPr txBox="1"/>
          <p:nvPr/>
        </p:nvSpPr>
        <p:spPr>
          <a:xfrm>
            <a:off x="823494" y="5558802"/>
            <a:ext cx="1028634" cy="310896"/>
          </a:xfrm>
          <a:prstGeom prst="rect">
            <a:avLst/>
          </a:prstGeom>
          <a:noFill/>
          <a:ln/>
        </p:spPr>
        <p:txBody>
          <a:bodyPr wrap="square" lIns="0" tIns="0" rIns="0" bIns="0" rtlCol="0" anchor="ctr">
            <a:normAutofit/>
          </a:bodyPr>
          <a:lstStyle/>
          <a:p>
            <a:pPr marL="0" indent="0" algn="ctr">
              <a:lnSpc>
                <a:spcPct val="100000"/>
              </a:lnSpc>
              <a:buNone/>
            </a:pPr>
            <a:r>
              <a:rPr lang="en-US" sz="1000" b="1" dirty="0">
                <a:solidFill>
                  <a:srgbClr val="5B2DB6"/>
                </a:solidFill>
                <a:latin typeface="Inter" pitchFamily="34" charset="0"/>
                <a:ea typeface="Inter" pitchFamily="34" charset="-122"/>
                <a:cs typeface="Inter" pitchFamily="34" charset="-120"/>
              </a:rPr>
              <a:t>24/7 capable</a:t>
            </a:r>
            <a:endParaRPr lang="en-US" sz="1000" dirty="0"/>
          </a:p>
        </p:txBody>
      </p:sp>
      <p:sp>
        <p:nvSpPr>
          <p:cNvPr id="12" name="Shape 8"/>
          <p:cNvSpPr/>
          <p:nvPr/>
        </p:nvSpPr>
        <p:spPr>
          <a:xfrm>
            <a:off x="1960043" y="5554230"/>
            <a:ext cx="1256493" cy="315468"/>
          </a:xfrm>
          <a:prstGeom prst="roundRect">
            <a:avLst>
              <a:gd name="adj" fmla="val 23529"/>
            </a:avLst>
          </a:prstGeom>
          <a:solidFill>
            <a:srgbClr val="FFFFFF"/>
          </a:solidFill>
          <a:ln w="12700">
            <a:solidFill>
              <a:srgbClr val="FFFFFF">
                <a:alpha val="0"/>
              </a:srgbClr>
            </a:solidFill>
            <a:prstDash val="solid"/>
          </a:ln>
        </p:spPr>
        <p:txBody>
          <a:bodyPr/>
          <a:lstStyle/>
          <a:p>
            <a:endParaRPr lang="es-MX"/>
          </a:p>
        </p:txBody>
      </p:sp>
      <p:sp>
        <p:nvSpPr>
          <p:cNvPr id="14" name="Shape 10"/>
          <p:cNvSpPr/>
          <p:nvPr/>
        </p:nvSpPr>
        <p:spPr>
          <a:xfrm>
            <a:off x="3673002" y="2609862"/>
            <a:ext cx="987552" cy="987552"/>
          </a:xfrm>
          <a:prstGeom prst="ellipse">
            <a:avLst/>
          </a:prstGeom>
          <a:solidFill>
            <a:srgbClr val="F2ECFF"/>
          </a:solidFill>
          <a:ln w="12700">
            <a:solidFill>
              <a:srgbClr val="D7C8FF"/>
            </a:solidFill>
            <a:prstDash val="solid"/>
          </a:ln>
        </p:spPr>
        <p:txBody>
          <a:bodyPr/>
          <a:lstStyle/>
          <a:p>
            <a:endParaRPr lang="es-MX"/>
          </a:p>
        </p:txBody>
      </p:sp>
      <p:sp>
        <p:nvSpPr>
          <p:cNvPr id="15" name="Text 11"/>
          <p:cNvSpPr txBox="1"/>
          <p:nvPr/>
        </p:nvSpPr>
        <p:spPr>
          <a:xfrm>
            <a:off x="3718722" y="2628150"/>
            <a:ext cx="896112" cy="95097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1</a:t>
            </a:r>
            <a:endParaRPr lang="en-US" sz="1400" dirty="0"/>
          </a:p>
        </p:txBody>
      </p:sp>
      <p:sp>
        <p:nvSpPr>
          <p:cNvPr id="16" name="Text 12"/>
          <p:cNvSpPr txBox="1"/>
          <p:nvPr/>
        </p:nvSpPr>
        <p:spPr>
          <a:xfrm>
            <a:off x="3563274" y="3707142"/>
            <a:ext cx="1207008" cy="246888"/>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INQUIRY</a:t>
            </a:r>
            <a:endParaRPr lang="en-US" sz="1200" dirty="0"/>
          </a:p>
        </p:txBody>
      </p:sp>
      <p:sp>
        <p:nvSpPr>
          <p:cNvPr id="17" name="Text 13"/>
          <p:cNvSpPr txBox="1"/>
          <p:nvPr/>
        </p:nvSpPr>
        <p:spPr>
          <a:xfrm>
            <a:off x="3508410" y="3990606"/>
            <a:ext cx="1316736" cy="530352"/>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6F6882"/>
                </a:solidFill>
                <a:latin typeface="Inter" pitchFamily="34" charset="0"/>
                <a:ea typeface="Inter" pitchFamily="34" charset="-122"/>
                <a:cs typeface="Inter" pitchFamily="34" charset="-120"/>
              </a:rPr>
              <a:t>Engage 24/7</a:t>
            </a:r>
            <a:endParaRPr lang="en-US" sz="1100" dirty="0"/>
          </a:p>
        </p:txBody>
      </p:sp>
      <p:sp>
        <p:nvSpPr>
          <p:cNvPr id="18" name="Shape 14"/>
          <p:cNvSpPr/>
          <p:nvPr/>
        </p:nvSpPr>
        <p:spPr>
          <a:xfrm>
            <a:off x="4697130" y="3103638"/>
            <a:ext cx="548640" cy="0"/>
          </a:xfrm>
          <a:prstGeom prst="line">
            <a:avLst/>
          </a:prstGeom>
          <a:noFill/>
          <a:ln w="12700">
            <a:solidFill>
              <a:srgbClr val="B4A0DA"/>
            </a:solidFill>
            <a:prstDash val="solid"/>
            <a:headEnd type="none"/>
            <a:tailEnd type="triangle"/>
          </a:ln>
        </p:spPr>
        <p:txBody>
          <a:bodyPr/>
          <a:lstStyle/>
          <a:p>
            <a:endParaRPr lang="es-MX"/>
          </a:p>
        </p:txBody>
      </p:sp>
      <p:sp>
        <p:nvSpPr>
          <p:cNvPr id="19" name="Shape 15"/>
          <p:cNvSpPr/>
          <p:nvPr/>
        </p:nvSpPr>
        <p:spPr>
          <a:xfrm>
            <a:off x="5282346" y="2609862"/>
            <a:ext cx="987552" cy="987552"/>
          </a:xfrm>
          <a:prstGeom prst="ellipse">
            <a:avLst/>
          </a:prstGeom>
          <a:solidFill>
            <a:srgbClr val="F2ECFF"/>
          </a:solidFill>
          <a:ln w="12700">
            <a:solidFill>
              <a:srgbClr val="D7C8FF"/>
            </a:solidFill>
            <a:prstDash val="solid"/>
          </a:ln>
        </p:spPr>
        <p:txBody>
          <a:bodyPr/>
          <a:lstStyle/>
          <a:p>
            <a:endParaRPr lang="es-MX"/>
          </a:p>
        </p:txBody>
      </p:sp>
      <p:sp>
        <p:nvSpPr>
          <p:cNvPr id="20" name="Text 16"/>
          <p:cNvSpPr txBox="1"/>
          <p:nvPr/>
        </p:nvSpPr>
        <p:spPr>
          <a:xfrm>
            <a:off x="5328066" y="2628150"/>
            <a:ext cx="896112" cy="95097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2</a:t>
            </a:r>
            <a:endParaRPr lang="en-US" sz="1400" dirty="0"/>
          </a:p>
        </p:txBody>
      </p:sp>
      <p:sp>
        <p:nvSpPr>
          <p:cNvPr id="21" name="Text 17"/>
          <p:cNvSpPr txBox="1"/>
          <p:nvPr/>
        </p:nvSpPr>
        <p:spPr>
          <a:xfrm>
            <a:off x="5172618" y="3707142"/>
            <a:ext cx="1207008" cy="246888"/>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UNDERSTAND</a:t>
            </a:r>
            <a:endParaRPr lang="en-US" sz="1200" dirty="0"/>
          </a:p>
        </p:txBody>
      </p:sp>
      <p:sp>
        <p:nvSpPr>
          <p:cNvPr id="22" name="Text 18"/>
          <p:cNvSpPr txBox="1"/>
          <p:nvPr/>
        </p:nvSpPr>
        <p:spPr>
          <a:xfrm>
            <a:off x="5117754" y="3990606"/>
            <a:ext cx="1316736" cy="530352"/>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6F6882"/>
                </a:solidFill>
                <a:latin typeface="Inter" pitchFamily="34" charset="0"/>
                <a:ea typeface="Inter" pitchFamily="34" charset="-122"/>
                <a:cs typeface="Inter" pitchFamily="34" charset="-120"/>
              </a:rPr>
              <a:t>Profile intent</a:t>
            </a:r>
            <a:endParaRPr lang="en-US" sz="1100" dirty="0"/>
          </a:p>
        </p:txBody>
      </p:sp>
      <p:sp>
        <p:nvSpPr>
          <p:cNvPr id="23" name="Shape 19"/>
          <p:cNvSpPr/>
          <p:nvPr/>
        </p:nvSpPr>
        <p:spPr>
          <a:xfrm>
            <a:off x="6306474" y="3103638"/>
            <a:ext cx="548640" cy="0"/>
          </a:xfrm>
          <a:prstGeom prst="line">
            <a:avLst/>
          </a:prstGeom>
          <a:noFill/>
          <a:ln w="12700">
            <a:solidFill>
              <a:srgbClr val="B4A0DA"/>
            </a:solidFill>
            <a:prstDash val="solid"/>
            <a:headEnd type="none"/>
            <a:tailEnd type="triangle"/>
          </a:ln>
        </p:spPr>
        <p:txBody>
          <a:bodyPr/>
          <a:lstStyle/>
          <a:p>
            <a:endParaRPr lang="es-MX"/>
          </a:p>
        </p:txBody>
      </p:sp>
      <p:sp>
        <p:nvSpPr>
          <p:cNvPr id="24" name="Shape 20"/>
          <p:cNvSpPr/>
          <p:nvPr/>
        </p:nvSpPr>
        <p:spPr>
          <a:xfrm>
            <a:off x="6891690" y="2609862"/>
            <a:ext cx="987552" cy="987552"/>
          </a:xfrm>
          <a:prstGeom prst="ellipse">
            <a:avLst/>
          </a:prstGeom>
          <a:solidFill>
            <a:srgbClr val="F2ECFF"/>
          </a:solidFill>
          <a:ln w="12700">
            <a:solidFill>
              <a:srgbClr val="D7C8FF"/>
            </a:solidFill>
            <a:prstDash val="solid"/>
          </a:ln>
        </p:spPr>
        <p:txBody>
          <a:bodyPr/>
          <a:lstStyle/>
          <a:p>
            <a:endParaRPr lang="es-MX"/>
          </a:p>
        </p:txBody>
      </p:sp>
      <p:sp>
        <p:nvSpPr>
          <p:cNvPr id="25" name="Text 21"/>
          <p:cNvSpPr txBox="1"/>
          <p:nvPr/>
        </p:nvSpPr>
        <p:spPr>
          <a:xfrm>
            <a:off x="6937410" y="2628150"/>
            <a:ext cx="896112" cy="95097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3</a:t>
            </a:r>
            <a:endParaRPr lang="en-US" sz="1400" dirty="0"/>
          </a:p>
        </p:txBody>
      </p:sp>
      <p:sp>
        <p:nvSpPr>
          <p:cNvPr id="26" name="Text 22"/>
          <p:cNvSpPr txBox="1"/>
          <p:nvPr/>
        </p:nvSpPr>
        <p:spPr>
          <a:xfrm>
            <a:off x="6781962" y="3707142"/>
            <a:ext cx="1207008" cy="246888"/>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MATCH</a:t>
            </a:r>
            <a:endParaRPr lang="en-US" sz="1200" dirty="0"/>
          </a:p>
        </p:txBody>
      </p:sp>
      <p:sp>
        <p:nvSpPr>
          <p:cNvPr id="27" name="Text 23"/>
          <p:cNvSpPr txBox="1"/>
          <p:nvPr/>
        </p:nvSpPr>
        <p:spPr>
          <a:xfrm>
            <a:off x="6727098" y="3990606"/>
            <a:ext cx="1316736" cy="530352"/>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6F6882"/>
                </a:solidFill>
                <a:latin typeface="Inter" pitchFamily="34" charset="0"/>
                <a:ea typeface="Inter" pitchFamily="34" charset="-122"/>
                <a:cs typeface="Inter" pitchFamily="34" charset="-120"/>
              </a:rPr>
              <a:t>Search inventory</a:t>
            </a:r>
            <a:endParaRPr lang="en-US" sz="1100" dirty="0"/>
          </a:p>
        </p:txBody>
      </p:sp>
      <p:sp>
        <p:nvSpPr>
          <p:cNvPr id="28" name="Shape 24"/>
          <p:cNvSpPr/>
          <p:nvPr/>
        </p:nvSpPr>
        <p:spPr>
          <a:xfrm>
            <a:off x="7915818" y="3103638"/>
            <a:ext cx="548640" cy="0"/>
          </a:xfrm>
          <a:prstGeom prst="line">
            <a:avLst/>
          </a:prstGeom>
          <a:noFill/>
          <a:ln w="12700">
            <a:solidFill>
              <a:srgbClr val="B4A0DA"/>
            </a:solidFill>
            <a:prstDash val="solid"/>
            <a:headEnd type="none"/>
            <a:tailEnd type="triangle"/>
          </a:ln>
        </p:spPr>
        <p:txBody>
          <a:bodyPr/>
          <a:lstStyle/>
          <a:p>
            <a:endParaRPr lang="es-MX"/>
          </a:p>
        </p:txBody>
      </p:sp>
      <p:sp>
        <p:nvSpPr>
          <p:cNvPr id="29" name="Shape 25"/>
          <p:cNvSpPr/>
          <p:nvPr/>
        </p:nvSpPr>
        <p:spPr>
          <a:xfrm>
            <a:off x="8501034" y="2609862"/>
            <a:ext cx="987552" cy="987552"/>
          </a:xfrm>
          <a:prstGeom prst="ellipse">
            <a:avLst/>
          </a:prstGeom>
          <a:solidFill>
            <a:srgbClr val="F2ECFF"/>
          </a:solidFill>
          <a:ln w="12700">
            <a:solidFill>
              <a:srgbClr val="D7C8FF"/>
            </a:solidFill>
            <a:prstDash val="solid"/>
          </a:ln>
        </p:spPr>
        <p:txBody>
          <a:bodyPr/>
          <a:lstStyle/>
          <a:p>
            <a:endParaRPr lang="es-MX"/>
          </a:p>
        </p:txBody>
      </p:sp>
      <p:sp>
        <p:nvSpPr>
          <p:cNvPr id="30" name="Text 26"/>
          <p:cNvSpPr txBox="1"/>
          <p:nvPr/>
        </p:nvSpPr>
        <p:spPr>
          <a:xfrm>
            <a:off x="8546754" y="2628150"/>
            <a:ext cx="896112" cy="95097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5B2DB6"/>
                </a:solidFill>
                <a:latin typeface="Inter" pitchFamily="34" charset="0"/>
                <a:ea typeface="Inter" pitchFamily="34" charset="-122"/>
                <a:cs typeface="Inter" pitchFamily="34" charset="-120"/>
              </a:rPr>
              <a:t>4</a:t>
            </a:r>
            <a:endParaRPr lang="en-US" sz="1400" dirty="0"/>
          </a:p>
        </p:txBody>
      </p:sp>
      <p:sp>
        <p:nvSpPr>
          <p:cNvPr id="31" name="Text 27"/>
          <p:cNvSpPr txBox="1"/>
          <p:nvPr/>
        </p:nvSpPr>
        <p:spPr>
          <a:xfrm>
            <a:off x="8391306" y="3707142"/>
            <a:ext cx="1207008" cy="246888"/>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FOLLOW UP</a:t>
            </a:r>
            <a:endParaRPr lang="en-US" sz="1200" dirty="0"/>
          </a:p>
        </p:txBody>
      </p:sp>
      <p:sp>
        <p:nvSpPr>
          <p:cNvPr id="32" name="Text 28"/>
          <p:cNvSpPr txBox="1"/>
          <p:nvPr/>
        </p:nvSpPr>
        <p:spPr>
          <a:xfrm>
            <a:off x="8336442" y="3990606"/>
            <a:ext cx="1316736" cy="530352"/>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6F6882"/>
                </a:solidFill>
                <a:latin typeface="Inter" pitchFamily="34" charset="0"/>
                <a:ea typeface="Inter" pitchFamily="34" charset="-122"/>
                <a:cs typeface="Inter" pitchFamily="34" charset="-120"/>
              </a:rPr>
              <a:t>Keep momentum</a:t>
            </a:r>
            <a:endParaRPr lang="en-US" sz="1100" dirty="0"/>
          </a:p>
        </p:txBody>
      </p:sp>
      <p:sp>
        <p:nvSpPr>
          <p:cNvPr id="33" name="Shape 29"/>
          <p:cNvSpPr/>
          <p:nvPr/>
        </p:nvSpPr>
        <p:spPr>
          <a:xfrm>
            <a:off x="9525162" y="3103638"/>
            <a:ext cx="548640" cy="0"/>
          </a:xfrm>
          <a:prstGeom prst="line">
            <a:avLst/>
          </a:prstGeom>
          <a:noFill/>
          <a:ln w="12700">
            <a:solidFill>
              <a:srgbClr val="B4A0DA"/>
            </a:solidFill>
            <a:prstDash val="solid"/>
            <a:headEnd type="none"/>
            <a:tailEnd type="triangle"/>
          </a:ln>
        </p:spPr>
        <p:txBody>
          <a:bodyPr/>
          <a:lstStyle/>
          <a:p>
            <a:endParaRPr lang="es-MX"/>
          </a:p>
        </p:txBody>
      </p:sp>
      <p:sp>
        <p:nvSpPr>
          <p:cNvPr id="34" name="Shape 30"/>
          <p:cNvSpPr/>
          <p:nvPr/>
        </p:nvSpPr>
        <p:spPr>
          <a:xfrm>
            <a:off x="10110378" y="2609862"/>
            <a:ext cx="987552" cy="987552"/>
          </a:xfrm>
          <a:prstGeom prst="ellipse">
            <a:avLst/>
          </a:prstGeom>
          <a:solidFill>
            <a:srgbClr val="E8F6EF"/>
          </a:solidFill>
          <a:ln w="12700">
            <a:solidFill>
              <a:srgbClr val="BEE6D2"/>
            </a:solidFill>
            <a:prstDash val="solid"/>
          </a:ln>
        </p:spPr>
        <p:txBody>
          <a:bodyPr/>
          <a:lstStyle/>
          <a:p>
            <a:endParaRPr lang="es-MX"/>
          </a:p>
        </p:txBody>
      </p:sp>
      <p:sp>
        <p:nvSpPr>
          <p:cNvPr id="35" name="Text 31"/>
          <p:cNvSpPr txBox="1"/>
          <p:nvPr/>
        </p:nvSpPr>
        <p:spPr>
          <a:xfrm>
            <a:off x="10156098" y="2628150"/>
            <a:ext cx="896112" cy="950976"/>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845A"/>
                </a:solidFill>
                <a:latin typeface="Inter" pitchFamily="34" charset="0"/>
                <a:ea typeface="Inter" pitchFamily="34" charset="-122"/>
                <a:cs typeface="Inter" pitchFamily="34" charset="-120"/>
              </a:rPr>
              <a:t>5</a:t>
            </a:r>
            <a:endParaRPr lang="en-US" sz="1400" dirty="0"/>
          </a:p>
        </p:txBody>
      </p:sp>
      <p:sp>
        <p:nvSpPr>
          <p:cNvPr id="36" name="Text 32"/>
          <p:cNvSpPr txBox="1"/>
          <p:nvPr/>
        </p:nvSpPr>
        <p:spPr>
          <a:xfrm>
            <a:off x="10000650" y="3707142"/>
            <a:ext cx="1207008" cy="246888"/>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VISIT</a:t>
            </a:r>
            <a:endParaRPr lang="en-US" sz="1200" dirty="0"/>
          </a:p>
        </p:txBody>
      </p:sp>
      <p:sp>
        <p:nvSpPr>
          <p:cNvPr id="37" name="Text 33"/>
          <p:cNvSpPr txBox="1"/>
          <p:nvPr/>
        </p:nvSpPr>
        <p:spPr>
          <a:xfrm>
            <a:off x="9945786" y="3990606"/>
            <a:ext cx="1316736" cy="530352"/>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6F6882"/>
                </a:solidFill>
                <a:latin typeface="Inter" pitchFamily="34" charset="0"/>
                <a:ea typeface="Inter" pitchFamily="34" charset="-122"/>
                <a:cs typeface="Inter" pitchFamily="34" charset="-120"/>
              </a:rPr>
              <a:t>Coordinate &amp; support attendance</a:t>
            </a:r>
            <a:endParaRPr lang="en-US" sz="1100" dirty="0"/>
          </a:p>
        </p:txBody>
      </p:sp>
      <p:sp>
        <p:nvSpPr>
          <p:cNvPr id="39" name="Shape 35"/>
          <p:cNvSpPr/>
          <p:nvPr/>
        </p:nvSpPr>
        <p:spPr>
          <a:xfrm>
            <a:off x="3749040" y="4895862"/>
            <a:ext cx="2176272" cy="566928"/>
          </a:xfrm>
          <a:prstGeom prst="roundRect">
            <a:avLst>
              <a:gd name="adj" fmla="val 11290"/>
            </a:avLst>
          </a:prstGeom>
          <a:solidFill>
            <a:srgbClr val="FFF2DA"/>
          </a:solidFill>
          <a:ln w="12700">
            <a:solidFill>
              <a:srgbClr val="F0A44A"/>
            </a:solidFill>
            <a:prstDash val="solid"/>
          </a:ln>
        </p:spPr>
        <p:txBody>
          <a:bodyPr/>
          <a:lstStyle/>
          <a:p>
            <a:endParaRPr lang="es-MX"/>
          </a:p>
        </p:txBody>
      </p:sp>
      <p:sp>
        <p:nvSpPr>
          <p:cNvPr id="40" name="Text 36"/>
          <p:cNvSpPr txBox="1"/>
          <p:nvPr/>
        </p:nvSpPr>
        <p:spPr>
          <a:xfrm>
            <a:off x="3822192" y="4914150"/>
            <a:ext cx="2029968" cy="530352"/>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9A5F1E"/>
                </a:solidFill>
                <a:latin typeface="Inter" pitchFamily="34" charset="0"/>
                <a:ea typeface="Inter" pitchFamily="34" charset="-122"/>
                <a:cs typeface="Inter" pitchFamily="34" charset="-120"/>
              </a:rPr>
              <a:t>[XX leads handled]</a:t>
            </a:r>
            <a:endParaRPr lang="en-US" sz="1200" dirty="0"/>
          </a:p>
        </p:txBody>
      </p:sp>
      <p:sp>
        <p:nvSpPr>
          <p:cNvPr id="41" name="Shape 37"/>
          <p:cNvSpPr/>
          <p:nvPr/>
        </p:nvSpPr>
        <p:spPr>
          <a:xfrm>
            <a:off x="6144768" y="4895862"/>
            <a:ext cx="2670048" cy="566928"/>
          </a:xfrm>
          <a:prstGeom prst="roundRect">
            <a:avLst>
              <a:gd name="adj" fmla="val 11290"/>
            </a:avLst>
          </a:prstGeom>
          <a:solidFill>
            <a:srgbClr val="FFF2DA"/>
          </a:solidFill>
          <a:ln w="12700">
            <a:solidFill>
              <a:srgbClr val="F0A44A"/>
            </a:solidFill>
            <a:prstDash val="solid"/>
          </a:ln>
        </p:spPr>
        <p:txBody>
          <a:bodyPr/>
          <a:lstStyle/>
          <a:p>
            <a:endParaRPr lang="es-MX"/>
          </a:p>
        </p:txBody>
      </p:sp>
      <p:sp>
        <p:nvSpPr>
          <p:cNvPr id="42" name="Text 38"/>
          <p:cNvSpPr txBox="1"/>
          <p:nvPr/>
        </p:nvSpPr>
        <p:spPr>
          <a:xfrm>
            <a:off x="6217920" y="4914150"/>
            <a:ext cx="2523744" cy="530352"/>
          </a:xfrm>
          <a:prstGeom prst="rect">
            <a:avLst/>
          </a:prstGeom>
          <a:noFill/>
          <a:ln/>
        </p:spPr>
        <p:txBody>
          <a:bodyPr wrap="square" lIns="0" tIns="0" rIns="0" bIns="0" rtlCol="0" anchor="ctr">
            <a:normAutofit/>
          </a:bodyPr>
          <a:lstStyle/>
          <a:p>
            <a:pPr marL="0" indent="0" algn="ctr">
              <a:lnSpc>
                <a:spcPct val="100000"/>
              </a:lnSpc>
              <a:buNone/>
            </a:pPr>
            <a:r>
              <a:rPr lang="en-US" sz="1100" b="1" dirty="0">
                <a:solidFill>
                  <a:srgbClr val="9A5F1E"/>
                </a:solidFill>
                <a:latin typeface="Inter" pitchFamily="34" charset="0"/>
                <a:ea typeface="Inter" pitchFamily="34" charset="-122"/>
                <a:cs typeface="Inter" pitchFamily="34" charset="-120"/>
              </a:rPr>
              <a:t>[XX% actual attended-visit rate]</a:t>
            </a:r>
            <a:endParaRPr lang="en-US" sz="1100" dirty="0"/>
          </a:p>
        </p:txBody>
      </p:sp>
      <p:sp>
        <p:nvSpPr>
          <p:cNvPr id="43" name="Shape 39"/>
          <p:cNvSpPr/>
          <p:nvPr/>
        </p:nvSpPr>
        <p:spPr>
          <a:xfrm>
            <a:off x="3739896" y="5682246"/>
            <a:ext cx="7333488" cy="466344"/>
          </a:xfrm>
          <a:prstGeom prst="roundRect">
            <a:avLst>
              <a:gd name="adj" fmla="val 15686"/>
            </a:avLst>
          </a:prstGeom>
          <a:solidFill>
            <a:srgbClr val="F7F4FB"/>
          </a:solidFill>
          <a:ln w="12700">
            <a:solidFill>
              <a:srgbClr val="E5DDEB"/>
            </a:solidFill>
            <a:prstDash val="solid"/>
          </a:ln>
        </p:spPr>
        <p:txBody>
          <a:bodyPr/>
          <a:lstStyle/>
          <a:p>
            <a:endParaRPr lang="es-MX"/>
          </a:p>
        </p:txBody>
      </p:sp>
      <p:sp>
        <p:nvSpPr>
          <p:cNvPr id="44" name="Text 40"/>
          <p:cNvSpPr txBox="1"/>
          <p:nvPr/>
        </p:nvSpPr>
        <p:spPr>
          <a:xfrm>
            <a:off x="3931920" y="5782830"/>
            <a:ext cx="6949440" cy="246888"/>
          </a:xfrm>
          <a:prstGeom prst="rect">
            <a:avLst/>
          </a:prstGeom>
          <a:noFill/>
          <a:ln/>
        </p:spPr>
        <p:txBody>
          <a:bodyPr wrap="square" lIns="0" tIns="0" rIns="0" bIns="0" rtlCol="0" anchor="ctr">
            <a:noAutofit/>
          </a:bodyPr>
          <a:lstStyle/>
          <a:p>
            <a:pPr marL="0" indent="0" algn="ctr">
              <a:lnSpc>
                <a:spcPct val="100000"/>
              </a:lnSpc>
              <a:buNone/>
            </a:pPr>
            <a:r>
              <a:rPr lang="en-US" sz="1200" b="1" dirty="0">
                <a:solidFill>
                  <a:srgbClr val="6F6882"/>
                </a:solidFill>
                <a:latin typeface="Inter" pitchFamily="34" charset="0"/>
                <a:ea typeface="Inter" pitchFamily="34" charset="-122"/>
                <a:cs typeface="Inter" pitchFamily="34" charset="-120"/>
              </a:rPr>
              <a:t>Shared inventory + integrated real-estate services extend Gu’s reach beyond a brokerage’s own resources.</a:t>
            </a:r>
            <a:endParaRPr lang="en-US" sz="1200" dirty="0"/>
          </a:p>
        </p:txBody>
      </p:sp>
      <p:sp>
        <p:nvSpPr>
          <p:cNvPr id="4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5</a:t>
            </a:fld>
            <a:endParaRPr lang="en-US"/>
          </a:p>
        </p:txBody>
      </p:sp>
      <p:sp>
        <p:nvSpPr>
          <p:cNvPr id="47" name="Text 7">
            <a:extLst>
              <a:ext uri="{FF2B5EF4-FFF2-40B4-BE49-F238E27FC236}">
                <a16:creationId xmlns:a16="http://schemas.microsoft.com/office/drawing/2014/main" id="{1F0165F2-8DE5-C3B3-2267-D89726FFA16E}"/>
              </a:ext>
            </a:extLst>
          </p:cNvPr>
          <p:cNvSpPr txBox="1"/>
          <p:nvPr/>
        </p:nvSpPr>
        <p:spPr>
          <a:xfrm>
            <a:off x="2036023" y="5556516"/>
            <a:ext cx="1093544" cy="310896"/>
          </a:xfrm>
          <a:prstGeom prst="rect">
            <a:avLst/>
          </a:prstGeom>
          <a:noFill/>
          <a:ln/>
        </p:spPr>
        <p:txBody>
          <a:bodyPr wrap="square" lIns="0" tIns="0" rIns="0" bIns="0" rtlCol="0" anchor="ctr">
            <a:normAutofit/>
          </a:bodyPr>
          <a:lstStyle/>
          <a:p>
            <a:pPr marL="0" indent="0" algn="ctr">
              <a:lnSpc>
                <a:spcPct val="100000"/>
              </a:lnSpc>
              <a:buNone/>
            </a:pPr>
            <a:r>
              <a:rPr lang="en-US" sz="1000" b="1" dirty="0">
                <a:solidFill>
                  <a:srgbClr val="5B2DB6"/>
                </a:solidFill>
                <a:latin typeface="Inter" pitchFamily="34" charset="0"/>
                <a:ea typeface="Inter" pitchFamily="34" charset="-122"/>
                <a:cs typeface="Inter" pitchFamily="34" charset="-120"/>
              </a:rPr>
              <a:t>Customer-controlled</a:t>
            </a:r>
            <a:endParaRPr lang="en-US" sz="1000" dirty="0"/>
          </a:p>
        </p:txBody>
      </p:sp>
      <p:sp>
        <p:nvSpPr>
          <p:cNvPr id="49" name="Text 28">
            <a:extLst>
              <a:ext uri="{FF2B5EF4-FFF2-40B4-BE49-F238E27FC236}">
                <a16:creationId xmlns:a16="http://schemas.microsoft.com/office/drawing/2014/main" id="{2B9C4416-ECF9-5047-5642-F0B17491A219}"/>
              </a:ext>
            </a:extLst>
          </p:cNvPr>
          <p:cNvSpPr txBox="1"/>
          <p:nvPr/>
        </p:nvSpPr>
        <p:spPr>
          <a:xfrm>
            <a:off x="3675888" y="1863718"/>
            <a:ext cx="6555767" cy="530352"/>
          </a:xfrm>
          <a:prstGeom prst="rect">
            <a:avLst/>
          </a:prstGeom>
          <a:noFill/>
          <a:ln/>
        </p:spPr>
        <p:txBody>
          <a:bodyPr wrap="square" lIns="0" tIns="0" rIns="0" bIns="0" rtlCol="0" anchor="t">
            <a:normAutofit lnSpcReduction="10000"/>
          </a:bodyPr>
          <a:lstStyle/>
          <a:p>
            <a:pPr marL="0" indent="0" algn="ctr">
              <a:lnSpc>
                <a:spcPct val="100000"/>
              </a:lnSpc>
              <a:buNone/>
            </a:pPr>
            <a:r>
              <a:rPr lang="en-US" sz="1850" b="1" dirty="0">
                <a:solidFill>
                  <a:srgbClr val="18152B"/>
                </a:solidFill>
                <a:latin typeface="Inter" pitchFamily="34" charset="0"/>
                <a:ea typeface="Inter" pitchFamily="34" charset="-122"/>
                <a:cs typeface="Inter" pitchFamily="34" charset="-120"/>
              </a:rPr>
              <a:t>Gu already takes responsibility for meaningful commercial work—not just answering questions</a:t>
            </a:r>
            <a:endParaRPr lang="en-US" sz="1850" b="1" dirty="0">
              <a:solidFill>
                <a:srgbClr val="18152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FROM GU TO GU OS</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rmAutofit/>
          </a:bodyPr>
          <a:lstStyle/>
          <a:p>
            <a:pPr marL="0" indent="0" algn="l">
              <a:lnSpc>
                <a:spcPct val="100000"/>
              </a:lnSpc>
              <a:buNone/>
            </a:pPr>
            <a:r>
              <a:rPr lang="en-US" sz="2800" b="1" dirty="0">
                <a:solidFill>
                  <a:srgbClr val="18152B"/>
                </a:solidFill>
                <a:latin typeface="Aptos" panose="020B0004020202020204" pitchFamily="34" charset="0"/>
                <a:ea typeface="Inter Display" pitchFamily="34" charset="-122"/>
                <a:cs typeface="Inter Display" pitchFamily="34" charset="-120"/>
              </a:rPr>
              <a:t>Real work needs more than conversation.</a:t>
            </a:r>
            <a:endParaRPr lang="en-US" sz="2800" dirty="0">
              <a:latin typeface="Aptos" panose="020B0004020202020204" pitchFamily="34" charset="0"/>
            </a:endParaRPr>
          </a:p>
        </p:txBody>
      </p:sp>
      <p:sp>
        <p:nvSpPr>
          <p:cNvPr id="5" name="Text 2"/>
          <p:cNvSpPr txBox="1"/>
          <p:nvPr/>
        </p:nvSpPr>
        <p:spPr>
          <a:xfrm>
            <a:off x="566928" y="1143967"/>
            <a:ext cx="9482328" cy="475488"/>
          </a:xfrm>
          <a:prstGeom prst="rect">
            <a:avLst/>
          </a:prstGeom>
          <a:noFill/>
          <a:ln/>
        </p:spPr>
        <p:txBody>
          <a:bodyPr wrap="square" lIns="0" tIns="0" rIns="0" bIns="0" rtlCol="0" anchor="t">
            <a:noAutofit/>
          </a:bodyPr>
          <a:lstStyle/>
          <a:p>
            <a:pPr marL="0" indent="0" algn="l">
              <a:lnSpc>
                <a:spcPct val="100000"/>
              </a:lnSpc>
              <a:buNone/>
            </a:pPr>
            <a:r>
              <a:rPr lang="en-US" dirty="0">
                <a:solidFill>
                  <a:srgbClr val="6F6882"/>
                </a:solidFill>
                <a:latin typeface="Inter" pitchFamily="34" charset="0"/>
                <a:ea typeface="Inter" pitchFamily="34" charset="-122"/>
                <a:cs typeface="Inter" pitchFamily="34" charset="-120"/>
              </a:rPr>
              <a:t>When an AI worker participates in durable business work, conversation can no longer be its only operational state or source of truth.</a:t>
            </a:r>
            <a:endParaRPr lang="en-US" dirty="0"/>
          </a:p>
        </p:txBody>
      </p:sp>
      <p:sp>
        <p:nvSpPr>
          <p:cNvPr id="6" name="Shape 3"/>
          <p:cNvSpPr/>
          <p:nvPr/>
        </p:nvSpPr>
        <p:spPr>
          <a:xfrm>
            <a:off x="603504" y="1904646"/>
            <a:ext cx="4224528" cy="4142232"/>
          </a:xfrm>
          <a:prstGeom prst="roundRect">
            <a:avLst>
              <a:gd name="adj" fmla="val 2649"/>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sz="1200"/>
          </a:p>
        </p:txBody>
      </p:sp>
      <p:sp>
        <p:nvSpPr>
          <p:cNvPr id="7" name="Shape 4"/>
          <p:cNvSpPr/>
          <p:nvPr/>
        </p:nvSpPr>
        <p:spPr>
          <a:xfrm>
            <a:off x="5084064" y="1904646"/>
            <a:ext cx="6492240" cy="4142232"/>
          </a:xfrm>
          <a:prstGeom prst="roundRect">
            <a:avLst>
              <a:gd name="adj" fmla="val 2649"/>
            </a:avLst>
          </a:prstGeom>
          <a:solidFill>
            <a:srgbClr val="F6F2FF"/>
          </a:solidFill>
          <a:ln w="12700">
            <a:solidFill>
              <a:srgbClr val="E1D7FB"/>
            </a:solidFill>
            <a:prstDash val="solid"/>
          </a:ln>
          <a:effectLst>
            <a:outerShdw blurRad="19050" dist="50800" dir="2700000" algn="bl" rotWithShape="0">
              <a:srgbClr val="C6BCD8">
                <a:alpha val="16000"/>
              </a:srgbClr>
            </a:outerShdw>
          </a:effectLst>
        </p:spPr>
        <p:txBody>
          <a:bodyPr/>
          <a:lstStyle/>
          <a:p>
            <a:endParaRPr lang="es-MX"/>
          </a:p>
        </p:txBody>
      </p:sp>
      <p:sp>
        <p:nvSpPr>
          <p:cNvPr id="8" name="Shape 5"/>
          <p:cNvSpPr/>
          <p:nvPr/>
        </p:nvSpPr>
        <p:spPr>
          <a:xfrm>
            <a:off x="868680" y="2178966"/>
            <a:ext cx="1097280" cy="310896"/>
          </a:xfrm>
          <a:prstGeom prst="roundRect">
            <a:avLst>
              <a:gd name="adj" fmla="val 23529"/>
            </a:avLst>
          </a:prstGeom>
          <a:solidFill>
            <a:srgbClr val="F0EAFE"/>
          </a:solidFill>
          <a:ln w="12700">
            <a:solidFill>
              <a:srgbClr val="F0EAFE">
                <a:alpha val="0"/>
              </a:srgbClr>
            </a:solidFill>
            <a:prstDash val="solid"/>
          </a:ln>
        </p:spPr>
        <p:txBody>
          <a:bodyPr/>
          <a:lstStyle/>
          <a:p>
            <a:endParaRPr lang="es-MX" sz="1200"/>
          </a:p>
        </p:txBody>
      </p:sp>
      <p:sp>
        <p:nvSpPr>
          <p:cNvPr id="9" name="Text 6"/>
          <p:cNvSpPr txBox="1"/>
          <p:nvPr/>
        </p:nvSpPr>
        <p:spPr>
          <a:xfrm>
            <a:off x="868680" y="2183538"/>
            <a:ext cx="1097280" cy="310896"/>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5B2DB6"/>
                </a:solidFill>
                <a:latin typeface="Inter" pitchFamily="34" charset="0"/>
                <a:ea typeface="Inter" pitchFamily="34" charset="-122"/>
                <a:cs typeface="Inter" pitchFamily="34" charset="-120"/>
              </a:rPr>
              <a:t>STATE</a:t>
            </a:r>
            <a:endParaRPr lang="en-US" sz="1200" dirty="0"/>
          </a:p>
        </p:txBody>
      </p:sp>
      <p:sp>
        <p:nvSpPr>
          <p:cNvPr id="10" name="Text 7"/>
          <p:cNvSpPr txBox="1"/>
          <p:nvPr/>
        </p:nvSpPr>
        <p:spPr>
          <a:xfrm>
            <a:off x="2121408" y="2160678"/>
            <a:ext cx="2331720" cy="6400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is happening?</a:t>
            </a:r>
            <a:endParaRPr lang="en-US" sz="1200" dirty="0"/>
          </a:p>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already happened?</a:t>
            </a:r>
            <a:endParaRPr lang="en-US" sz="1200" dirty="0"/>
          </a:p>
        </p:txBody>
      </p:sp>
      <p:sp>
        <p:nvSpPr>
          <p:cNvPr id="11" name="Shape 8"/>
          <p:cNvSpPr/>
          <p:nvPr/>
        </p:nvSpPr>
        <p:spPr>
          <a:xfrm>
            <a:off x="868680" y="3047646"/>
            <a:ext cx="1097280" cy="310896"/>
          </a:xfrm>
          <a:prstGeom prst="roundRect">
            <a:avLst>
              <a:gd name="adj" fmla="val 23529"/>
            </a:avLst>
          </a:prstGeom>
          <a:solidFill>
            <a:srgbClr val="F0EAFE"/>
          </a:solidFill>
          <a:ln w="12700">
            <a:solidFill>
              <a:srgbClr val="F0EAFE">
                <a:alpha val="0"/>
              </a:srgbClr>
            </a:solidFill>
            <a:prstDash val="solid"/>
          </a:ln>
        </p:spPr>
        <p:txBody>
          <a:bodyPr/>
          <a:lstStyle/>
          <a:p>
            <a:endParaRPr lang="es-MX" sz="1200"/>
          </a:p>
        </p:txBody>
      </p:sp>
      <p:sp>
        <p:nvSpPr>
          <p:cNvPr id="12" name="Text 9"/>
          <p:cNvSpPr txBox="1"/>
          <p:nvPr/>
        </p:nvSpPr>
        <p:spPr>
          <a:xfrm>
            <a:off x="868680" y="3052218"/>
            <a:ext cx="1097280" cy="310896"/>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5B2DB6"/>
                </a:solidFill>
                <a:latin typeface="Inter" pitchFamily="34" charset="0"/>
                <a:ea typeface="Inter" pitchFamily="34" charset="-122"/>
                <a:cs typeface="Inter" pitchFamily="34" charset="-120"/>
              </a:rPr>
              <a:t>PROGRESS</a:t>
            </a:r>
            <a:endParaRPr lang="en-US" sz="1200" dirty="0"/>
          </a:p>
        </p:txBody>
      </p:sp>
      <p:sp>
        <p:nvSpPr>
          <p:cNvPr id="13" name="Text 10"/>
          <p:cNvSpPr txBox="1"/>
          <p:nvPr/>
        </p:nvSpPr>
        <p:spPr>
          <a:xfrm>
            <a:off x="2121408" y="3029358"/>
            <a:ext cx="2331720" cy="6400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must happen next?</a:t>
            </a:r>
            <a:endParaRPr lang="en-US" sz="1200" dirty="0"/>
          </a:p>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is blocked or dependent?</a:t>
            </a:r>
            <a:endParaRPr lang="en-US" sz="1200" dirty="0"/>
          </a:p>
        </p:txBody>
      </p:sp>
      <p:sp>
        <p:nvSpPr>
          <p:cNvPr id="14" name="Shape 11"/>
          <p:cNvSpPr/>
          <p:nvPr/>
        </p:nvSpPr>
        <p:spPr>
          <a:xfrm>
            <a:off x="868680" y="3916326"/>
            <a:ext cx="1097280" cy="310896"/>
          </a:xfrm>
          <a:prstGeom prst="roundRect">
            <a:avLst>
              <a:gd name="adj" fmla="val 23529"/>
            </a:avLst>
          </a:prstGeom>
          <a:solidFill>
            <a:srgbClr val="F9EAF1"/>
          </a:solidFill>
          <a:ln w="12700">
            <a:solidFill>
              <a:srgbClr val="F9EAF1">
                <a:alpha val="0"/>
              </a:srgbClr>
            </a:solidFill>
            <a:prstDash val="solid"/>
          </a:ln>
        </p:spPr>
        <p:txBody>
          <a:bodyPr/>
          <a:lstStyle/>
          <a:p>
            <a:endParaRPr lang="es-MX" sz="1200"/>
          </a:p>
        </p:txBody>
      </p:sp>
      <p:sp>
        <p:nvSpPr>
          <p:cNvPr id="15" name="Text 12"/>
          <p:cNvSpPr txBox="1"/>
          <p:nvPr/>
        </p:nvSpPr>
        <p:spPr>
          <a:xfrm>
            <a:off x="868680" y="3920898"/>
            <a:ext cx="1097280" cy="310896"/>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9A4D78"/>
                </a:solidFill>
                <a:latin typeface="Inter" pitchFamily="34" charset="0"/>
                <a:ea typeface="Inter" pitchFamily="34" charset="-122"/>
                <a:cs typeface="Inter" pitchFamily="34" charset="-120"/>
              </a:rPr>
              <a:t>GOVERNANCE</a:t>
            </a:r>
            <a:endParaRPr lang="en-US" sz="1200" dirty="0"/>
          </a:p>
        </p:txBody>
      </p:sp>
      <p:sp>
        <p:nvSpPr>
          <p:cNvPr id="16" name="Text 13"/>
          <p:cNvSpPr txBox="1"/>
          <p:nvPr/>
        </p:nvSpPr>
        <p:spPr>
          <a:xfrm>
            <a:off x="2121408" y="3898038"/>
            <a:ext cx="2331720" cy="6400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rules apply?</a:t>
            </a:r>
            <a:endParaRPr lang="en-US" sz="1200" dirty="0"/>
          </a:p>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is authorized? </a:t>
            </a:r>
          </a:p>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Who must decide?</a:t>
            </a:r>
            <a:endParaRPr lang="en-US" sz="1200" dirty="0"/>
          </a:p>
        </p:txBody>
      </p:sp>
      <p:sp>
        <p:nvSpPr>
          <p:cNvPr id="17" name="Shape 14"/>
          <p:cNvSpPr/>
          <p:nvPr/>
        </p:nvSpPr>
        <p:spPr>
          <a:xfrm>
            <a:off x="868680" y="4785006"/>
            <a:ext cx="1097280" cy="310896"/>
          </a:xfrm>
          <a:prstGeom prst="roundRect">
            <a:avLst>
              <a:gd name="adj" fmla="val 23529"/>
            </a:avLst>
          </a:prstGeom>
          <a:solidFill>
            <a:srgbClr val="F0EAFE"/>
          </a:solidFill>
          <a:ln w="12700">
            <a:solidFill>
              <a:srgbClr val="F0EAFE">
                <a:alpha val="0"/>
              </a:srgbClr>
            </a:solidFill>
            <a:prstDash val="solid"/>
          </a:ln>
        </p:spPr>
        <p:txBody>
          <a:bodyPr/>
          <a:lstStyle/>
          <a:p>
            <a:endParaRPr lang="es-MX" sz="1200"/>
          </a:p>
        </p:txBody>
      </p:sp>
      <p:sp>
        <p:nvSpPr>
          <p:cNvPr id="18" name="Text 15"/>
          <p:cNvSpPr txBox="1"/>
          <p:nvPr/>
        </p:nvSpPr>
        <p:spPr>
          <a:xfrm>
            <a:off x="868680" y="4789578"/>
            <a:ext cx="1097280" cy="310896"/>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5B2DB6"/>
                </a:solidFill>
                <a:latin typeface="Inter" pitchFamily="34" charset="0"/>
                <a:ea typeface="Inter" pitchFamily="34" charset="-122"/>
                <a:cs typeface="Inter" pitchFamily="34" charset="-120"/>
              </a:rPr>
              <a:t>VERIFICATION</a:t>
            </a:r>
            <a:endParaRPr lang="en-US" sz="1200" dirty="0"/>
          </a:p>
        </p:txBody>
      </p:sp>
      <p:sp>
        <p:nvSpPr>
          <p:cNvPr id="19" name="Text 16"/>
          <p:cNvSpPr txBox="1"/>
          <p:nvPr/>
        </p:nvSpPr>
        <p:spPr>
          <a:xfrm>
            <a:off x="2121408" y="4806474"/>
            <a:ext cx="2331720" cy="6400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How do we know it is complete?</a:t>
            </a:r>
            <a:endParaRPr lang="en-US" sz="1200" dirty="0"/>
          </a:p>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changes if a fact changes?</a:t>
            </a:r>
            <a:endParaRPr lang="en-US" sz="1200" dirty="0"/>
          </a:p>
        </p:txBody>
      </p:sp>
      <p:sp>
        <p:nvSpPr>
          <p:cNvPr id="20" name="Text 17"/>
          <p:cNvSpPr txBox="1"/>
          <p:nvPr/>
        </p:nvSpPr>
        <p:spPr>
          <a:xfrm>
            <a:off x="859536" y="5461656"/>
            <a:ext cx="3621024" cy="310896"/>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6F6882"/>
                </a:solidFill>
                <a:latin typeface="Inter" pitchFamily="34" charset="0"/>
                <a:ea typeface="Inter" pitchFamily="34" charset="-122"/>
                <a:cs typeface="Inter" pitchFamily="34" charset="-120"/>
              </a:rPr>
              <a:t>Conversation alone cannot reliably govern all of this.</a:t>
            </a:r>
            <a:endParaRPr lang="en-US" sz="1200" dirty="0"/>
          </a:p>
        </p:txBody>
      </p:sp>
      <p:sp>
        <p:nvSpPr>
          <p:cNvPr id="21" name="Shape 18"/>
          <p:cNvSpPr/>
          <p:nvPr/>
        </p:nvSpPr>
        <p:spPr>
          <a:xfrm>
            <a:off x="4846320" y="3782745"/>
            <a:ext cx="237744" cy="0"/>
          </a:xfrm>
          <a:prstGeom prst="line">
            <a:avLst/>
          </a:prstGeom>
          <a:noFill/>
          <a:ln w="12700">
            <a:solidFill>
              <a:srgbClr val="7446E8"/>
            </a:solidFill>
            <a:prstDash val="solid"/>
            <a:headEnd type="none"/>
            <a:tailEnd type="triangle"/>
          </a:ln>
        </p:spPr>
        <p:txBody>
          <a:bodyPr/>
          <a:lstStyle/>
          <a:p>
            <a:endParaRPr lang="es-MX"/>
          </a:p>
        </p:txBody>
      </p:sp>
      <p:sp>
        <p:nvSpPr>
          <p:cNvPr id="22" name="Text 19"/>
          <p:cNvSpPr txBox="1"/>
          <p:nvPr/>
        </p:nvSpPr>
        <p:spPr>
          <a:xfrm>
            <a:off x="5404104" y="2098659"/>
            <a:ext cx="1828800" cy="457200"/>
          </a:xfrm>
          <a:prstGeom prst="rect">
            <a:avLst/>
          </a:prstGeom>
          <a:noFill/>
          <a:ln/>
        </p:spPr>
        <p:txBody>
          <a:bodyPr wrap="square" lIns="0" tIns="0" rIns="0" bIns="0" rtlCol="0" anchor="ctr">
            <a:normAutofit/>
          </a:bodyPr>
          <a:lstStyle/>
          <a:p>
            <a:pPr marL="0" indent="0" algn="l">
              <a:lnSpc>
                <a:spcPct val="100000"/>
              </a:lnSpc>
              <a:buNone/>
            </a:pPr>
            <a:r>
              <a:rPr lang="en-US" sz="2600" b="1" dirty="0">
                <a:solidFill>
                  <a:srgbClr val="5B2DB6"/>
                </a:solidFill>
                <a:latin typeface="Inter Display" pitchFamily="34" charset="0"/>
                <a:ea typeface="Inter Display" pitchFamily="34" charset="-122"/>
                <a:cs typeface="Inter Display" pitchFamily="34" charset="-120"/>
              </a:rPr>
              <a:t>GU OS</a:t>
            </a:r>
            <a:endParaRPr lang="en-US" sz="2600" dirty="0"/>
          </a:p>
        </p:txBody>
      </p:sp>
      <p:sp>
        <p:nvSpPr>
          <p:cNvPr id="23" name="Text 20"/>
          <p:cNvSpPr txBox="1"/>
          <p:nvPr/>
        </p:nvSpPr>
        <p:spPr>
          <a:xfrm>
            <a:off x="6575070" y="2184493"/>
            <a:ext cx="4187952" cy="320040"/>
          </a:xfrm>
          <a:prstGeom prst="rect">
            <a:avLst/>
          </a:prstGeom>
          <a:noFill/>
          <a:ln/>
        </p:spPr>
        <p:txBody>
          <a:bodyPr wrap="square" lIns="0" tIns="0" rIns="0" bIns="0" rtlCol="0" anchor="ctr">
            <a:normAutofit/>
          </a:bodyPr>
          <a:lstStyle/>
          <a:p>
            <a:pPr marL="0" indent="0" algn="l">
              <a:lnSpc>
                <a:spcPct val="100000"/>
              </a:lnSpc>
              <a:buNone/>
            </a:pPr>
            <a:r>
              <a:rPr lang="en-US" sz="1600" b="1" dirty="0">
                <a:solidFill>
                  <a:schemeClr val="tx1">
                    <a:lumMod val="85000"/>
                    <a:lumOff val="15000"/>
                  </a:schemeClr>
                </a:solidFill>
                <a:latin typeface="Inter" pitchFamily="34" charset="0"/>
                <a:ea typeface="Inter" pitchFamily="34" charset="-122"/>
                <a:cs typeface="Inter" pitchFamily="34" charset="-120"/>
              </a:rPr>
              <a:t>The durable operating environment behind Gu</a:t>
            </a:r>
            <a:endParaRPr lang="en-US" sz="1600" dirty="0">
              <a:solidFill>
                <a:schemeClr val="tx1">
                  <a:lumMod val="85000"/>
                  <a:lumOff val="15000"/>
                </a:schemeClr>
              </a:solidFill>
            </a:endParaRPr>
          </a:p>
        </p:txBody>
      </p:sp>
      <p:sp>
        <p:nvSpPr>
          <p:cNvPr id="24" name="Shape 21"/>
          <p:cNvSpPr/>
          <p:nvPr/>
        </p:nvSpPr>
        <p:spPr>
          <a:xfrm>
            <a:off x="5404104" y="2681889"/>
            <a:ext cx="2670048" cy="769884"/>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25" name="Text 22"/>
          <p:cNvSpPr txBox="1"/>
          <p:nvPr/>
        </p:nvSpPr>
        <p:spPr>
          <a:xfrm>
            <a:off x="5559552" y="2764185"/>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Operational state</a:t>
            </a:r>
            <a:endParaRPr lang="en-US" sz="1200" dirty="0"/>
          </a:p>
        </p:txBody>
      </p:sp>
      <p:sp>
        <p:nvSpPr>
          <p:cNvPr id="26" name="Text 23"/>
          <p:cNvSpPr txBox="1"/>
          <p:nvPr/>
        </p:nvSpPr>
        <p:spPr>
          <a:xfrm>
            <a:off x="5559552" y="2965353"/>
            <a:ext cx="2331720" cy="27432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what is actually happening</a:t>
            </a:r>
            <a:endParaRPr lang="en-US" sz="1200" dirty="0"/>
          </a:p>
        </p:txBody>
      </p:sp>
      <p:sp>
        <p:nvSpPr>
          <p:cNvPr id="27" name="Shape 24"/>
          <p:cNvSpPr/>
          <p:nvPr/>
        </p:nvSpPr>
        <p:spPr>
          <a:xfrm>
            <a:off x="8348472" y="2681889"/>
            <a:ext cx="2670048" cy="751056"/>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28" name="Text 25"/>
          <p:cNvSpPr txBox="1"/>
          <p:nvPr/>
        </p:nvSpPr>
        <p:spPr>
          <a:xfrm>
            <a:off x="8503920" y="2764185"/>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Durable work</a:t>
            </a:r>
            <a:endParaRPr lang="en-US" sz="1200" dirty="0"/>
          </a:p>
        </p:txBody>
      </p:sp>
      <p:sp>
        <p:nvSpPr>
          <p:cNvPr id="29" name="Text 26"/>
          <p:cNvSpPr txBox="1"/>
          <p:nvPr/>
        </p:nvSpPr>
        <p:spPr>
          <a:xfrm>
            <a:off x="8503920" y="2965353"/>
            <a:ext cx="2331720" cy="274320"/>
          </a:xfrm>
          <a:prstGeom prst="rect">
            <a:avLst/>
          </a:prstGeom>
          <a:noFill/>
          <a:ln/>
        </p:spPr>
        <p:txBody>
          <a:bodyPr wrap="square" lIns="0" tIns="0" rIns="0" bIns="0" rtlCol="0" anchor="t">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cases, workflows, waits and dependencies</a:t>
            </a:r>
            <a:endParaRPr lang="en-US" sz="1200" dirty="0"/>
          </a:p>
        </p:txBody>
      </p:sp>
      <p:sp>
        <p:nvSpPr>
          <p:cNvPr id="30" name="Shape 27"/>
          <p:cNvSpPr/>
          <p:nvPr/>
        </p:nvSpPr>
        <p:spPr>
          <a:xfrm>
            <a:off x="5404104" y="3575216"/>
            <a:ext cx="2670048" cy="751056"/>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31" name="Text 28"/>
          <p:cNvSpPr txBox="1"/>
          <p:nvPr/>
        </p:nvSpPr>
        <p:spPr>
          <a:xfrm>
            <a:off x="5559552" y="3657513"/>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Skills &amp; tools</a:t>
            </a:r>
            <a:endParaRPr lang="en-US" sz="1200" dirty="0"/>
          </a:p>
        </p:txBody>
      </p:sp>
      <p:sp>
        <p:nvSpPr>
          <p:cNvPr id="32" name="Text 29"/>
          <p:cNvSpPr txBox="1"/>
          <p:nvPr/>
        </p:nvSpPr>
        <p:spPr>
          <a:xfrm>
            <a:off x="5559552" y="3858681"/>
            <a:ext cx="2331720" cy="274320"/>
          </a:xfrm>
          <a:prstGeom prst="rect">
            <a:avLst/>
          </a:prstGeom>
          <a:noFill/>
          <a:ln/>
        </p:spPr>
        <p:txBody>
          <a:bodyPr wrap="square" lIns="0" tIns="0" rIns="0" bIns="0" rtlCol="0" anchor="t">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what Gu knows how to do and the systems it can act through</a:t>
            </a:r>
            <a:endParaRPr lang="en-US" sz="1200" dirty="0"/>
          </a:p>
        </p:txBody>
      </p:sp>
      <p:sp>
        <p:nvSpPr>
          <p:cNvPr id="33" name="Shape 30"/>
          <p:cNvSpPr/>
          <p:nvPr/>
        </p:nvSpPr>
        <p:spPr>
          <a:xfrm>
            <a:off x="8348472" y="3575216"/>
            <a:ext cx="2670048" cy="751055"/>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34" name="Text 31"/>
          <p:cNvSpPr txBox="1"/>
          <p:nvPr/>
        </p:nvSpPr>
        <p:spPr>
          <a:xfrm>
            <a:off x="8503920" y="3657513"/>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Rules &amp; permissions</a:t>
            </a:r>
            <a:endParaRPr lang="en-US" sz="1200" dirty="0"/>
          </a:p>
        </p:txBody>
      </p:sp>
      <p:sp>
        <p:nvSpPr>
          <p:cNvPr id="35" name="Text 32"/>
          <p:cNvSpPr txBox="1"/>
          <p:nvPr/>
        </p:nvSpPr>
        <p:spPr>
          <a:xfrm>
            <a:off x="8503920" y="3858681"/>
            <a:ext cx="2331720" cy="27432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what Gu is allowed to do</a:t>
            </a:r>
            <a:endParaRPr lang="en-US" sz="1200" dirty="0"/>
          </a:p>
        </p:txBody>
      </p:sp>
      <p:sp>
        <p:nvSpPr>
          <p:cNvPr id="36" name="Shape 33"/>
          <p:cNvSpPr/>
          <p:nvPr/>
        </p:nvSpPr>
        <p:spPr>
          <a:xfrm>
            <a:off x="5404104" y="4468544"/>
            <a:ext cx="2670048" cy="726729"/>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37" name="Text 34"/>
          <p:cNvSpPr txBox="1"/>
          <p:nvPr/>
        </p:nvSpPr>
        <p:spPr>
          <a:xfrm>
            <a:off x="5559552" y="4550841"/>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Human decision points</a:t>
            </a:r>
            <a:endParaRPr lang="en-US" sz="1200" dirty="0"/>
          </a:p>
        </p:txBody>
      </p:sp>
      <p:sp>
        <p:nvSpPr>
          <p:cNvPr id="38" name="Text 35"/>
          <p:cNvSpPr txBox="1"/>
          <p:nvPr/>
        </p:nvSpPr>
        <p:spPr>
          <a:xfrm>
            <a:off x="5559552" y="4752009"/>
            <a:ext cx="2422622" cy="274320"/>
          </a:xfrm>
          <a:prstGeom prst="rect">
            <a:avLst/>
          </a:prstGeom>
          <a:noFill/>
          <a:ln/>
        </p:spPr>
        <p:txBody>
          <a:bodyPr wrap="square" lIns="0" tIns="0" rIns="0" bIns="0" rtlCol="0" anchor="t">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where people lead, approve or intervene</a:t>
            </a:r>
            <a:endParaRPr lang="en-US" sz="1200" dirty="0"/>
          </a:p>
        </p:txBody>
      </p:sp>
      <p:sp>
        <p:nvSpPr>
          <p:cNvPr id="39" name="Shape 36"/>
          <p:cNvSpPr/>
          <p:nvPr/>
        </p:nvSpPr>
        <p:spPr>
          <a:xfrm>
            <a:off x="8348472" y="4468545"/>
            <a:ext cx="2670048" cy="726728"/>
          </a:xfrm>
          <a:prstGeom prst="roundRect">
            <a:avLst>
              <a:gd name="adj" fmla="val 16667"/>
            </a:avLst>
          </a:prstGeom>
          <a:solidFill>
            <a:srgbClr val="FFFFFF"/>
          </a:solidFill>
          <a:ln w="12700">
            <a:solidFill>
              <a:srgbClr val="E1D9ED"/>
            </a:solidFill>
            <a:prstDash val="solid"/>
          </a:ln>
        </p:spPr>
        <p:txBody>
          <a:bodyPr/>
          <a:lstStyle/>
          <a:p>
            <a:endParaRPr lang="es-MX" sz="1200"/>
          </a:p>
        </p:txBody>
      </p:sp>
      <p:sp>
        <p:nvSpPr>
          <p:cNvPr id="40" name="Text 37"/>
          <p:cNvSpPr txBox="1"/>
          <p:nvPr/>
        </p:nvSpPr>
        <p:spPr>
          <a:xfrm>
            <a:off x="8503920" y="4550841"/>
            <a:ext cx="2331720"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Evidence &amp; verification</a:t>
            </a:r>
            <a:endParaRPr lang="en-US" sz="1200" dirty="0"/>
          </a:p>
        </p:txBody>
      </p:sp>
      <p:sp>
        <p:nvSpPr>
          <p:cNvPr id="41" name="Text 38"/>
          <p:cNvSpPr txBox="1"/>
          <p:nvPr/>
        </p:nvSpPr>
        <p:spPr>
          <a:xfrm>
            <a:off x="8503920" y="4752009"/>
            <a:ext cx="2331720" cy="274320"/>
          </a:xfrm>
          <a:prstGeom prst="rect">
            <a:avLst/>
          </a:prstGeom>
          <a:noFill/>
          <a:ln/>
        </p:spPr>
        <p:txBody>
          <a:bodyPr wrap="square" lIns="0" tIns="0" rIns="0" bIns="0" rtlCol="0" anchor="t">
            <a:noAutofit/>
          </a:bodyPr>
          <a:lstStyle/>
          <a:p>
            <a:pPr marL="0" indent="0" algn="l">
              <a:lnSpc>
                <a:spcPct val="100000"/>
              </a:lnSpc>
              <a:buNone/>
            </a:pPr>
            <a:r>
              <a:rPr lang="en-US" sz="1200" dirty="0">
                <a:solidFill>
                  <a:srgbClr val="6F6882"/>
                </a:solidFill>
                <a:latin typeface="Inter" pitchFamily="34" charset="0"/>
                <a:ea typeface="Inter" pitchFamily="34" charset="-122"/>
                <a:cs typeface="Inter" pitchFamily="34" charset="-120"/>
              </a:rPr>
              <a:t>how completion and changed facts are handled</a:t>
            </a:r>
            <a:endParaRPr lang="en-US" sz="1200" dirty="0"/>
          </a:p>
        </p:txBody>
      </p:sp>
      <p:sp>
        <p:nvSpPr>
          <p:cNvPr id="42" name="Text 39"/>
          <p:cNvSpPr txBox="1"/>
          <p:nvPr/>
        </p:nvSpPr>
        <p:spPr>
          <a:xfrm>
            <a:off x="5492922" y="5421366"/>
            <a:ext cx="5623560" cy="338328"/>
          </a:xfrm>
          <a:prstGeom prst="rect">
            <a:avLst/>
          </a:prstGeom>
          <a:noFill/>
          <a:ln/>
        </p:spPr>
        <p:txBody>
          <a:bodyPr wrap="square" lIns="0" tIns="0" rIns="0" bIns="0" rtlCol="0" anchor="ctr">
            <a:noAutofit/>
          </a:bodyPr>
          <a:lstStyle/>
          <a:p>
            <a:r>
              <a:rPr lang="en-US" sz="1400" b="1" dirty="0">
                <a:solidFill>
                  <a:schemeClr val="tx1">
                    <a:lumMod val="95000"/>
                    <a:lumOff val="5000"/>
                  </a:schemeClr>
                </a:solidFill>
                <a:latin typeface="Inter Display" pitchFamily="34" charset="0"/>
                <a:ea typeface="Inter Display" pitchFamily="34" charset="-122"/>
                <a:cs typeface="Inter Display" pitchFamily="34" charset="-120"/>
              </a:rPr>
              <a:t>Gu is who you work with. </a:t>
            </a:r>
          </a:p>
          <a:p>
            <a:pPr marL="0" indent="0" algn="l">
              <a:lnSpc>
                <a:spcPct val="100000"/>
              </a:lnSpc>
              <a:buNone/>
            </a:pPr>
            <a:r>
              <a:rPr lang="en-US" sz="1400" b="1" dirty="0">
                <a:solidFill>
                  <a:schemeClr val="tx1">
                    <a:lumMod val="95000"/>
                    <a:lumOff val="5000"/>
                  </a:schemeClr>
                </a:solidFill>
                <a:latin typeface="Inter Display" pitchFamily="34" charset="0"/>
                <a:ea typeface="Inter Display" pitchFamily="34" charset="-122"/>
                <a:cs typeface="Inter Display" pitchFamily="34" charset="-120"/>
              </a:rPr>
              <a:t>Gu OS is what makes increasingly complex work possible.</a:t>
            </a:r>
            <a:endParaRPr lang="en-US" sz="1400" dirty="0">
              <a:solidFill>
                <a:schemeClr val="tx1">
                  <a:lumMod val="95000"/>
                  <a:lumOff val="5000"/>
                </a:schemeClr>
              </a:solidFill>
            </a:endParaRPr>
          </a:p>
        </p:txBody>
      </p:sp>
      <p:sp>
        <p:nvSpPr>
          <p:cNvPr id="43" name="Shape 40"/>
          <p:cNvSpPr/>
          <p:nvPr/>
        </p:nvSpPr>
        <p:spPr>
          <a:xfrm>
            <a:off x="6455664" y="5937150"/>
            <a:ext cx="4443984" cy="310896"/>
          </a:xfrm>
          <a:prstGeom prst="roundRect">
            <a:avLst>
              <a:gd name="adj" fmla="val 23529"/>
            </a:avLst>
          </a:prstGeom>
          <a:solidFill>
            <a:srgbClr val="EDE6FF"/>
          </a:solidFill>
          <a:ln w="12700">
            <a:solidFill>
              <a:srgbClr val="EDE6FF">
                <a:alpha val="0"/>
              </a:srgbClr>
            </a:solidFill>
            <a:prstDash val="solid"/>
          </a:ln>
        </p:spPr>
        <p:txBody>
          <a:bodyPr/>
          <a:lstStyle/>
          <a:p>
            <a:endParaRPr lang="es-MX"/>
          </a:p>
        </p:txBody>
      </p:sp>
      <p:sp>
        <p:nvSpPr>
          <p:cNvPr id="44" name="Text 41"/>
          <p:cNvSpPr txBox="1"/>
          <p:nvPr/>
        </p:nvSpPr>
        <p:spPr>
          <a:xfrm>
            <a:off x="6455664" y="5941722"/>
            <a:ext cx="4443984" cy="310896"/>
          </a:xfrm>
          <a:prstGeom prst="rect">
            <a:avLst/>
          </a:prstGeom>
          <a:noFill/>
          <a:ln/>
        </p:spPr>
        <p:txBody>
          <a:bodyPr wrap="square" lIns="0" tIns="0" rIns="0" bIns="0" rtlCol="0" anchor="ctr">
            <a:normAutofit/>
          </a:bodyPr>
          <a:lstStyle/>
          <a:p>
            <a:pPr marL="0" indent="0" algn="ctr">
              <a:lnSpc>
                <a:spcPct val="100000"/>
              </a:lnSpc>
              <a:buNone/>
            </a:pPr>
            <a:r>
              <a:rPr lang="en-US" sz="860" b="1" dirty="0">
                <a:solidFill>
                  <a:srgbClr val="5B2DB6"/>
                </a:solidFill>
                <a:latin typeface="Inter" pitchFamily="34" charset="0"/>
                <a:ea typeface="Inter" pitchFamily="34" charset="-122"/>
                <a:cs typeface="Inter" pitchFamily="34" charset="-120"/>
              </a:rPr>
              <a:t>Technical foundation built · broader production validation underway</a:t>
            </a:r>
            <a:endParaRPr lang="en-US" sz="860" dirty="0"/>
          </a:p>
        </p:txBody>
      </p:sp>
      <p:sp>
        <p:nvSpPr>
          <p:cNvPr id="4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98D3-0692-0228-CAB2-976202D16D78}"/>
            </a:ext>
          </a:extLst>
        </p:cNvPr>
        <p:cNvGrpSpPr/>
        <p:nvPr/>
      </p:nvGrpSpPr>
      <p:grpSpPr>
        <a:xfrm>
          <a:off x="0" y="0"/>
          <a:ext cx="0" cy="0"/>
          <a:chOff x="0" y="0"/>
          <a:chExt cx="0" cy="0"/>
        </a:xfrm>
      </p:grpSpPr>
      <p:pic>
        <p:nvPicPr>
          <p:cNvPr id="2" name="Image 0" descr="/mnt/data/ungga_logo_purple.png">
            <a:extLst>
              <a:ext uri="{FF2B5EF4-FFF2-40B4-BE49-F238E27FC236}">
                <a16:creationId xmlns:a16="http://schemas.microsoft.com/office/drawing/2014/main" id="{53669342-43D6-EA4B-E0F6-398B39C106F4}"/>
              </a:ext>
            </a:extLst>
          </p:cNvPr>
          <p:cNvPicPr>
            <a:picLocks noChangeAspect="1"/>
          </p:cNvPicPr>
          <p:nvPr/>
        </p:nvPicPr>
        <p:blipFill>
          <a:blip r:embed="rId3"/>
          <a:stretch>
            <a:fillRect/>
          </a:stretch>
        </p:blipFill>
        <p:spPr>
          <a:xfrm>
            <a:off x="11109960" y="449715"/>
            <a:ext cx="566928" cy="472170"/>
          </a:xfrm>
          <a:prstGeom prst="rect">
            <a:avLst/>
          </a:prstGeom>
        </p:spPr>
      </p:pic>
      <p:sp>
        <p:nvSpPr>
          <p:cNvPr id="3" name="Text 0">
            <a:extLst>
              <a:ext uri="{FF2B5EF4-FFF2-40B4-BE49-F238E27FC236}">
                <a16:creationId xmlns:a16="http://schemas.microsoft.com/office/drawing/2014/main" id="{F38A30AE-0959-EFF2-E417-AE61B89CB582}"/>
              </a:ext>
            </a:extLst>
          </p:cNvPr>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PROPERTY OPTIONING</a:t>
            </a:r>
            <a:endParaRPr lang="en-US" sz="950" dirty="0"/>
          </a:p>
        </p:txBody>
      </p:sp>
      <p:sp>
        <p:nvSpPr>
          <p:cNvPr id="4" name="Text 1">
            <a:extLst>
              <a:ext uri="{FF2B5EF4-FFF2-40B4-BE49-F238E27FC236}">
                <a16:creationId xmlns:a16="http://schemas.microsoft.com/office/drawing/2014/main" id="{DAE33340-B070-7424-6113-23F20C38EE67}"/>
              </a:ext>
            </a:extLst>
          </p:cNvPr>
          <p:cNvSpPr txBox="1"/>
          <p:nvPr/>
        </p:nvSpPr>
        <p:spPr>
          <a:xfrm>
            <a:off x="515112" y="658368"/>
            <a:ext cx="10594848" cy="469465"/>
          </a:xfrm>
          <a:prstGeom prst="rect">
            <a:avLst/>
          </a:prstGeom>
          <a:noFill/>
          <a:ln/>
        </p:spPr>
        <p:txBody>
          <a:bodyPr wrap="square" lIns="0" tIns="0" rIns="0" bIns="0" rtlCol="0" anchor="t">
            <a:noAutofit/>
          </a:bodyPr>
          <a:lstStyle/>
          <a:p>
            <a:pPr marL="0" indent="0" algn="l">
              <a:lnSpc>
                <a:spcPct val="100000"/>
              </a:lnSpc>
              <a:buNone/>
            </a:pPr>
            <a:r>
              <a:rPr lang="en-US" sz="2600" b="1" dirty="0">
                <a:solidFill>
                  <a:srgbClr val="18152B"/>
                </a:solidFill>
                <a:latin typeface="Aptos" panose="020B0004020202020204" pitchFamily="34" charset="0"/>
                <a:ea typeface="Inter Display" pitchFamily="34" charset="-122"/>
                <a:cs typeface="Inter Display" pitchFamily="34" charset="-120"/>
              </a:rPr>
              <a:t>The first durable Gu OS workflow is already operating in the real world.</a:t>
            </a:r>
            <a:endParaRPr lang="en-US" sz="2600" dirty="0">
              <a:latin typeface="Aptos" panose="020B0004020202020204" pitchFamily="34" charset="0"/>
            </a:endParaRPr>
          </a:p>
        </p:txBody>
      </p:sp>
      <p:sp>
        <p:nvSpPr>
          <p:cNvPr id="5" name="Text 2">
            <a:extLst>
              <a:ext uri="{FF2B5EF4-FFF2-40B4-BE49-F238E27FC236}">
                <a16:creationId xmlns:a16="http://schemas.microsoft.com/office/drawing/2014/main" id="{8343CACC-B4EB-0940-96BA-7E49958ABF9F}"/>
              </a:ext>
            </a:extLst>
          </p:cNvPr>
          <p:cNvSpPr txBox="1"/>
          <p:nvPr/>
        </p:nvSpPr>
        <p:spPr>
          <a:xfrm>
            <a:off x="566928" y="1146121"/>
            <a:ext cx="10881360" cy="475488"/>
          </a:xfrm>
          <a:prstGeom prst="rect">
            <a:avLst/>
          </a:prstGeom>
          <a:noFill/>
          <a:ln/>
        </p:spPr>
        <p:txBody>
          <a:bodyPr wrap="square" lIns="0" tIns="0" rIns="0" bIns="0" rtlCol="0" anchor="t">
            <a:normAutofit/>
          </a:bodyPr>
          <a:lstStyle/>
          <a:p>
            <a:pPr marL="0" indent="0" algn="l">
              <a:lnSpc>
                <a:spcPct val="100000"/>
              </a:lnSpc>
              <a:buNone/>
            </a:pPr>
            <a:r>
              <a:rPr lang="en-US" dirty="0">
                <a:solidFill>
                  <a:srgbClr val="6F6882"/>
                </a:solidFill>
                <a:latin typeface="Inter" pitchFamily="34" charset="0"/>
                <a:ea typeface="Inter" pitchFamily="34" charset="-122"/>
                <a:cs typeface="Inter" pitchFamily="34" charset="-120"/>
              </a:rPr>
              <a:t>Property Optioning — from property intake to publication.</a:t>
            </a:r>
            <a:endParaRPr lang="en-US" dirty="0"/>
          </a:p>
        </p:txBody>
      </p:sp>
      <p:grpSp>
        <p:nvGrpSpPr>
          <p:cNvPr id="85" name="Grupo 84">
            <a:extLst>
              <a:ext uri="{FF2B5EF4-FFF2-40B4-BE49-F238E27FC236}">
                <a16:creationId xmlns:a16="http://schemas.microsoft.com/office/drawing/2014/main" id="{FD4C4292-7E91-6B1D-8779-1A490A791E5D}"/>
              </a:ext>
            </a:extLst>
          </p:cNvPr>
          <p:cNvGrpSpPr/>
          <p:nvPr/>
        </p:nvGrpSpPr>
        <p:grpSpPr>
          <a:xfrm>
            <a:off x="676656" y="1642994"/>
            <a:ext cx="786384" cy="313639"/>
            <a:chOff x="676656" y="1642994"/>
            <a:chExt cx="786384" cy="313639"/>
          </a:xfrm>
        </p:grpSpPr>
        <p:sp>
          <p:nvSpPr>
            <p:cNvPr id="6" name="Shape 3">
              <a:extLst>
                <a:ext uri="{FF2B5EF4-FFF2-40B4-BE49-F238E27FC236}">
                  <a16:creationId xmlns:a16="http://schemas.microsoft.com/office/drawing/2014/main" id="{0608E2C8-289C-CE36-F1DA-74113E5D542B}"/>
                </a:ext>
              </a:extLst>
            </p:cNvPr>
            <p:cNvSpPr/>
            <p:nvPr/>
          </p:nvSpPr>
          <p:spPr>
            <a:xfrm>
              <a:off x="676656" y="1642994"/>
              <a:ext cx="786384"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sz="1100"/>
            </a:p>
          </p:txBody>
        </p:sp>
        <p:sp>
          <p:nvSpPr>
            <p:cNvPr id="7" name="Text 4">
              <a:extLst>
                <a:ext uri="{FF2B5EF4-FFF2-40B4-BE49-F238E27FC236}">
                  <a16:creationId xmlns:a16="http://schemas.microsoft.com/office/drawing/2014/main" id="{C9229F51-34D2-AB08-BD5E-037820D2D80F}"/>
                </a:ext>
              </a:extLst>
            </p:cNvPr>
            <p:cNvSpPr txBox="1"/>
            <p:nvPr/>
          </p:nvSpPr>
          <p:spPr>
            <a:xfrm>
              <a:off x="676656" y="1645737"/>
              <a:ext cx="786384"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GU / AI</a:t>
              </a:r>
              <a:endParaRPr lang="en-US" sz="1100" dirty="0"/>
            </a:p>
          </p:txBody>
        </p:sp>
      </p:grpSp>
      <p:grpSp>
        <p:nvGrpSpPr>
          <p:cNvPr id="86" name="Grupo 85">
            <a:extLst>
              <a:ext uri="{FF2B5EF4-FFF2-40B4-BE49-F238E27FC236}">
                <a16:creationId xmlns:a16="http://schemas.microsoft.com/office/drawing/2014/main" id="{7E6EC7B1-DE19-C6CE-1AA5-2C1FB4D5F075}"/>
              </a:ext>
            </a:extLst>
          </p:cNvPr>
          <p:cNvGrpSpPr/>
          <p:nvPr/>
        </p:nvGrpSpPr>
        <p:grpSpPr>
          <a:xfrm>
            <a:off x="1545336" y="1642994"/>
            <a:ext cx="713232" cy="313639"/>
            <a:chOff x="1545336" y="1642994"/>
            <a:chExt cx="713232" cy="313639"/>
          </a:xfrm>
        </p:grpSpPr>
        <p:sp>
          <p:nvSpPr>
            <p:cNvPr id="8" name="Shape 5">
              <a:extLst>
                <a:ext uri="{FF2B5EF4-FFF2-40B4-BE49-F238E27FC236}">
                  <a16:creationId xmlns:a16="http://schemas.microsoft.com/office/drawing/2014/main" id="{74E68473-970A-4485-BC0C-39E82E6DC2AD}"/>
                </a:ext>
              </a:extLst>
            </p:cNvPr>
            <p:cNvSpPr/>
            <p:nvPr/>
          </p:nvSpPr>
          <p:spPr>
            <a:xfrm>
              <a:off x="1545336" y="1642994"/>
              <a:ext cx="713232" cy="310896"/>
            </a:xfrm>
            <a:prstGeom prst="roundRect">
              <a:avLst>
                <a:gd name="adj" fmla="val 17647"/>
              </a:avLst>
            </a:prstGeom>
            <a:solidFill>
              <a:srgbClr val="5F658E"/>
            </a:solidFill>
            <a:ln w="12700">
              <a:solidFill>
                <a:srgbClr val="FFFFFF">
                  <a:alpha val="0"/>
                </a:srgbClr>
              </a:solidFill>
              <a:prstDash val="solid"/>
            </a:ln>
          </p:spPr>
          <p:txBody>
            <a:bodyPr/>
            <a:lstStyle/>
            <a:p>
              <a:endParaRPr lang="es-MX" sz="1100"/>
            </a:p>
          </p:txBody>
        </p:sp>
        <p:sp>
          <p:nvSpPr>
            <p:cNvPr id="9" name="Text 6">
              <a:extLst>
                <a:ext uri="{FF2B5EF4-FFF2-40B4-BE49-F238E27FC236}">
                  <a16:creationId xmlns:a16="http://schemas.microsoft.com/office/drawing/2014/main" id="{99DB2CB7-5EFF-6C20-28A2-30D61878E89B}"/>
                </a:ext>
              </a:extLst>
            </p:cNvPr>
            <p:cNvSpPr txBox="1"/>
            <p:nvPr/>
          </p:nvSpPr>
          <p:spPr>
            <a:xfrm>
              <a:off x="1545336" y="1645737"/>
              <a:ext cx="713232"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TOOL</a:t>
              </a:r>
              <a:endParaRPr lang="en-US" sz="1100" dirty="0"/>
            </a:p>
          </p:txBody>
        </p:sp>
      </p:grpSp>
      <p:grpSp>
        <p:nvGrpSpPr>
          <p:cNvPr id="87" name="Grupo 86">
            <a:extLst>
              <a:ext uri="{FF2B5EF4-FFF2-40B4-BE49-F238E27FC236}">
                <a16:creationId xmlns:a16="http://schemas.microsoft.com/office/drawing/2014/main" id="{8EE15C9A-6D24-7182-4E7E-54FF5CCD1BD8}"/>
              </a:ext>
            </a:extLst>
          </p:cNvPr>
          <p:cNvGrpSpPr/>
          <p:nvPr/>
        </p:nvGrpSpPr>
        <p:grpSpPr>
          <a:xfrm>
            <a:off x="2340864" y="1642994"/>
            <a:ext cx="841248" cy="313639"/>
            <a:chOff x="2340864" y="1642994"/>
            <a:chExt cx="841248" cy="313639"/>
          </a:xfrm>
        </p:grpSpPr>
        <p:sp>
          <p:nvSpPr>
            <p:cNvPr id="10" name="Shape 7">
              <a:extLst>
                <a:ext uri="{FF2B5EF4-FFF2-40B4-BE49-F238E27FC236}">
                  <a16:creationId xmlns:a16="http://schemas.microsoft.com/office/drawing/2014/main" id="{558634B6-AB40-9234-DBE7-0675E9CEA40A}"/>
                </a:ext>
              </a:extLst>
            </p:cNvPr>
            <p:cNvSpPr/>
            <p:nvPr/>
          </p:nvSpPr>
          <p:spPr>
            <a:xfrm>
              <a:off x="2340864" y="1642994"/>
              <a:ext cx="841248" cy="310896"/>
            </a:xfrm>
            <a:prstGeom prst="roundRect">
              <a:avLst>
                <a:gd name="adj" fmla="val 17647"/>
              </a:avLst>
            </a:prstGeom>
            <a:solidFill>
              <a:srgbClr val="9A4D78"/>
            </a:solidFill>
            <a:ln w="12700">
              <a:solidFill>
                <a:srgbClr val="FFFFFF">
                  <a:alpha val="0"/>
                </a:srgbClr>
              </a:solidFill>
              <a:prstDash val="solid"/>
            </a:ln>
          </p:spPr>
          <p:txBody>
            <a:bodyPr/>
            <a:lstStyle/>
            <a:p>
              <a:endParaRPr lang="es-MX" sz="1100"/>
            </a:p>
          </p:txBody>
        </p:sp>
        <p:sp>
          <p:nvSpPr>
            <p:cNvPr id="11" name="Text 8">
              <a:extLst>
                <a:ext uri="{FF2B5EF4-FFF2-40B4-BE49-F238E27FC236}">
                  <a16:creationId xmlns:a16="http://schemas.microsoft.com/office/drawing/2014/main" id="{B02ADB29-0E15-851C-3AB0-868C1B88E3CB}"/>
                </a:ext>
              </a:extLst>
            </p:cNvPr>
            <p:cNvSpPr txBox="1"/>
            <p:nvPr/>
          </p:nvSpPr>
          <p:spPr>
            <a:xfrm>
              <a:off x="2340864" y="1645737"/>
              <a:ext cx="841248"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HUMAN</a:t>
              </a:r>
              <a:endParaRPr lang="en-US" sz="1100" dirty="0"/>
            </a:p>
          </p:txBody>
        </p:sp>
      </p:grpSp>
      <p:grpSp>
        <p:nvGrpSpPr>
          <p:cNvPr id="88" name="Grupo 87">
            <a:extLst>
              <a:ext uri="{FF2B5EF4-FFF2-40B4-BE49-F238E27FC236}">
                <a16:creationId xmlns:a16="http://schemas.microsoft.com/office/drawing/2014/main" id="{69F1B93E-3C4C-3675-DBBE-8015FCD6FA9F}"/>
              </a:ext>
            </a:extLst>
          </p:cNvPr>
          <p:cNvGrpSpPr/>
          <p:nvPr/>
        </p:nvGrpSpPr>
        <p:grpSpPr>
          <a:xfrm>
            <a:off x="3273551" y="1642994"/>
            <a:ext cx="1707239" cy="310895"/>
            <a:chOff x="3273551" y="1642994"/>
            <a:chExt cx="1707239" cy="310895"/>
          </a:xfrm>
        </p:grpSpPr>
        <p:sp>
          <p:nvSpPr>
            <p:cNvPr id="12" name="Shape 9">
              <a:extLst>
                <a:ext uri="{FF2B5EF4-FFF2-40B4-BE49-F238E27FC236}">
                  <a16:creationId xmlns:a16="http://schemas.microsoft.com/office/drawing/2014/main" id="{820815AA-C667-48B0-CB0B-3C9B69FF3B13}"/>
                </a:ext>
              </a:extLst>
            </p:cNvPr>
            <p:cNvSpPr/>
            <p:nvPr/>
          </p:nvSpPr>
          <p:spPr>
            <a:xfrm>
              <a:off x="3273551" y="1642994"/>
              <a:ext cx="1707239" cy="310895"/>
            </a:xfrm>
            <a:prstGeom prst="roundRect">
              <a:avLst>
                <a:gd name="adj" fmla="val 17647"/>
              </a:avLst>
            </a:prstGeom>
            <a:solidFill>
              <a:srgbClr val="A96B36"/>
            </a:solidFill>
            <a:ln w="12700">
              <a:solidFill>
                <a:srgbClr val="FFFFFF">
                  <a:alpha val="0"/>
                </a:srgbClr>
              </a:solidFill>
              <a:prstDash val="solid"/>
            </a:ln>
          </p:spPr>
          <p:txBody>
            <a:bodyPr/>
            <a:lstStyle/>
            <a:p>
              <a:endParaRPr lang="es-MX" sz="1100"/>
            </a:p>
          </p:txBody>
        </p:sp>
        <p:sp>
          <p:nvSpPr>
            <p:cNvPr id="13" name="Text 10">
              <a:extLst>
                <a:ext uri="{FF2B5EF4-FFF2-40B4-BE49-F238E27FC236}">
                  <a16:creationId xmlns:a16="http://schemas.microsoft.com/office/drawing/2014/main" id="{E806C493-A1C6-7A3E-4D1B-080370FD584A}"/>
                </a:ext>
              </a:extLst>
            </p:cNvPr>
            <p:cNvSpPr txBox="1"/>
            <p:nvPr/>
          </p:nvSpPr>
          <p:spPr>
            <a:xfrm>
              <a:off x="3348858" y="1645737"/>
              <a:ext cx="1554480" cy="289865"/>
            </a:xfrm>
            <a:prstGeom prst="rect">
              <a:avLst/>
            </a:prstGeom>
            <a:noFill/>
            <a:ln/>
          </p:spPr>
          <p:txBody>
            <a:bodyPr wrap="square" lIns="0" tIns="0" rIns="0" bIns="0" rtlCol="0" anchor="ctr">
              <a:no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WAIT / DEPENDENCY</a:t>
              </a:r>
              <a:endParaRPr lang="en-US" sz="1100" dirty="0"/>
            </a:p>
          </p:txBody>
        </p:sp>
      </p:grpSp>
      <p:sp>
        <p:nvSpPr>
          <p:cNvPr id="14" name="Shape 11">
            <a:extLst>
              <a:ext uri="{FF2B5EF4-FFF2-40B4-BE49-F238E27FC236}">
                <a16:creationId xmlns:a16="http://schemas.microsoft.com/office/drawing/2014/main" id="{F1CC6C2E-3859-6CB3-7C35-2EBDFDE1485F}"/>
              </a:ext>
            </a:extLst>
          </p:cNvPr>
          <p:cNvSpPr/>
          <p:nvPr/>
        </p:nvSpPr>
        <p:spPr>
          <a:xfrm>
            <a:off x="676656" y="235622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15" name="Text 12">
            <a:extLst>
              <a:ext uri="{FF2B5EF4-FFF2-40B4-BE49-F238E27FC236}">
                <a16:creationId xmlns:a16="http://schemas.microsoft.com/office/drawing/2014/main" id="{0173A7E7-0FCA-C828-3F6B-63D53F64F5A0}"/>
              </a:ext>
            </a:extLst>
          </p:cNvPr>
          <p:cNvSpPr txBox="1"/>
          <p:nvPr/>
        </p:nvSpPr>
        <p:spPr>
          <a:xfrm>
            <a:off x="822960" y="247509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01</a:t>
            </a:r>
            <a:endParaRPr lang="en-US" sz="830" dirty="0"/>
          </a:p>
        </p:txBody>
      </p:sp>
      <p:sp>
        <p:nvSpPr>
          <p:cNvPr id="16" name="Text 13">
            <a:extLst>
              <a:ext uri="{FF2B5EF4-FFF2-40B4-BE49-F238E27FC236}">
                <a16:creationId xmlns:a16="http://schemas.microsoft.com/office/drawing/2014/main" id="{BB22F3C2-FB00-CFBC-FCF7-CCE89D3021D4}"/>
              </a:ext>
            </a:extLst>
          </p:cNvPr>
          <p:cNvSpPr txBox="1"/>
          <p:nvPr/>
        </p:nvSpPr>
        <p:spPr>
          <a:xfrm>
            <a:off x="822960" y="269455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Register</a:t>
            </a:r>
            <a:endParaRPr lang="en-US" sz="1400" dirty="0"/>
          </a:p>
        </p:txBody>
      </p:sp>
      <p:sp>
        <p:nvSpPr>
          <p:cNvPr id="19" name="Shape 16">
            <a:extLst>
              <a:ext uri="{FF2B5EF4-FFF2-40B4-BE49-F238E27FC236}">
                <a16:creationId xmlns:a16="http://schemas.microsoft.com/office/drawing/2014/main" id="{B8AD6925-8189-3BBD-E47B-30E3554DAEAF}"/>
              </a:ext>
            </a:extLst>
          </p:cNvPr>
          <p:cNvSpPr/>
          <p:nvPr/>
        </p:nvSpPr>
        <p:spPr>
          <a:xfrm>
            <a:off x="2569464" y="2831714"/>
            <a:ext cx="283464" cy="0"/>
          </a:xfrm>
          <a:prstGeom prst="line">
            <a:avLst/>
          </a:prstGeom>
          <a:noFill/>
          <a:ln w="12700">
            <a:solidFill>
              <a:srgbClr val="B7A7D1"/>
            </a:solidFill>
            <a:prstDash val="solid"/>
            <a:headEnd type="none"/>
            <a:tailEnd type="triangle"/>
          </a:ln>
        </p:spPr>
        <p:txBody>
          <a:bodyPr/>
          <a:lstStyle/>
          <a:p>
            <a:endParaRPr lang="es-MX"/>
          </a:p>
        </p:txBody>
      </p:sp>
      <p:sp>
        <p:nvSpPr>
          <p:cNvPr id="20" name="Shape 17">
            <a:extLst>
              <a:ext uri="{FF2B5EF4-FFF2-40B4-BE49-F238E27FC236}">
                <a16:creationId xmlns:a16="http://schemas.microsoft.com/office/drawing/2014/main" id="{72BBC2DE-1630-A147-1793-3DFF2EA13EF3}"/>
              </a:ext>
            </a:extLst>
          </p:cNvPr>
          <p:cNvSpPr/>
          <p:nvPr/>
        </p:nvSpPr>
        <p:spPr>
          <a:xfrm>
            <a:off x="2935224" y="235622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21" name="Text 18">
            <a:extLst>
              <a:ext uri="{FF2B5EF4-FFF2-40B4-BE49-F238E27FC236}">
                <a16:creationId xmlns:a16="http://schemas.microsoft.com/office/drawing/2014/main" id="{55AB3630-830D-3D8C-CA1C-BE3A5A710944}"/>
              </a:ext>
            </a:extLst>
          </p:cNvPr>
          <p:cNvSpPr txBox="1"/>
          <p:nvPr/>
        </p:nvSpPr>
        <p:spPr>
          <a:xfrm>
            <a:off x="3081528" y="247509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02</a:t>
            </a:r>
            <a:endParaRPr lang="en-US" sz="830" dirty="0"/>
          </a:p>
        </p:txBody>
      </p:sp>
      <p:sp>
        <p:nvSpPr>
          <p:cNvPr id="22" name="Text 19">
            <a:extLst>
              <a:ext uri="{FF2B5EF4-FFF2-40B4-BE49-F238E27FC236}">
                <a16:creationId xmlns:a16="http://schemas.microsoft.com/office/drawing/2014/main" id="{625B5A32-C3F0-7D8E-F17F-772489325874}"/>
              </a:ext>
            </a:extLst>
          </p:cNvPr>
          <p:cNvSpPr txBox="1"/>
          <p:nvPr/>
        </p:nvSpPr>
        <p:spPr>
          <a:xfrm>
            <a:off x="3081528" y="269455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Documents</a:t>
            </a:r>
            <a:endParaRPr lang="en-US" sz="1400" dirty="0"/>
          </a:p>
        </p:txBody>
      </p:sp>
      <p:sp>
        <p:nvSpPr>
          <p:cNvPr id="25" name="Shape 22">
            <a:extLst>
              <a:ext uri="{FF2B5EF4-FFF2-40B4-BE49-F238E27FC236}">
                <a16:creationId xmlns:a16="http://schemas.microsoft.com/office/drawing/2014/main" id="{778E55EC-5D09-47BE-D1EC-429D17D16B9D}"/>
              </a:ext>
            </a:extLst>
          </p:cNvPr>
          <p:cNvSpPr/>
          <p:nvPr/>
        </p:nvSpPr>
        <p:spPr>
          <a:xfrm>
            <a:off x="4828032" y="2831714"/>
            <a:ext cx="283464" cy="0"/>
          </a:xfrm>
          <a:prstGeom prst="line">
            <a:avLst/>
          </a:prstGeom>
          <a:noFill/>
          <a:ln w="12700">
            <a:solidFill>
              <a:srgbClr val="B7A7D1"/>
            </a:solidFill>
            <a:prstDash val="solid"/>
            <a:headEnd type="none"/>
            <a:tailEnd type="triangle"/>
          </a:ln>
        </p:spPr>
        <p:txBody>
          <a:bodyPr/>
          <a:lstStyle/>
          <a:p>
            <a:endParaRPr lang="es-MX"/>
          </a:p>
        </p:txBody>
      </p:sp>
      <p:sp>
        <p:nvSpPr>
          <p:cNvPr id="26" name="Shape 23">
            <a:extLst>
              <a:ext uri="{FF2B5EF4-FFF2-40B4-BE49-F238E27FC236}">
                <a16:creationId xmlns:a16="http://schemas.microsoft.com/office/drawing/2014/main" id="{B7AA5C40-FC64-CBDB-3519-D2081D708E9E}"/>
              </a:ext>
            </a:extLst>
          </p:cNvPr>
          <p:cNvSpPr/>
          <p:nvPr/>
        </p:nvSpPr>
        <p:spPr>
          <a:xfrm>
            <a:off x="5193792" y="235622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27" name="Text 24">
            <a:extLst>
              <a:ext uri="{FF2B5EF4-FFF2-40B4-BE49-F238E27FC236}">
                <a16:creationId xmlns:a16="http://schemas.microsoft.com/office/drawing/2014/main" id="{344F991A-2C51-CCB9-235D-32184B659FED}"/>
              </a:ext>
            </a:extLst>
          </p:cNvPr>
          <p:cNvSpPr txBox="1"/>
          <p:nvPr/>
        </p:nvSpPr>
        <p:spPr>
          <a:xfrm>
            <a:off x="5340096" y="247509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03</a:t>
            </a:r>
            <a:endParaRPr lang="en-US" sz="830" dirty="0"/>
          </a:p>
        </p:txBody>
      </p:sp>
      <p:sp>
        <p:nvSpPr>
          <p:cNvPr id="28" name="Text 25">
            <a:extLst>
              <a:ext uri="{FF2B5EF4-FFF2-40B4-BE49-F238E27FC236}">
                <a16:creationId xmlns:a16="http://schemas.microsoft.com/office/drawing/2014/main" id="{DB96A47F-89FD-1EDF-9E8C-737399307FD4}"/>
              </a:ext>
            </a:extLst>
          </p:cNvPr>
          <p:cNvSpPr txBox="1"/>
          <p:nvPr/>
        </p:nvSpPr>
        <p:spPr>
          <a:xfrm>
            <a:off x="5340096" y="269455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Property data</a:t>
            </a:r>
            <a:endParaRPr lang="en-US" sz="1400" dirty="0"/>
          </a:p>
        </p:txBody>
      </p:sp>
      <p:sp>
        <p:nvSpPr>
          <p:cNvPr id="31" name="Shape 28">
            <a:extLst>
              <a:ext uri="{FF2B5EF4-FFF2-40B4-BE49-F238E27FC236}">
                <a16:creationId xmlns:a16="http://schemas.microsoft.com/office/drawing/2014/main" id="{4711CA80-B21C-4A4F-97FB-208EB191C59D}"/>
              </a:ext>
            </a:extLst>
          </p:cNvPr>
          <p:cNvSpPr/>
          <p:nvPr/>
        </p:nvSpPr>
        <p:spPr>
          <a:xfrm>
            <a:off x="7086600" y="2831714"/>
            <a:ext cx="283464" cy="0"/>
          </a:xfrm>
          <a:prstGeom prst="line">
            <a:avLst/>
          </a:prstGeom>
          <a:noFill/>
          <a:ln w="12700">
            <a:solidFill>
              <a:srgbClr val="B7A7D1"/>
            </a:solidFill>
            <a:prstDash val="solid"/>
            <a:headEnd type="none"/>
            <a:tailEnd type="triangle"/>
          </a:ln>
        </p:spPr>
        <p:txBody>
          <a:bodyPr/>
          <a:lstStyle/>
          <a:p>
            <a:endParaRPr lang="es-MX"/>
          </a:p>
        </p:txBody>
      </p:sp>
      <p:sp>
        <p:nvSpPr>
          <p:cNvPr id="32" name="Shape 29">
            <a:extLst>
              <a:ext uri="{FF2B5EF4-FFF2-40B4-BE49-F238E27FC236}">
                <a16:creationId xmlns:a16="http://schemas.microsoft.com/office/drawing/2014/main" id="{D8C719F4-487D-D892-20D6-423A91ADE043}"/>
              </a:ext>
            </a:extLst>
          </p:cNvPr>
          <p:cNvSpPr/>
          <p:nvPr/>
        </p:nvSpPr>
        <p:spPr>
          <a:xfrm>
            <a:off x="7452360" y="235622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33" name="Text 30">
            <a:extLst>
              <a:ext uri="{FF2B5EF4-FFF2-40B4-BE49-F238E27FC236}">
                <a16:creationId xmlns:a16="http://schemas.microsoft.com/office/drawing/2014/main" id="{1431FE1F-254C-EDBF-06FA-081901335BDD}"/>
              </a:ext>
            </a:extLst>
          </p:cNvPr>
          <p:cNvSpPr txBox="1"/>
          <p:nvPr/>
        </p:nvSpPr>
        <p:spPr>
          <a:xfrm>
            <a:off x="7598664" y="247509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04</a:t>
            </a:r>
            <a:endParaRPr lang="en-US" sz="830" dirty="0"/>
          </a:p>
        </p:txBody>
      </p:sp>
      <p:sp>
        <p:nvSpPr>
          <p:cNvPr id="34" name="Text 31">
            <a:extLst>
              <a:ext uri="{FF2B5EF4-FFF2-40B4-BE49-F238E27FC236}">
                <a16:creationId xmlns:a16="http://schemas.microsoft.com/office/drawing/2014/main" id="{3054E18C-5FD7-5CE8-5835-7B060C2C9CD1}"/>
              </a:ext>
            </a:extLst>
          </p:cNvPr>
          <p:cNvSpPr txBox="1"/>
          <p:nvPr/>
        </p:nvSpPr>
        <p:spPr>
          <a:xfrm>
            <a:off x="7598664" y="269455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Validate</a:t>
            </a:r>
            <a:endParaRPr lang="en-US" sz="1400" dirty="0"/>
          </a:p>
        </p:txBody>
      </p:sp>
      <p:sp>
        <p:nvSpPr>
          <p:cNvPr id="37" name="Shape 34">
            <a:extLst>
              <a:ext uri="{FF2B5EF4-FFF2-40B4-BE49-F238E27FC236}">
                <a16:creationId xmlns:a16="http://schemas.microsoft.com/office/drawing/2014/main" id="{59D11BB8-4E2D-FD81-75FB-60A0215C8547}"/>
              </a:ext>
            </a:extLst>
          </p:cNvPr>
          <p:cNvSpPr/>
          <p:nvPr/>
        </p:nvSpPr>
        <p:spPr>
          <a:xfrm>
            <a:off x="9345168" y="2831714"/>
            <a:ext cx="283464" cy="0"/>
          </a:xfrm>
          <a:prstGeom prst="line">
            <a:avLst/>
          </a:prstGeom>
          <a:noFill/>
          <a:ln w="12700">
            <a:solidFill>
              <a:srgbClr val="B7A7D1"/>
            </a:solidFill>
            <a:prstDash val="solid"/>
            <a:headEnd type="none"/>
            <a:tailEnd type="triangle"/>
          </a:ln>
        </p:spPr>
        <p:txBody>
          <a:bodyPr/>
          <a:lstStyle/>
          <a:p>
            <a:endParaRPr lang="es-MX"/>
          </a:p>
        </p:txBody>
      </p:sp>
      <p:sp>
        <p:nvSpPr>
          <p:cNvPr id="38" name="Shape 35">
            <a:extLst>
              <a:ext uri="{FF2B5EF4-FFF2-40B4-BE49-F238E27FC236}">
                <a16:creationId xmlns:a16="http://schemas.microsoft.com/office/drawing/2014/main" id="{B5EB319C-CDB0-BAE6-E79F-3D85132CB1EF}"/>
              </a:ext>
            </a:extLst>
          </p:cNvPr>
          <p:cNvSpPr/>
          <p:nvPr/>
        </p:nvSpPr>
        <p:spPr>
          <a:xfrm>
            <a:off x="9710928" y="235622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39" name="Text 36">
            <a:extLst>
              <a:ext uri="{FF2B5EF4-FFF2-40B4-BE49-F238E27FC236}">
                <a16:creationId xmlns:a16="http://schemas.microsoft.com/office/drawing/2014/main" id="{EB455CBA-3B6C-AB3A-7B97-04A8DB2346A0}"/>
              </a:ext>
            </a:extLst>
          </p:cNvPr>
          <p:cNvSpPr txBox="1"/>
          <p:nvPr/>
        </p:nvSpPr>
        <p:spPr>
          <a:xfrm>
            <a:off x="9857232" y="247509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05</a:t>
            </a:r>
            <a:endParaRPr lang="en-US" sz="830" dirty="0"/>
          </a:p>
        </p:txBody>
      </p:sp>
      <p:sp>
        <p:nvSpPr>
          <p:cNvPr id="40" name="Text 37">
            <a:extLst>
              <a:ext uri="{FF2B5EF4-FFF2-40B4-BE49-F238E27FC236}">
                <a16:creationId xmlns:a16="http://schemas.microsoft.com/office/drawing/2014/main" id="{56819B17-D234-2AC6-6DCF-D4CFC6163539}"/>
              </a:ext>
            </a:extLst>
          </p:cNvPr>
          <p:cNvSpPr txBox="1"/>
          <p:nvPr/>
        </p:nvSpPr>
        <p:spPr>
          <a:xfrm>
            <a:off x="9857232" y="269455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Comparables</a:t>
            </a:r>
            <a:endParaRPr lang="en-US" sz="1400" dirty="0"/>
          </a:p>
        </p:txBody>
      </p:sp>
      <p:sp>
        <p:nvSpPr>
          <p:cNvPr id="43" name="Shape 40">
            <a:extLst>
              <a:ext uri="{FF2B5EF4-FFF2-40B4-BE49-F238E27FC236}">
                <a16:creationId xmlns:a16="http://schemas.microsoft.com/office/drawing/2014/main" id="{852FDD4A-CC36-0745-E569-27ACA9398B5D}"/>
              </a:ext>
            </a:extLst>
          </p:cNvPr>
          <p:cNvSpPr/>
          <p:nvPr/>
        </p:nvSpPr>
        <p:spPr>
          <a:xfrm>
            <a:off x="676656" y="381926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44" name="Text 41">
            <a:extLst>
              <a:ext uri="{FF2B5EF4-FFF2-40B4-BE49-F238E27FC236}">
                <a16:creationId xmlns:a16="http://schemas.microsoft.com/office/drawing/2014/main" id="{816F539E-0ABF-67C9-0872-DAF7A829C08A}"/>
              </a:ext>
            </a:extLst>
          </p:cNvPr>
          <p:cNvSpPr txBox="1"/>
          <p:nvPr/>
        </p:nvSpPr>
        <p:spPr>
          <a:xfrm>
            <a:off x="822960" y="393813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06</a:t>
            </a:r>
            <a:endParaRPr lang="en-US" sz="830" dirty="0"/>
          </a:p>
        </p:txBody>
      </p:sp>
      <p:sp>
        <p:nvSpPr>
          <p:cNvPr id="45" name="Text 42">
            <a:extLst>
              <a:ext uri="{FF2B5EF4-FFF2-40B4-BE49-F238E27FC236}">
                <a16:creationId xmlns:a16="http://schemas.microsoft.com/office/drawing/2014/main" id="{77F04C4F-0693-D73C-370D-ABD356EE5414}"/>
              </a:ext>
            </a:extLst>
          </p:cNvPr>
          <p:cNvSpPr txBox="1"/>
          <p:nvPr/>
        </p:nvSpPr>
        <p:spPr>
          <a:xfrm>
            <a:off x="822960" y="415759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Price approval</a:t>
            </a:r>
            <a:endParaRPr lang="en-US" sz="1400" dirty="0"/>
          </a:p>
        </p:txBody>
      </p:sp>
      <p:sp>
        <p:nvSpPr>
          <p:cNvPr id="48" name="Shape 45">
            <a:extLst>
              <a:ext uri="{FF2B5EF4-FFF2-40B4-BE49-F238E27FC236}">
                <a16:creationId xmlns:a16="http://schemas.microsoft.com/office/drawing/2014/main" id="{9B91E088-ADEC-D448-895D-789CE52BD55F}"/>
              </a:ext>
            </a:extLst>
          </p:cNvPr>
          <p:cNvSpPr/>
          <p:nvPr/>
        </p:nvSpPr>
        <p:spPr>
          <a:xfrm>
            <a:off x="2569464" y="4294754"/>
            <a:ext cx="283464" cy="0"/>
          </a:xfrm>
          <a:prstGeom prst="line">
            <a:avLst/>
          </a:prstGeom>
          <a:noFill/>
          <a:ln w="12700">
            <a:solidFill>
              <a:srgbClr val="B7A7D1"/>
            </a:solidFill>
            <a:prstDash val="solid"/>
            <a:headEnd type="none"/>
            <a:tailEnd type="triangle"/>
          </a:ln>
        </p:spPr>
        <p:txBody>
          <a:bodyPr/>
          <a:lstStyle/>
          <a:p>
            <a:endParaRPr lang="es-MX"/>
          </a:p>
        </p:txBody>
      </p:sp>
      <p:sp>
        <p:nvSpPr>
          <p:cNvPr id="49" name="Shape 46">
            <a:extLst>
              <a:ext uri="{FF2B5EF4-FFF2-40B4-BE49-F238E27FC236}">
                <a16:creationId xmlns:a16="http://schemas.microsoft.com/office/drawing/2014/main" id="{968AF0B8-9D03-10E4-9D6F-722125EFA023}"/>
              </a:ext>
            </a:extLst>
          </p:cNvPr>
          <p:cNvSpPr/>
          <p:nvPr/>
        </p:nvSpPr>
        <p:spPr>
          <a:xfrm>
            <a:off x="2935224" y="381926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50" name="Text 47">
            <a:extLst>
              <a:ext uri="{FF2B5EF4-FFF2-40B4-BE49-F238E27FC236}">
                <a16:creationId xmlns:a16="http://schemas.microsoft.com/office/drawing/2014/main" id="{99472F37-DF64-DD6F-FF7E-FBA02D5C0DB9}"/>
              </a:ext>
            </a:extLst>
          </p:cNvPr>
          <p:cNvSpPr txBox="1"/>
          <p:nvPr/>
        </p:nvSpPr>
        <p:spPr>
          <a:xfrm>
            <a:off x="3081528" y="393813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07</a:t>
            </a:r>
            <a:endParaRPr lang="en-US" sz="830" dirty="0"/>
          </a:p>
        </p:txBody>
      </p:sp>
      <p:sp>
        <p:nvSpPr>
          <p:cNvPr id="51" name="Text 48">
            <a:extLst>
              <a:ext uri="{FF2B5EF4-FFF2-40B4-BE49-F238E27FC236}">
                <a16:creationId xmlns:a16="http://schemas.microsoft.com/office/drawing/2014/main" id="{B64E850F-9D20-0DE7-BB93-091E5373F751}"/>
              </a:ext>
            </a:extLst>
          </p:cNvPr>
          <p:cNvSpPr txBox="1"/>
          <p:nvPr/>
        </p:nvSpPr>
        <p:spPr>
          <a:xfrm>
            <a:off x="3081528" y="415759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Legal agreement</a:t>
            </a:r>
            <a:endParaRPr lang="en-US" sz="1400" dirty="0"/>
          </a:p>
        </p:txBody>
      </p:sp>
      <p:sp>
        <p:nvSpPr>
          <p:cNvPr id="54" name="Shape 51">
            <a:extLst>
              <a:ext uri="{FF2B5EF4-FFF2-40B4-BE49-F238E27FC236}">
                <a16:creationId xmlns:a16="http://schemas.microsoft.com/office/drawing/2014/main" id="{1BCED079-8FB0-B447-0CBC-550B098CA5B2}"/>
              </a:ext>
            </a:extLst>
          </p:cNvPr>
          <p:cNvSpPr/>
          <p:nvPr/>
        </p:nvSpPr>
        <p:spPr>
          <a:xfrm>
            <a:off x="4828032" y="4294754"/>
            <a:ext cx="283464" cy="0"/>
          </a:xfrm>
          <a:prstGeom prst="line">
            <a:avLst/>
          </a:prstGeom>
          <a:noFill/>
          <a:ln w="12700">
            <a:solidFill>
              <a:srgbClr val="B7A7D1"/>
            </a:solidFill>
            <a:prstDash val="solid"/>
            <a:headEnd type="none"/>
            <a:tailEnd type="triangle"/>
          </a:ln>
        </p:spPr>
        <p:txBody>
          <a:bodyPr/>
          <a:lstStyle/>
          <a:p>
            <a:endParaRPr lang="es-MX"/>
          </a:p>
        </p:txBody>
      </p:sp>
      <p:sp>
        <p:nvSpPr>
          <p:cNvPr id="55" name="Shape 52">
            <a:extLst>
              <a:ext uri="{FF2B5EF4-FFF2-40B4-BE49-F238E27FC236}">
                <a16:creationId xmlns:a16="http://schemas.microsoft.com/office/drawing/2014/main" id="{565FFD6E-C434-3060-3176-4CA24662FC3F}"/>
              </a:ext>
            </a:extLst>
          </p:cNvPr>
          <p:cNvSpPr/>
          <p:nvPr/>
        </p:nvSpPr>
        <p:spPr>
          <a:xfrm>
            <a:off x="5193792" y="381926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56" name="Text 53">
            <a:extLst>
              <a:ext uri="{FF2B5EF4-FFF2-40B4-BE49-F238E27FC236}">
                <a16:creationId xmlns:a16="http://schemas.microsoft.com/office/drawing/2014/main" id="{DEE87529-A879-2F11-2ACF-33752E847FCA}"/>
              </a:ext>
            </a:extLst>
          </p:cNvPr>
          <p:cNvSpPr txBox="1"/>
          <p:nvPr/>
        </p:nvSpPr>
        <p:spPr>
          <a:xfrm>
            <a:off x="5340096" y="393813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08</a:t>
            </a:r>
            <a:endParaRPr lang="en-US" sz="830" dirty="0"/>
          </a:p>
        </p:txBody>
      </p:sp>
      <p:sp>
        <p:nvSpPr>
          <p:cNvPr id="57" name="Text 54">
            <a:extLst>
              <a:ext uri="{FF2B5EF4-FFF2-40B4-BE49-F238E27FC236}">
                <a16:creationId xmlns:a16="http://schemas.microsoft.com/office/drawing/2014/main" id="{42B612B8-61E5-9382-41F3-C0747CAFC66D}"/>
              </a:ext>
            </a:extLst>
          </p:cNvPr>
          <p:cNvSpPr txBox="1"/>
          <p:nvPr/>
        </p:nvSpPr>
        <p:spPr>
          <a:xfrm>
            <a:off x="5340096" y="415759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Photos</a:t>
            </a:r>
            <a:endParaRPr lang="en-US" sz="1400" dirty="0"/>
          </a:p>
        </p:txBody>
      </p:sp>
      <p:sp>
        <p:nvSpPr>
          <p:cNvPr id="60" name="Shape 57">
            <a:extLst>
              <a:ext uri="{FF2B5EF4-FFF2-40B4-BE49-F238E27FC236}">
                <a16:creationId xmlns:a16="http://schemas.microsoft.com/office/drawing/2014/main" id="{83BEED1D-D16F-2255-6362-2F0EA137D9E7}"/>
              </a:ext>
            </a:extLst>
          </p:cNvPr>
          <p:cNvSpPr/>
          <p:nvPr/>
        </p:nvSpPr>
        <p:spPr>
          <a:xfrm>
            <a:off x="7086600" y="4294754"/>
            <a:ext cx="283464" cy="0"/>
          </a:xfrm>
          <a:prstGeom prst="line">
            <a:avLst/>
          </a:prstGeom>
          <a:noFill/>
          <a:ln w="12700">
            <a:solidFill>
              <a:srgbClr val="B7A7D1"/>
            </a:solidFill>
            <a:prstDash val="solid"/>
            <a:headEnd type="none"/>
            <a:tailEnd type="triangle"/>
          </a:ln>
        </p:spPr>
        <p:txBody>
          <a:bodyPr/>
          <a:lstStyle/>
          <a:p>
            <a:endParaRPr lang="es-MX"/>
          </a:p>
        </p:txBody>
      </p:sp>
      <p:sp>
        <p:nvSpPr>
          <p:cNvPr id="61" name="Shape 58">
            <a:extLst>
              <a:ext uri="{FF2B5EF4-FFF2-40B4-BE49-F238E27FC236}">
                <a16:creationId xmlns:a16="http://schemas.microsoft.com/office/drawing/2014/main" id="{4C1D3CA3-47BC-BE2A-C346-E8DDA692FA6E}"/>
              </a:ext>
            </a:extLst>
          </p:cNvPr>
          <p:cNvSpPr/>
          <p:nvPr/>
        </p:nvSpPr>
        <p:spPr>
          <a:xfrm>
            <a:off x="7452360" y="381926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62" name="Text 59">
            <a:extLst>
              <a:ext uri="{FF2B5EF4-FFF2-40B4-BE49-F238E27FC236}">
                <a16:creationId xmlns:a16="http://schemas.microsoft.com/office/drawing/2014/main" id="{14BDDAD5-4C26-2194-A454-8DD9E5967811}"/>
              </a:ext>
            </a:extLst>
          </p:cNvPr>
          <p:cNvSpPr txBox="1"/>
          <p:nvPr/>
        </p:nvSpPr>
        <p:spPr>
          <a:xfrm>
            <a:off x="7598664" y="393813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09</a:t>
            </a:r>
            <a:endParaRPr lang="en-US" sz="830" dirty="0"/>
          </a:p>
        </p:txBody>
      </p:sp>
      <p:sp>
        <p:nvSpPr>
          <p:cNvPr id="63" name="Text 60">
            <a:extLst>
              <a:ext uri="{FF2B5EF4-FFF2-40B4-BE49-F238E27FC236}">
                <a16:creationId xmlns:a16="http://schemas.microsoft.com/office/drawing/2014/main" id="{B3400C1E-4697-2968-7BA6-5755DE2DB3EE}"/>
              </a:ext>
            </a:extLst>
          </p:cNvPr>
          <p:cNvSpPr txBox="1"/>
          <p:nvPr/>
        </p:nvSpPr>
        <p:spPr>
          <a:xfrm>
            <a:off x="7598664" y="415759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Commercial package</a:t>
            </a:r>
            <a:endParaRPr lang="en-US" sz="1400" dirty="0"/>
          </a:p>
        </p:txBody>
      </p:sp>
      <p:sp>
        <p:nvSpPr>
          <p:cNvPr id="66" name="Shape 63">
            <a:extLst>
              <a:ext uri="{FF2B5EF4-FFF2-40B4-BE49-F238E27FC236}">
                <a16:creationId xmlns:a16="http://schemas.microsoft.com/office/drawing/2014/main" id="{BFA00759-BB69-E4DB-CC11-080856A29CBB}"/>
              </a:ext>
            </a:extLst>
          </p:cNvPr>
          <p:cNvSpPr/>
          <p:nvPr/>
        </p:nvSpPr>
        <p:spPr>
          <a:xfrm>
            <a:off x="9345168" y="4294754"/>
            <a:ext cx="283464" cy="0"/>
          </a:xfrm>
          <a:prstGeom prst="line">
            <a:avLst/>
          </a:prstGeom>
          <a:noFill/>
          <a:ln w="12700">
            <a:solidFill>
              <a:srgbClr val="B7A7D1"/>
            </a:solidFill>
            <a:prstDash val="solid"/>
            <a:headEnd type="none"/>
            <a:tailEnd type="triangle"/>
          </a:ln>
        </p:spPr>
        <p:txBody>
          <a:bodyPr/>
          <a:lstStyle/>
          <a:p>
            <a:endParaRPr lang="es-MX"/>
          </a:p>
        </p:txBody>
      </p:sp>
      <p:sp>
        <p:nvSpPr>
          <p:cNvPr id="67" name="Shape 64">
            <a:extLst>
              <a:ext uri="{FF2B5EF4-FFF2-40B4-BE49-F238E27FC236}">
                <a16:creationId xmlns:a16="http://schemas.microsoft.com/office/drawing/2014/main" id="{5016C5CA-6360-CA96-ABEA-FF2347A5E0E4}"/>
              </a:ext>
            </a:extLst>
          </p:cNvPr>
          <p:cNvSpPr/>
          <p:nvPr/>
        </p:nvSpPr>
        <p:spPr>
          <a:xfrm>
            <a:off x="9710928" y="3819266"/>
            <a:ext cx="1874520" cy="941832"/>
          </a:xfrm>
          <a:prstGeom prst="roundRect">
            <a:avLst>
              <a:gd name="adj" fmla="val 11650"/>
            </a:avLst>
          </a:prstGeom>
          <a:solidFill>
            <a:srgbClr val="FFFFFF"/>
          </a:solidFill>
          <a:ln w="12700">
            <a:solidFill>
              <a:srgbClr val="E3DDEC"/>
            </a:solidFill>
            <a:prstDash val="solid"/>
          </a:ln>
        </p:spPr>
        <p:txBody>
          <a:bodyPr/>
          <a:lstStyle/>
          <a:p>
            <a:endParaRPr lang="es-MX"/>
          </a:p>
        </p:txBody>
      </p:sp>
      <p:sp>
        <p:nvSpPr>
          <p:cNvPr id="68" name="Text 65">
            <a:extLst>
              <a:ext uri="{FF2B5EF4-FFF2-40B4-BE49-F238E27FC236}">
                <a16:creationId xmlns:a16="http://schemas.microsoft.com/office/drawing/2014/main" id="{59EDDA55-0CDC-0B2C-438F-9FE584D71885}"/>
              </a:ext>
            </a:extLst>
          </p:cNvPr>
          <p:cNvSpPr txBox="1"/>
          <p:nvPr/>
        </p:nvSpPr>
        <p:spPr>
          <a:xfrm>
            <a:off x="9857232" y="3938138"/>
            <a:ext cx="329184" cy="228600"/>
          </a:xfrm>
          <a:prstGeom prst="rect">
            <a:avLst/>
          </a:prstGeom>
          <a:noFill/>
          <a:ln/>
        </p:spPr>
        <p:txBody>
          <a:bodyPr wrap="square" lIns="0" tIns="0" rIns="0" bIns="0" rtlCol="0" anchor="ctr">
            <a:normAutofit/>
          </a:bodyPr>
          <a:lstStyle/>
          <a:p>
            <a:pPr marL="0" indent="0" algn="l">
              <a:lnSpc>
                <a:spcPct val="100000"/>
              </a:lnSpc>
              <a:buNone/>
            </a:pPr>
            <a:r>
              <a:rPr lang="en-US" sz="830" b="1" dirty="0">
                <a:solidFill>
                  <a:srgbClr val="A59DB7"/>
                </a:solidFill>
                <a:latin typeface="Inter" pitchFamily="34" charset="0"/>
                <a:ea typeface="Inter" pitchFamily="34" charset="-122"/>
                <a:cs typeface="Inter" pitchFamily="34" charset="-120"/>
              </a:rPr>
              <a:t>10</a:t>
            </a:r>
            <a:endParaRPr lang="en-US" sz="830" dirty="0"/>
          </a:p>
        </p:txBody>
      </p:sp>
      <p:sp>
        <p:nvSpPr>
          <p:cNvPr id="69" name="Text 66">
            <a:extLst>
              <a:ext uri="{FF2B5EF4-FFF2-40B4-BE49-F238E27FC236}">
                <a16:creationId xmlns:a16="http://schemas.microsoft.com/office/drawing/2014/main" id="{6CB83B97-B2BE-D076-EED6-F940FCBD8F40}"/>
              </a:ext>
            </a:extLst>
          </p:cNvPr>
          <p:cNvSpPr txBox="1"/>
          <p:nvPr/>
        </p:nvSpPr>
        <p:spPr>
          <a:xfrm>
            <a:off x="9857232" y="4157594"/>
            <a:ext cx="1554480" cy="292608"/>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8152B"/>
                </a:solidFill>
                <a:latin typeface="Inter" pitchFamily="34" charset="0"/>
                <a:ea typeface="Inter" pitchFamily="34" charset="-122"/>
                <a:cs typeface="Inter" pitchFamily="34" charset="-120"/>
              </a:rPr>
              <a:t>Publish</a:t>
            </a:r>
            <a:endParaRPr lang="en-US" sz="1400" dirty="0"/>
          </a:p>
        </p:txBody>
      </p:sp>
      <p:sp>
        <p:nvSpPr>
          <p:cNvPr id="73" name="Shape 70">
            <a:extLst>
              <a:ext uri="{FF2B5EF4-FFF2-40B4-BE49-F238E27FC236}">
                <a16:creationId xmlns:a16="http://schemas.microsoft.com/office/drawing/2014/main" id="{C42DDC42-389D-AFAD-C9FE-68DD12661A79}"/>
              </a:ext>
            </a:extLst>
          </p:cNvPr>
          <p:cNvSpPr/>
          <p:nvPr/>
        </p:nvSpPr>
        <p:spPr>
          <a:xfrm>
            <a:off x="10680192" y="3773546"/>
            <a:ext cx="0" cy="0"/>
          </a:xfrm>
          <a:prstGeom prst="line">
            <a:avLst/>
          </a:prstGeom>
          <a:noFill/>
          <a:ln w="12700">
            <a:solidFill>
              <a:srgbClr val="B7A7D1"/>
            </a:solidFill>
            <a:prstDash val="solid"/>
            <a:headEnd type="none"/>
            <a:tailEnd type="triangle"/>
          </a:ln>
        </p:spPr>
        <p:txBody>
          <a:bodyPr/>
          <a:lstStyle/>
          <a:p>
            <a:endParaRPr lang="es-MX"/>
          </a:p>
        </p:txBody>
      </p:sp>
      <p:sp>
        <p:nvSpPr>
          <p:cNvPr id="74" name="Shape 71">
            <a:extLst>
              <a:ext uri="{FF2B5EF4-FFF2-40B4-BE49-F238E27FC236}">
                <a16:creationId xmlns:a16="http://schemas.microsoft.com/office/drawing/2014/main" id="{E8131DAC-C3DA-4205-C5F2-1BF46C043F5B}"/>
              </a:ext>
            </a:extLst>
          </p:cNvPr>
          <p:cNvSpPr/>
          <p:nvPr/>
        </p:nvSpPr>
        <p:spPr>
          <a:xfrm>
            <a:off x="685799" y="5152644"/>
            <a:ext cx="7930001" cy="699516"/>
          </a:xfrm>
          <a:prstGeom prst="roundRect">
            <a:avLst>
              <a:gd name="adj" fmla="val 12308"/>
            </a:avLst>
          </a:prstGeom>
          <a:solidFill>
            <a:srgbClr val="F5F1FF"/>
          </a:solidFill>
          <a:ln w="12700">
            <a:solidFill>
              <a:srgbClr val="E4D8FF"/>
            </a:solidFill>
            <a:prstDash val="solid"/>
          </a:ln>
        </p:spPr>
        <p:txBody>
          <a:bodyPr/>
          <a:lstStyle/>
          <a:p>
            <a:endParaRPr lang="es-MX"/>
          </a:p>
        </p:txBody>
      </p:sp>
      <p:sp>
        <p:nvSpPr>
          <p:cNvPr id="75" name="Text 72">
            <a:extLst>
              <a:ext uri="{FF2B5EF4-FFF2-40B4-BE49-F238E27FC236}">
                <a16:creationId xmlns:a16="http://schemas.microsoft.com/office/drawing/2014/main" id="{E4FAD596-D61C-88B5-68FB-3CB3ED719232}"/>
              </a:ext>
            </a:extLst>
          </p:cNvPr>
          <p:cNvSpPr txBox="1"/>
          <p:nvPr/>
        </p:nvSpPr>
        <p:spPr>
          <a:xfrm>
            <a:off x="822960" y="5336120"/>
            <a:ext cx="7575605" cy="365760"/>
          </a:xfrm>
          <a:prstGeom prst="rect">
            <a:avLst/>
          </a:prstGeom>
          <a:noFill/>
          <a:ln/>
        </p:spPr>
        <p:txBody>
          <a:bodyPr wrap="square" lIns="0" tIns="0" rIns="0" bIns="0" rtlCol="0" anchor="ctr">
            <a:noAutofit/>
          </a:bodyPr>
          <a:lstStyle/>
          <a:p>
            <a:pPr marL="0" indent="0" algn="ctr">
              <a:lnSpc>
                <a:spcPct val="100000"/>
              </a:lnSpc>
              <a:buNone/>
            </a:pPr>
            <a:r>
              <a:rPr lang="en-US" sz="1600" b="1" dirty="0">
                <a:solidFill>
                  <a:srgbClr val="18152B"/>
                </a:solidFill>
                <a:latin typeface="Inter" pitchFamily="34" charset="0"/>
                <a:ea typeface="Inter" pitchFamily="34" charset="-122"/>
                <a:cs typeface="Inter" pitchFamily="34" charset="-120"/>
              </a:rPr>
              <a:t>A multi-day business procedure can persist across conversations, waits, approvals, external systems and changing facts.</a:t>
            </a:r>
            <a:endParaRPr lang="en-US" sz="1600" dirty="0"/>
          </a:p>
        </p:txBody>
      </p:sp>
      <p:sp>
        <p:nvSpPr>
          <p:cNvPr id="76" name="Shape 73">
            <a:extLst>
              <a:ext uri="{FF2B5EF4-FFF2-40B4-BE49-F238E27FC236}">
                <a16:creationId xmlns:a16="http://schemas.microsoft.com/office/drawing/2014/main" id="{29FE4C48-8E59-CE9C-ED0A-F0B7830F4173}"/>
              </a:ext>
            </a:extLst>
          </p:cNvPr>
          <p:cNvSpPr/>
          <p:nvPr/>
        </p:nvSpPr>
        <p:spPr>
          <a:xfrm>
            <a:off x="8771249" y="5152644"/>
            <a:ext cx="1371600" cy="699516"/>
          </a:xfrm>
          <a:prstGeom prst="roundRect">
            <a:avLst>
              <a:gd name="adj" fmla="val 10606"/>
            </a:avLst>
          </a:prstGeom>
          <a:solidFill>
            <a:srgbClr val="FFF2DA"/>
          </a:solidFill>
          <a:ln w="12700">
            <a:solidFill>
              <a:srgbClr val="F0A44A"/>
            </a:solidFill>
            <a:prstDash val="solid"/>
          </a:ln>
        </p:spPr>
        <p:txBody>
          <a:bodyPr/>
          <a:lstStyle/>
          <a:p>
            <a:endParaRPr lang="es-MX"/>
          </a:p>
        </p:txBody>
      </p:sp>
      <p:sp>
        <p:nvSpPr>
          <p:cNvPr id="77" name="Text 74">
            <a:extLst>
              <a:ext uri="{FF2B5EF4-FFF2-40B4-BE49-F238E27FC236}">
                <a16:creationId xmlns:a16="http://schemas.microsoft.com/office/drawing/2014/main" id="{D078DF4C-CA25-35CC-3E3D-CEFA17E3DEF3}"/>
              </a:ext>
            </a:extLst>
          </p:cNvPr>
          <p:cNvSpPr txBox="1"/>
          <p:nvPr/>
        </p:nvSpPr>
        <p:spPr>
          <a:xfrm>
            <a:off x="8844401" y="5266944"/>
            <a:ext cx="1225296" cy="566928"/>
          </a:xfrm>
          <a:prstGeom prst="rect">
            <a:avLst/>
          </a:prstGeom>
          <a:noFill/>
          <a:ln/>
        </p:spPr>
        <p:txBody>
          <a:bodyPr wrap="square" lIns="0" tIns="0" rIns="0" bIns="0" rtlCol="0" anchor="ctr">
            <a:normAutofit/>
          </a:bodyPr>
          <a:lstStyle/>
          <a:p>
            <a:pPr marL="0" indent="0" algn="ctr">
              <a:lnSpc>
                <a:spcPct val="100000"/>
              </a:lnSpc>
              <a:buNone/>
            </a:pPr>
            <a:r>
              <a:rPr lang="en-US" sz="1050" b="1" dirty="0">
                <a:solidFill>
                  <a:srgbClr val="9A5F1E"/>
                </a:solidFill>
                <a:latin typeface="Inter" pitchFamily="34" charset="0"/>
                <a:ea typeface="Inter" pitchFamily="34" charset="-122"/>
                <a:cs typeface="Inter" pitchFamily="34" charset="-120"/>
              </a:rPr>
              <a:t>[XX cases started]</a:t>
            </a:r>
            <a:endParaRPr lang="en-US" sz="1050" dirty="0"/>
          </a:p>
        </p:txBody>
      </p:sp>
      <p:sp>
        <p:nvSpPr>
          <p:cNvPr id="78" name="Shape 75">
            <a:extLst>
              <a:ext uri="{FF2B5EF4-FFF2-40B4-BE49-F238E27FC236}">
                <a16:creationId xmlns:a16="http://schemas.microsoft.com/office/drawing/2014/main" id="{0DF98AEE-BB0E-0B79-802D-7ABC9B92D855}"/>
              </a:ext>
            </a:extLst>
          </p:cNvPr>
          <p:cNvSpPr/>
          <p:nvPr/>
        </p:nvSpPr>
        <p:spPr>
          <a:xfrm>
            <a:off x="10298297" y="5152644"/>
            <a:ext cx="1261872" cy="699516"/>
          </a:xfrm>
          <a:prstGeom prst="roundRect">
            <a:avLst>
              <a:gd name="adj" fmla="val 10606"/>
            </a:avLst>
          </a:prstGeom>
          <a:solidFill>
            <a:srgbClr val="FFF2DA"/>
          </a:solidFill>
          <a:ln w="12700">
            <a:solidFill>
              <a:srgbClr val="F0A44A"/>
            </a:solidFill>
            <a:prstDash val="solid"/>
          </a:ln>
        </p:spPr>
        <p:txBody>
          <a:bodyPr/>
          <a:lstStyle/>
          <a:p>
            <a:endParaRPr lang="es-MX"/>
          </a:p>
        </p:txBody>
      </p:sp>
      <p:sp>
        <p:nvSpPr>
          <p:cNvPr id="79" name="Text 76">
            <a:extLst>
              <a:ext uri="{FF2B5EF4-FFF2-40B4-BE49-F238E27FC236}">
                <a16:creationId xmlns:a16="http://schemas.microsoft.com/office/drawing/2014/main" id="{C9EB1088-525A-54E5-18F5-25FAFD5DC5AD}"/>
              </a:ext>
            </a:extLst>
          </p:cNvPr>
          <p:cNvSpPr txBox="1"/>
          <p:nvPr/>
        </p:nvSpPr>
        <p:spPr>
          <a:xfrm>
            <a:off x="10371449" y="5266944"/>
            <a:ext cx="1115568" cy="566928"/>
          </a:xfrm>
          <a:prstGeom prst="rect">
            <a:avLst/>
          </a:prstGeom>
          <a:noFill/>
          <a:ln/>
        </p:spPr>
        <p:txBody>
          <a:bodyPr wrap="square" lIns="0" tIns="0" rIns="0" bIns="0" rtlCol="0" anchor="ctr">
            <a:normAutofit/>
          </a:bodyPr>
          <a:lstStyle/>
          <a:p>
            <a:pPr marL="0" indent="0" algn="ctr">
              <a:lnSpc>
                <a:spcPct val="100000"/>
              </a:lnSpc>
              <a:buNone/>
            </a:pPr>
            <a:r>
              <a:rPr lang="en-US" sz="1020" b="1" dirty="0">
                <a:solidFill>
                  <a:srgbClr val="9A5F1E"/>
                </a:solidFill>
                <a:latin typeface="Inter" pitchFamily="34" charset="0"/>
                <a:ea typeface="Inter" pitchFamily="34" charset="-122"/>
                <a:cs typeface="Inter" pitchFamily="34" charset="-120"/>
              </a:rPr>
              <a:t>[YY completed]</a:t>
            </a:r>
            <a:endParaRPr lang="en-US" sz="1020" dirty="0"/>
          </a:p>
        </p:txBody>
      </p:sp>
      <p:sp>
        <p:nvSpPr>
          <p:cNvPr id="80" name="Text 77">
            <a:extLst>
              <a:ext uri="{FF2B5EF4-FFF2-40B4-BE49-F238E27FC236}">
                <a16:creationId xmlns:a16="http://schemas.microsoft.com/office/drawing/2014/main" id="{33E2C99A-D7A8-88CC-9BD8-33A6FA64AA87}"/>
              </a:ext>
            </a:extLst>
          </p:cNvPr>
          <p:cNvSpPr txBox="1"/>
          <p:nvPr/>
        </p:nvSpPr>
        <p:spPr>
          <a:xfrm>
            <a:off x="694944" y="5961888"/>
            <a:ext cx="5715000" cy="237744"/>
          </a:xfrm>
          <a:prstGeom prst="rect">
            <a:avLst/>
          </a:prstGeom>
          <a:noFill/>
          <a:ln/>
        </p:spPr>
        <p:txBody>
          <a:bodyPr wrap="square" lIns="0" tIns="0" rIns="0" bIns="0" rtlCol="0" anchor="ctr">
            <a:normAutofit/>
          </a:bodyPr>
          <a:lstStyle/>
          <a:p>
            <a:pPr marL="0" indent="0" algn="l">
              <a:lnSpc>
                <a:spcPct val="100000"/>
              </a:lnSpc>
              <a:buNone/>
            </a:pPr>
            <a:r>
              <a:rPr lang="en-US" sz="940" b="1" dirty="0">
                <a:solidFill>
                  <a:srgbClr val="6F6882"/>
                </a:solidFill>
                <a:latin typeface="Inter" pitchFamily="34" charset="0"/>
                <a:ea typeface="Inter" pitchFamily="34" charset="-122"/>
                <a:cs typeface="Inter" pitchFamily="34" charset="-120"/>
              </a:rPr>
              <a:t>Reusable building blocks: </a:t>
            </a:r>
            <a:r>
              <a:rPr lang="en-US" sz="940" dirty="0">
                <a:solidFill>
                  <a:srgbClr val="6F6882"/>
                </a:solidFill>
                <a:latin typeface="Inter" pitchFamily="34" charset="0"/>
                <a:ea typeface="Inter" pitchFamily="34" charset="-122"/>
                <a:cs typeface="Inter" pitchFamily="34" charset="-120"/>
              </a:rPr>
              <a:t>Documents · Comparables · Approvals · Publishing</a:t>
            </a:r>
            <a:endParaRPr lang="en-US" sz="940" dirty="0"/>
          </a:p>
        </p:txBody>
      </p:sp>
      <p:sp>
        <p:nvSpPr>
          <p:cNvPr id="81" name="Shape 78">
            <a:extLst>
              <a:ext uri="{FF2B5EF4-FFF2-40B4-BE49-F238E27FC236}">
                <a16:creationId xmlns:a16="http://schemas.microsoft.com/office/drawing/2014/main" id="{92BA70DB-D2B8-B4D4-B07A-3E42478D3013}"/>
              </a:ext>
            </a:extLst>
          </p:cNvPr>
          <p:cNvSpPr/>
          <p:nvPr/>
        </p:nvSpPr>
        <p:spPr>
          <a:xfrm>
            <a:off x="10525281" y="5969958"/>
            <a:ext cx="1024128" cy="310896"/>
          </a:xfrm>
          <a:prstGeom prst="roundRect">
            <a:avLst>
              <a:gd name="adj" fmla="val 23529"/>
            </a:avLst>
          </a:prstGeom>
          <a:solidFill>
            <a:srgbClr val="EEE7FF"/>
          </a:solidFill>
          <a:ln w="12700">
            <a:solidFill>
              <a:srgbClr val="EEE7FF">
                <a:alpha val="0"/>
              </a:srgbClr>
            </a:solidFill>
            <a:prstDash val="solid"/>
          </a:ln>
        </p:spPr>
        <p:txBody>
          <a:bodyPr/>
          <a:lstStyle/>
          <a:p>
            <a:endParaRPr lang="es-MX"/>
          </a:p>
        </p:txBody>
      </p:sp>
      <p:sp>
        <p:nvSpPr>
          <p:cNvPr id="82" name="Text 79">
            <a:extLst>
              <a:ext uri="{FF2B5EF4-FFF2-40B4-BE49-F238E27FC236}">
                <a16:creationId xmlns:a16="http://schemas.microsoft.com/office/drawing/2014/main" id="{D55C41BC-50A9-26E9-6673-A3DCB639848A}"/>
              </a:ext>
            </a:extLst>
          </p:cNvPr>
          <p:cNvSpPr txBox="1"/>
          <p:nvPr/>
        </p:nvSpPr>
        <p:spPr>
          <a:xfrm>
            <a:off x="10525281" y="5974530"/>
            <a:ext cx="1024128" cy="310896"/>
          </a:xfrm>
          <a:prstGeom prst="rect">
            <a:avLst/>
          </a:prstGeom>
          <a:noFill/>
          <a:ln/>
        </p:spPr>
        <p:txBody>
          <a:bodyPr wrap="square" lIns="0" tIns="0" rIns="0" bIns="0" rtlCol="0" anchor="ctr">
            <a:normAutofit/>
          </a:bodyPr>
          <a:lstStyle/>
          <a:p>
            <a:pPr marL="0" indent="0" algn="ctr">
              <a:lnSpc>
                <a:spcPct val="100000"/>
              </a:lnSpc>
              <a:buNone/>
            </a:pPr>
            <a:r>
              <a:rPr lang="en-US" sz="800" b="1" dirty="0">
                <a:solidFill>
                  <a:srgbClr val="5B2DB6"/>
                </a:solidFill>
                <a:latin typeface="Inter" pitchFamily="34" charset="0"/>
                <a:ea typeface="Inter" pitchFamily="34" charset="-122"/>
                <a:cs typeface="Inter" pitchFamily="34" charset="-120"/>
              </a:rPr>
              <a:t>EARLY / BETA</a:t>
            </a:r>
            <a:endParaRPr lang="en-US" sz="800" dirty="0"/>
          </a:p>
        </p:txBody>
      </p:sp>
      <p:sp>
        <p:nvSpPr>
          <p:cNvPr id="83" name="Slide Number Placeholder 0">
            <a:extLst>
              <a:ext uri="{FF2B5EF4-FFF2-40B4-BE49-F238E27FC236}">
                <a16:creationId xmlns:a16="http://schemas.microsoft.com/office/drawing/2014/main" id="{344F4D64-D232-7F7A-46F4-102FBEA1B568}"/>
              </a:ext>
            </a:extLst>
          </p:cNvPr>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7</a:t>
            </a:fld>
            <a:endParaRPr lang="en-US"/>
          </a:p>
        </p:txBody>
      </p:sp>
      <p:grpSp>
        <p:nvGrpSpPr>
          <p:cNvPr id="89" name="Grupo 88">
            <a:extLst>
              <a:ext uri="{FF2B5EF4-FFF2-40B4-BE49-F238E27FC236}">
                <a16:creationId xmlns:a16="http://schemas.microsoft.com/office/drawing/2014/main" id="{52BDA6CC-C587-5DCC-9B4A-7D4C27291580}"/>
              </a:ext>
            </a:extLst>
          </p:cNvPr>
          <p:cNvGrpSpPr/>
          <p:nvPr/>
        </p:nvGrpSpPr>
        <p:grpSpPr>
          <a:xfrm>
            <a:off x="1239609" y="3009227"/>
            <a:ext cx="786384" cy="313639"/>
            <a:chOff x="676656" y="1642994"/>
            <a:chExt cx="786384" cy="313639"/>
          </a:xfrm>
        </p:grpSpPr>
        <p:sp>
          <p:nvSpPr>
            <p:cNvPr id="90" name="Shape 3">
              <a:extLst>
                <a:ext uri="{FF2B5EF4-FFF2-40B4-BE49-F238E27FC236}">
                  <a16:creationId xmlns:a16="http://schemas.microsoft.com/office/drawing/2014/main" id="{ADCE4EA0-D09F-5666-47CF-FBF4A67F24A9}"/>
                </a:ext>
              </a:extLst>
            </p:cNvPr>
            <p:cNvSpPr/>
            <p:nvPr/>
          </p:nvSpPr>
          <p:spPr>
            <a:xfrm>
              <a:off x="676656" y="1642994"/>
              <a:ext cx="786384"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sz="1100"/>
            </a:p>
          </p:txBody>
        </p:sp>
        <p:sp>
          <p:nvSpPr>
            <p:cNvPr id="91" name="Text 4">
              <a:extLst>
                <a:ext uri="{FF2B5EF4-FFF2-40B4-BE49-F238E27FC236}">
                  <a16:creationId xmlns:a16="http://schemas.microsoft.com/office/drawing/2014/main" id="{704BEE05-AE26-D20C-1CFF-8CFE5AD623A7}"/>
                </a:ext>
              </a:extLst>
            </p:cNvPr>
            <p:cNvSpPr txBox="1"/>
            <p:nvPr/>
          </p:nvSpPr>
          <p:spPr>
            <a:xfrm>
              <a:off x="676656" y="1645737"/>
              <a:ext cx="786384"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AI</a:t>
              </a:r>
              <a:endParaRPr lang="en-US" sz="1100" dirty="0"/>
            </a:p>
          </p:txBody>
        </p:sp>
      </p:grpSp>
      <p:grpSp>
        <p:nvGrpSpPr>
          <p:cNvPr id="92" name="Grupo 91">
            <a:extLst>
              <a:ext uri="{FF2B5EF4-FFF2-40B4-BE49-F238E27FC236}">
                <a16:creationId xmlns:a16="http://schemas.microsoft.com/office/drawing/2014/main" id="{0887A58B-BA14-F5E8-9F9E-1A6E50B98ABA}"/>
              </a:ext>
            </a:extLst>
          </p:cNvPr>
          <p:cNvGrpSpPr/>
          <p:nvPr/>
        </p:nvGrpSpPr>
        <p:grpSpPr>
          <a:xfrm>
            <a:off x="3482472" y="3009784"/>
            <a:ext cx="789167" cy="308152"/>
            <a:chOff x="3273551" y="1642994"/>
            <a:chExt cx="1707239" cy="310895"/>
          </a:xfrm>
        </p:grpSpPr>
        <p:sp>
          <p:nvSpPr>
            <p:cNvPr id="93" name="Shape 9">
              <a:extLst>
                <a:ext uri="{FF2B5EF4-FFF2-40B4-BE49-F238E27FC236}">
                  <a16:creationId xmlns:a16="http://schemas.microsoft.com/office/drawing/2014/main" id="{D5F34AC1-DD3A-9549-643C-06EBFD810BA5}"/>
                </a:ext>
              </a:extLst>
            </p:cNvPr>
            <p:cNvSpPr/>
            <p:nvPr/>
          </p:nvSpPr>
          <p:spPr>
            <a:xfrm>
              <a:off x="3273551" y="1642994"/>
              <a:ext cx="1707239" cy="310895"/>
            </a:xfrm>
            <a:prstGeom prst="roundRect">
              <a:avLst>
                <a:gd name="adj" fmla="val 17647"/>
              </a:avLst>
            </a:prstGeom>
            <a:solidFill>
              <a:srgbClr val="A96B36"/>
            </a:solidFill>
            <a:ln w="12700">
              <a:solidFill>
                <a:srgbClr val="FFFFFF">
                  <a:alpha val="0"/>
                </a:srgbClr>
              </a:solidFill>
              <a:prstDash val="solid"/>
            </a:ln>
          </p:spPr>
          <p:txBody>
            <a:bodyPr/>
            <a:lstStyle/>
            <a:p>
              <a:endParaRPr lang="es-MX" sz="1100"/>
            </a:p>
          </p:txBody>
        </p:sp>
        <p:sp>
          <p:nvSpPr>
            <p:cNvPr id="94" name="Text 10">
              <a:extLst>
                <a:ext uri="{FF2B5EF4-FFF2-40B4-BE49-F238E27FC236}">
                  <a16:creationId xmlns:a16="http://schemas.microsoft.com/office/drawing/2014/main" id="{2539BDDA-2025-0C7B-3112-720FF84578C4}"/>
                </a:ext>
              </a:extLst>
            </p:cNvPr>
            <p:cNvSpPr txBox="1"/>
            <p:nvPr/>
          </p:nvSpPr>
          <p:spPr>
            <a:xfrm>
              <a:off x="3348858" y="1645737"/>
              <a:ext cx="1554480" cy="289865"/>
            </a:xfrm>
            <a:prstGeom prst="rect">
              <a:avLst/>
            </a:prstGeom>
            <a:noFill/>
            <a:ln/>
          </p:spPr>
          <p:txBody>
            <a:bodyPr wrap="square" lIns="0" tIns="0" rIns="0" bIns="0" rtlCol="0" anchor="ctr">
              <a:no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WAIT</a:t>
              </a:r>
              <a:endParaRPr lang="en-US" sz="1100" dirty="0"/>
            </a:p>
          </p:txBody>
        </p:sp>
      </p:grpSp>
      <p:grpSp>
        <p:nvGrpSpPr>
          <p:cNvPr id="95" name="Grupo 94">
            <a:extLst>
              <a:ext uri="{FF2B5EF4-FFF2-40B4-BE49-F238E27FC236}">
                <a16:creationId xmlns:a16="http://schemas.microsoft.com/office/drawing/2014/main" id="{2C1CDE1B-680E-DD60-5AD5-23258591E281}"/>
              </a:ext>
            </a:extLst>
          </p:cNvPr>
          <p:cNvGrpSpPr/>
          <p:nvPr/>
        </p:nvGrpSpPr>
        <p:grpSpPr>
          <a:xfrm>
            <a:off x="5742432" y="3008917"/>
            <a:ext cx="786384" cy="313639"/>
            <a:chOff x="676656" y="1642994"/>
            <a:chExt cx="786384" cy="313639"/>
          </a:xfrm>
        </p:grpSpPr>
        <p:sp>
          <p:nvSpPr>
            <p:cNvPr id="96" name="Shape 3">
              <a:extLst>
                <a:ext uri="{FF2B5EF4-FFF2-40B4-BE49-F238E27FC236}">
                  <a16:creationId xmlns:a16="http://schemas.microsoft.com/office/drawing/2014/main" id="{2A2608F9-F8DA-27C2-D622-AB83FC6B0298}"/>
                </a:ext>
              </a:extLst>
            </p:cNvPr>
            <p:cNvSpPr/>
            <p:nvPr/>
          </p:nvSpPr>
          <p:spPr>
            <a:xfrm>
              <a:off x="676656" y="1642994"/>
              <a:ext cx="786384"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sz="1100"/>
            </a:p>
          </p:txBody>
        </p:sp>
        <p:sp>
          <p:nvSpPr>
            <p:cNvPr id="97" name="Text 4">
              <a:extLst>
                <a:ext uri="{FF2B5EF4-FFF2-40B4-BE49-F238E27FC236}">
                  <a16:creationId xmlns:a16="http://schemas.microsoft.com/office/drawing/2014/main" id="{F37A19AF-74E3-1A70-DC74-90ABE8695C21}"/>
                </a:ext>
              </a:extLst>
            </p:cNvPr>
            <p:cNvSpPr txBox="1"/>
            <p:nvPr/>
          </p:nvSpPr>
          <p:spPr>
            <a:xfrm>
              <a:off x="676656" y="1645737"/>
              <a:ext cx="786384"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AI</a:t>
              </a:r>
              <a:endParaRPr lang="en-US" sz="1100" dirty="0"/>
            </a:p>
          </p:txBody>
        </p:sp>
      </p:grpSp>
      <p:grpSp>
        <p:nvGrpSpPr>
          <p:cNvPr id="98" name="Grupo 97">
            <a:extLst>
              <a:ext uri="{FF2B5EF4-FFF2-40B4-BE49-F238E27FC236}">
                <a16:creationId xmlns:a16="http://schemas.microsoft.com/office/drawing/2014/main" id="{1C9AB66C-9A18-DF0C-110A-B973582C6403}"/>
              </a:ext>
            </a:extLst>
          </p:cNvPr>
          <p:cNvGrpSpPr/>
          <p:nvPr/>
        </p:nvGrpSpPr>
        <p:grpSpPr>
          <a:xfrm>
            <a:off x="7977941" y="3008102"/>
            <a:ext cx="841248" cy="313639"/>
            <a:chOff x="2340864" y="1642994"/>
            <a:chExt cx="841248" cy="313639"/>
          </a:xfrm>
        </p:grpSpPr>
        <p:sp>
          <p:nvSpPr>
            <p:cNvPr id="99" name="Shape 7">
              <a:extLst>
                <a:ext uri="{FF2B5EF4-FFF2-40B4-BE49-F238E27FC236}">
                  <a16:creationId xmlns:a16="http://schemas.microsoft.com/office/drawing/2014/main" id="{39C27967-B4DD-1AE6-FCF9-8CF9A02B9FBE}"/>
                </a:ext>
              </a:extLst>
            </p:cNvPr>
            <p:cNvSpPr/>
            <p:nvPr/>
          </p:nvSpPr>
          <p:spPr>
            <a:xfrm>
              <a:off x="2340864" y="1642994"/>
              <a:ext cx="841248" cy="310896"/>
            </a:xfrm>
            <a:prstGeom prst="roundRect">
              <a:avLst>
                <a:gd name="adj" fmla="val 17647"/>
              </a:avLst>
            </a:prstGeom>
            <a:solidFill>
              <a:srgbClr val="9A4D78"/>
            </a:solidFill>
            <a:ln w="12700">
              <a:solidFill>
                <a:srgbClr val="FFFFFF">
                  <a:alpha val="0"/>
                </a:srgbClr>
              </a:solidFill>
              <a:prstDash val="solid"/>
            </a:ln>
          </p:spPr>
          <p:txBody>
            <a:bodyPr/>
            <a:lstStyle/>
            <a:p>
              <a:endParaRPr lang="es-MX" sz="1100"/>
            </a:p>
          </p:txBody>
        </p:sp>
        <p:sp>
          <p:nvSpPr>
            <p:cNvPr id="100" name="Text 8">
              <a:extLst>
                <a:ext uri="{FF2B5EF4-FFF2-40B4-BE49-F238E27FC236}">
                  <a16:creationId xmlns:a16="http://schemas.microsoft.com/office/drawing/2014/main" id="{01E7B3BC-FAE5-5968-8EC3-2F3886B19F7A}"/>
                </a:ext>
              </a:extLst>
            </p:cNvPr>
            <p:cNvSpPr txBox="1"/>
            <p:nvPr/>
          </p:nvSpPr>
          <p:spPr>
            <a:xfrm>
              <a:off x="2340864" y="1645737"/>
              <a:ext cx="841248"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HUMAN</a:t>
              </a:r>
              <a:endParaRPr lang="en-US" sz="1100" dirty="0"/>
            </a:p>
          </p:txBody>
        </p:sp>
      </p:grpSp>
      <p:grpSp>
        <p:nvGrpSpPr>
          <p:cNvPr id="101" name="Grupo 100">
            <a:extLst>
              <a:ext uri="{FF2B5EF4-FFF2-40B4-BE49-F238E27FC236}">
                <a16:creationId xmlns:a16="http://schemas.microsoft.com/office/drawing/2014/main" id="{16559655-1589-DAD7-61D2-46A0901C128E}"/>
              </a:ext>
            </a:extLst>
          </p:cNvPr>
          <p:cNvGrpSpPr/>
          <p:nvPr/>
        </p:nvGrpSpPr>
        <p:grpSpPr>
          <a:xfrm>
            <a:off x="10338425" y="3010360"/>
            <a:ext cx="713232" cy="313639"/>
            <a:chOff x="1545336" y="1642994"/>
            <a:chExt cx="713232" cy="313639"/>
          </a:xfrm>
        </p:grpSpPr>
        <p:sp>
          <p:nvSpPr>
            <p:cNvPr id="102" name="Shape 5">
              <a:extLst>
                <a:ext uri="{FF2B5EF4-FFF2-40B4-BE49-F238E27FC236}">
                  <a16:creationId xmlns:a16="http://schemas.microsoft.com/office/drawing/2014/main" id="{8524531E-9208-AE0A-7DB2-A6D180FCE218}"/>
                </a:ext>
              </a:extLst>
            </p:cNvPr>
            <p:cNvSpPr/>
            <p:nvPr/>
          </p:nvSpPr>
          <p:spPr>
            <a:xfrm>
              <a:off x="1545336" y="1642994"/>
              <a:ext cx="713232" cy="310896"/>
            </a:xfrm>
            <a:prstGeom prst="roundRect">
              <a:avLst>
                <a:gd name="adj" fmla="val 17647"/>
              </a:avLst>
            </a:prstGeom>
            <a:solidFill>
              <a:srgbClr val="5F658E"/>
            </a:solidFill>
            <a:ln w="12700">
              <a:solidFill>
                <a:srgbClr val="FFFFFF">
                  <a:alpha val="0"/>
                </a:srgbClr>
              </a:solidFill>
              <a:prstDash val="solid"/>
            </a:ln>
          </p:spPr>
          <p:txBody>
            <a:bodyPr/>
            <a:lstStyle/>
            <a:p>
              <a:endParaRPr lang="es-MX" sz="1100"/>
            </a:p>
          </p:txBody>
        </p:sp>
        <p:sp>
          <p:nvSpPr>
            <p:cNvPr id="103" name="Text 6">
              <a:extLst>
                <a:ext uri="{FF2B5EF4-FFF2-40B4-BE49-F238E27FC236}">
                  <a16:creationId xmlns:a16="http://schemas.microsoft.com/office/drawing/2014/main" id="{C950B412-2110-68A4-56DB-36F2DEACF7D9}"/>
                </a:ext>
              </a:extLst>
            </p:cNvPr>
            <p:cNvSpPr txBox="1"/>
            <p:nvPr/>
          </p:nvSpPr>
          <p:spPr>
            <a:xfrm>
              <a:off x="1545336" y="1645737"/>
              <a:ext cx="713232"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TOOL</a:t>
              </a:r>
              <a:endParaRPr lang="en-US" sz="1100" dirty="0"/>
            </a:p>
          </p:txBody>
        </p:sp>
      </p:grpSp>
      <p:grpSp>
        <p:nvGrpSpPr>
          <p:cNvPr id="104" name="Grupo 103">
            <a:extLst>
              <a:ext uri="{FF2B5EF4-FFF2-40B4-BE49-F238E27FC236}">
                <a16:creationId xmlns:a16="http://schemas.microsoft.com/office/drawing/2014/main" id="{81D85D41-7ED3-22E7-04D6-11B69610A13B}"/>
              </a:ext>
            </a:extLst>
          </p:cNvPr>
          <p:cNvGrpSpPr/>
          <p:nvPr/>
        </p:nvGrpSpPr>
        <p:grpSpPr>
          <a:xfrm>
            <a:off x="1208200" y="4476473"/>
            <a:ext cx="841248" cy="313639"/>
            <a:chOff x="2340864" y="1642994"/>
            <a:chExt cx="841248" cy="313639"/>
          </a:xfrm>
        </p:grpSpPr>
        <p:sp>
          <p:nvSpPr>
            <p:cNvPr id="105" name="Shape 7">
              <a:extLst>
                <a:ext uri="{FF2B5EF4-FFF2-40B4-BE49-F238E27FC236}">
                  <a16:creationId xmlns:a16="http://schemas.microsoft.com/office/drawing/2014/main" id="{C7341ABC-1B82-2F1D-8742-D9AA8BC492F7}"/>
                </a:ext>
              </a:extLst>
            </p:cNvPr>
            <p:cNvSpPr/>
            <p:nvPr/>
          </p:nvSpPr>
          <p:spPr>
            <a:xfrm>
              <a:off x="2340864" y="1642994"/>
              <a:ext cx="841248" cy="310896"/>
            </a:xfrm>
            <a:prstGeom prst="roundRect">
              <a:avLst>
                <a:gd name="adj" fmla="val 17647"/>
              </a:avLst>
            </a:prstGeom>
            <a:solidFill>
              <a:srgbClr val="9A4D78"/>
            </a:solidFill>
            <a:ln w="12700">
              <a:solidFill>
                <a:srgbClr val="FFFFFF">
                  <a:alpha val="0"/>
                </a:srgbClr>
              </a:solidFill>
              <a:prstDash val="solid"/>
            </a:ln>
          </p:spPr>
          <p:txBody>
            <a:bodyPr/>
            <a:lstStyle/>
            <a:p>
              <a:endParaRPr lang="es-MX" sz="1100"/>
            </a:p>
          </p:txBody>
        </p:sp>
        <p:sp>
          <p:nvSpPr>
            <p:cNvPr id="106" name="Text 8">
              <a:extLst>
                <a:ext uri="{FF2B5EF4-FFF2-40B4-BE49-F238E27FC236}">
                  <a16:creationId xmlns:a16="http://schemas.microsoft.com/office/drawing/2014/main" id="{D292A7F8-2AE5-C064-4D3E-598AED3C7AA2}"/>
                </a:ext>
              </a:extLst>
            </p:cNvPr>
            <p:cNvSpPr txBox="1"/>
            <p:nvPr/>
          </p:nvSpPr>
          <p:spPr>
            <a:xfrm>
              <a:off x="2340864" y="1645737"/>
              <a:ext cx="841248"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HUMAN</a:t>
              </a:r>
              <a:endParaRPr lang="en-US" sz="1100" dirty="0"/>
            </a:p>
          </p:txBody>
        </p:sp>
      </p:grpSp>
      <p:grpSp>
        <p:nvGrpSpPr>
          <p:cNvPr id="107" name="Grupo 106">
            <a:extLst>
              <a:ext uri="{FF2B5EF4-FFF2-40B4-BE49-F238E27FC236}">
                <a16:creationId xmlns:a16="http://schemas.microsoft.com/office/drawing/2014/main" id="{CE54ED26-575D-F864-F4CF-89D4507DFD40}"/>
              </a:ext>
            </a:extLst>
          </p:cNvPr>
          <p:cNvGrpSpPr/>
          <p:nvPr/>
        </p:nvGrpSpPr>
        <p:grpSpPr>
          <a:xfrm>
            <a:off x="3501773" y="4466288"/>
            <a:ext cx="786384" cy="313639"/>
            <a:chOff x="676656" y="1642994"/>
            <a:chExt cx="786384" cy="313639"/>
          </a:xfrm>
        </p:grpSpPr>
        <p:sp>
          <p:nvSpPr>
            <p:cNvPr id="108" name="Shape 3">
              <a:extLst>
                <a:ext uri="{FF2B5EF4-FFF2-40B4-BE49-F238E27FC236}">
                  <a16:creationId xmlns:a16="http://schemas.microsoft.com/office/drawing/2014/main" id="{1FBD36CF-B753-C889-26A7-E80E1A787A0C}"/>
                </a:ext>
              </a:extLst>
            </p:cNvPr>
            <p:cNvSpPr/>
            <p:nvPr/>
          </p:nvSpPr>
          <p:spPr>
            <a:xfrm>
              <a:off x="676656" y="1642994"/>
              <a:ext cx="786384"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sz="1100"/>
            </a:p>
          </p:txBody>
        </p:sp>
        <p:sp>
          <p:nvSpPr>
            <p:cNvPr id="109" name="Text 4">
              <a:extLst>
                <a:ext uri="{FF2B5EF4-FFF2-40B4-BE49-F238E27FC236}">
                  <a16:creationId xmlns:a16="http://schemas.microsoft.com/office/drawing/2014/main" id="{BB5710A1-D469-571C-AC71-37AEE41631CA}"/>
                </a:ext>
              </a:extLst>
            </p:cNvPr>
            <p:cNvSpPr txBox="1"/>
            <p:nvPr/>
          </p:nvSpPr>
          <p:spPr>
            <a:xfrm>
              <a:off x="676656" y="1645737"/>
              <a:ext cx="786384"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AI</a:t>
              </a:r>
              <a:endParaRPr lang="en-US" sz="1100" dirty="0"/>
            </a:p>
          </p:txBody>
        </p:sp>
      </p:grpSp>
      <p:grpSp>
        <p:nvGrpSpPr>
          <p:cNvPr id="113" name="Grupo 112">
            <a:extLst>
              <a:ext uri="{FF2B5EF4-FFF2-40B4-BE49-F238E27FC236}">
                <a16:creationId xmlns:a16="http://schemas.microsoft.com/office/drawing/2014/main" id="{A3674E6F-67DD-830C-DBE7-78ECD56319D4}"/>
              </a:ext>
            </a:extLst>
          </p:cNvPr>
          <p:cNvGrpSpPr/>
          <p:nvPr/>
        </p:nvGrpSpPr>
        <p:grpSpPr>
          <a:xfrm>
            <a:off x="5742432" y="4484704"/>
            <a:ext cx="789167" cy="308152"/>
            <a:chOff x="3273551" y="1642994"/>
            <a:chExt cx="1707239" cy="310895"/>
          </a:xfrm>
        </p:grpSpPr>
        <p:sp>
          <p:nvSpPr>
            <p:cNvPr id="114" name="Shape 9">
              <a:extLst>
                <a:ext uri="{FF2B5EF4-FFF2-40B4-BE49-F238E27FC236}">
                  <a16:creationId xmlns:a16="http://schemas.microsoft.com/office/drawing/2014/main" id="{61C75DBB-F7EC-E5FB-3779-F5F9F7BEEA60}"/>
                </a:ext>
              </a:extLst>
            </p:cNvPr>
            <p:cNvSpPr/>
            <p:nvPr/>
          </p:nvSpPr>
          <p:spPr>
            <a:xfrm>
              <a:off x="3273551" y="1642994"/>
              <a:ext cx="1707239" cy="310895"/>
            </a:xfrm>
            <a:prstGeom prst="roundRect">
              <a:avLst>
                <a:gd name="adj" fmla="val 17647"/>
              </a:avLst>
            </a:prstGeom>
            <a:solidFill>
              <a:srgbClr val="A96B36"/>
            </a:solidFill>
            <a:ln w="12700">
              <a:solidFill>
                <a:srgbClr val="FFFFFF">
                  <a:alpha val="0"/>
                </a:srgbClr>
              </a:solidFill>
              <a:prstDash val="solid"/>
            </a:ln>
          </p:spPr>
          <p:txBody>
            <a:bodyPr/>
            <a:lstStyle/>
            <a:p>
              <a:endParaRPr lang="es-MX" sz="1100"/>
            </a:p>
          </p:txBody>
        </p:sp>
        <p:sp>
          <p:nvSpPr>
            <p:cNvPr id="115" name="Text 10">
              <a:extLst>
                <a:ext uri="{FF2B5EF4-FFF2-40B4-BE49-F238E27FC236}">
                  <a16:creationId xmlns:a16="http://schemas.microsoft.com/office/drawing/2014/main" id="{A7E9FF0C-E6C2-5C15-2788-4006FF0313DA}"/>
                </a:ext>
              </a:extLst>
            </p:cNvPr>
            <p:cNvSpPr txBox="1"/>
            <p:nvPr/>
          </p:nvSpPr>
          <p:spPr>
            <a:xfrm>
              <a:off x="3348858" y="1645737"/>
              <a:ext cx="1554480" cy="289865"/>
            </a:xfrm>
            <a:prstGeom prst="rect">
              <a:avLst/>
            </a:prstGeom>
            <a:noFill/>
            <a:ln/>
          </p:spPr>
          <p:txBody>
            <a:bodyPr wrap="square" lIns="0" tIns="0" rIns="0" bIns="0" rtlCol="0" anchor="ctr">
              <a:no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WAIT</a:t>
              </a:r>
              <a:endParaRPr lang="en-US" sz="1100" dirty="0"/>
            </a:p>
          </p:txBody>
        </p:sp>
      </p:grpSp>
      <p:grpSp>
        <p:nvGrpSpPr>
          <p:cNvPr id="17" name="Grupo 16">
            <a:extLst>
              <a:ext uri="{FF2B5EF4-FFF2-40B4-BE49-F238E27FC236}">
                <a16:creationId xmlns:a16="http://schemas.microsoft.com/office/drawing/2014/main" id="{E5BA7525-50F8-2713-3B8C-90AFA4C4D024}"/>
              </a:ext>
            </a:extLst>
          </p:cNvPr>
          <p:cNvGrpSpPr/>
          <p:nvPr/>
        </p:nvGrpSpPr>
        <p:grpSpPr>
          <a:xfrm>
            <a:off x="8032805" y="4473484"/>
            <a:ext cx="786384" cy="313639"/>
            <a:chOff x="676656" y="1642994"/>
            <a:chExt cx="786384" cy="313639"/>
          </a:xfrm>
        </p:grpSpPr>
        <p:sp>
          <p:nvSpPr>
            <p:cNvPr id="18" name="Shape 3">
              <a:extLst>
                <a:ext uri="{FF2B5EF4-FFF2-40B4-BE49-F238E27FC236}">
                  <a16:creationId xmlns:a16="http://schemas.microsoft.com/office/drawing/2014/main" id="{F3F7588A-ECDA-6FDE-C1C9-9468A73CC015}"/>
                </a:ext>
              </a:extLst>
            </p:cNvPr>
            <p:cNvSpPr/>
            <p:nvPr/>
          </p:nvSpPr>
          <p:spPr>
            <a:xfrm>
              <a:off x="676656" y="1642994"/>
              <a:ext cx="786384"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sz="1100"/>
            </a:p>
          </p:txBody>
        </p:sp>
        <p:sp>
          <p:nvSpPr>
            <p:cNvPr id="23" name="Text 4">
              <a:extLst>
                <a:ext uri="{FF2B5EF4-FFF2-40B4-BE49-F238E27FC236}">
                  <a16:creationId xmlns:a16="http://schemas.microsoft.com/office/drawing/2014/main" id="{99B9C658-6E9E-9E75-3983-57F163437F6D}"/>
                </a:ext>
              </a:extLst>
            </p:cNvPr>
            <p:cNvSpPr txBox="1"/>
            <p:nvPr/>
          </p:nvSpPr>
          <p:spPr>
            <a:xfrm>
              <a:off x="676656" y="1645737"/>
              <a:ext cx="786384"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AI</a:t>
              </a:r>
              <a:endParaRPr lang="en-US" sz="1100" dirty="0"/>
            </a:p>
          </p:txBody>
        </p:sp>
      </p:grpSp>
      <p:grpSp>
        <p:nvGrpSpPr>
          <p:cNvPr id="24" name="Grupo 23">
            <a:extLst>
              <a:ext uri="{FF2B5EF4-FFF2-40B4-BE49-F238E27FC236}">
                <a16:creationId xmlns:a16="http://schemas.microsoft.com/office/drawing/2014/main" id="{374951D5-2A45-D2ED-63DA-7692D4A06AD8}"/>
              </a:ext>
            </a:extLst>
          </p:cNvPr>
          <p:cNvGrpSpPr/>
          <p:nvPr/>
        </p:nvGrpSpPr>
        <p:grpSpPr>
          <a:xfrm>
            <a:off x="10343593" y="4469031"/>
            <a:ext cx="713232" cy="313639"/>
            <a:chOff x="1545336" y="1642994"/>
            <a:chExt cx="713232" cy="313639"/>
          </a:xfrm>
        </p:grpSpPr>
        <p:sp>
          <p:nvSpPr>
            <p:cNvPr id="29" name="Shape 5">
              <a:extLst>
                <a:ext uri="{FF2B5EF4-FFF2-40B4-BE49-F238E27FC236}">
                  <a16:creationId xmlns:a16="http://schemas.microsoft.com/office/drawing/2014/main" id="{1F804585-1149-D6A8-B6C0-BABCBFCBFB25}"/>
                </a:ext>
              </a:extLst>
            </p:cNvPr>
            <p:cNvSpPr/>
            <p:nvPr/>
          </p:nvSpPr>
          <p:spPr>
            <a:xfrm>
              <a:off x="1545336" y="1642994"/>
              <a:ext cx="713232" cy="310896"/>
            </a:xfrm>
            <a:prstGeom prst="roundRect">
              <a:avLst>
                <a:gd name="adj" fmla="val 17647"/>
              </a:avLst>
            </a:prstGeom>
            <a:solidFill>
              <a:srgbClr val="5F658E"/>
            </a:solidFill>
            <a:ln w="12700">
              <a:solidFill>
                <a:srgbClr val="FFFFFF">
                  <a:alpha val="0"/>
                </a:srgbClr>
              </a:solidFill>
              <a:prstDash val="solid"/>
            </a:ln>
          </p:spPr>
          <p:txBody>
            <a:bodyPr/>
            <a:lstStyle/>
            <a:p>
              <a:endParaRPr lang="es-MX" sz="1100"/>
            </a:p>
          </p:txBody>
        </p:sp>
        <p:sp>
          <p:nvSpPr>
            <p:cNvPr id="30" name="Text 6">
              <a:extLst>
                <a:ext uri="{FF2B5EF4-FFF2-40B4-BE49-F238E27FC236}">
                  <a16:creationId xmlns:a16="http://schemas.microsoft.com/office/drawing/2014/main" id="{6959AA75-3DE7-968A-6B5B-B6B15062A005}"/>
                </a:ext>
              </a:extLst>
            </p:cNvPr>
            <p:cNvSpPr txBox="1"/>
            <p:nvPr/>
          </p:nvSpPr>
          <p:spPr>
            <a:xfrm>
              <a:off x="1545336" y="1645737"/>
              <a:ext cx="713232" cy="310896"/>
            </a:xfrm>
            <a:prstGeom prst="rect">
              <a:avLst/>
            </a:prstGeom>
            <a:noFill/>
            <a:ln/>
          </p:spPr>
          <p:txBody>
            <a:bodyPr wrap="square" lIns="0" tIns="0" rIns="0" bIns="0" rtlCol="0" anchor="ctr">
              <a:normAutofit/>
            </a:bodyPr>
            <a:lstStyle/>
            <a:p>
              <a:pPr marL="0" indent="0" algn="ctr">
                <a:lnSpc>
                  <a:spcPct val="100000"/>
                </a:lnSpc>
                <a:buNone/>
              </a:pPr>
              <a:r>
                <a:rPr lang="en-US" sz="1100" b="1" kern="0" spc="80" dirty="0">
                  <a:solidFill>
                    <a:srgbClr val="FFFFFF"/>
                  </a:solidFill>
                  <a:latin typeface="Inter" pitchFamily="34" charset="0"/>
                  <a:ea typeface="Inter" pitchFamily="34" charset="-122"/>
                  <a:cs typeface="Inter" pitchFamily="34" charset="-120"/>
                </a:rPr>
                <a:t>TOOL</a:t>
              </a:r>
              <a:endParaRPr lang="en-US" sz="1100" dirty="0"/>
            </a:p>
          </p:txBody>
        </p:sp>
      </p:grpSp>
    </p:spTree>
    <p:extLst>
      <p:ext uri="{BB962C8B-B14F-4D97-AF65-F5344CB8AC3E}">
        <p14:creationId xmlns:p14="http://schemas.microsoft.com/office/powerpoint/2010/main" val="348953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8" name="Shape 35"/>
          <p:cNvSpPr/>
          <p:nvPr/>
        </p:nvSpPr>
        <p:spPr>
          <a:xfrm>
            <a:off x="1784411" y="5901869"/>
            <a:ext cx="8575829" cy="493505"/>
          </a:xfrm>
          <a:prstGeom prst="roundRect">
            <a:avLst>
              <a:gd name="adj" fmla="val 23529"/>
            </a:avLst>
          </a:prstGeom>
          <a:solidFill>
            <a:srgbClr val="1F1739"/>
          </a:solidFill>
          <a:ln w="12700">
            <a:solidFill>
              <a:srgbClr val="1F1739">
                <a:alpha val="0"/>
              </a:srgbClr>
            </a:solidFill>
            <a:prstDash val="solid"/>
          </a:ln>
        </p:spPr>
        <p:txBody>
          <a:bodyPr/>
          <a:lstStyle/>
          <a:p>
            <a:endParaRPr lang="es-MX"/>
          </a:p>
        </p:txBody>
      </p:sp>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PRODUCT EXPANSION</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rmAutofit fontScale="92500"/>
          </a:bodyPr>
          <a:lstStyle/>
          <a:p>
            <a:pPr marL="0" indent="0" algn="l">
              <a:lnSpc>
                <a:spcPct val="100000"/>
              </a:lnSpc>
              <a:buNone/>
            </a:pPr>
            <a:r>
              <a:rPr lang="en-US" sz="2800" b="1" dirty="0">
                <a:solidFill>
                  <a:srgbClr val="18152B"/>
                </a:solidFill>
                <a:latin typeface="Aptos" panose="020B0004020202020204" pitchFamily="34" charset="0"/>
                <a:ea typeface="Inter Display" pitchFamily="34" charset="-122"/>
                <a:cs typeface="Inter Display" pitchFamily="34" charset="-120"/>
              </a:rPr>
              <a:t>From lead conversion to the full brokerage revenue operating loop.</a:t>
            </a:r>
            <a:endParaRPr lang="en-US" sz="2800" dirty="0">
              <a:latin typeface="Aptos" panose="020B0004020202020204" pitchFamily="34" charset="0"/>
            </a:endParaRPr>
          </a:p>
        </p:txBody>
      </p:sp>
      <p:grpSp>
        <p:nvGrpSpPr>
          <p:cNvPr id="48" name="Grupo 47">
            <a:extLst>
              <a:ext uri="{FF2B5EF4-FFF2-40B4-BE49-F238E27FC236}">
                <a16:creationId xmlns:a16="http://schemas.microsoft.com/office/drawing/2014/main" id="{D346032D-14A6-0E2C-C0C5-EB979DCD24E6}"/>
              </a:ext>
            </a:extLst>
          </p:cNvPr>
          <p:cNvGrpSpPr/>
          <p:nvPr/>
        </p:nvGrpSpPr>
        <p:grpSpPr>
          <a:xfrm>
            <a:off x="775029" y="2779372"/>
            <a:ext cx="1938528" cy="1245866"/>
            <a:chOff x="1807359" y="2260738"/>
            <a:chExt cx="1938528" cy="1245866"/>
          </a:xfrm>
        </p:grpSpPr>
        <p:sp>
          <p:nvSpPr>
            <p:cNvPr id="5" name="Shape 2"/>
            <p:cNvSpPr/>
            <p:nvPr/>
          </p:nvSpPr>
          <p:spPr>
            <a:xfrm>
              <a:off x="1807359" y="2260738"/>
              <a:ext cx="1938528" cy="1245866"/>
            </a:xfrm>
            <a:prstGeom prst="roundRect">
              <a:avLst>
                <a:gd name="adj" fmla="val 11650"/>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dirty="0"/>
            </a:p>
          </p:txBody>
        </p:sp>
        <p:sp>
          <p:nvSpPr>
            <p:cNvPr id="6" name="Text 3"/>
            <p:cNvSpPr txBox="1"/>
            <p:nvPr/>
          </p:nvSpPr>
          <p:spPr>
            <a:xfrm>
              <a:off x="1953663" y="2421752"/>
              <a:ext cx="1719072" cy="384048"/>
            </a:xfrm>
            <a:prstGeom prst="rect">
              <a:avLst/>
            </a:prstGeom>
            <a:noFill/>
            <a:ln/>
          </p:spPr>
          <p:txBody>
            <a:bodyPr wrap="square" lIns="0" tIns="0" rIns="0" bIns="0" rtlCol="0" anchor="ctr">
              <a:normAutofit lnSpcReduction="10000"/>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PROPERTY ONBOARDING</a:t>
              </a:r>
              <a:endParaRPr lang="en-US" sz="1300" dirty="0"/>
            </a:p>
          </p:txBody>
        </p:sp>
        <p:sp>
          <p:nvSpPr>
            <p:cNvPr id="7" name="Text 4"/>
            <p:cNvSpPr txBox="1"/>
            <p:nvPr/>
          </p:nvSpPr>
          <p:spPr>
            <a:xfrm>
              <a:off x="1953663" y="2842376"/>
              <a:ext cx="1627632" cy="246888"/>
            </a:xfrm>
            <a:prstGeom prst="rect">
              <a:avLst/>
            </a:prstGeom>
            <a:noFill/>
            <a:ln/>
          </p:spPr>
          <p:txBody>
            <a:bodyPr wrap="square" lIns="0" tIns="0" rIns="0" bIns="0" rtlCol="0" anchor="ctr">
              <a:noAutofit/>
            </a:bodyPr>
            <a:lstStyle/>
            <a:p>
              <a:pPr algn="ctr"/>
              <a:r>
                <a:rPr lang="en-US" sz="1000" dirty="0">
                  <a:solidFill>
                    <a:srgbClr val="6F6882"/>
                  </a:solidFill>
                  <a:latin typeface="Inter" pitchFamily="34" charset="0"/>
                  <a:ea typeface="Inter" pitchFamily="34" charset="-122"/>
                  <a:cs typeface="Inter" pitchFamily="34" charset="-120"/>
                </a:rPr>
                <a:t>Source · capture · validate · price · prepare · publish</a:t>
              </a:r>
              <a:endParaRPr lang="en-US" sz="1000" dirty="0"/>
            </a:p>
          </p:txBody>
        </p:sp>
        <p:sp>
          <p:nvSpPr>
            <p:cNvPr id="8" name="Shape 5"/>
            <p:cNvSpPr/>
            <p:nvPr/>
          </p:nvSpPr>
          <p:spPr>
            <a:xfrm>
              <a:off x="2264957" y="3192792"/>
              <a:ext cx="1060704" cy="310896"/>
            </a:xfrm>
            <a:prstGeom prst="roundRect">
              <a:avLst>
                <a:gd name="adj" fmla="val 23529"/>
              </a:avLst>
            </a:prstGeom>
            <a:solidFill>
              <a:srgbClr val="F1EBFF"/>
            </a:solidFill>
            <a:ln w="12700">
              <a:solidFill>
                <a:srgbClr val="F1EBFF">
                  <a:alpha val="0"/>
                </a:srgbClr>
              </a:solidFill>
              <a:prstDash val="solid"/>
            </a:ln>
          </p:spPr>
          <p:txBody>
            <a:bodyPr/>
            <a:lstStyle/>
            <a:p>
              <a:endParaRPr lang="es-MX"/>
            </a:p>
          </p:txBody>
        </p:sp>
        <p:sp>
          <p:nvSpPr>
            <p:cNvPr id="9" name="Text 6"/>
            <p:cNvSpPr txBox="1"/>
            <p:nvPr/>
          </p:nvSpPr>
          <p:spPr>
            <a:xfrm>
              <a:off x="2283643" y="3195707"/>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5B2DB6"/>
                  </a:solidFill>
                  <a:latin typeface="Inter" pitchFamily="34" charset="0"/>
                  <a:ea typeface="Inter" pitchFamily="34" charset="-122"/>
                  <a:cs typeface="Inter" pitchFamily="34" charset="-120"/>
                </a:rPr>
                <a:t>EARLY / BETA</a:t>
              </a:r>
              <a:endParaRPr lang="en-US" sz="740" dirty="0"/>
            </a:p>
          </p:txBody>
        </p:sp>
      </p:grpSp>
      <p:grpSp>
        <p:nvGrpSpPr>
          <p:cNvPr id="51" name="Grupo 50">
            <a:extLst>
              <a:ext uri="{FF2B5EF4-FFF2-40B4-BE49-F238E27FC236}">
                <a16:creationId xmlns:a16="http://schemas.microsoft.com/office/drawing/2014/main" id="{4155454E-44A7-92FD-DFDE-36417B809FC2}"/>
              </a:ext>
            </a:extLst>
          </p:cNvPr>
          <p:cNvGrpSpPr/>
          <p:nvPr/>
        </p:nvGrpSpPr>
        <p:grpSpPr>
          <a:xfrm>
            <a:off x="3021206" y="1399032"/>
            <a:ext cx="1938528" cy="1172341"/>
            <a:chOff x="4224528" y="1387056"/>
            <a:chExt cx="1938528" cy="1172341"/>
          </a:xfrm>
        </p:grpSpPr>
        <p:sp>
          <p:nvSpPr>
            <p:cNvPr id="10" name="Shape 7"/>
            <p:cNvSpPr/>
            <p:nvPr/>
          </p:nvSpPr>
          <p:spPr>
            <a:xfrm>
              <a:off x="4224528" y="1387056"/>
              <a:ext cx="1938528" cy="1165860"/>
            </a:xfrm>
            <a:prstGeom prst="roundRect">
              <a:avLst>
                <a:gd name="adj" fmla="val 11650"/>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a:p>
          </p:txBody>
        </p:sp>
        <p:sp>
          <p:nvSpPr>
            <p:cNvPr id="11" name="Text 8"/>
            <p:cNvSpPr txBox="1"/>
            <p:nvPr/>
          </p:nvSpPr>
          <p:spPr>
            <a:xfrm>
              <a:off x="4334256" y="1524873"/>
              <a:ext cx="1719072" cy="384048"/>
            </a:xfrm>
            <a:prstGeom prst="rect">
              <a:avLst/>
            </a:prstGeom>
            <a:noFill/>
            <a:ln/>
          </p:spPr>
          <p:txBody>
            <a:bodyPr wrap="square" lIns="0" tIns="0" rIns="0" bIns="0" rtlCol="0" anchor="ctr">
              <a:normAutofit lnSpcReduction="10000"/>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DEMAND</a:t>
              </a:r>
              <a:endParaRPr lang="en-US" sz="1300" dirty="0"/>
            </a:p>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GENERATION</a:t>
              </a:r>
              <a:endParaRPr lang="en-US" sz="1300" dirty="0"/>
            </a:p>
          </p:txBody>
        </p:sp>
        <p:sp>
          <p:nvSpPr>
            <p:cNvPr id="12" name="Text 9"/>
            <p:cNvSpPr txBox="1"/>
            <p:nvPr/>
          </p:nvSpPr>
          <p:spPr>
            <a:xfrm>
              <a:off x="4334256" y="1927741"/>
              <a:ext cx="1719072" cy="246888"/>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Generate qualified opportunities</a:t>
              </a:r>
              <a:endParaRPr lang="en-US" sz="1000" dirty="0"/>
            </a:p>
          </p:txBody>
        </p:sp>
        <p:sp>
          <p:nvSpPr>
            <p:cNvPr id="13" name="Shape 10"/>
            <p:cNvSpPr/>
            <p:nvPr/>
          </p:nvSpPr>
          <p:spPr>
            <a:xfrm>
              <a:off x="4636008" y="2239734"/>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14" name="Text 11"/>
            <p:cNvSpPr txBox="1"/>
            <p:nvPr/>
          </p:nvSpPr>
          <p:spPr>
            <a:xfrm>
              <a:off x="4627754" y="2248501"/>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EXPANSION</a:t>
              </a:r>
              <a:endParaRPr lang="en-US" sz="740" dirty="0"/>
            </a:p>
          </p:txBody>
        </p:sp>
      </p:grpSp>
      <p:grpSp>
        <p:nvGrpSpPr>
          <p:cNvPr id="52" name="Grupo 51">
            <a:extLst>
              <a:ext uri="{FF2B5EF4-FFF2-40B4-BE49-F238E27FC236}">
                <a16:creationId xmlns:a16="http://schemas.microsoft.com/office/drawing/2014/main" id="{2473304F-5F7E-2099-B98F-23DE6DD2C3AD}"/>
              </a:ext>
            </a:extLst>
          </p:cNvPr>
          <p:cNvGrpSpPr/>
          <p:nvPr/>
        </p:nvGrpSpPr>
        <p:grpSpPr>
          <a:xfrm>
            <a:off x="6870645" y="1383637"/>
            <a:ext cx="1938528" cy="1169031"/>
            <a:chOff x="6601968" y="2263140"/>
            <a:chExt cx="1938528" cy="1169031"/>
          </a:xfrm>
        </p:grpSpPr>
        <p:sp>
          <p:nvSpPr>
            <p:cNvPr id="15" name="Shape 12"/>
            <p:cNvSpPr/>
            <p:nvPr/>
          </p:nvSpPr>
          <p:spPr>
            <a:xfrm>
              <a:off x="6601968" y="2263140"/>
              <a:ext cx="1938528" cy="1165860"/>
            </a:xfrm>
            <a:prstGeom prst="roundRect">
              <a:avLst>
                <a:gd name="adj" fmla="val 11650"/>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a:p>
          </p:txBody>
        </p:sp>
        <p:sp>
          <p:nvSpPr>
            <p:cNvPr id="16" name="Text 13"/>
            <p:cNvSpPr txBox="1"/>
            <p:nvPr/>
          </p:nvSpPr>
          <p:spPr>
            <a:xfrm>
              <a:off x="6711696" y="2335640"/>
              <a:ext cx="1719072" cy="384048"/>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CONVERSION</a:t>
              </a:r>
              <a:endParaRPr lang="en-US" sz="1300" dirty="0"/>
            </a:p>
          </p:txBody>
        </p:sp>
        <p:sp>
          <p:nvSpPr>
            <p:cNvPr id="17" name="Text 14"/>
            <p:cNvSpPr txBox="1"/>
            <p:nvPr/>
          </p:nvSpPr>
          <p:spPr>
            <a:xfrm>
              <a:off x="6711696" y="2676362"/>
              <a:ext cx="1719072" cy="246888"/>
            </a:xfrm>
            <a:prstGeom prst="rect">
              <a:avLst/>
            </a:prstGeom>
            <a:noFill/>
            <a:ln/>
          </p:spPr>
          <p:txBody>
            <a:bodyPr wrap="square" lIns="0" tIns="0" rIns="0" bIns="0" rtlCol="0" anchor="ctr">
              <a:no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Understand · match · </a:t>
              </a:r>
            </a:p>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Advance </a:t>
              </a:r>
              <a:r>
                <a:rPr lang="en-US" sz="1000" dirty="0" err="1">
                  <a:solidFill>
                    <a:srgbClr val="6F6882"/>
                  </a:solidFill>
                  <a:latin typeface="Inter" pitchFamily="34" charset="0"/>
                  <a:ea typeface="Inter" pitchFamily="34" charset="-122"/>
                  <a:cs typeface="Inter" pitchFamily="34" charset="-120"/>
                </a:rPr>
                <a:t>opps</a:t>
              </a:r>
              <a:r>
                <a:rPr lang="en-US" sz="1000" dirty="0">
                  <a:solidFill>
                    <a:srgbClr val="6F6882"/>
                  </a:solidFill>
                  <a:latin typeface="Inter" pitchFamily="34" charset="0"/>
                  <a:ea typeface="Inter" pitchFamily="34" charset="-122"/>
                  <a:cs typeface="Inter" pitchFamily="34" charset="-120"/>
                </a:rPr>
                <a:t> (rule-based)</a:t>
              </a:r>
              <a:endParaRPr lang="en-US" sz="1000" dirty="0"/>
            </a:p>
          </p:txBody>
        </p:sp>
        <p:sp>
          <p:nvSpPr>
            <p:cNvPr id="18" name="Shape 15"/>
            <p:cNvSpPr/>
            <p:nvPr/>
          </p:nvSpPr>
          <p:spPr>
            <a:xfrm>
              <a:off x="7013448" y="3105616"/>
              <a:ext cx="1060704" cy="310896"/>
            </a:xfrm>
            <a:prstGeom prst="roundRect">
              <a:avLst>
                <a:gd name="adj" fmla="val 23529"/>
              </a:avLst>
            </a:prstGeom>
            <a:solidFill>
              <a:srgbClr val="E8F6EF"/>
            </a:solidFill>
            <a:ln w="12700">
              <a:solidFill>
                <a:srgbClr val="E8F6EF">
                  <a:alpha val="0"/>
                </a:srgbClr>
              </a:solidFill>
              <a:prstDash val="solid"/>
            </a:ln>
          </p:spPr>
          <p:txBody>
            <a:bodyPr/>
            <a:lstStyle/>
            <a:p>
              <a:endParaRPr lang="es-MX" dirty="0"/>
            </a:p>
          </p:txBody>
        </p:sp>
        <p:sp>
          <p:nvSpPr>
            <p:cNvPr id="19" name="Text 16"/>
            <p:cNvSpPr txBox="1"/>
            <p:nvPr/>
          </p:nvSpPr>
          <p:spPr>
            <a:xfrm>
              <a:off x="7174369" y="3121275"/>
              <a:ext cx="774695"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18845A"/>
                  </a:solidFill>
                  <a:latin typeface="Inter" pitchFamily="34" charset="0"/>
                  <a:ea typeface="Inter" pitchFamily="34" charset="-122"/>
                  <a:cs typeface="Inter" pitchFamily="34" charset="-120"/>
                </a:rPr>
                <a:t>CURRENT</a:t>
              </a:r>
              <a:endParaRPr lang="en-US" sz="740" dirty="0"/>
            </a:p>
          </p:txBody>
        </p:sp>
      </p:grpSp>
      <p:grpSp>
        <p:nvGrpSpPr>
          <p:cNvPr id="53" name="Grupo 52">
            <a:extLst>
              <a:ext uri="{FF2B5EF4-FFF2-40B4-BE49-F238E27FC236}">
                <a16:creationId xmlns:a16="http://schemas.microsoft.com/office/drawing/2014/main" id="{A42B681A-8919-F8AD-DAAC-D3E4D579B8FB}"/>
              </a:ext>
            </a:extLst>
          </p:cNvPr>
          <p:cNvGrpSpPr/>
          <p:nvPr/>
        </p:nvGrpSpPr>
        <p:grpSpPr>
          <a:xfrm>
            <a:off x="6958937" y="4251062"/>
            <a:ext cx="1938528" cy="1112107"/>
            <a:chOff x="6108191" y="4287576"/>
            <a:chExt cx="1938528" cy="1112107"/>
          </a:xfrm>
        </p:grpSpPr>
        <p:sp>
          <p:nvSpPr>
            <p:cNvPr id="20" name="Shape 17"/>
            <p:cNvSpPr/>
            <p:nvPr/>
          </p:nvSpPr>
          <p:spPr>
            <a:xfrm>
              <a:off x="6108191" y="4287576"/>
              <a:ext cx="1938528" cy="1112107"/>
            </a:xfrm>
            <a:prstGeom prst="roundRect">
              <a:avLst>
                <a:gd name="adj" fmla="val 11650"/>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a:p>
          </p:txBody>
        </p:sp>
        <p:sp>
          <p:nvSpPr>
            <p:cNvPr id="21" name="Text 18"/>
            <p:cNvSpPr txBox="1"/>
            <p:nvPr/>
          </p:nvSpPr>
          <p:spPr>
            <a:xfrm>
              <a:off x="6217919" y="4326837"/>
              <a:ext cx="1731145" cy="384048"/>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TRANSACTION</a:t>
              </a:r>
              <a:endParaRPr lang="en-US" sz="1300" dirty="0"/>
            </a:p>
          </p:txBody>
        </p:sp>
        <p:sp>
          <p:nvSpPr>
            <p:cNvPr id="22" name="Text 19"/>
            <p:cNvSpPr txBox="1"/>
            <p:nvPr/>
          </p:nvSpPr>
          <p:spPr>
            <a:xfrm>
              <a:off x="6332737" y="4726786"/>
              <a:ext cx="1475287" cy="197215"/>
            </a:xfrm>
            <a:prstGeom prst="rect">
              <a:avLst/>
            </a:prstGeom>
            <a:noFill/>
            <a:ln/>
          </p:spPr>
          <p:txBody>
            <a:bodyPr wrap="square" lIns="0" tIns="0" rIns="0" bIns="0" rtlCol="0" anchor="ctr">
              <a:no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Visit · relationship · negotiate · close</a:t>
              </a:r>
              <a:endParaRPr lang="en-US" sz="1000" dirty="0"/>
            </a:p>
          </p:txBody>
        </p:sp>
        <p:sp>
          <p:nvSpPr>
            <p:cNvPr id="23" name="Shape 20"/>
            <p:cNvSpPr/>
            <p:nvPr/>
          </p:nvSpPr>
          <p:spPr>
            <a:xfrm>
              <a:off x="6541954" y="5088787"/>
              <a:ext cx="1060704" cy="310896"/>
            </a:xfrm>
            <a:prstGeom prst="roundRect">
              <a:avLst>
                <a:gd name="adj" fmla="val 23529"/>
              </a:avLst>
            </a:prstGeom>
            <a:solidFill>
              <a:srgbClr val="F8EAF1"/>
            </a:solidFill>
            <a:ln w="12700">
              <a:solidFill>
                <a:srgbClr val="F8EAF1">
                  <a:alpha val="0"/>
                </a:srgbClr>
              </a:solidFill>
              <a:prstDash val="solid"/>
            </a:ln>
          </p:spPr>
          <p:txBody>
            <a:bodyPr/>
            <a:lstStyle/>
            <a:p>
              <a:endParaRPr lang="es-MX"/>
            </a:p>
          </p:txBody>
        </p:sp>
        <p:sp>
          <p:nvSpPr>
            <p:cNvPr id="24" name="Text 21"/>
            <p:cNvSpPr txBox="1"/>
            <p:nvPr/>
          </p:nvSpPr>
          <p:spPr>
            <a:xfrm>
              <a:off x="6670231" y="5088787"/>
              <a:ext cx="826519"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9A4D78"/>
                  </a:solidFill>
                  <a:latin typeface="Inter" pitchFamily="34" charset="0"/>
                  <a:ea typeface="Inter" pitchFamily="34" charset="-122"/>
                  <a:cs typeface="Inter" pitchFamily="34" charset="-120"/>
                </a:rPr>
                <a:t>HUMAN-LED / </a:t>
              </a:r>
            </a:p>
            <a:p>
              <a:pPr marL="0" indent="0" algn="ctr">
                <a:lnSpc>
                  <a:spcPct val="100000"/>
                </a:lnSpc>
                <a:buNone/>
              </a:pPr>
              <a:r>
                <a:rPr lang="en-US" sz="740" b="1" dirty="0">
                  <a:solidFill>
                    <a:srgbClr val="9A4D78"/>
                  </a:solidFill>
                  <a:latin typeface="Inter" pitchFamily="34" charset="0"/>
                  <a:ea typeface="Inter" pitchFamily="34" charset="-122"/>
                  <a:cs typeface="Inter" pitchFamily="34" charset="-120"/>
                </a:rPr>
                <a:t>GU-ASSISTED</a:t>
              </a:r>
              <a:endParaRPr lang="en-US" sz="740" dirty="0"/>
            </a:p>
          </p:txBody>
        </p:sp>
      </p:grpSp>
      <p:sp>
        <p:nvSpPr>
          <p:cNvPr id="31" name="Shape 28"/>
          <p:cNvSpPr/>
          <p:nvPr/>
        </p:nvSpPr>
        <p:spPr>
          <a:xfrm flipV="1">
            <a:off x="5149048" y="1957473"/>
            <a:ext cx="1611869" cy="0"/>
          </a:xfrm>
          <a:prstGeom prst="line">
            <a:avLst/>
          </a:prstGeom>
          <a:noFill/>
          <a:ln w="38100">
            <a:solidFill>
              <a:srgbClr val="AA9ACA"/>
            </a:solidFill>
            <a:prstDash val="solid"/>
            <a:headEnd type="none"/>
            <a:tailEnd type="triangle"/>
          </a:ln>
        </p:spPr>
        <p:txBody>
          <a:bodyPr/>
          <a:lstStyle/>
          <a:p>
            <a:endParaRPr lang="es-MX"/>
          </a:p>
        </p:txBody>
      </p:sp>
      <p:grpSp>
        <p:nvGrpSpPr>
          <p:cNvPr id="54" name="Grupo 53">
            <a:extLst>
              <a:ext uri="{FF2B5EF4-FFF2-40B4-BE49-F238E27FC236}">
                <a16:creationId xmlns:a16="http://schemas.microsoft.com/office/drawing/2014/main" id="{CB464D21-4876-8EDF-C98A-34EC291A682E}"/>
              </a:ext>
            </a:extLst>
          </p:cNvPr>
          <p:cNvGrpSpPr/>
          <p:nvPr/>
        </p:nvGrpSpPr>
        <p:grpSpPr>
          <a:xfrm>
            <a:off x="5062959" y="2718383"/>
            <a:ext cx="1569720" cy="1520371"/>
            <a:chOff x="4526280" y="2887036"/>
            <a:chExt cx="1569720" cy="1520371"/>
          </a:xfrm>
        </p:grpSpPr>
        <p:sp>
          <p:nvSpPr>
            <p:cNvPr id="35" name="Shape 32"/>
            <p:cNvSpPr/>
            <p:nvPr/>
          </p:nvSpPr>
          <p:spPr>
            <a:xfrm>
              <a:off x="4526280" y="2887036"/>
              <a:ext cx="1569720" cy="1520371"/>
            </a:xfrm>
            <a:prstGeom prst="ellipse">
              <a:avLst/>
            </a:prstGeom>
            <a:solidFill>
              <a:srgbClr val="20173A"/>
            </a:solidFill>
            <a:ln w="12700">
              <a:solidFill>
                <a:srgbClr val="20173A"/>
              </a:solidFill>
              <a:prstDash val="solid"/>
            </a:ln>
          </p:spPr>
          <p:txBody>
            <a:bodyPr/>
            <a:lstStyle/>
            <a:p>
              <a:endParaRPr lang="es-MX" dirty="0"/>
            </a:p>
          </p:txBody>
        </p:sp>
        <p:sp>
          <p:nvSpPr>
            <p:cNvPr id="36" name="Text 33"/>
            <p:cNvSpPr txBox="1"/>
            <p:nvPr/>
          </p:nvSpPr>
          <p:spPr>
            <a:xfrm>
              <a:off x="4873024" y="3235637"/>
              <a:ext cx="840347" cy="340093"/>
            </a:xfrm>
            <a:prstGeom prst="rect">
              <a:avLst/>
            </a:prstGeom>
            <a:noFill/>
            <a:ln/>
          </p:spPr>
          <p:txBody>
            <a:bodyPr wrap="square" lIns="0" tIns="0" rIns="0" bIns="0" rtlCol="0" anchor="ctr">
              <a:normAutofit/>
            </a:bodyPr>
            <a:lstStyle/>
            <a:p>
              <a:pPr marL="0" indent="0" algn="ctr">
                <a:lnSpc>
                  <a:spcPct val="100000"/>
                </a:lnSpc>
                <a:buNone/>
              </a:pPr>
              <a:r>
                <a:rPr lang="en-US" sz="2000" b="1" dirty="0">
                  <a:solidFill>
                    <a:srgbClr val="FFFFFF"/>
                  </a:solidFill>
                  <a:latin typeface="Inter" pitchFamily="34" charset="0"/>
                  <a:ea typeface="Inter" pitchFamily="34" charset="-122"/>
                  <a:cs typeface="Inter" pitchFamily="34" charset="-120"/>
                </a:rPr>
                <a:t>Gu OS</a:t>
              </a:r>
              <a:endParaRPr lang="en-US" sz="2000" dirty="0"/>
            </a:p>
          </p:txBody>
        </p:sp>
        <p:sp>
          <p:nvSpPr>
            <p:cNvPr id="37" name="Text 34"/>
            <p:cNvSpPr txBox="1"/>
            <p:nvPr/>
          </p:nvSpPr>
          <p:spPr>
            <a:xfrm>
              <a:off x="4759141" y="3698224"/>
              <a:ext cx="1164306" cy="269526"/>
            </a:xfrm>
            <a:prstGeom prst="rect">
              <a:avLst/>
            </a:prstGeom>
            <a:noFill/>
            <a:ln/>
          </p:spPr>
          <p:txBody>
            <a:bodyPr wrap="square" lIns="0" tIns="0" rIns="0" bIns="0" rtlCol="0" anchor="ctr">
              <a:noAutofit/>
            </a:bodyPr>
            <a:lstStyle/>
            <a:p>
              <a:pPr marL="0" indent="0" algn="ctr">
                <a:lnSpc>
                  <a:spcPct val="100000"/>
                </a:lnSpc>
                <a:buNone/>
              </a:pPr>
              <a:r>
                <a:rPr lang="en-US" sz="1400" b="1" dirty="0">
                  <a:solidFill>
                    <a:srgbClr val="CFC3E6"/>
                  </a:solidFill>
                  <a:latin typeface="Inter" pitchFamily="34" charset="0"/>
                  <a:ea typeface="Inter" pitchFamily="34" charset="-122"/>
                  <a:cs typeface="Inter" pitchFamily="34" charset="-120"/>
                </a:rPr>
                <a:t>Connects the loop</a:t>
              </a:r>
              <a:endParaRPr lang="en-US" sz="1400" dirty="0"/>
            </a:p>
          </p:txBody>
        </p:sp>
      </p:grpSp>
      <p:sp>
        <p:nvSpPr>
          <p:cNvPr id="39" name="Text 36"/>
          <p:cNvSpPr txBox="1"/>
          <p:nvPr/>
        </p:nvSpPr>
        <p:spPr>
          <a:xfrm>
            <a:off x="2006353" y="6067300"/>
            <a:ext cx="8060925" cy="178652"/>
          </a:xfrm>
          <a:prstGeom prst="rect">
            <a:avLst/>
          </a:prstGeom>
          <a:noFill/>
          <a:ln/>
        </p:spPr>
        <p:txBody>
          <a:bodyPr wrap="square" lIns="0" tIns="0" rIns="0" bIns="0" rtlCol="0" anchor="ctr">
            <a:normAutofit fontScale="92500" lnSpcReduction="10000"/>
          </a:bodyPr>
          <a:lstStyle/>
          <a:p>
            <a:pPr marL="0" indent="0" algn="ctr">
              <a:lnSpc>
                <a:spcPct val="100000"/>
              </a:lnSpc>
              <a:buNone/>
            </a:pPr>
            <a:r>
              <a:rPr lang="en-US" sz="1400" b="1" dirty="0">
                <a:solidFill>
                  <a:srgbClr val="FFFFFF"/>
                </a:solidFill>
                <a:latin typeface="Inter" pitchFamily="34" charset="0"/>
                <a:ea typeface="Inter" pitchFamily="34" charset="-122"/>
                <a:cs typeface="Inter" pitchFamily="34" charset="-120"/>
              </a:rPr>
              <a:t>Connect the full revenue loop and feed real-world outcomes back into what happens next.</a:t>
            </a:r>
            <a:endParaRPr lang="en-US" sz="1400" dirty="0"/>
          </a:p>
        </p:txBody>
      </p:sp>
      <p:sp>
        <p:nvSpPr>
          <p:cNvPr id="41"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8</a:t>
            </a:fld>
            <a:endParaRPr lang="en-US"/>
          </a:p>
        </p:txBody>
      </p:sp>
      <p:sp>
        <p:nvSpPr>
          <p:cNvPr id="56" name="Shape 28">
            <a:extLst>
              <a:ext uri="{FF2B5EF4-FFF2-40B4-BE49-F238E27FC236}">
                <a16:creationId xmlns:a16="http://schemas.microsoft.com/office/drawing/2014/main" id="{EE3321E3-009C-258A-AB23-9FFBD629F375}"/>
              </a:ext>
            </a:extLst>
          </p:cNvPr>
          <p:cNvSpPr/>
          <p:nvPr/>
        </p:nvSpPr>
        <p:spPr>
          <a:xfrm>
            <a:off x="7818843" y="2616398"/>
            <a:ext cx="0" cy="1577867"/>
          </a:xfrm>
          <a:prstGeom prst="line">
            <a:avLst/>
          </a:prstGeom>
          <a:noFill/>
          <a:ln w="38100">
            <a:solidFill>
              <a:srgbClr val="AA9ACA"/>
            </a:solidFill>
            <a:prstDash val="solid"/>
            <a:headEnd type="none"/>
            <a:tailEnd type="triangle"/>
          </a:ln>
        </p:spPr>
        <p:txBody>
          <a:bodyPr/>
          <a:lstStyle/>
          <a:p>
            <a:endParaRPr lang="es-MX"/>
          </a:p>
        </p:txBody>
      </p:sp>
      <p:sp>
        <p:nvSpPr>
          <p:cNvPr id="58" name="Shape 28">
            <a:extLst>
              <a:ext uri="{FF2B5EF4-FFF2-40B4-BE49-F238E27FC236}">
                <a16:creationId xmlns:a16="http://schemas.microsoft.com/office/drawing/2014/main" id="{009BD626-08AE-8180-2623-E2BED211F495}"/>
              </a:ext>
            </a:extLst>
          </p:cNvPr>
          <p:cNvSpPr/>
          <p:nvPr/>
        </p:nvSpPr>
        <p:spPr>
          <a:xfrm flipH="1">
            <a:off x="5107349" y="4767983"/>
            <a:ext cx="1697958" cy="2572"/>
          </a:xfrm>
          <a:prstGeom prst="line">
            <a:avLst/>
          </a:prstGeom>
          <a:noFill/>
          <a:ln w="38100">
            <a:solidFill>
              <a:srgbClr val="AA9ACA"/>
            </a:solidFill>
            <a:prstDash val="solid"/>
            <a:headEnd type="none"/>
            <a:tailEnd type="triangle"/>
          </a:ln>
        </p:spPr>
        <p:txBody>
          <a:bodyPr/>
          <a:lstStyle/>
          <a:p>
            <a:endParaRPr lang="es-MX"/>
          </a:p>
        </p:txBody>
      </p:sp>
      <p:sp>
        <p:nvSpPr>
          <p:cNvPr id="60" name="Shape 28">
            <a:extLst>
              <a:ext uri="{FF2B5EF4-FFF2-40B4-BE49-F238E27FC236}">
                <a16:creationId xmlns:a16="http://schemas.microsoft.com/office/drawing/2014/main" id="{3A6F5702-2FC4-C4D1-BEDF-AC029F5EFC48}"/>
              </a:ext>
            </a:extLst>
          </p:cNvPr>
          <p:cNvSpPr/>
          <p:nvPr/>
        </p:nvSpPr>
        <p:spPr>
          <a:xfrm flipH="1" flipV="1">
            <a:off x="3980627" y="2610346"/>
            <a:ext cx="0" cy="1583919"/>
          </a:xfrm>
          <a:prstGeom prst="line">
            <a:avLst/>
          </a:prstGeom>
          <a:noFill/>
          <a:ln w="38100">
            <a:solidFill>
              <a:srgbClr val="AA9ACA"/>
            </a:solidFill>
            <a:prstDash val="solid"/>
            <a:headEnd type="none"/>
            <a:tailEnd type="triangle"/>
          </a:ln>
        </p:spPr>
        <p:txBody>
          <a:bodyPr/>
          <a:lstStyle/>
          <a:p>
            <a:endParaRPr lang="es-MX"/>
          </a:p>
        </p:txBody>
      </p:sp>
      <p:sp>
        <p:nvSpPr>
          <p:cNvPr id="62" name="Shape 28">
            <a:extLst>
              <a:ext uri="{FF2B5EF4-FFF2-40B4-BE49-F238E27FC236}">
                <a16:creationId xmlns:a16="http://schemas.microsoft.com/office/drawing/2014/main" id="{8FCB2E45-89E0-E111-9CDA-A5CE51078BF8}"/>
              </a:ext>
            </a:extLst>
          </p:cNvPr>
          <p:cNvSpPr/>
          <p:nvPr/>
        </p:nvSpPr>
        <p:spPr>
          <a:xfrm flipH="1" flipV="1">
            <a:off x="2243920" y="4238754"/>
            <a:ext cx="610090" cy="483302"/>
          </a:xfrm>
          <a:prstGeom prst="line">
            <a:avLst/>
          </a:prstGeom>
          <a:noFill/>
          <a:ln w="38100">
            <a:solidFill>
              <a:srgbClr val="AA9ACA"/>
            </a:solidFill>
            <a:prstDash val="sysDot"/>
            <a:headEnd type="none"/>
            <a:tailEnd type="triangle"/>
          </a:ln>
        </p:spPr>
        <p:txBody>
          <a:bodyPr/>
          <a:lstStyle/>
          <a:p>
            <a:endParaRPr lang="es-MX" dirty="0"/>
          </a:p>
        </p:txBody>
      </p:sp>
      <p:grpSp>
        <p:nvGrpSpPr>
          <p:cNvPr id="68" name="Grupo 67">
            <a:extLst>
              <a:ext uri="{FF2B5EF4-FFF2-40B4-BE49-F238E27FC236}">
                <a16:creationId xmlns:a16="http://schemas.microsoft.com/office/drawing/2014/main" id="{9B199CE9-8104-BB3C-8991-F5241737F90F}"/>
              </a:ext>
            </a:extLst>
          </p:cNvPr>
          <p:cNvGrpSpPr/>
          <p:nvPr/>
        </p:nvGrpSpPr>
        <p:grpSpPr>
          <a:xfrm>
            <a:off x="3065596" y="4246873"/>
            <a:ext cx="1918950" cy="1116296"/>
            <a:chOff x="2614046" y="4246873"/>
            <a:chExt cx="1918950" cy="1116296"/>
          </a:xfrm>
        </p:grpSpPr>
        <p:grpSp>
          <p:nvGrpSpPr>
            <p:cNvPr id="46" name="Grupo 45">
              <a:extLst>
                <a:ext uri="{FF2B5EF4-FFF2-40B4-BE49-F238E27FC236}">
                  <a16:creationId xmlns:a16="http://schemas.microsoft.com/office/drawing/2014/main" id="{A3C08A44-8AAF-482A-31CC-2F7C49C1E9F4}"/>
                </a:ext>
              </a:extLst>
            </p:cNvPr>
            <p:cNvGrpSpPr/>
            <p:nvPr/>
          </p:nvGrpSpPr>
          <p:grpSpPr>
            <a:xfrm>
              <a:off x="2614046" y="4246873"/>
              <a:ext cx="1918950" cy="1107636"/>
              <a:chOff x="2541695" y="4361457"/>
              <a:chExt cx="1918950" cy="993837"/>
            </a:xfrm>
          </p:grpSpPr>
          <p:sp>
            <p:nvSpPr>
              <p:cNvPr id="25" name="Shape 22"/>
              <p:cNvSpPr/>
              <p:nvPr/>
            </p:nvSpPr>
            <p:spPr>
              <a:xfrm>
                <a:off x="2541695" y="4361457"/>
                <a:ext cx="1918950" cy="993837"/>
              </a:xfrm>
              <a:prstGeom prst="roundRect">
                <a:avLst>
                  <a:gd name="adj" fmla="val 11650"/>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a:p>
            </p:txBody>
          </p:sp>
          <p:sp>
            <p:nvSpPr>
              <p:cNvPr id="26" name="Text 23"/>
              <p:cNvSpPr txBox="1"/>
              <p:nvPr/>
            </p:nvSpPr>
            <p:spPr>
              <a:xfrm>
                <a:off x="2716567" y="4447287"/>
                <a:ext cx="1611291" cy="384048"/>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OUTCOME</a:t>
                </a:r>
                <a:endParaRPr lang="en-US" sz="1300" dirty="0"/>
              </a:p>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FEEDBACK</a:t>
                </a:r>
                <a:endParaRPr lang="en-US" sz="1300" dirty="0"/>
              </a:p>
            </p:txBody>
          </p:sp>
          <p:sp>
            <p:nvSpPr>
              <p:cNvPr id="27" name="Text 24"/>
              <p:cNvSpPr txBox="1"/>
              <p:nvPr/>
            </p:nvSpPr>
            <p:spPr>
              <a:xfrm>
                <a:off x="2716567" y="4812150"/>
                <a:ext cx="1617689" cy="249514"/>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What actually happened?</a:t>
                </a:r>
                <a:endParaRPr lang="en-US" sz="1000" dirty="0"/>
              </a:p>
            </p:txBody>
          </p:sp>
        </p:grpSp>
        <p:sp>
          <p:nvSpPr>
            <p:cNvPr id="66" name="Shape 10">
              <a:extLst>
                <a:ext uri="{FF2B5EF4-FFF2-40B4-BE49-F238E27FC236}">
                  <a16:creationId xmlns:a16="http://schemas.microsoft.com/office/drawing/2014/main" id="{A448588A-60CC-2EE2-1B34-CE0D49E41CF8}"/>
                </a:ext>
              </a:extLst>
            </p:cNvPr>
            <p:cNvSpPr/>
            <p:nvPr/>
          </p:nvSpPr>
          <p:spPr>
            <a:xfrm>
              <a:off x="3064239" y="5043883"/>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64" name="Text 11">
              <a:extLst>
                <a:ext uri="{FF2B5EF4-FFF2-40B4-BE49-F238E27FC236}">
                  <a16:creationId xmlns:a16="http://schemas.microsoft.com/office/drawing/2014/main" id="{5751764B-0695-0E19-1A01-D36F97FAC282}"/>
                </a:ext>
              </a:extLst>
            </p:cNvPr>
            <p:cNvSpPr txBox="1"/>
            <p:nvPr/>
          </p:nvSpPr>
          <p:spPr>
            <a:xfrm>
              <a:off x="3187347" y="5052273"/>
              <a:ext cx="826032"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EXPANSION</a:t>
              </a:r>
              <a:endParaRPr lang="en-US" sz="740" dirty="0"/>
            </a:p>
          </p:txBody>
        </p:sp>
      </p:grpSp>
      <p:sp>
        <p:nvSpPr>
          <p:cNvPr id="70" name="Shape 28">
            <a:extLst>
              <a:ext uri="{FF2B5EF4-FFF2-40B4-BE49-F238E27FC236}">
                <a16:creationId xmlns:a16="http://schemas.microsoft.com/office/drawing/2014/main" id="{2D1E150D-68E0-7E4F-D719-F3276DB29183}"/>
              </a:ext>
            </a:extLst>
          </p:cNvPr>
          <p:cNvSpPr/>
          <p:nvPr/>
        </p:nvSpPr>
        <p:spPr>
          <a:xfrm flipV="1">
            <a:off x="2221802" y="2078566"/>
            <a:ext cx="610090" cy="492806"/>
          </a:xfrm>
          <a:prstGeom prst="line">
            <a:avLst/>
          </a:prstGeom>
          <a:noFill/>
          <a:ln w="38100">
            <a:solidFill>
              <a:srgbClr val="AA9ACA"/>
            </a:solidFill>
            <a:prstDash val="solid"/>
            <a:headEnd type="none"/>
            <a:tailEnd type="triangle"/>
          </a:ln>
        </p:spPr>
        <p:txBody>
          <a:bodyPr/>
          <a:lstStyle/>
          <a:p>
            <a:endParaRPr lang="es-MX"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COMPOUNDING OPERATING INTELLIGENCE</a:t>
            </a:r>
            <a:endParaRPr lang="en-US" sz="950" dirty="0"/>
          </a:p>
        </p:txBody>
      </p:sp>
      <p:sp>
        <p:nvSpPr>
          <p:cNvPr id="4" name="Text 1"/>
          <p:cNvSpPr txBox="1"/>
          <p:nvPr/>
        </p:nvSpPr>
        <p:spPr>
          <a:xfrm>
            <a:off x="566927" y="658368"/>
            <a:ext cx="10476894" cy="429769"/>
          </a:xfrm>
          <a:prstGeom prst="rect">
            <a:avLst/>
          </a:prstGeom>
          <a:noFill/>
          <a:ln/>
        </p:spPr>
        <p:txBody>
          <a:bodyPr wrap="square" lIns="0" tIns="0" rIns="0" bIns="0" rtlCol="0" anchor="t">
            <a:noAutofit/>
          </a:bodyPr>
          <a:lstStyle/>
          <a:p>
            <a:pPr marL="0" indent="0" algn="l">
              <a:lnSpc>
                <a:spcPct val="100000"/>
              </a:lnSpc>
              <a:buNone/>
            </a:pPr>
            <a:r>
              <a:rPr lang="en-US" sz="2600" b="1" dirty="0">
                <a:solidFill>
                  <a:srgbClr val="18152B"/>
                </a:solidFill>
                <a:latin typeface="Aptos" panose="020B0004020202020204" pitchFamily="34" charset="0"/>
                <a:ea typeface="Inter Display" pitchFamily="34" charset="-122"/>
                <a:cs typeface="Inter Display" pitchFamily="34" charset="-120"/>
              </a:rPr>
              <a:t>The more Gu works with a brokerage, the more useful it can become.</a:t>
            </a:r>
            <a:endParaRPr lang="en-US" sz="2600" dirty="0">
              <a:latin typeface="Aptos" panose="020B0004020202020204" pitchFamily="34" charset="0"/>
            </a:endParaRPr>
          </a:p>
        </p:txBody>
      </p:sp>
      <p:sp>
        <p:nvSpPr>
          <p:cNvPr id="5" name="Text 2"/>
          <p:cNvSpPr txBox="1"/>
          <p:nvPr/>
        </p:nvSpPr>
        <p:spPr>
          <a:xfrm>
            <a:off x="566928" y="1165544"/>
            <a:ext cx="10881360" cy="588512"/>
          </a:xfrm>
          <a:prstGeom prst="rect">
            <a:avLst/>
          </a:prstGeom>
          <a:noFill/>
          <a:ln/>
        </p:spPr>
        <p:txBody>
          <a:bodyPr wrap="square" lIns="0" tIns="0" rIns="0" bIns="0" rtlCol="0" anchor="t">
            <a:noAutofit/>
          </a:bodyPr>
          <a:lstStyle/>
          <a:p>
            <a:pPr marL="0" indent="0" algn="l">
              <a:lnSpc>
                <a:spcPct val="100000"/>
              </a:lnSpc>
              <a:buNone/>
            </a:pPr>
            <a:r>
              <a:rPr lang="en-US" dirty="0">
                <a:solidFill>
                  <a:srgbClr val="6F6882"/>
                </a:solidFill>
                <a:latin typeface="Inter" pitchFamily="34" charset="0"/>
                <a:ea typeface="Inter" pitchFamily="34" charset="-122"/>
                <a:cs typeface="Inter" pitchFamily="34" charset="-120"/>
              </a:rPr>
              <a:t>Value compounds when raw interactions become operating intelligence: business context, reusable patterns, outcome evidence and ecosystem reach.</a:t>
            </a:r>
          </a:p>
        </p:txBody>
      </p:sp>
      <p:grpSp>
        <p:nvGrpSpPr>
          <p:cNvPr id="38" name="Grupo 37">
            <a:extLst>
              <a:ext uri="{FF2B5EF4-FFF2-40B4-BE49-F238E27FC236}">
                <a16:creationId xmlns:a16="http://schemas.microsoft.com/office/drawing/2014/main" id="{C39BA2DC-BB02-A74D-6DC6-0CDBB75F8E4E}"/>
              </a:ext>
            </a:extLst>
          </p:cNvPr>
          <p:cNvGrpSpPr/>
          <p:nvPr/>
        </p:nvGrpSpPr>
        <p:grpSpPr>
          <a:xfrm>
            <a:off x="5208657" y="2779776"/>
            <a:ext cx="1810512" cy="1581910"/>
            <a:chOff x="5149023" y="2779776"/>
            <a:chExt cx="1810512" cy="1581910"/>
          </a:xfrm>
        </p:grpSpPr>
        <p:sp>
          <p:nvSpPr>
            <p:cNvPr id="6" name="Shape 3"/>
            <p:cNvSpPr/>
            <p:nvPr/>
          </p:nvSpPr>
          <p:spPr>
            <a:xfrm>
              <a:off x="5257800" y="2779776"/>
              <a:ext cx="1636704" cy="1581910"/>
            </a:xfrm>
            <a:prstGeom prst="ellipse">
              <a:avLst/>
            </a:prstGeom>
            <a:solidFill>
              <a:srgbClr val="1F1739"/>
            </a:solidFill>
            <a:ln w="12700">
              <a:solidFill>
                <a:srgbClr val="5B2DB6"/>
              </a:solidFill>
              <a:prstDash val="solid"/>
            </a:ln>
          </p:spPr>
          <p:txBody>
            <a:bodyPr/>
            <a:lstStyle/>
            <a:p>
              <a:endParaRPr lang="es-MX" sz="1200"/>
            </a:p>
          </p:txBody>
        </p:sp>
        <p:sp>
          <p:nvSpPr>
            <p:cNvPr id="7" name="Text 4"/>
            <p:cNvSpPr txBox="1"/>
            <p:nvPr/>
          </p:nvSpPr>
          <p:spPr>
            <a:xfrm>
              <a:off x="5231319" y="3064619"/>
              <a:ext cx="1627632" cy="411480"/>
            </a:xfrm>
            <a:prstGeom prst="rect">
              <a:avLst/>
            </a:prstGeom>
            <a:noFill/>
            <a:ln/>
          </p:spPr>
          <p:txBody>
            <a:bodyPr wrap="square" lIns="0" tIns="0" rIns="0" bIns="0" rtlCol="0" anchor="ctr">
              <a:normAutofit/>
            </a:bodyPr>
            <a:lstStyle/>
            <a:p>
              <a:pPr marL="0" indent="0" algn="ctr">
                <a:lnSpc>
                  <a:spcPct val="100000"/>
                </a:lnSpc>
                <a:buNone/>
              </a:pPr>
              <a:r>
                <a:rPr lang="en-US" sz="2000" b="1" dirty="0">
                  <a:solidFill>
                    <a:srgbClr val="FFFFFF"/>
                  </a:solidFill>
                  <a:latin typeface="Inter Display" pitchFamily="34" charset="0"/>
                  <a:ea typeface="Inter Display" pitchFamily="34" charset="-122"/>
                  <a:cs typeface="Inter Display" pitchFamily="34" charset="-120"/>
                </a:rPr>
                <a:t>Gu OS</a:t>
              </a:r>
              <a:endParaRPr lang="en-US" sz="2000" dirty="0"/>
            </a:p>
          </p:txBody>
        </p:sp>
        <p:sp>
          <p:nvSpPr>
            <p:cNvPr id="8" name="Text 5"/>
            <p:cNvSpPr txBox="1"/>
            <p:nvPr/>
          </p:nvSpPr>
          <p:spPr>
            <a:xfrm>
              <a:off x="5149023" y="3389455"/>
              <a:ext cx="1810512" cy="640080"/>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D9D0EC"/>
                  </a:solidFill>
                  <a:latin typeface="Inter" pitchFamily="34" charset="0"/>
                  <a:ea typeface="Inter" pitchFamily="34" charset="-122"/>
                  <a:cs typeface="Inter" pitchFamily="34" charset="-120"/>
                </a:rPr>
                <a:t>Operating</a:t>
              </a:r>
              <a:endParaRPr lang="en-US" sz="1400" dirty="0"/>
            </a:p>
            <a:p>
              <a:pPr marL="0" indent="0" algn="ctr">
                <a:lnSpc>
                  <a:spcPct val="100000"/>
                </a:lnSpc>
                <a:buNone/>
              </a:pPr>
              <a:r>
                <a:rPr lang="en-US" sz="1400" b="1" dirty="0">
                  <a:solidFill>
                    <a:srgbClr val="D9D0EC"/>
                  </a:solidFill>
                  <a:latin typeface="Inter" pitchFamily="34" charset="0"/>
                  <a:ea typeface="Inter" pitchFamily="34" charset="-122"/>
                  <a:cs typeface="Inter" pitchFamily="34" charset="-120"/>
                </a:rPr>
                <a:t>Intelligence</a:t>
              </a:r>
              <a:endParaRPr lang="en-US" sz="1400" dirty="0"/>
            </a:p>
          </p:txBody>
        </p:sp>
      </p:grpSp>
      <p:sp>
        <p:nvSpPr>
          <p:cNvPr id="9" name="Shape 6"/>
          <p:cNvSpPr/>
          <p:nvPr/>
        </p:nvSpPr>
        <p:spPr>
          <a:xfrm>
            <a:off x="667512" y="1874520"/>
            <a:ext cx="3154680" cy="932688"/>
          </a:xfrm>
          <a:prstGeom prst="roundRect">
            <a:avLst>
              <a:gd name="adj" fmla="val 11765"/>
            </a:avLst>
          </a:prstGeom>
          <a:solidFill>
            <a:srgbClr val="FFFFFF"/>
          </a:solidFill>
          <a:ln w="12700">
            <a:solidFill>
              <a:srgbClr val="E5DEEE"/>
            </a:solidFill>
            <a:prstDash val="solid"/>
          </a:ln>
          <a:effectLst>
            <a:outerShdw blurRad="19050" dist="50800" dir="2700000" algn="bl" rotWithShape="0">
              <a:srgbClr val="C6BCD8">
                <a:alpha val="16000"/>
              </a:srgbClr>
            </a:outerShdw>
          </a:effectLst>
        </p:spPr>
        <p:txBody>
          <a:bodyPr/>
          <a:lstStyle/>
          <a:p>
            <a:endParaRPr lang="es-MX" sz="1200"/>
          </a:p>
        </p:txBody>
      </p:sp>
      <p:sp>
        <p:nvSpPr>
          <p:cNvPr id="10" name="Shape 7"/>
          <p:cNvSpPr/>
          <p:nvPr/>
        </p:nvSpPr>
        <p:spPr>
          <a:xfrm>
            <a:off x="667512" y="1874520"/>
            <a:ext cx="64008" cy="932688"/>
          </a:xfrm>
          <a:prstGeom prst="rect">
            <a:avLst/>
          </a:prstGeom>
          <a:solidFill>
            <a:srgbClr val="5B2DB6"/>
          </a:solidFill>
          <a:ln w="12700">
            <a:solidFill>
              <a:srgbClr val="FFFFFF">
                <a:alpha val="0"/>
              </a:srgbClr>
            </a:solidFill>
            <a:prstDash val="solid"/>
          </a:ln>
        </p:spPr>
        <p:txBody>
          <a:bodyPr/>
          <a:lstStyle/>
          <a:p>
            <a:endParaRPr lang="es-MX" sz="1200"/>
          </a:p>
        </p:txBody>
      </p:sp>
      <p:sp>
        <p:nvSpPr>
          <p:cNvPr id="11" name="Text 8"/>
          <p:cNvSpPr txBox="1"/>
          <p:nvPr/>
        </p:nvSpPr>
        <p:spPr>
          <a:xfrm>
            <a:off x="868680" y="2002536"/>
            <a:ext cx="2807208" cy="210312"/>
          </a:xfrm>
          <a:prstGeom prst="rect">
            <a:avLst/>
          </a:prstGeom>
          <a:noFill/>
          <a:ln/>
        </p:spPr>
        <p:txBody>
          <a:bodyPr wrap="square" lIns="0" tIns="0" rIns="0" bIns="0" rtlCol="0" anchor="ctr">
            <a:normAutofit/>
          </a:bodyPr>
          <a:lstStyle/>
          <a:p>
            <a:pPr marL="0" indent="0" algn="l">
              <a:lnSpc>
                <a:spcPct val="100000"/>
              </a:lnSpc>
              <a:buNone/>
            </a:pPr>
            <a:r>
              <a:rPr lang="en-US" sz="1200" b="1" kern="0" spc="60" dirty="0">
                <a:solidFill>
                  <a:srgbClr val="5B2DB6"/>
                </a:solidFill>
                <a:latin typeface="Inter" pitchFamily="34" charset="0"/>
                <a:ea typeface="Inter" pitchFamily="34" charset="-122"/>
                <a:cs typeface="Inter" pitchFamily="34" charset="-120"/>
              </a:rPr>
              <a:t>BUSINESS CONTEXT</a:t>
            </a:r>
            <a:endParaRPr lang="en-US" sz="1200" dirty="0"/>
          </a:p>
        </p:txBody>
      </p:sp>
      <p:sp>
        <p:nvSpPr>
          <p:cNvPr id="12" name="Text 9"/>
          <p:cNvSpPr txBox="1"/>
          <p:nvPr/>
        </p:nvSpPr>
        <p:spPr>
          <a:xfrm>
            <a:off x="868680" y="2267712"/>
            <a:ext cx="2807208" cy="448056"/>
          </a:xfrm>
          <a:prstGeom prst="rect">
            <a:avLst/>
          </a:prstGeom>
          <a:noFill/>
          <a:ln/>
        </p:spPr>
        <p:txBody>
          <a:bodyPr wrap="square" lIns="0" tIns="0" rIns="0" bIns="0" rtlCol="0" anchor="t">
            <a:normAutofit/>
          </a:bodyPr>
          <a:lstStyle/>
          <a:p>
            <a:r>
              <a:rPr lang="en-US" sz="1200" dirty="0">
                <a:solidFill>
                  <a:srgbClr val="18152B"/>
                </a:solidFill>
                <a:latin typeface="Inter" pitchFamily="34" charset="0"/>
                <a:ea typeface="Inter" pitchFamily="34" charset="-122"/>
                <a:cs typeface="Inter" pitchFamily="34" charset="-120"/>
              </a:rPr>
              <a:t>Customers · properties · relationships · decisions · history</a:t>
            </a:r>
            <a:endParaRPr lang="en-US" sz="1200" dirty="0"/>
          </a:p>
        </p:txBody>
      </p:sp>
      <p:sp>
        <p:nvSpPr>
          <p:cNvPr id="13" name="Shape 10"/>
          <p:cNvSpPr/>
          <p:nvPr/>
        </p:nvSpPr>
        <p:spPr>
          <a:xfrm>
            <a:off x="667512" y="3200400"/>
            <a:ext cx="3154680" cy="932688"/>
          </a:xfrm>
          <a:prstGeom prst="roundRect">
            <a:avLst>
              <a:gd name="adj" fmla="val 11765"/>
            </a:avLst>
          </a:prstGeom>
          <a:solidFill>
            <a:srgbClr val="FFFFFF"/>
          </a:solidFill>
          <a:ln w="12700">
            <a:solidFill>
              <a:srgbClr val="E5DEEE"/>
            </a:solidFill>
            <a:prstDash val="solid"/>
          </a:ln>
          <a:effectLst>
            <a:outerShdw blurRad="19050" dist="50800" dir="2700000" algn="bl" rotWithShape="0">
              <a:srgbClr val="C6BCD8">
                <a:alpha val="16000"/>
              </a:srgbClr>
            </a:outerShdw>
          </a:effectLst>
        </p:spPr>
        <p:txBody>
          <a:bodyPr/>
          <a:lstStyle/>
          <a:p>
            <a:endParaRPr lang="es-MX" sz="1200"/>
          </a:p>
        </p:txBody>
      </p:sp>
      <p:sp>
        <p:nvSpPr>
          <p:cNvPr id="14" name="Shape 11"/>
          <p:cNvSpPr/>
          <p:nvPr/>
        </p:nvSpPr>
        <p:spPr>
          <a:xfrm>
            <a:off x="667512" y="3200400"/>
            <a:ext cx="64008" cy="932688"/>
          </a:xfrm>
          <a:prstGeom prst="rect">
            <a:avLst/>
          </a:prstGeom>
          <a:solidFill>
            <a:srgbClr val="5F658E"/>
          </a:solidFill>
          <a:ln w="12700">
            <a:solidFill>
              <a:srgbClr val="FFFFFF">
                <a:alpha val="0"/>
              </a:srgbClr>
            </a:solidFill>
            <a:prstDash val="solid"/>
          </a:ln>
        </p:spPr>
        <p:txBody>
          <a:bodyPr/>
          <a:lstStyle/>
          <a:p>
            <a:endParaRPr lang="es-MX" sz="1200"/>
          </a:p>
        </p:txBody>
      </p:sp>
      <p:sp>
        <p:nvSpPr>
          <p:cNvPr id="15" name="Text 12"/>
          <p:cNvSpPr txBox="1"/>
          <p:nvPr/>
        </p:nvSpPr>
        <p:spPr>
          <a:xfrm>
            <a:off x="868680" y="3328416"/>
            <a:ext cx="2807208" cy="210312"/>
          </a:xfrm>
          <a:prstGeom prst="rect">
            <a:avLst/>
          </a:prstGeom>
          <a:noFill/>
          <a:ln/>
        </p:spPr>
        <p:txBody>
          <a:bodyPr wrap="square" lIns="0" tIns="0" rIns="0" bIns="0" rtlCol="0" anchor="ctr">
            <a:normAutofit/>
          </a:bodyPr>
          <a:lstStyle/>
          <a:p>
            <a:pPr marL="0" indent="0" algn="l">
              <a:lnSpc>
                <a:spcPct val="100000"/>
              </a:lnSpc>
              <a:buNone/>
            </a:pPr>
            <a:r>
              <a:rPr lang="en-US" sz="1200" b="1" kern="0" spc="60" dirty="0">
                <a:solidFill>
                  <a:srgbClr val="5F658E"/>
                </a:solidFill>
                <a:latin typeface="Inter" pitchFamily="34" charset="0"/>
                <a:ea typeface="Inter" pitchFamily="34" charset="-122"/>
                <a:cs typeface="Inter" pitchFamily="34" charset="-120"/>
              </a:rPr>
              <a:t>OPERATING PATTERNS</a:t>
            </a:r>
            <a:endParaRPr lang="en-US" sz="1200" dirty="0"/>
          </a:p>
        </p:txBody>
      </p:sp>
      <p:sp>
        <p:nvSpPr>
          <p:cNvPr id="16" name="Text 13"/>
          <p:cNvSpPr txBox="1"/>
          <p:nvPr/>
        </p:nvSpPr>
        <p:spPr>
          <a:xfrm>
            <a:off x="868680" y="3593592"/>
            <a:ext cx="2807208" cy="448056"/>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Skills · workflows · policies · reusable patterns</a:t>
            </a:r>
            <a:endParaRPr lang="en-US" sz="1200" dirty="0"/>
          </a:p>
        </p:txBody>
      </p:sp>
      <p:sp>
        <p:nvSpPr>
          <p:cNvPr id="17" name="Shape 14"/>
          <p:cNvSpPr/>
          <p:nvPr/>
        </p:nvSpPr>
        <p:spPr>
          <a:xfrm>
            <a:off x="667512" y="4526280"/>
            <a:ext cx="3154680" cy="932688"/>
          </a:xfrm>
          <a:prstGeom prst="roundRect">
            <a:avLst>
              <a:gd name="adj" fmla="val 11765"/>
            </a:avLst>
          </a:prstGeom>
          <a:solidFill>
            <a:srgbClr val="FFFFFF"/>
          </a:solidFill>
          <a:ln w="12700">
            <a:solidFill>
              <a:srgbClr val="E5DEEE"/>
            </a:solidFill>
            <a:prstDash val="solid"/>
          </a:ln>
          <a:effectLst>
            <a:outerShdw blurRad="19050" dist="50800" dir="2700000" algn="bl" rotWithShape="0">
              <a:srgbClr val="C6BCD8">
                <a:alpha val="16000"/>
              </a:srgbClr>
            </a:outerShdw>
          </a:effectLst>
        </p:spPr>
        <p:txBody>
          <a:bodyPr/>
          <a:lstStyle/>
          <a:p>
            <a:endParaRPr lang="es-MX" sz="1200"/>
          </a:p>
        </p:txBody>
      </p:sp>
      <p:sp>
        <p:nvSpPr>
          <p:cNvPr id="18" name="Shape 15"/>
          <p:cNvSpPr/>
          <p:nvPr/>
        </p:nvSpPr>
        <p:spPr>
          <a:xfrm>
            <a:off x="667512" y="4526280"/>
            <a:ext cx="64008" cy="932688"/>
          </a:xfrm>
          <a:prstGeom prst="rect">
            <a:avLst/>
          </a:prstGeom>
          <a:solidFill>
            <a:srgbClr val="18845A"/>
          </a:solidFill>
          <a:ln w="12700">
            <a:solidFill>
              <a:srgbClr val="FFFFFF">
                <a:alpha val="0"/>
              </a:srgbClr>
            </a:solidFill>
            <a:prstDash val="solid"/>
          </a:ln>
        </p:spPr>
        <p:txBody>
          <a:bodyPr/>
          <a:lstStyle/>
          <a:p>
            <a:endParaRPr lang="es-MX" sz="1200"/>
          </a:p>
        </p:txBody>
      </p:sp>
      <p:sp>
        <p:nvSpPr>
          <p:cNvPr id="19" name="Text 16"/>
          <p:cNvSpPr txBox="1"/>
          <p:nvPr/>
        </p:nvSpPr>
        <p:spPr>
          <a:xfrm>
            <a:off x="868680" y="4654296"/>
            <a:ext cx="2807208" cy="210312"/>
          </a:xfrm>
          <a:prstGeom prst="rect">
            <a:avLst/>
          </a:prstGeom>
          <a:noFill/>
          <a:ln/>
        </p:spPr>
        <p:txBody>
          <a:bodyPr wrap="square" lIns="0" tIns="0" rIns="0" bIns="0" rtlCol="0" anchor="ctr">
            <a:normAutofit/>
          </a:bodyPr>
          <a:lstStyle/>
          <a:p>
            <a:pPr marL="0" indent="0" algn="l">
              <a:lnSpc>
                <a:spcPct val="100000"/>
              </a:lnSpc>
              <a:buNone/>
            </a:pPr>
            <a:r>
              <a:rPr lang="en-US" sz="1200" b="1" kern="0" spc="60" dirty="0">
                <a:solidFill>
                  <a:srgbClr val="18845A"/>
                </a:solidFill>
                <a:latin typeface="Inter" pitchFamily="34" charset="0"/>
                <a:ea typeface="Inter" pitchFamily="34" charset="-122"/>
                <a:cs typeface="Inter" pitchFamily="34" charset="-120"/>
              </a:rPr>
              <a:t>OUTCOME EVIDENCE</a:t>
            </a:r>
            <a:endParaRPr lang="en-US" sz="1200" dirty="0"/>
          </a:p>
        </p:txBody>
      </p:sp>
      <p:sp>
        <p:nvSpPr>
          <p:cNvPr id="20" name="Text 17"/>
          <p:cNvSpPr txBox="1"/>
          <p:nvPr/>
        </p:nvSpPr>
        <p:spPr>
          <a:xfrm>
            <a:off x="868680" y="4919472"/>
            <a:ext cx="2807208" cy="448056"/>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What Gu did → what actually happened</a:t>
            </a:r>
            <a:endParaRPr lang="en-US" sz="1200" dirty="0"/>
          </a:p>
        </p:txBody>
      </p:sp>
      <p:sp>
        <p:nvSpPr>
          <p:cNvPr id="21" name="Shape 18"/>
          <p:cNvSpPr/>
          <p:nvPr/>
        </p:nvSpPr>
        <p:spPr>
          <a:xfrm>
            <a:off x="8321040" y="2331720"/>
            <a:ext cx="3127248" cy="1097280"/>
          </a:xfrm>
          <a:prstGeom prst="roundRect">
            <a:avLst>
              <a:gd name="adj" fmla="val 10000"/>
            </a:avLst>
          </a:prstGeom>
          <a:solidFill>
            <a:srgbClr val="FFFFFF"/>
          </a:solidFill>
          <a:ln w="12700">
            <a:solidFill>
              <a:srgbClr val="E5DEEE"/>
            </a:solidFill>
            <a:prstDash val="solid"/>
          </a:ln>
          <a:effectLst>
            <a:outerShdw blurRad="19050" dist="50800" dir="2700000" algn="bl" rotWithShape="0">
              <a:srgbClr val="C6BCD8">
                <a:alpha val="16000"/>
              </a:srgbClr>
            </a:outerShdw>
          </a:effectLst>
        </p:spPr>
        <p:txBody>
          <a:bodyPr/>
          <a:lstStyle/>
          <a:p>
            <a:endParaRPr lang="es-MX" sz="1200"/>
          </a:p>
        </p:txBody>
      </p:sp>
      <p:sp>
        <p:nvSpPr>
          <p:cNvPr id="22" name="Shape 19"/>
          <p:cNvSpPr/>
          <p:nvPr/>
        </p:nvSpPr>
        <p:spPr>
          <a:xfrm>
            <a:off x="8321040" y="2331720"/>
            <a:ext cx="64008" cy="1097280"/>
          </a:xfrm>
          <a:prstGeom prst="rect">
            <a:avLst/>
          </a:prstGeom>
          <a:solidFill>
            <a:srgbClr val="9A4D78"/>
          </a:solidFill>
          <a:ln w="12700">
            <a:solidFill>
              <a:srgbClr val="FFFFFF">
                <a:alpha val="0"/>
              </a:srgbClr>
            </a:solidFill>
            <a:prstDash val="solid"/>
          </a:ln>
        </p:spPr>
        <p:txBody>
          <a:bodyPr/>
          <a:lstStyle/>
          <a:p>
            <a:endParaRPr lang="es-MX" sz="1200"/>
          </a:p>
        </p:txBody>
      </p:sp>
      <p:sp>
        <p:nvSpPr>
          <p:cNvPr id="23" name="Text 20"/>
          <p:cNvSpPr txBox="1"/>
          <p:nvPr/>
        </p:nvSpPr>
        <p:spPr>
          <a:xfrm>
            <a:off x="8522208" y="2459736"/>
            <a:ext cx="2779776" cy="210312"/>
          </a:xfrm>
          <a:prstGeom prst="rect">
            <a:avLst/>
          </a:prstGeom>
          <a:noFill/>
          <a:ln/>
        </p:spPr>
        <p:txBody>
          <a:bodyPr wrap="square" lIns="0" tIns="0" rIns="0" bIns="0" rtlCol="0" anchor="ctr">
            <a:normAutofit/>
          </a:bodyPr>
          <a:lstStyle/>
          <a:p>
            <a:pPr marL="0" indent="0" algn="l">
              <a:lnSpc>
                <a:spcPct val="100000"/>
              </a:lnSpc>
              <a:buNone/>
            </a:pPr>
            <a:r>
              <a:rPr lang="en-US" sz="1200" b="1" kern="0" spc="60" dirty="0">
                <a:solidFill>
                  <a:srgbClr val="9A4D78"/>
                </a:solidFill>
                <a:latin typeface="Inter" pitchFamily="34" charset="0"/>
                <a:ea typeface="Inter" pitchFamily="34" charset="-122"/>
                <a:cs typeface="Inter" pitchFamily="34" charset="-120"/>
              </a:rPr>
              <a:t>NETWORK &amp; ECOSYSTEM</a:t>
            </a:r>
            <a:endParaRPr lang="en-US" sz="1200" dirty="0"/>
          </a:p>
        </p:txBody>
      </p:sp>
      <p:sp>
        <p:nvSpPr>
          <p:cNvPr id="24" name="Text 21"/>
          <p:cNvSpPr txBox="1"/>
          <p:nvPr/>
        </p:nvSpPr>
        <p:spPr>
          <a:xfrm>
            <a:off x="8522208" y="2724912"/>
            <a:ext cx="2779776" cy="612648"/>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Shared inventory · cross-brokerage opportunities · integrated services</a:t>
            </a:r>
            <a:endParaRPr lang="en-US" sz="1200" dirty="0"/>
          </a:p>
        </p:txBody>
      </p:sp>
      <p:sp>
        <p:nvSpPr>
          <p:cNvPr id="25" name="Shape 22"/>
          <p:cNvSpPr/>
          <p:nvPr/>
        </p:nvSpPr>
        <p:spPr>
          <a:xfrm>
            <a:off x="8321040" y="3822192"/>
            <a:ext cx="3127248" cy="1097280"/>
          </a:xfrm>
          <a:prstGeom prst="roundRect">
            <a:avLst>
              <a:gd name="adj" fmla="val 10000"/>
            </a:avLst>
          </a:prstGeom>
          <a:solidFill>
            <a:srgbClr val="FFFFFF"/>
          </a:solidFill>
          <a:ln w="12700">
            <a:solidFill>
              <a:srgbClr val="E5DEEE"/>
            </a:solidFill>
            <a:prstDash val="solid"/>
          </a:ln>
          <a:effectLst>
            <a:outerShdw blurRad="19050" dist="50800" dir="2700000" algn="bl" rotWithShape="0">
              <a:srgbClr val="C6BCD8">
                <a:alpha val="16000"/>
              </a:srgbClr>
            </a:outerShdw>
          </a:effectLst>
        </p:spPr>
        <p:txBody>
          <a:bodyPr/>
          <a:lstStyle/>
          <a:p>
            <a:endParaRPr lang="es-MX" sz="1200"/>
          </a:p>
        </p:txBody>
      </p:sp>
      <p:sp>
        <p:nvSpPr>
          <p:cNvPr id="26" name="Shape 23"/>
          <p:cNvSpPr/>
          <p:nvPr/>
        </p:nvSpPr>
        <p:spPr>
          <a:xfrm>
            <a:off x="8321040" y="3822192"/>
            <a:ext cx="64008" cy="1097280"/>
          </a:xfrm>
          <a:prstGeom prst="rect">
            <a:avLst/>
          </a:prstGeom>
          <a:solidFill>
            <a:srgbClr val="F0A44A"/>
          </a:solidFill>
          <a:ln w="12700">
            <a:solidFill>
              <a:srgbClr val="FFFFFF">
                <a:alpha val="0"/>
              </a:srgbClr>
            </a:solidFill>
            <a:prstDash val="solid"/>
          </a:ln>
        </p:spPr>
        <p:txBody>
          <a:bodyPr/>
          <a:lstStyle/>
          <a:p>
            <a:endParaRPr lang="es-MX" sz="1200"/>
          </a:p>
        </p:txBody>
      </p:sp>
      <p:sp>
        <p:nvSpPr>
          <p:cNvPr id="27" name="Text 24"/>
          <p:cNvSpPr txBox="1"/>
          <p:nvPr/>
        </p:nvSpPr>
        <p:spPr>
          <a:xfrm>
            <a:off x="8522208" y="3950208"/>
            <a:ext cx="2779776" cy="210312"/>
          </a:xfrm>
          <a:prstGeom prst="rect">
            <a:avLst/>
          </a:prstGeom>
          <a:noFill/>
          <a:ln/>
        </p:spPr>
        <p:txBody>
          <a:bodyPr wrap="square" lIns="0" tIns="0" rIns="0" bIns="0" rtlCol="0" anchor="ctr">
            <a:normAutofit/>
          </a:bodyPr>
          <a:lstStyle/>
          <a:p>
            <a:pPr marL="0" indent="0" algn="l">
              <a:lnSpc>
                <a:spcPct val="100000"/>
              </a:lnSpc>
              <a:buNone/>
            </a:pPr>
            <a:r>
              <a:rPr lang="en-US" sz="1200" b="1" kern="0" spc="60" dirty="0">
                <a:solidFill>
                  <a:srgbClr val="F0A44A"/>
                </a:solidFill>
                <a:latin typeface="Inter" pitchFamily="34" charset="0"/>
                <a:ea typeface="Inter" pitchFamily="34" charset="-122"/>
                <a:cs typeface="Inter" pitchFamily="34" charset="-120"/>
              </a:rPr>
              <a:t>TRUST &amp; DELEGATION</a:t>
            </a:r>
            <a:endParaRPr lang="en-US" sz="1200" dirty="0"/>
          </a:p>
        </p:txBody>
      </p:sp>
      <p:sp>
        <p:nvSpPr>
          <p:cNvPr id="28" name="Text 25"/>
          <p:cNvSpPr txBox="1"/>
          <p:nvPr/>
        </p:nvSpPr>
        <p:spPr>
          <a:xfrm>
            <a:off x="8522208" y="4215384"/>
            <a:ext cx="2779776" cy="612648"/>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8152B"/>
                </a:solidFill>
                <a:latin typeface="Inter" pitchFamily="34" charset="0"/>
                <a:ea typeface="Inter" pitchFamily="34" charset="-122"/>
                <a:cs typeface="Inter" pitchFamily="34" charset="-120"/>
              </a:rPr>
              <a:t>Reliable work earns permission to participate in more work</a:t>
            </a:r>
            <a:endParaRPr lang="en-US" sz="1200" dirty="0"/>
          </a:p>
        </p:txBody>
      </p:sp>
      <p:sp>
        <p:nvSpPr>
          <p:cNvPr id="29" name="Shape 26"/>
          <p:cNvSpPr/>
          <p:nvPr/>
        </p:nvSpPr>
        <p:spPr>
          <a:xfrm>
            <a:off x="3822191" y="2340863"/>
            <a:ext cx="1155567" cy="611057"/>
          </a:xfrm>
          <a:prstGeom prst="line">
            <a:avLst/>
          </a:prstGeom>
          <a:noFill/>
          <a:ln w="38100">
            <a:solidFill>
              <a:srgbClr val="C3B4DB">
                <a:alpha val="90000"/>
              </a:srgbClr>
            </a:solidFill>
            <a:prstDash val="solid"/>
            <a:headEnd type="none"/>
            <a:tailEnd type="triangle"/>
          </a:ln>
        </p:spPr>
        <p:txBody>
          <a:bodyPr/>
          <a:lstStyle/>
          <a:p>
            <a:endParaRPr lang="es-MX" sz="1200"/>
          </a:p>
        </p:txBody>
      </p:sp>
      <p:sp>
        <p:nvSpPr>
          <p:cNvPr id="30" name="Shape 27"/>
          <p:cNvSpPr/>
          <p:nvPr/>
        </p:nvSpPr>
        <p:spPr>
          <a:xfrm>
            <a:off x="3822192" y="3666744"/>
            <a:ext cx="1155566" cy="0"/>
          </a:xfrm>
          <a:prstGeom prst="line">
            <a:avLst/>
          </a:prstGeom>
          <a:noFill/>
          <a:ln w="38100">
            <a:solidFill>
              <a:srgbClr val="C3B4DB">
                <a:alpha val="90000"/>
              </a:srgbClr>
            </a:solidFill>
            <a:prstDash val="solid"/>
            <a:headEnd type="none"/>
            <a:tailEnd type="triangle"/>
          </a:ln>
        </p:spPr>
        <p:txBody>
          <a:bodyPr/>
          <a:lstStyle/>
          <a:p>
            <a:endParaRPr lang="es-MX" sz="1200"/>
          </a:p>
        </p:txBody>
      </p:sp>
      <p:sp>
        <p:nvSpPr>
          <p:cNvPr id="31" name="Shape 28"/>
          <p:cNvSpPr/>
          <p:nvPr/>
        </p:nvSpPr>
        <p:spPr>
          <a:xfrm flipV="1">
            <a:off x="3822192" y="4370832"/>
            <a:ext cx="1155566" cy="621792"/>
          </a:xfrm>
          <a:prstGeom prst="line">
            <a:avLst/>
          </a:prstGeom>
          <a:noFill/>
          <a:ln w="38100">
            <a:solidFill>
              <a:srgbClr val="C3B4DB">
                <a:alpha val="90000"/>
              </a:srgbClr>
            </a:solidFill>
            <a:prstDash val="solid"/>
            <a:headEnd type="none"/>
            <a:tailEnd type="triangle"/>
          </a:ln>
        </p:spPr>
        <p:txBody>
          <a:bodyPr/>
          <a:lstStyle/>
          <a:p>
            <a:endParaRPr lang="es-MX" sz="1200"/>
          </a:p>
        </p:txBody>
      </p:sp>
      <p:sp>
        <p:nvSpPr>
          <p:cNvPr id="32" name="Shape 29"/>
          <p:cNvSpPr/>
          <p:nvPr/>
        </p:nvSpPr>
        <p:spPr>
          <a:xfrm flipH="1">
            <a:off x="7214244" y="2880360"/>
            <a:ext cx="1106796" cy="310896"/>
          </a:xfrm>
          <a:prstGeom prst="line">
            <a:avLst/>
          </a:prstGeom>
          <a:noFill/>
          <a:ln w="38100">
            <a:solidFill>
              <a:srgbClr val="C3B4DB">
                <a:alpha val="90000"/>
              </a:srgbClr>
            </a:solidFill>
            <a:prstDash val="solid"/>
            <a:headEnd type="none"/>
            <a:tailEnd type="triangle"/>
          </a:ln>
        </p:spPr>
        <p:txBody>
          <a:bodyPr/>
          <a:lstStyle/>
          <a:p>
            <a:endParaRPr lang="es-MX" sz="1200"/>
          </a:p>
        </p:txBody>
      </p:sp>
      <p:sp>
        <p:nvSpPr>
          <p:cNvPr id="33" name="Shape 30"/>
          <p:cNvSpPr/>
          <p:nvPr/>
        </p:nvSpPr>
        <p:spPr>
          <a:xfrm>
            <a:off x="7214244" y="3977639"/>
            <a:ext cx="1106795" cy="393193"/>
          </a:xfrm>
          <a:prstGeom prst="line">
            <a:avLst/>
          </a:prstGeom>
          <a:noFill/>
          <a:ln w="38100">
            <a:solidFill>
              <a:srgbClr val="C3B4DB">
                <a:alpha val="90000"/>
              </a:srgbClr>
            </a:solidFill>
            <a:prstDash val="solid"/>
            <a:headEnd type="none"/>
            <a:tailEnd type="triangle"/>
          </a:ln>
        </p:spPr>
        <p:txBody>
          <a:bodyPr/>
          <a:lstStyle/>
          <a:p>
            <a:endParaRPr lang="es-MX" sz="1200"/>
          </a:p>
        </p:txBody>
      </p:sp>
      <p:sp>
        <p:nvSpPr>
          <p:cNvPr id="34" name="Shape 31"/>
          <p:cNvSpPr/>
          <p:nvPr/>
        </p:nvSpPr>
        <p:spPr>
          <a:xfrm>
            <a:off x="1353312" y="5788152"/>
            <a:ext cx="9518904" cy="310896"/>
          </a:xfrm>
          <a:prstGeom prst="roundRect">
            <a:avLst>
              <a:gd name="adj" fmla="val 23529"/>
            </a:avLst>
          </a:prstGeom>
          <a:solidFill>
            <a:srgbClr val="F0EAFF"/>
          </a:solidFill>
          <a:ln w="12700">
            <a:solidFill>
              <a:srgbClr val="F0EAFF">
                <a:alpha val="0"/>
              </a:srgbClr>
            </a:solidFill>
            <a:prstDash val="solid"/>
          </a:ln>
        </p:spPr>
        <p:txBody>
          <a:bodyPr/>
          <a:lstStyle/>
          <a:p>
            <a:endParaRPr lang="es-MX"/>
          </a:p>
        </p:txBody>
      </p:sp>
      <p:sp>
        <p:nvSpPr>
          <p:cNvPr id="35" name="Text 32"/>
          <p:cNvSpPr txBox="1"/>
          <p:nvPr/>
        </p:nvSpPr>
        <p:spPr>
          <a:xfrm>
            <a:off x="1353312" y="5792724"/>
            <a:ext cx="9518904" cy="310896"/>
          </a:xfrm>
          <a:prstGeom prst="rect">
            <a:avLst/>
          </a:prstGeom>
          <a:noFill/>
          <a:ln/>
        </p:spPr>
        <p:txBody>
          <a:bodyPr wrap="square" lIns="0" tIns="0" rIns="0" bIns="0" rtlCol="0" anchor="ctr">
            <a:normAutofit/>
          </a:bodyPr>
          <a:lstStyle/>
          <a:p>
            <a:pPr algn="ctr"/>
            <a:r>
              <a:rPr lang="en-US" sz="1200" b="1" dirty="0">
                <a:solidFill>
                  <a:srgbClr val="5B2DB6"/>
                </a:solidFill>
                <a:latin typeface="Inter" pitchFamily="34" charset="0"/>
                <a:ea typeface="Inter" pitchFamily="34" charset="-122"/>
                <a:cs typeface="Inter" pitchFamily="34" charset="-120"/>
              </a:rPr>
              <a:t>More work delegated </a:t>
            </a:r>
            <a:r>
              <a:rPr lang="es-MX" sz="1200" b="1" dirty="0">
                <a:solidFill>
                  <a:srgbClr val="5C2DC6"/>
                </a:solidFill>
                <a:latin typeface="Arial"/>
              </a:rPr>
              <a:t>→</a:t>
            </a:r>
            <a:r>
              <a:rPr lang="en-US" sz="1200" b="1" dirty="0">
                <a:solidFill>
                  <a:srgbClr val="5B2DB6"/>
                </a:solidFill>
                <a:latin typeface="Inter" pitchFamily="34" charset="0"/>
                <a:ea typeface="Inter" pitchFamily="34" charset="-122"/>
                <a:cs typeface="Inter" pitchFamily="34" charset="-120"/>
              </a:rPr>
              <a:t> More context + evidence </a:t>
            </a:r>
            <a:r>
              <a:rPr lang="es-MX" sz="1200" b="1" dirty="0">
                <a:solidFill>
                  <a:srgbClr val="5C2DC6"/>
                </a:solidFill>
                <a:latin typeface="Arial"/>
              </a:rPr>
              <a:t>→</a:t>
            </a:r>
            <a:r>
              <a:rPr lang="en-US" sz="1200" b="1" dirty="0">
                <a:solidFill>
                  <a:srgbClr val="5B2DB6"/>
                </a:solidFill>
                <a:latin typeface="Inter" pitchFamily="34" charset="0"/>
                <a:ea typeface="Inter" pitchFamily="34" charset="-122"/>
                <a:cs typeface="Inter" pitchFamily="34" charset="-120"/>
              </a:rPr>
              <a:t> Better understanding </a:t>
            </a:r>
            <a:r>
              <a:rPr lang="es-MX" sz="1200" b="1" dirty="0">
                <a:solidFill>
                  <a:srgbClr val="5C2DC6"/>
                </a:solidFill>
                <a:latin typeface="Arial"/>
              </a:rPr>
              <a:t>→</a:t>
            </a:r>
            <a:r>
              <a:rPr lang="en-US" sz="1200" b="1" dirty="0">
                <a:solidFill>
                  <a:srgbClr val="5B2DB6"/>
                </a:solidFill>
                <a:latin typeface="Inter" pitchFamily="34" charset="0"/>
                <a:ea typeface="Inter" pitchFamily="34" charset="-122"/>
                <a:cs typeface="Inter" pitchFamily="34" charset="-120"/>
              </a:rPr>
              <a:t> Better execution </a:t>
            </a:r>
            <a:r>
              <a:rPr lang="es-MX" sz="1200" b="1" dirty="0">
                <a:solidFill>
                  <a:srgbClr val="5C2DC6"/>
                </a:solidFill>
                <a:latin typeface="Arial"/>
              </a:rPr>
              <a:t>→</a:t>
            </a:r>
            <a:r>
              <a:rPr lang="en-US" sz="1200" b="1" dirty="0">
                <a:solidFill>
                  <a:srgbClr val="5B2DB6"/>
                </a:solidFill>
                <a:latin typeface="Inter" pitchFamily="34" charset="0"/>
                <a:ea typeface="Inter" pitchFamily="34" charset="-122"/>
                <a:cs typeface="Inter" pitchFamily="34" charset="-120"/>
              </a:rPr>
              <a:t> More trust </a:t>
            </a:r>
            <a:r>
              <a:rPr lang="es-MX" sz="1200" b="1" dirty="0">
                <a:solidFill>
                  <a:srgbClr val="5C2DC6"/>
                </a:solidFill>
                <a:latin typeface="Arial"/>
              </a:rPr>
              <a:t>→</a:t>
            </a:r>
            <a:r>
              <a:rPr lang="en-US" sz="1200" b="1" dirty="0">
                <a:solidFill>
                  <a:srgbClr val="5B2DB6"/>
                </a:solidFill>
                <a:latin typeface="Inter" pitchFamily="34" charset="0"/>
                <a:ea typeface="Inter" pitchFamily="34" charset="-122"/>
                <a:cs typeface="Inter" pitchFamily="34" charset="-120"/>
              </a:rPr>
              <a:t> More work delegated</a:t>
            </a:r>
            <a:endParaRPr lang="en-US" sz="1200" dirty="0"/>
          </a:p>
        </p:txBody>
      </p:sp>
      <p:sp>
        <p:nvSpPr>
          <p:cNvPr id="36" name="Text 33"/>
          <p:cNvSpPr txBox="1"/>
          <p:nvPr/>
        </p:nvSpPr>
        <p:spPr>
          <a:xfrm>
            <a:off x="1472184" y="6163056"/>
            <a:ext cx="9299448" cy="21945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Compounding thesis · systematic learning &amp; improvement remains a governed future capability.</a:t>
            </a:r>
            <a:endParaRPr lang="en-US" sz="1000" dirty="0"/>
          </a:p>
        </p:txBody>
      </p:sp>
      <p:sp>
        <p:nvSpPr>
          <p:cNvPr id="37"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ECONOMIC OPPORTUNITY + BUSINESS MODEL</a:t>
            </a:r>
            <a:endParaRPr lang="en-US" sz="950" dirty="0"/>
          </a:p>
        </p:txBody>
      </p:sp>
      <p:sp>
        <p:nvSpPr>
          <p:cNvPr id="4" name="Text 1"/>
          <p:cNvSpPr txBox="1"/>
          <p:nvPr/>
        </p:nvSpPr>
        <p:spPr>
          <a:xfrm>
            <a:off x="566928" y="658368"/>
            <a:ext cx="10442448" cy="658368"/>
          </a:xfrm>
          <a:prstGeom prst="rect">
            <a:avLst/>
          </a:prstGeom>
          <a:noFill/>
          <a:ln/>
        </p:spPr>
        <p:txBody>
          <a:bodyPr wrap="square" lIns="0" tIns="0" rIns="0" bIns="0" rtlCol="0" anchor="t">
            <a:normAutofit/>
          </a:bodyPr>
          <a:lstStyle/>
          <a:p>
            <a:pPr marL="0" indent="0" algn="l">
              <a:lnSpc>
                <a:spcPct val="100000"/>
              </a:lnSpc>
              <a:buNone/>
            </a:pPr>
            <a:r>
              <a:rPr lang="en-US" sz="2700" b="1" dirty="0">
                <a:solidFill>
                  <a:srgbClr val="18152B"/>
                </a:solidFill>
                <a:latin typeface="Aptos" panose="020B0004020202020204" pitchFamily="34" charset="0"/>
                <a:ea typeface="Inter Display" pitchFamily="34" charset="-122"/>
                <a:cs typeface="Inter Display" pitchFamily="34" charset="-120"/>
              </a:rPr>
              <a:t>The economic opportunity extends beyond the software budget.</a:t>
            </a:r>
            <a:endParaRPr lang="en-US" sz="2700" dirty="0">
              <a:latin typeface="Aptos" panose="020B0004020202020204" pitchFamily="34" charset="0"/>
            </a:endParaRPr>
          </a:p>
        </p:txBody>
      </p:sp>
      <p:sp>
        <p:nvSpPr>
          <p:cNvPr id="5" name="Text 2"/>
          <p:cNvSpPr txBox="1"/>
          <p:nvPr/>
        </p:nvSpPr>
        <p:spPr>
          <a:xfrm>
            <a:off x="566928" y="1200012"/>
            <a:ext cx="10680192" cy="475488"/>
          </a:xfrm>
          <a:prstGeom prst="rect">
            <a:avLst/>
          </a:prstGeom>
          <a:noFill/>
          <a:ln/>
        </p:spPr>
        <p:txBody>
          <a:bodyPr wrap="square" lIns="0" tIns="0" rIns="0" bIns="0" rtlCol="0" anchor="t">
            <a:noAutofit/>
          </a:bodyPr>
          <a:lstStyle/>
          <a:p>
            <a:pPr marL="0" indent="0" algn="l">
              <a:lnSpc>
                <a:spcPct val="100000"/>
              </a:lnSpc>
              <a:buNone/>
            </a:pPr>
            <a:r>
              <a:rPr lang="en-US" dirty="0">
                <a:solidFill>
                  <a:srgbClr val="6F6882"/>
                </a:solidFill>
                <a:latin typeface="Inter" pitchFamily="34" charset="0"/>
                <a:ea typeface="Inter" pitchFamily="34" charset="-122"/>
                <a:cs typeface="Inter" pitchFamily="34" charset="-120"/>
              </a:rPr>
              <a:t>As Gu takes on real work, it can create value across software, services, organizational capacity and opportunities that would otherwise be lost.</a:t>
            </a:r>
            <a:endParaRPr lang="en-US" dirty="0"/>
          </a:p>
        </p:txBody>
      </p:sp>
      <p:sp>
        <p:nvSpPr>
          <p:cNvPr id="6" name="Shape 3"/>
          <p:cNvSpPr/>
          <p:nvPr/>
        </p:nvSpPr>
        <p:spPr>
          <a:xfrm>
            <a:off x="640080" y="2043817"/>
            <a:ext cx="2404872" cy="1999450"/>
          </a:xfrm>
          <a:prstGeom prst="roundRect">
            <a:avLst>
              <a:gd name="adj" fmla="val 5911"/>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sz="1400"/>
          </a:p>
        </p:txBody>
      </p:sp>
      <p:sp>
        <p:nvSpPr>
          <p:cNvPr id="7" name="Text 4"/>
          <p:cNvSpPr txBox="1"/>
          <p:nvPr/>
        </p:nvSpPr>
        <p:spPr>
          <a:xfrm>
            <a:off x="804672" y="2217553"/>
            <a:ext cx="2084832" cy="320040"/>
          </a:xfrm>
          <a:prstGeom prst="rect">
            <a:avLst/>
          </a:prstGeom>
          <a:noFill/>
          <a:ln/>
        </p:spPr>
        <p:txBody>
          <a:bodyPr wrap="square" lIns="0" tIns="0" rIns="0" bIns="0" rtlCol="0" anchor="ctr">
            <a:normAutofit/>
          </a:bodyPr>
          <a:lstStyle/>
          <a:p>
            <a:pPr marL="0" indent="0" algn="ctr">
              <a:lnSpc>
                <a:spcPct val="100000"/>
              </a:lnSpc>
              <a:buNone/>
            </a:pPr>
            <a:r>
              <a:rPr lang="en-US" sz="1400" b="1" kern="0" spc="60" dirty="0">
                <a:solidFill>
                  <a:srgbClr val="5B2DB6"/>
                </a:solidFill>
                <a:latin typeface="Inter" pitchFamily="34" charset="0"/>
                <a:ea typeface="Inter" pitchFamily="34" charset="-122"/>
                <a:cs typeface="Inter" pitchFamily="34" charset="-120"/>
              </a:rPr>
              <a:t>SOFTWARE</a:t>
            </a:r>
            <a:endParaRPr lang="en-US" sz="1400" dirty="0"/>
          </a:p>
        </p:txBody>
      </p:sp>
      <p:sp>
        <p:nvSpPr>
          <p:cNvPr id="8" name="Text 5"/>
          <p:cNvSpPr txBox="1"/>
          <p:nvPr/>
        </p:nvSpPr>
        <p:spPr>
          <a:xfrm>
            <a:off x="737766" y="2656464"/>
            <a:ext cx="2240280" cy="1224159"/>
          </a:xfrm>
          <a:prstGeom prst="rect">
            <a:avLst/>
          </a:prstGeom>
          <a:noFill/>
          <a:ln/>
        </p:spPr>
        <p:txBody>
          <a:bodyPr wrap="square" lIns="0" tIns="0" rIns="0" bIns="0" rtlCol="0" anchor="t">
            <a:normAutofit fontScale="92500"/>
          </a:bodyPr>
          <a:lstStyle/>
          <a:p>
            <a:pPr marL="0" indent="0" algn="ctr">
              <a:lnSpc>
                <a:spcPct val="100000"/>
              </a:lnSpc>
              <a:buNone/>
            </a:pPr>
            <a:r>
              <a:rPr lang="en-US" sz="1350" dirty="0">
                <a:solidFill>
                  <a:srgbClr val="18152B"/>
                </a:solidFill>
                <a:latin typeface="Inter" pitchFamily="34" charset="0"/>
                <a:ea typeface="Inter" pitchFamily="34" charset="-122"/>
                <a:cs typeface="Inter" pitchFamily="34" charset="-120"/>
              </a:rPr>
              <a:t>CRM · point tools · workflow software</a:t>
            </a:r>
          </a:p>
          <a:p>
            <a:pPr marL="0" indent="0" algn="ctr">
              <a:lnSpc>
                <a:spcPct val="100000"/>
              </a:lnSpc>
              <a:buNone/>
            </a:pPr>
            <a:endParaRPr lang="en-US" sz="1350" dirty="0"/>
          </a:p>
          <a:p>
            <a:pPr marL="0" indent="0" algn="ctr">
              <a:lnSpc>
                <a:spcPct val="100000"/>
              </a:lnSpc>
              <a:buNone/>
            </a:pPr>
            <a:r>
              <a:rPr lang="en-US" sz="1400" dirty="0">
                <a:solidFill>
                  <a:srgbClr val="18152B"/>
                </a:solidFill>
                <a:latin typeface="Inter" pitchFamily="34" charset="0"/>
                <a:ea typeface="Inter" pitchFamily="34" charset="-122"/>
                <a:cs typeface="Inter" pitchFamily="34" charset="-120"/>
              </a:rPr>
              <a:t>Orchestrate external capabilities and selectively build/absorb differentiating ones.</a:t>
            </a:r>
            <a:endParaRPr lang="en-US" sz="1400" dirty="0"/>
          </a:p>
        </p:txBody>
      </p:sp>
      <p:sp>
        <p:nvSpPr>
          <p:cNvPr id="9" name="Shape 6"/>
          <p:cNvSpPr/>
          <p:nvPr/>
        </p:nvSpPr>
        <p:spPr>
          <a:xfrm>
            <a:off x="3492474" y="2043816"/>
            <a:ext cx="2404872" cy="1999451"/>
          </a:xfrm>
          <a:prstGeom prst="roundRect">
            <a:avLst>
              <a:gd name="adj" fmla="val 5911"/>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sz="1400"/>
          </a:p>
        </p:txBody>
      </p:sp>
      <p:sp>
        <p:nvSpPr>
          <p:cNvPr id="11" name="Text 8"/>
          <p:cNvSpPr txBox="1"/>
          <p:nvPr/>
        </p:nvSpPr>
        <p:spPr>
          <a:xfrm>
            <a:off x="3657066" y="2656465"/>
            <a:ext cx="2084832" cy="1067700"/>
          </a:xfrm>
          <a:prstGeom prst="rect">
            <a:avLst/>
          </a:prstGeom>
          <a:noFill/>
          <a:ln/>
        </p:spPr>
        <p:txBody>
          <a:bodyPr wrap="square" lIns="0" tIns="0" rIns="0" bIns="0" rtlCol="0" anchor="t">
            <a:noAutofit/>
          </a:bodyPr>
          <a:lstStyle/>
          <a:p>
            <a:pPr marL="0" indent="0" algn="ctr">
              <a:lnSpc>
                <a:spcPct val="100000"/>
              </a:lnSpc>
              <a:buNone/>
            </a:pPr>
            <a:r>
              <a:rPr lang="en-US" sz="1350" dirty="0">
                <a:solidFill>
                  <a:srgbClr val="18152B"/>
                </a:solidFill>
                <a:latin typeface="Inter" pitchFamily="34" charset="0"/>
                <a:ea typeface="Inter" pitchFamily="34" charset="-122"/>
                <a:cs typeface="Inter" pitchFamily="34" charset="-120"/>
              </a:rPr>
              <a:t>Campaign management · lead operations · coordination</a:t>
            </a:r>
            <a:endParaRPr lang="en-US" sz="1350" dirty="0"/>
          </a:p>
          <a:p>
            <a:pPr marL="0" indent="0" algn="ctr">
              <a:lnSpc>
                <a:spcPct val="100000"/>
              </a:lnSpc>
              <a:buNone/>
            </a:pPr>
            <a:endParaRPr lang="en-US" sz="1350" dirty="0">
              <a:solidFill>
                <a:srgbClr val="18152B"/>
              </a:solidFill>
              <a:latin typeface="Inter" pitchFamily="34" charset="0"/>
              <a:ea typeface="Inter" pitchFamily="34" charset="-122"/>
              <a:cs typeface="Inter" pitchFamily="34" charset="-120"/>
            </a:endParaRPr>
          </a:p>
          <a:p>
            <a:pPr marL="0" indent="0" algn="ctr">
              <a:lnSpc>
                <a:spcPct val="100000"/>
              </a:lnSpc>
              <a:buNone/>
            </a:pPr>
            <a:r>
              <a:rPr lang="en-US" sz="1350" dirty="0">
                <a:solidFill>
                  <a:srgbClr val="18152B"/>
                </a:solidFill>
                <a:latin typeface="Inter" pitchFamily="34" charset="0"/>
                <a:ea typeface="Inter" pitchFamily="34" charset="-122"/>
                <a:cs typeface="Inter" pitchFamily="34" charset="-120"/>
              </a:rPr>
              <a:t>Perform work customers already pay others to do.</a:t>
            </a:r>
            <a:endParaRPr lang="en-US" sz="1350" dirty="0"/>
          </a:p>
        </p:txBody>
      </p:sp>
      <p:sp>
        <p:nvSpPr>
          <p:cNvPr id="12" name="Shape 9"/>
          <p:cNvSpPr/>
          <p:nvPr/>
        </p:nvSpPr>
        <p:spPr>
          <a:xfrm>
            <a:off x="6280320" y="2043817"/>
            <a:ext cx="2404872" cy="1999450"/>
          </a:xfrm>
          <a:prstGeom prst="roundRect">
            <a:avLst>
              <a:gd name="adj" fmla="val 5911"/>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sz="1400"/>
          </a:p>
        </p:txBody>
      </p:sp>
      <p:sp>
        <p:nvSpPr>
          <p:cNvPr id="13" name="Text 10"/>
          <p:cNvSpPr txBox="1"/>
          <p:nvPr/>
        </p:nvSpPr>
        <p:spPr>
          <a:xfrm>
            <a:off x="6444912" y="2217553"/>
            <a:ext cx="2084832" cy="320040"/>
          </a:xfrm>
          <a:prstGeom prst="rect">
            <a:avLst/>
          </a:prstGeom>
          <a:noFill/>
          <a:ln/>
        </p:spPr>
        <p:txBody>
          <a:bodyPr wrap="square" lIns="0" tIns="0" rIns="0" bIns="0" rtlCol="0" anchor="ctr">
            <a:normAutofit/>
          </a:bodyPr>
          <a:lstStyle/>
          <a:p>
            <a:pPr marL="0" indent="0" algn="ctr">
              <a:lnSpc>
                <a:spcPct val="100000"/>
              </a:lnSpc>
              <a:buNone/>
            </a:pPr>
            <a:r>
              <a:rPr lang="en-US" sz="1400" b="1" kern="0" spc="60" dirty="0">
                <a:solidFill>
                  <a:srgbClr val="5F658E"/>
                </a:solidFill>
                <a:latin typeface="Inter" pitchFamily="34" charset="0"/>
                <a:ea typeface="Inter" pitchFamily="34" charset="-122"/>
                <a:cs typeface="Inter" pitchFamily="34" charset="-120"/>
              </a:rPr>
              <a:t>INTERNAL CAPACITY</a:t>
            </a:r>
            <a:endParaRPr lang="en-US" sz="1400" dirty="0"/>
          </a:p>
        </p:txBody>
      </p:sp>
      <p:sp>
        <p:nvSpPr>
          <p:cNvPr id="14" name="Text 11"/>
          <p:cNvSpPr txBox="1"/>
          <p:nvPr/>
        </p:nvSpPr>
        <p:spPr>
          <a:xfrm>
            <a:off x="6444912" y="2656465"/>
            <a:ext cx="2084832" cy="914400"/>
          </a:xfrm>
          <a:prstGeom prst="rect">
            <a:avLst/>
          </a:prstGeom>
          <a:noFill/>
          <a:ln/>
        </p:spPr>
        <p:txBody>
          <a:bodyPr wrap="square" lIns="0" tIns="0" rIns="0" bIns="0" rtlCol="0" anchor="t">
            <a:normAutofit/>
          </a:bodyPr>
          <a:lstStyle/>
          <a:p>
            <a:pPr marL="0" indent="0" algn="ctr">
              <a:lnSpc>
                <a:spcPct val="100000"/>
              </a:lnSpc>
              <a:buNone/>
            </a:pPr>
            <a:r>
              <a:rPr lang="en-US" sz="1350" dirty="0">
                <a:solidFill>
                  <a:srgbClr val="18152B"/>
                </a:solidFill>
                <a:latin typeface="Inter" pitchFamily="34" charset="0"/>
                <a:ea typeface="Inter" pitchFamily="34" charset="-122"/>
                <a:cs typeface="Inter" pitchFamily="34" charset="-120"/>
              </a:rPr>
              <a:t>More output without proportional operational headcount growth.</a:t>
            </a:r>
            <a:endParaRPr lang="en-US" sz="1350" dirty="0"/>
          </a:p>
        </p:txBody>
      </p:sp>
      <p:sp>
        <p:nvSpPr>
          <p:cNvPr id="15" name="Shape 12"/>
          <p:cNvSpPr/>
          <p:nvPr/>
        </p:nvSpPr>
        <p:spPr>
          <a:xfrm>
            <a:off x="9068166" y="2043816"/>
            <a:ext cx="2404872" cy="1999449"/>
          </a:xfrm>
          <a:prstGeom prst="roundRect">
            <a:avLst>
              <a:gd name="adj" fmla="val 5911"/>
            </a:avLst>
          </a:prstGeom>
          <a:solidFill>
            <a:srgbClr val="FFFFFF"/>
          </a:solidFill>
          <a:ln w="12700">
            <a:solidFill>
              <a:srgbClr val="E4DDEE"/>
            </a:solidFill>
            <a:prstDash val="solid"/>
          </a:ln>
          <a:effectLst>
            <a:outerShdw blurRad="19050" dist="50800" dir="2700000" algn="bl" rotWithShape="0">
              <a:srgbClr val="C6BCD8">
                <a:alpha val="16000"/>
              </a:srgbClr>
            </a:outerShdw>
          </a:effectLst>
        </p:spPr>
        <p:txBody>
          <a:bodyPr/>
          <a:lstStyle/>
          <a:p>
            <a:endParaRPr lang="es-MX" sz="1400"/>
          </a:p>
        </p:txBody>
      </p:sp>
      <p:sp>
        <p:nvSpPr>
          <p:cNvPr id="16" name="Text 13"/>
          <p:cNvSpPr txBox="1"/>
          <p:nvPr/>
        </p:nvSpPr>
        <p:spPr>
          <a:xfrm>
            <a:off x="9232758" y="2217553"/>
            <a:ext cx="2084832" cy="320040"/>
          </a:xfrm>
          <a:prstGeom prst="rect">
            <a:avLst/>
          </a:prstGeom>
          <a:noFill/>
          <a:ln/>
        </p:spPr>
        <p:txBody>
          <a:bodyPr wrap="square" lIns="0" tIns="0" rIns="0" bIns="0" rtlCol="0" anchor="ctr">
            <a:noAutofit/>
          </a:bodyPr>
          <a:lstStyle/>
          <a:p>
            <a:pPr marL="0" indent="0" algn="ctr">
              <a:lnSpc>
                <a:spcPct val="100000"/>
              </a:lnSpc>
              <a:buNone/>
            </a:pPr>
            <a:r>
              <a:rPr lang="en-US" sz="1400" b="1" kern="0" spc="60" dirty="0">
                <a:solidFill>
                  <a:srgbClr val="18845A"/>
                </a:solidFill>
                <a:latin typeface="Inter" pitchFamily="34" charset="0"/>
                <a:ea typeface="Inter" pitchFamily="34" charset="-122"/>
                <a:cs typeface="Inter" pitchFamily="34" charset="-120"/>
              </a:rPr>
              <a:t>OPPORTUNITY PRESERVATION</a:t>
            </a:r>
            <a:endParaRPr lang="en-US" sz="1400" dirty="0"/>
          </a:p>
        </p:txBody>
      </p:sp>
      <p:sp>
        <p:nvSpPr>
          <p:cNvPr id="19" name="Shape 16"/>
          <p:cNvSpPr/>
          <p:nvPr/>
        </p:nvSpPr>
        <p:spPr>
          <a:xfrm>
            <a:off x="640080" y="4402032"/>
            <a:ext cx="6492240" cy="1797600"/>
          </a:xfrm>
          <a:prstGeom prst="roundRect">
            <a:avLst>
              <a:gd name="adj" fmla="val 7792"/>
            </a:avLst>
          </a:prstGeom>
          <a:solidFill>
            <a:srgbClr val="1F1739"/>
          </a:solidFill>
          <a:ln w="12700">
            <a:solidFill>
              <a:srgbClr val="1F1739"/>
            </a:solidFill>
            <a:prstDash val="solid"/>
          </a:ln>
          <a:effectLst>
            <a:outerShdw blurRad="19050" dist="50800" dir="2700000" algn="bl" rotWithShape="0">
              <a:srgbClr val="C6BCD8">
                <a:alpha val="16000"/>
              </a:srgbClr>
            </a:outerShdw>
          </a:effectLst>
        </p:spPr>
        <p:txBody>
          <a:bodyPr/>
          <a:lstStyle/>
          <a:p>
            <a:endParaRPr lang="es-MX" sz="1200"/>
          </a:p>
        </p:txBody>
      </p:sp>
      <p:sp>
        <p:nvSpPr>
          <p:cNvPr id="20" name="Text 17"/>
          <p:cNvSpPr txBox="1"/>
          <p:nvPr/>
        </p:nvSpPr>
        <p:spPr>
          <a:xfrm>
            <a:off x="896112" y="4590305"/>
            <a:ext cx="1993392" cy="274320"/>
          </a:xfrm>
          <a:prstGeom prst="rect">
            <a:avLst/>
          </a:prstGeom>
          <a:noFill/>
          <a:ln/>
        </p:spPr>
        <p:txBody>
          <a:bodyPr wrap="square" lIns="0" tIns="0" rIns="0" bIns="0" rtlCol="0" anchor="ctr">
            <a:normAutofit/>
          </a:bodyPr>
          <a:lstStyle/>
          <a:p>
            <a:pPr marL="0" indent="0" algn="l">
              <a:lnSpc>
                <a:spcPct val="100000"/>
              </a:lnSpc>
              <a:buNone/>
            </a:pPr>
            <a:r>
              <a:rPr lang="en-US" sz="1600" b="1" kern="0" spc="100" dirty="0">
                <a:solidFill>
                  <a:srgbClr val="CDBCFD"/>
                </a:solidFill>
                <a:latin typeface="Inter" pitchFamily="34" charset="0"/>
                <a:ea typeface="Inter" pitchFamily="34" charset="-122"/>
                <a:cs typeface="Inter" pitchFamily="34" charset="-120"/>
              </a:rPr>
              <a:t>PREPAID CREDITS</a:t>
            </a:r>
            <a:endParaRPr lang="en-US" sz="1600" dirty="0"/>
          </a:p>
        </p:txBody>
      </p:sp>
      <p:sp>
        <p:nvSpPr>
          <p:cNvPr id="21" name="Text 18"/>
          <p:cNvSpPr txBox="1"/>
          <p:nvPr/>
        </p:nvSpPr>
        <p:spPr>
          <a:xfrm>
            <a:off x="896112" y="4932384"/>
            <a:ext cx="4270248" cy="347472"/>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Inter Display" pitchFamily="34" charset="0"/>
                <a:ea typeface="Inter Display" pitchFamily="34" charset="-122"/>
                <a:cs typeface="Inter Display" pitchFamily="34" charset="-120"/>
              </a:rPr>
              <a:t>Customers consume credits as Gu performs work.</a:t>
            </a:r>
            <a:endParaRPr lang="en-US" sz="1400" dirty="0"/>
          </a:p>
        </p:txBody>
      </p:sp>
      <p:sp>
        <p:nvSpPr>
          <p:cNvPr id="22" name="Text 19"/>
          <p:cNvSpPr txBox="1"/>
          <p:nvPr/>
        </p:nvSpPr>
        <p:spPr>
          <a:xfrm>
            <a:off x="896112" y="5363324"/>
            <a:ext cx="6092058" cy="446884"/>
          </a:xfrm>
          <a:prstGeom prst="rect">
            <a:avLst/>
          </a:prstGeom>
          <a:noFill/>
          <a:ln/>
        </p:spPr>
        <p:txBody>
          <a:bodyPr wrap="square" lIns="0" tIns="0" rIns="0" bIns="0" rtlCol="0" anchor="ctr">
            <a:noAutofit/>
          </a:bodyPr>
          <a:lstStyle/>
          <a:p>
            <a:pPr marL="0" indent="0" algn="l">
              <a:lnSpc>
                <a:spcPct val="100000"/>
              </a:lnSpc>
              <a:buNone/>
            </a:pPr>
            <a:r>
              <a:rPr lang="en-US" sz="1400" dirty="0">
                <a:solidFill>
                  <a:srgbClr val="D8CFE9"/>
                </a:solidFill>
                <a:latin typeface="Inter" pitchFamily="34" charset="0"/>
                <a:ea typeface="Inter" pitchFamily="34" charset="-122"/>
                <a:cs typeface="Inter" pitchFamily="34" charset="-120"/>
              </a:rPr>
              <a:t>Work / usage-based pricing through prepaid credits. </a:t>
            </a:r>
          </a:p>
          <a:p>
            <a:pPr marL="0" indent="0" algn="l">
              <a:lnSpc>
                <a:spcPct val="100000"/>
              </a:lnSpc>
              <a:buNone/>
            </a:pPr>
            <a:r>
              <a:rPr lang="en-US" sz="1400" dirty="0">
                <a:solidFill>
                  <a:srgbClr val="D8CFE9"/>
                </a:solidFill>
                <a:latin typeface="Inter" pitchFamily="34" charset="0"/>
                <a:ea typeface="Inter" pitchFamily="34" charset="-122"/>
                <a:cs typeface="Inter" pitchFamily="34" charset="-120"/>
              </a:rPr>
              <a:t>Customer spend can grow as more—and more valuable—work is delegated to Gu.</a:t>
            </a:r>
            <a:endParaRPr lang="en-US" sz="1400" dirty="0"/>
          </a:p>
        </p:txBody>
      </p:sp>
      <p:sp>
        <p:nvSpPr>
          <p:cNvPr id="25" name="Shape 22"/>
          <p:cNvSpPr/>
          <p:nvPr/>
        </p:nvSpPr>
        <p:spPr>
          <a:xfrm>
            <a:off x="7294757" y="4402032"/>
            <a:ext cx="4480561" cy="1408176"/>
          </a:xfrm>
          <a:prstGeom prst="roundRect">
            <a:avLst>
              <a:gd name="adj" fmla="val 7792"/>
            </a:avLst>
          </a:prstGeom>
          <a:solidFill>
            <a:srgbClr val="F8F5FF"/>
          </a:solidFill>
          <a:ln w="12700">
            <a:solidFill>
              <a:srgbClr val="DDD2FA"/>
            </a:solidFill>
            <a:prstDash val="solid"/>
          </a:ln>
        </p:spPr>
        <p:txBody>
          <a:bodyPr/>
          <a:lstStyle/>
          <a:p>
            <a:endParaRPr lang="es-MX"/>
          </a:p>
        </p:txBody>
      </p:sp>
      <p:sp>
        <p:nvSpPr>
          <p:cNvPr id="26" name="Text 23"/>
          <p:cNvSpPr txBox="1"/>
          <p:nvPr/>
        </p:nvSpPr>
        <p:spPr>
          <a:xfrm>
            <a:off x="7607808" y="4603200"/>
            <a:ext cx="1865376" cy="256032"/>
          </a:xfrm>
          <a:prstGeom prst="rect">
            <a:avLst/>
          </a:prstGeom>
          <a:noFill/>
          <a:ln/>
        </p:spPr>
        <p:txBody>
          <a:bodyPr wrap="square" lIns="0" tIns="0" rIns="0" bIns="0" rtlCol="0" anchor="ctr">
            <a:noAutofit/>
          </a:bodyPr>
          <a:lstStyle/>
          <a:p>
            <a:pPr marL="0" indent="0" algn="l">
              <a:lnSpc>
                <a:spcPct val="100000"/>
              </a:lnSpc>
              <a:buNone/>
            </a:pPr>
            <a:r>
              <a:rPr lang="en-US" sz="1200" b="1" kern="0" spc="80" dirty="0">
                <a:solidFill>
                  <a:srgbClr val="5B2DB6"/>
                </a:solidFill>
                <a:latin typeface="Inter" pitchFamily="34" charset="0"/>
                <a:ea typeface="Inter" pitchFamily="34" charset="-122"/>
                <a:cs typeface="Inter" pitchFamily="34" charset="-120"/>
              </a:rPr>
              <a:t>INITIAL MARKET</a:t>
            </a:r>
            <a:endParaRPr lang="en-US" sz="1200" dirty="0"/>
          </a:p>
        </p:txBody>
      </p:sp>
      <p:sp>
        <p:nvSpPr>
          <p:cNvPr id="27" name="Text 24"/>
          <p:cNvSpPr txBox="1"/>
          <p:nvPr/>
        </p:nvSpPr>
        <p:spPr>
          <a:xfrm>
            <a:off x="7607808" y="4840944"/>
            <a:ext cx="2221992" cy="256032"/>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18152B"/>
                </a:solidFill>
                <a:latin typeface="Inter" pitchFamily="34" charset="0"/>
                <a:ea typeface="Inter" pitchFamily="34" charset="-122"/>
                <a:cs typeface="Inter" pitchFamily="34" charset="-120"/>
              </a:rPr>
              <a:t>Mexico SMB brokerages</a:t>
            </a:r>
            <a:endParaRPr lang="en-US" sz="1200" dirty="0"/>
          </a:p>
        </p:txBody>
      </p:sp>
      <p:sp>
        <p:nvSpPr>
          <p:cNvPr id="28" name="Shape 25"/>
          <p:cNvSpPr/>
          <p:nvPr/>
        </p:nvSpPr>
        <p:spPr>
          <a:xfrm>
            <a:off x="7607808" y="5206704"/>
            <a:ext cx="1609344" cy="411480"/>
          </a:xfrm>
          <a:prstGeom prst="roundRect">
            <a:avLst>
              <a:gd name="adj" fmla="val 15556"/>
            </a:avLst>
          </a:prstGeom>
          <a:solidFill>
            <a:srgbClr val="FFF2DA"/>
          </a:solidFill>
          <a:ln w="12700">
            <a:solidFill>
              <a:srgbClr val="F0A44A"/>
            </a:solidFill>
            <a:prstDash val="solid"/>
          </a:ln>
        </p:spPr>
        <p:txBody>
          <a:bodyPr/>
          <a:lstStyle/>
          <a:p>
            <a:endParaRPr lang="es-MX" sz="1200"/>
          </a:p>
        </p:txBody>
      </p:sp>
      <p:sp>
        <p:nvSpPr>
          <p:cNvPr id="29" name="Text 26"/>
          <p:cNvSpPr txBox="1"/>
          <p:nvPr/>
        </p:nvSpPr>
        <p:spPr>
          <a:xfrm>
            <a:off x="7680960" y="5224992"/>
            <a:ext cx="1463040" cy="374904"/>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9A5F1E"/>
                </a:solidFill>
                <a:latin typeface="Inter" pitchFamily="34" charset="0"/>
                <a:ea typeface="Inter" pitchFamily="34" charset="-122"/>
                <a:cs typeface="Inter" pitchFamily="34" charset="-120"/>
              </a:rPr>
              <a:t>[XX target organizations]</a:t>
            </a:r>
            <a:endParaRPr lang="en-US" sz="1200" dirty="0"/>
          </a:p>
        </p:txBody>
      </p:sp>
      <p:sp>
        <p:nvSpPr>
          <p:cNvPr id="30" name="Shape 27"/>
          <p:cNvSpPr/>
          <p:nvPr/>
        </p:nvSpPr>
        <p:spPr>
          <a:xfrm>
            <a:off x="9400032" y="5206704"/>
            <a:ext cx="1682496" cy="411480"/>
          </a:xfrm>
          <a:prstGeom prst="roundRect">
            <a:avLst>
              <a:gd name="adj" fmla="val 15556"/>
            </a:avLst>
          </a:prstGeom>
          <a:solidFill>
            <a:srgbClr val="FFF2DA"/>
          </a:solidFill>
          <a:ln w="12700">
            <a:solidFill>
              <a:srgbClr val="F0A44A"/>
            </a:solidFill>
            <a:prstDash val="solid"/>
          </a:ln>
        </p:spPr>
        <p:txBody>
          <a:bodyPr/>
          <a:lstStyle/>
          <a:p>
            <a:endParaRPr lang="es-MX" sz="1200"/>
          </a:p>
        </p:txBody>
      </p:sp>
      <p:sp>
        <p:nvSpPr>
          <p:cNvPr id="31" name="Text 28"/>
          <p:cNvSpPr txBox="1"/>
          <p:nvPr/>
        </p:nvSpPr>
        <p:spPr>
          <a:xfrm>
            <a:off x="9473184" y="5224992"/>
            <a:ext cx="1536192" cy="374904"/>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9A5F1E"/>
                </a:solidFill>
                <a:latin typeface="Inter" pitchFamily="34" charset="0"/>
                <a:ea typeface="Inter" pitchFamily="34" charset="-122"/>
                <a:cs typeface="Inter" pitchFamily="34" charset="-120"/>
              </a:rPr>
              <a:t>Bottom-up SAM: [$XX]</a:t>
            </a:r>
            <a:endParaRPr lang="en-US" sz="1200" dirty="0"/>
          </a:p>
        </p:txBody>
      </p:sp>
      <p:sp>
        <p:nvSpPr>
          <p:cNvPr id="32" name="Text 29"/>
          <p:cNvSpPr txBox="1"/>
          <p:nvPr/>
        </p:nvSpPr>
        <p:spPr>
          <a:xfrm>
            <a:off x="7294757" y="5983410"/>
            <a:ext cx="4480561" cy="217308"/>
          </a:xfrm>
          <a:prstGeom prst="rect">
            <a:avLst/>
          </a:prstGeom>
          <a:noFill/>
          <a:ln/>
        </p:spPr>
        <p:txBody>
          <a:bodyPr wrap="square" lIns="0" tIns="0" rIns="0" bIns="0" rtlCol="0" anchor="ctr">
            <a:noAutofit/>
          </a:bodyPr>
          <a:lstStyle/>
          <a:p>
            <a:pPr marL="0" indent="0" algn="l">
              <a:lnSpc>
                <a:spcPct val="100000"/>
              </a:lnSpc>
              <a:buNone/>
            </a:pPr>
            <a:r>
              <a:rPr lang="en-US" sz="1400" dirty="0">
                <a:solidFill>
                  <a:srgbClr val="6F6882"/>
                </a:solidFill>
                <a:latin typeface="Inter" pitchFamily="34" charset="0"/>
                <a:ea typeface="Inter" pitchFamily="34" charset="-122"/>
                <a:cs typeface="Inter" pitchFamily="34" charset="-120"/>
              </a:rPr>
              <a:t>Expansion: larger brokerages · franchises · developers · LatAm</a:t>
            </a:r>
            <a:endParaRPr lang="en-US" sz="1400" dirty="0"/>
          </a:p>
        </p:txBody>
      </p:sp>
      <p:sp>
        <p:nvSpPr>
          <p:cNvPr id="33" name="Slide Number Placeholder 0"/>
          <p:cNvSpPr>
            <a:spLocks noGrp="1"/>
          </p:cNvSpPr>
          <p:nvPr>
            <p:ph type="sldNum" sz="quarter" idx="4294967295"/>
          </p:nvPr>
        </p:nvSpPr>
        <p:spPr>
          <a:xfrm>
            <a:off x="11631167" y="6510528"/>
            <a:ext cx="352851"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10</a:t>
            </a:fld>
            <a:endParaRPr lang="en-US"/>
          </a:p>
        </p:txBody>
      </p:sp>
      <p:sp>
        <p:nvSpPr>
          <p:cNvPr id="24" name="CuadroTexto 23">
            <a:extLst>
              <a:ext uri="{FF2B5EF4-FFF2-40B4-BE49-F238E27FC236}">
                <a16:creationId xmlns:a16="http://schemas.microsoft.com/office/drawing/2014/main" id="{6C4A1495-6ADC-AB55-134F-61D10ABE0E2B}"/>
              </a:ext>
            </a:extLst>
          </p:cNvPr>
          <p:cNvSpPr txBox="1"/>
          <p:nvPr/>
        </p:nvSpPr>
        <p:spPr>
          <a:xfrm>
            <a:off x="9162287" y="2652015"/>
            <a:ext cx="2225041" cy="923330"/>
          </a:xfrm>
          <a:prstGeom prst="rect">
            <a:avLst/>
          </a:prstGeom>
          <a:noFill/>
        </p:spPr>
        <p:txBody>
          <a:bodyPr wrap="square" rtlCol="0">
            <a:spAutoFit/>
          </a:bodyPr>
          <a:lstStyle/>
          <a:p>
            <a:pPr algn="ctr"/>
            <a:r>
              <a:rPr lang="en-US" sz="1350" dirty="0">
                <a:solidFill>
                  <a:schemeClr val="tx1">
                    <a:lumMod val="85000"/>
                    <a:lumOff val="15000"/>
                  </a:schemeClr>
                </a:solidFill>
              </a:rPr>
              <a:t>After-hours leads · missed follow-up · missed matches · stalled prospects.</a:t>
            </a:r>
          </a:p>
          <a:p>
            <a:pPr algn="ctr"/>
            <a:endParaRPr lang="es-MX" sz="1350" dirty="0">
              <a:solidFill>
                <a:schemeClr val="tx1">
                  <a:lumMod val="75000"/>
                  <a:lumOff val="25000"/>
                </a:schemeClr>
              </a:solidFill>
            </a:endParaRPr>
          </a:p>
        </p:txBody>
      </p:sp>
      <p:sp>
        <p:nvSpPr>
          <p:cNvPr id="35" name="CuadroTexto 34">
            <a:extLst>
              <a:ext uri="{FF2B5EF4-FFF2-40B4-BE49-F238E27FC236}">
                <a16:creationId xmlns:a16="http://schemas.microsoft.com/office/drawing/2014/main" id="{2C1C8F4F-41A0-65EF-0053-C817DC162CE7}"/>
              </a:ext>
            </a:extLst>
          </p:cNvPr>
          <p:cNvSpPr txBox="1"/>
          <p:nvPr/>
        </p:nvSpPr>
        <p:spPr>
          <a:xfrm>
            <a:off x="3582389" y="2223783"/>
            <a:ext cx="2225041" cy="307777"/>
          </a:xfrm>
          <a:prstGeom prst="rect">
            <a:avLst/>
          </a:prstGeom>
          <a:noFill/>
        </p:spPr>
        <p:txBody>
          <a:bodyPr wrap="square" rtlCol="0">
            <a:spAutoFit/>
          </a:bodyPr>
          <a:lstStyle/>
          <a:p>
            <a:pPr algn="ctr"/>
            <a:r>
              <a:rPr lang="en-US" sz="1400" b="1" dirty="0">
                <a:solidFill>
                  <a:srgbClr val="9A4D78"/>
                </a:solidFill>
              </a:rPr>
              <a:t>OUTSOURCED SERVICES</a:t>
            </a:r>
            <a:endParaRPr lang="es-MX" sz="1400" b="1" dirty="0">
              <a:solidFill>
                <a:srgbClr val="9A4D7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5E2BC2"/>
          </a:solidFill>
          <a:ln w="12700">
            <a:solidFill>
              <a:srgbClr val="5E2BC2"/>
            </a:solidFill>
            <a:prstDash val="solid"/>
          </a:ln>
        </p:spPr>
        <p:txBody>
          <a:bodyPr/>
          <a:lstStyle/>
          <a:p>
            <a:endParaRPr lang="es-MX"/>
          </a:p>
        </p:txBody>
      </p:sp>
      <p:sp>
        <p:nvSpPr>
          <p:cNvPr id="4" name="Text 1"/>
          <p:cNvSpPr/>
          <p:nvPr/>
        </p:nvSpPr>
        <p:spPr>
          <a:xfrm>
            <a:off x="566928" y="6620256"/>
            <a:ext cx="1280160" cy="118872"/>
          </a:xfrm>
          <a:prstGeom prst="rect">
            <a:avLst/>
          </a:prstGeom>
          <a:noFill/>
          <a:ln/>
        </p:spPr>
        <p:txBody>
          <a:bodyPr wrap="square" rtlCol="0" anchor="ctr"/>
          <a:lstStyle/>
          <a:p>
            <a:pPr marL="0" indent="0">
              <a:buNone/>
            </a:pPr>
            <a:r>
              <a:rPr lang="en-US" sz="650" b="1" dirty="0">
                <a:solidFill>
                  <a:srgbClr val="9B95A9"/>
                </a:solidFill>
                <a:latin typeface="Aptos" pitchFamily="34" charset="0"/>
                <a:ea typeface="Aptos" pitchFamily="34" charset="-122"/>
                <a:cs typeface="Aptos" pitchFamily="34" charset="-120"/>
              </a:rPr>
              <a:t>CONFIDENTIAL</a:t>
            </a:r>
            <a:endParaRPr lang="en-US" sz="650" dirty="0"/>
          </a:p>
        </p:txBody>
      </p:sp>
      <p:sp>
        <p:nvSpPr>
          <p:cNvPr id="5" name="Text 2"/>
          <p:cNvSpPr/>
          <p:nvPr/>
        </p:nvSpPr>
        <p:spPr>
          <a:xfrm>
            <a:off x="10561320" y="6601968"/>
            <a:ext cx="868680" cy="137160"/>
          </a:xfrm>
          <a:prstGeom prst="rect">
            <a:avLst/>
          </a:prstGeom>
          <a:noFill/>
          <a:ln/>
        </p:spPr>
        <p:txBody>
          <a:bodyPr wrap="square" rtlCol="0" anchor="ctr"/>
          <a:lstStyle/>
          <a:p>
            <a:pPr marL="0" indent="0" algn="r">
              <a:buNone/>
            </a:pPr>
            <a:r>
              <a:rPr lang="en-US" sz="700" dirty="0">
                <a:solidFill>
                  <a:srgbClr val="8C8799"/>
                </a:solidFill>
                <a:latin typeface="Aptos" pitchFamily="34" charset="0"/>
                <a:ea typeface="Aptos" pitchFamily="34" charset="-122"/>
                <a:cs typeface="Aptos" pitchFamily="34" charset="-120"/>
              </a:rPr>
              <a:t>ungga.com</a:t>
            </a:r>
            <a:endParaRPr lang="en-US" sz="700" dirty="0"/>
          </a:p>
        </p:txBody>
      </p:sp>
      <p:sp>
        <p:nvSpPr>
          <p:cNvPr id="6" name="Text 3"/>
          <p:cNvSpPr/>
          <p:nvPr/>
        </p:nvSpPr>
        <p:spPr>
          <a:xfrm>
            <a:off x="11475720" y="6601968"/>
            <a:ext cx="411480" cy="137160"/>
          </a:xfrm>
          <a:prstGeom prst="rect">
            <a:avLst/>
          </a:prstGeom>
          <a:noFill/>
          <a:ln/>
        </p:spPr>
        <p:txBody>
          <a:bodyPr wrap="square" rtlCol="0" anchor="ctr"/>
          <a:lstStyle/>
          <a:p>
            <a:pPr marL="0" indent="0" algn="r">
              <a:buNone/>
            </a:pPr>
            <a:r>
              <a:rPr lang="en-US" sz="700" dirty="0">
                <a:solidFill>
                  <a:srgbClr val="8C8799"/>
                </a:solidFill>
                <a:latin typeface="Aptos" pitchFamily="34" charset="0"/>
                <a:ea typeface="Aptos" pitchFamily="34" charset="-122"/>
                <a:cs typeface="Aptos" pitchFamily="34" charset="-120"/>
              </a:rPr>
              <a:t>11</a:t>
            </a:r>
            <a:endParaRPr lang="en-US" sz="700" dirty="0"/>
          </a:p>
        </p:txBody>
      </p:sp>
      <p:sp>
        <p:nvSpPr>
          <p:cNvPr id="7" name="Text 4"/>
          <p:cNvSpPr/>
          <p:nvPr/>
        </p:nvSpPr>
        <p:spPr>
          <a:xfrm>
            <a:off x="566928" y="411480"/>
            <a:ext cx="1828800" cy="182880"/>
          </a:xfrm>
          <a:prstGeom prst="rect">
            <a:avLst/>
          </a:prstGeom>
          <a:noFill/>
          <a:ln/>
        </p:spPr>
        <p:txBody>
          <a:bodyPr wrap="square" rtlCol="0" anchor="ctr"/>
          <a:lstStyle/>
          <a:p>
            <a:pPr marL="0" indent="0">
              <a:buNone/>
            </a:pPr>
            <a:r>
              <a:rPr lang="en-US" sz="950" b="1" dirty="0">
                <a:solidFill>
                  <a:srgbClr val="5E2BC2"/>
                </a:solidFill>
                <a:latin typeface="Aptos" pitchFamily="34" charset="0"/>
                <a:ea typeface="Aptos" pitchFamily="34" charset="-122"/>
                <a:cs typeface="Aptos" pitchFamily="34" charset="-120"/>
              </a:rPr>
              <a:t>TRACTION + GTM</a:t>
            </a:r>
            <a:endParaRPr lang="en-US" sz="950" dirty="0"/>
          </a:p>
        </p:txBody>
      </p:sp>
      <p:sp>
        <p:nvSpPr>
          <p:cNvPr id="8" name="Text 5"/>
          <p:cNvSpPr/>
          <p:nvPr/>
        </p:nvSpPr>
        <p:spPr>
          <a:xfrm>
            <a:off x="566928" y="713232"/>
            <a:ext cx="8778240" cy="777240"/>
          </a:xfrm>
          <a:prstGeom prst="rect">
            <a:avLst/>
          </a:prstGeom>
          <a:noFill/>
          <a:ln/>
        </p:spPr>
        <p:txBody>
          <a:bodyPr wrap="square" lIns="0" tIns="0" rIns="0" bIns="0" rtlCol="0" anchor="ctr">
            <a:normAutofit lnSpcReduction="10000"/>
          </a:bodyPr>
          <a:lstStyle/>
          <a:p>
            <a:pPr marL="0" indent="0">
              <a:buNone/>
            </a:pPr>
            <a:r>
              <a:rPr lang="en-US" sz="2700" b="1" dirty="0">
                <a:solidFill>
                  <a:srgbClr val="151428"/>
                </a:solidFill>
                <a:latin typeface="Aptos" panose="020B0004020202020204" pitchFamily="34" charset="0"/>
                <a:ea typeface="Aptos Display" pitchFamily="34" charset="-122"/>
                <a:cs typeface="Aptos Display" pitchFamily="34" charset="-120"/>
              </a:rPr>
              <a:t>Early retention signals are encouraging.</a:t>
            </a:r>
            <a:endParaRPr lang="en-US" sz="2700" dirty="0">
              <a:latin typeface="Aptos" panose="020B0004020202020204" pitchFamily="34" charset="0"/>
            </a:endParaRPr>
          </a:p>
          <a:p>
            <a:pPr marL="0" indent="0">
              <a:buNone/>
            </a:pPr>
            <a:r>
              <a:rPr lang="en-US" sz="2700" b="1" dirty="0">
                <a:solidFill>
                  <a:srgbClr val="151428"/>
                </a:solidFill>
                <a:latin typeface="Aptos" panose="020B0004020202020204" pitchFamily="34" charset="0"/>
                <a:ea typeface="Aptos Display" pitchFamily="34" charset="-122"/>
                <a:cs typeface="Aptos Display" pitchFamily="34" charset="-120"/>
              </a:rPr>
              <a:t>Repeatable growth is the next proof.</a:t>
            </a:r>
            <a:endParaRPr lang="en-US" sz="2700" dirty="0">
              <a:latin typeface="Aptos" panose="020B0004020202020204" pitchFamily="34" charset="0"/>
            </a:endParaRPr>
          </a:p>
        </p:txBody>
      </p:sp>
      <p:sp>
        <p:nvSpPr>
          <p:cNvPr id="9" name="Text 6"/>
          <p:cNvSpPr/>
          <p:nvPr/>
        </p:nvSpPr>
        <p:spPr>
          <a:xfrm>
            <a:off x="658368" y="1783080"/>
            <a:ext cx="2926080" cy="210312"/>
          </a:xfrm>
          <a:prstGeom prst="rect">
            <a:avLst/>
          </a:prstGeom>
          <a:noFill/>
          <a:ln/>
        </p:spPr>
        <p:txBody>
          <a:bodyPr wrap="square" lIns="0" tIns="0" rIns="0" bIns="0" rtlCol="0" anchor="ctr"/>
          <a:lstStyle/>
          <a:p>
            <a:pPr marL="0" indent="0">
              <a:buNone/>
            </a:pPr>
            <a:r>
              <a:rPr lang="en-US" sz="1400" b="1" dirty="0">
                <a:solidFill>
                  <a:srgbClr val="746D88"/>
                </a:solidFill>
                <a:latin typeface="Aptos" pitchFamily="34" charset="0"/>
                <a:ea typeface="Aptos" pitchFamily="34" charset="-122"/>
                <a:cs typeface="Aptos" pitchFamily="34" charset="-120"/>
              </a:rPr>
              <a:t>WHAT WE KNOW</a:t>
            </a:r>
            <a:endParaRPr lang="en-US" sz="1400" dirty="0"/>
          </a:p>
        </p:txBody>
      </p:sp>
      <p:sp>
        <p:nvSpPr>
          <p:cNvPr id="10" name="Shape 7"/>
          <p:cNvSpPr/>
          <p:nvPr/>
        </p:nvSpPr>
        <p:spPr>
          <a:xfrm>
            <a:off x="658368" y="2148840"/>
            <a:ext cx="2926080" cy="585216"/>
          </a:xfrm>
          <a:prstGeom prst="roundRect">
            <a:avLst>
              <a:gd name="adj" fmla="val 12500"/>
            </a:avLst>
          </a:prstGeom>
          <a:solidFill>
            <a:srgbClr val="FFF0D2"/>
          </a:solidFill>
          <a:ln w="12700">
            <a:solidFill>
              <a:srgbClr val="F59D23"/>
            </a:solidFill>
            <a:prstDash val="solid"/>
          </a:ln>
          <a:effectLst>
            <a:outerShdw blurRad="12700" dist="50800" dir="2700000" algn="bl" rotWithShape="0">
              <a:srgbClr val="E8E1F0">
                <a:alpha val="35000"/>
              </a:srgbClr>
            </a:outerShdw>
          </a:effectLst>
        </p:spPr>
        <p:txBody>
          <a:bodyPr/>
          <a:lstStyle/>
          <a:p>
            <a:endParaRPr lang="es-MX"/>
          </a:p>
        </p:txBody>
      </p:sp>
      <p:sp>
        <p:nvSpPr>
          <p:cNvPr id="11" name="Text 8"/>
          <p:cNvSpPr/>
          <p:nvPr/>
        </p:nvSpPr>
        <p:spPr>
          <a:xfrm>
            <a:off x="795528" y="2249424"/>
            <a:ext cx="2651760" cy="420624"/>
          </a:xfrm>
          <a:prstGeom prst="rect">
            <a:avLst/>
          </a:prstGeom>
          <a:noFill/>
          <a:ln/>
        </p:spPr>
        <p:txBody>
          <a:bodyPr wrap="square" lIns="254" tIns="254" rIns="254" bIns="254" rtlCol="0" anchor="ctr">
            <a:normAutofit/>
          </a:bodyPr>
          <a:lstStyle/>
          <a:p>
            <a:pPr marL="0" indent="0">
              <a:buNone/>
            </a:pPr>
            <a:r>
              <a:rPr lang="en-US" sz="1240" b="1" dirty="0">
                <a:solidFill>
                  <a:srgbClr val="9B5F12"/>
                </a:solidFill>
                <a:latin typeface="Aptos" pitchFamily="34" charset="0"/>
                <a:ea typeface="Aptos" pitchFamily="34" charset="-122"/>
                <a:cs typeface="Aptos" pitchFamily="34" charset="-120"/>
              </a:rPr>
              <a:t>[XX] current paying brokerages</a:t>
            </a:r>
            <a:endParaRPr lang="en-US" sz="1240" dirty="0"/>
          </a:p>
        </p:txBody>
      </p:sp>
      <p:sp>
        <p:nvSpPr>
          <p:cNvPr id="12" name="Shape 9"/>
          <p:cNvSpPr/>
          <p:nvPr/>
        </p:nvSpPr>
        <p:spPr>
          <a:xfrm>
            <a:off x="658368" y="2816352"/>
            <a:ext cx="2926080" cy="658368"/>
          </a:xfrm>
          <a:prstGeom prst="roundRect">
            <a:avLst>
              <a:gd name="adj" fmla="val 11111"/>
            </a:avLst>
          </a:prstGeom>
          <a:solidFill>
            <a:srgbClr val="FFF0D2"/>
          </a:solidFill>
          <a:ln w="12700">
            <a:solidFill>
              <a:srgbClr val="F59D23"/>
            </a:solidFill>
            <a:prstDash val="solid"/>
          </a:ln>
          <a:effectLst>
            <a:outerShdw blurRad="12700" dist="50800" dir="2700000" algn="bl" rotWithShape="0">
              <a:srgbClr val="E8E1F0">
                <a:alpha val="35000"/>
              </a:srgbClr>
            </a:outerShdw>
          </a:effectLst>
        </p:spPr>
        <p:txBody>
          <a:bodyPr/>
          <a:lstStyle/>
          <a:p>
            <a:endParaRPr lang="es-MX"/>
          </a:p>
        </p:txBody>
      </p:sp>
      <p:sp>
        <p:nvSpPr>
          <p:cNvPr id="13" name="Text 10"/>
          <p:cNvSpPr/>
          <p:nvPr/>
        </p:nvSpPr>
        <p:spPr>
          <a:xfrm>
            <a:off x="795528" y="2916936"/>
            <a:ext cx="2651760" cy="493776"/>
          </a:xfrm>
          <a:prstGeom prst="rect">
            <a:avLst/>
          </a:prstGeom>
          <a:noFill/>
          <a:ln/>
        </p:spPr>
        <p:txBody>
          <a:bodyPr wrap="square" lIns="254" tIns="254" rIns="254" bIns="254" rtlCol="0" anchor="ctr">
            <a:normAutofit/>
          </a:bodyPr>
          <a:lstStyle/>
          <a:p>
            <a:pPr marL="0" indent="0">
              <a:buNone/>
            </a:pPr>
            <a:r>
              <a:rPr lang="en-US" sz="1240" b="1" dirty="0">
                <a:solidFill>
                  <a:srgbClr val="9B5F12"/>
                </a:solidFill>
                <a:latin typeface="Aptos" pitchFamily="34" charset="0"/>
                <a:ea typeface="Aptos" pitchFamily="34" charset="-122"/>
                <a:cs typeface="Aptos" pitchFamily="34" charset="-120"/>
              </a:rPr>
              <a:t>[XX] retained &gt;1 year</a:t>
            </a:r>
            <a:endParaRPr lang="en-US" sz="1240" dirty="0"/>
          </a:p>
          <a:p>
            <a:pPr marL="0" indent="0">
              <a:buNone/>
            </a:pPr>
            <a:r>
              <a:rPr lang="en-US" sz="1240" b="1" dirty="0">
                <a:solidFill>
                  <a:srgbClr val="9B5F12"/>
                </a:solidFill>
                <a:latin typeface="Aptos" pitchFamily="34" charset="0"/>
                <a:ea typeface="Aptos" pitchFamily="34" charset="-122"/>
                <a:cs typeface="Aptos" pitchFamily="34" charset="-120"/>
              </a:rPr>
              <a:t>[XX] retained &gt;2 years</a:t>
            </a:r>
            <a:endParaRPr lang="en-US" sz="1240" dirty="0"/>
          </a:p>
        </p:txBody>
      </p:sp>
      <p:sp>
        <p:nvSpPr>
          <p:cNvPr id="14" name="Shape 11"/>
          <p:cNvSpPr/>
          <p:nvPr/>
        </p:nvSpPr>
        <p:spPr>
          <a:xfrm>
            <a:off x="658368" y="3602736"/>
            <a:ext cx="2926080" cy="548640"/>
          </a:xfrm>
          <a:prstGeom prst="roundRect">
            <a:avLst>
              <a:gd name="adj" fmla="val 13333"/>
            </a:avLst>
          </a:prstGeom>
          <a:solidFill>
            <a:srgbClr val="FFF0D2"/>
          </a:solidFill>
          <a:ln w="12700">
            <a:solidFill>
              <a:srgbClr val="F59D23"/>
            </a:solidFill>
            <a:prstDash val="solid"/>
          </a:ln>
          <a:effectLst>
            <a:outerShdw blurRad="12700" dist="50800" dir="2700000" algn="bl" rotWithShape="0">
              <a:srgbClr val="E8E1F0">
                <a:alpha val="35000"/>
              </a:srgbClr>
            </a:outerShdw>
          </a:effectLst>
        </p:spPr>
        <p:txBody>
          <a:bodyPr/>
          <a:lstStyle/>
          <a:p>
            <a:endParaRPr lang="es-MX"/>
          </a:p>
        </p:txBody>
      </p:sp>
      <p:sp>
        <p:nvSpPr>
          <p:cNvPr id="15" name="Text 12"/>
          <p:cNvSpPr/>
          <p:nvPr/>
        </p:nvSpPr>
        <p:spPr>
          <a:xfrm>
            <a:off x="795528" y="3703320"/>
            <a:ext cx="2651760" cy="384048"/>
          </a:xfrm>
          <a:prstGeom prst="rect">
            <a:avLst/>
          </a:prstGeom>
          <a:noFill/>
          <a:ln/>
        </p:spPr>
        <p:txBody>
          <a:bodyPr wrap="square" lIns="254" tIns="254" rIns="254" bIns="254" rtlCol="0" anchor="ctr">
            <a:normAutofit/>
          </a:bodyPr>
          <a:lstStyle/>
          <a:p>
            <a:pPr marL="0" indent="0">
              <a:buNone/>
            </a:pPr>
            <a:r>
              <a:rPr lang="en-US" sz="1240" b="1" dirty="0">
                <a:solidFill>
                  <a:srgbClr val="9B5F12"/>
                </a:solidFill>
                <a:latin typeface="Aptos" pitchFamily="34" charset="0"/>
                <a:ea typeface="Aptos" pitchFamily="34" charset="-122"/>
                <a:cs typeface="Aptos" pitchFamily="34" charset="-120"/>
              </a:rPr>
              <a:t>[XX] customers with ≥1 reload</a:t>
            </a:r>
            <a:endParaRPr lang="en-US" sz="1240" dirty="0"/>
          </a:p>
        </p:txBody>
      </p:sp>
      <p:sp>
        <p:nvSpPr>
          <p:cNvPr id="16" name="Text 13"/>
          <p:cNvSpPr/>
          <p:nvPr/>
        </p:nvSpPr>
        <p:spPr>
          <a:xfrm>
            <a:off x="3977640" y="1783080"/>
            <a:ext cx="5852160" cy="210312"/>
          </a:xfrm>
          <a:prstGeom prst="rect">
            <a:avLst/>
          </a:prstGeom>
          <a:noFill/>
          <a:ln/>
        </p:spPr>
        <p:txBody>
          <a:bodyPr wrap="square" lIns="0" tIns="0" rIns="0" bIns="0" rtlCol="0" anchor="ctr"/>
          <a:lstStyle/>
          <a:p>
            <a:pPr marL="0" indent="0">
              <a:buNone/>
            </a:pPr>
            <a:r>
              <a:rPr lang="en-US" sz="1400" b="1" dirty="0">
                <a:solidFill>
                  <a:srgbClr val="746D88"/>
                </a:solidFill>
                <a:latin typeface="Aptos" pitchFamily="34" charset="0"/>
                <a:ea typeface="Aptos" pitchFamily="34" charset="-122"/>
                <a:cs typeface="Aptos" pitchFamily="34" charset="-120"/>
              </a:rPr>
              <a:t>THE CUSTOMER FACTORY WE ARE PROVING</a:t>
            </a:r>
            <a:endParaRPr lang="en-US" sz="1400" dirty="0"/>
          </a:p>
        </p:txBody>
      </p:sp>
      <p:sp>
        <p:nvSpPr>
          <p:cNvPr id="17" name="Shape 14"/>
          <p:cNvSpPr/>
          <p:nvPr/>
        </p:nvSpPr>
        <p:spPr>
          <a:xfrm>
            <a:off x="388620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18" name="Text 15"/>
          <p:cNvSpPr/>
          <p:nvPr/>
        </p:nvSpPr>
        <p:spPr>
          <a:xfrm>
            <a:off x="392277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ACQUIRE</a:t>
            </a:r>
            <a:endParaRPr lang="en-US" sz="960" dirty="0"/>
          </a:p>
        </p:txBody>
      </p:sp>
      <p:sp>
        <p:nvSpPr>
          <p:cNvPr id="19" name="Shape 16"/>
          <p:cNvSpPr/>
          <p:nvPr/>
        </p:nvSpPr>
        <p:spPr>
          <a:xfrm>
            <a:off x="483717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20" name="Shape 17"/>
          <p:cNvSpPr/>
          <p:nvPr/>
        </p:nvSpPr>
        <p:spPr>
          <a:xfrm>
            <a:off x="489204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21" name="Text 18"/>
          <p:cNvSpPr/>
          <p:nvPr/>
        </p:nvSpPr>
        <p:spPr>
          <a:xfrm>
            <a:off x="492861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ACTIVATE</a:t>
            </a:r>
            <a:endParaRPr lang="en-US" sz="960" dirty="0"/>
          </a:p>
        </p:txBody>
      </p:sp>
      <p:sp>
        <p:nvSpPr>
          <p:cNvPr id="22" name="Shape 19"/>
          <p:cNvSpPr/>
          <p:nvPr/>
        </p:nvSpPr>
        <p:spPr>
          <a:xfrm>
            <a:off x="584301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23" name="Shape 20"/>
          <p:cNvSpPr/>
          <p:nvPr/>
        </p:nvSpPr>
        <p:spPr>
          <a:xfrm>
            <a:off x="589788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24" name="Text 21"/>
          <p:cNvSpPr/>
          <p:nvPr/>
        </p:nvSpPr>
        <p:spPr>
          <a:xfrm>
            <a:off x="593445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rPr>
              <a:t>FIRST WORK</a:t>
            </a:r>
            <a:endParaRPr lang="en-US" sz="960" dirty="0"/>
          </a:p>
        </p:txBody>
      </p:sp>
      <p:sp>
        <p:nvSpPr>
          <p:cNvPr id="25" name="Shape 22"/>
          <p:cNvSpPr/>
          <p:nvPr/>
        </p:nvSpPr>
        <p:spPr>
          <a:xfrm>
            <a:off x="684885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26" name="Shape 23"/>
          <p:cNvSpPr/>
          <p:nvPr/>
        </p:nvSpPr>
        <p:spPr>
          <a:xfrm>
            <a:off x="690372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27" name="Text 24"/>
          <p:cNvSpPr/>
          <p:nvPr/>
        </p:nvSpPr>
        <p:spPr>
          <a:xfrm>
            <a:off x="694029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PAY</a:t>
            </a:r>
            <a:endParaRPr lang="en-US" sz="960" dirty="0"/>
          </a:p>
        </p:txBody>
      </p:sp>
      <p:sp>
        <p:nvSpPr>
          <p:cNvPr id="28" name="Shape 25"/>
          <p:cNvSpPr/>
          <p:nvPr/>
        </p:nvSpPr>
        <p:spPr>
          <a:xfrm>
            <a:off x="785469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29" name="Shape 26"/>
          <p:cNvSpPr/>
          <p:nvPr/>
        </p:nvSpPr>
        <p:spPr>
          <a:xfrm>
            <a:off x="790956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30" name="Text 27"/>
          <p:cNvSpPr/>
          <p:nvPr/>
        </p:nvSpPr>
        <p:spPr>
          <a:xfrm>
            <a:off x="794613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CONSUME</a:t>
            </a:r>
            <a:endParaRPr lang="en-US" sz="960" dirty="0"/>
          </a:p>
        </p:txBody>
      </p:sp>
      <p:sp>
        <p:nvSpPr>
          <p:cNvPr id="31" name="Shape 28"/>
          <p:cNvSpPr/>
          <p:nvPr/>
        </p:nvSpPr>
        <p:spPr>
          <a:xfrm>
            <a:off x="886053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32" name="Shape 29"/>
          <p:cNvSpPr/>
          <p:nvPr/>
        </p:nvSpPr>
        <p:spPr>
          <a:xfrm>
            <a:off x="8915400" y="2267712"/>
            <a:ext cx="932688" cy="566928"/>
          </a:xfrm>
          <a:prstGeom prst="roundRect">
            <a:avLst>
              <a:gd name="adj" fmla="val 12903"/>
            </a:avLst>
          </a:prstGeom>
          <a:solidFill>
            <a:srgbClr val="5E2BC2"/>
          </a:solidFill>
          <a:ln w="12700">
            <a:solidFill>
              <a:srgbClr val="5E2BC2"/>
            </a:solidFill>
            <a:prstDash val="solid"/>
          </a:ln>
          <a:effectLst>
            <a:outerShdw blurRad="12700" dist="50800" dir="2700000" algn="bl" rotWithShape="0">
              <a:srgbClr val="E8E1F0">
                <a:alpha val="35000"/>
              </a:srgbClr>
            </a:outerShdw>
          </a:effectLst>
        </p:spPr>
        <p:txBody>
          <a:bodyPr/>
          <a:lstStyle/>
          <a:p>
            <a:endParaRPr lang="es-MX"/>
          </a:p>
        </p:txBody>
      </p:sp>
      <p:sp>
        <p:nvSpPr>
          <p:cNvPr id="33" name="Text 30"/>
          <p:cNvSpPr/>
          <p:nvPr/>
        </p:nvSpPr>
        <p:spPr>
          <a:xfrm>
            <a:off x="895197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Aptos Display" pitchFamily="34" charset="0"/>
                <a:ea typeface="Aptos Display" pitchFamily="34" charset="-122"/>
                <a:cs typeface="Aptos Display" pitchFamily="34" charset="-120"/>
              </a:rPr>
              <a:t>RELOAD</a:t>
            </a:r>
            <a:endParaRPr lang="en-US" sz="960" dirty="0"/>
          </a:p>
        </p:txBody>
      </p:sp>
      <p:sp>
        <p:nvSpPr>
          <p:cNvPr id="34" name="Shape 31"/>
          <p:cNvSpPr/>
          <p:nvPr/>
        </p:nvSpPr>
        <p:spPr>
          <a:xfrm>
            <a:off x="986637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35" name="Shape 32"/>
          <p:cNvSpPr/>
          <p:nvPr/>
        </p:nvSpPr>
        <p:spPr>
          <a:xfrm>
            <a:off x="992124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36" name="Text 33"/>
          <p:cNvSpPr/>
          <p:nvPr/>
        </p:nvSpPr>
        <p:spPr>
          <a:xfrm>
            <a:off x="995781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RETAIN</a:t>
            </a:r>
            <a:endParaRPr lang="en-US" sz="960" dirty="0"/>
          </a:p>
        </p:txBody>
      </p:sp>
      <p:sp>
        <p:nvSpPr>
          <p:cNvPr id="37" name="Shape 34"/>
          <p:cNvSpPr/>
          <p:nvPr/>
        </p:nvSpPr>
        <p:spPr>
          <a:xfrm>
            <a:off x="10872216" y="2551176"/>
            <a:ext cx="18288" cy="0"/>
          </a:xfrm>
          <a:prstGeom prst="line">
            <a:avLst/>
          </a:prstGeom>
          <a:noFill/>
          <a:ln w="16510">
            <a:solidFill>
              <a:srgbClr val="C8BADF"/>
            </a:solidFill>
            <a:prstDash val="solid"/>
            <a:headEnd type="none"/>
            <a:tailEnd type="triangle"/>
          </a:ln>
        </p:spPr>
        <p:txBody>
          <a:bodyPr/>
          <a:lstStyle/>
          <a:p>
            <a:endParaRPr lang="es-MX"/>
          </a:p>
        </p:txBody>
      </p:sp>
      <p:sp>
        <p:nvSpPr>
          <p:cNvPr id="38" name="Shape 35"/>
          <p:cNvSpPr/>
          <p:nvPr/>
        </p:nvSpPr>
        <p:spPr>
          <a:xfrm>
            <a:off x="10927080" y="2267712"/>
            <a:ext cx="932688" cy="566928"/>
          </a:xfrm>
          <a:prstGeom prst="roundRect">
            <a:avLst>
              <a:gd name="adj" fmla="val 12903"/>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39" name="Text 36"/>
          <p:cNvSpPr/>
          <p:nvPr/>
        </p:nvSpPr>
        <p:spPr>
          <a:xfrm>
            <a:off x="10963656" y="2368296"/>
            <a:ext cx="859536" cy="384048"/>
          </a:xfrm>
          <a:prstGeom prst="rect">
            <a:avLst/>
          </a:prstGeom>
          <a:noFill/>
          <a:ln/>
        </p:spPr>
        <p:txBody>
          <a:bodyPr wrap="square" lIns="0" tIns="0" rIns="0" bIns="0" rtlCol="0" anchor="ctr">
            <a:normAutofit/>
          </a:bodyPr>
          <a:lstStyle/>
          <a:p>
            <a:pPr marL="0" indent="0" algn="ctr">
              <a:buNone/>
            </a:pPr>
            <a:r>
              <a:rPr lang="en-US" sz="960" b="1" dirty="0">
                <a:solidFill>
                  <a:srgbClr val="151428"/>
                </a:solidFill>
                <a:latin typeface="Aptos Display" pitchFamily="34" charset="0"/>
                <a:ea typeface="Aptos Display" pitchFamily="34" charset="-122"/>
                <a:cs typeface="Aptos Display" pitchFamily="34" charset="-120"/>
              </a:rPr>
              <a:t>EXPAND</a:t>
            </a:r>
            <a:endParaRPr lang="en-US" sz="960" dirty="0"/>
          </a:p>
        </p:txBody>
      </p:sp>
      <p:sp>
        <p:nvSpPr>
          <p:cNvPr id="42" name="Text 39"/>
          <p:cNvSpPr/>
          <p:nvPr/>
        </p:nvSpPr>
        <p:spPr>
          <a:xfrm>
            <a:off x="3977640" y="3493008"/>
            <a:ext cx="7775158" cy="292608"/>
          </a:xfrm>
          <a:prstGeom prst="rect">
            <a:avLst/>
          </a:prstGeom>
          <a:noFill/>
          <a:ln/>
        </p:spPr>
        <p:txBody>
          <a:bodyPr wrap="square" lIns="0" tIns="0" rIns="0" bIns="0" rtlCol="0" anchor="ctr">
            <a:noAutofit/>
          </a:bodyPr>
          <a:lstStyle/>
          <a:p>
            <a:pPr marL="0" indent="0" algn="ctr">
              <a:buNone/>
            </a:pPr>
            <a:r>
              <a:rPr lang="en-US" sz="1400" b="1" dirty="0">
                <a:solidFill>
                  <a:srgbClr val="151428"/>
                </a:solidFill>
                <a:latin typeface="Aptos" pitchFamily="34" charset="0"/>
                <a:ea typeface="Aptos" pitchFamily="34" charset="-122"/>
                <a:cs typeface="Aptos" pitchFamily="34" charset="-120"/>
              </a:rPr>
              <a:t>Commercial proof = repeatable acquisition → paid usage → reload → retention → expansion.</a:t>
            </a:r>
            <a:endParaRPr lang="en-US" sz="1400" dirty="0"/>
          </a:p>
        </p:txBody>
      </p:sp>
      <p:sp>
        <p:nvSpPr>
          <p:cNvPr id="43" name="Text 40"/>
          <p:cNvSpPr/>
          <p:nvPr/>
        </p:nvSpPr>
        <p:spPr>
          <a:xfrm>
            <a:off x="658368" y="4442820"/>
            <a:ext cx="3657600" cy="210312"/>
          </a:xfrm>
          <a:prstGeom prst="rect">
            <a:avLst/>
          </a:prstGeom>
          <a:noFill/>
          <a:ln/>
        </p:spPr>
        <p:txBody>
          <a:bodyPr wrap="square" lIns="0" tIns="0" rIns="0" bIns="0" rtlCol="0" anchor="ctr"/>
          <a:lstStyle/>
          <a:p>
            <a:pPr marL="0" indent="0">
              <a:buNone/>
            </a:pPr>
            <a:r>
              <a:rPr lang="en-US" sz="1400" b="1" dirty="0">
                <a:solidFill>
                  <a:srgbClr val="746D88"/>
                </a:solidFill>
                <a:latin typeface="Aptos" pitchFamily="34" charset="0"/>
                <a:ea typeface="Aptos" pitchFamily="34" charset="-122"/>
                <a:cs typeface="Aptos" pitchFamily="34" charset="-120"/>
              </a:rPr>
              <a:t>GTM MOTIONS WE ARE TESTING</a:t>
            </a:r>
            <a:endParaRPr lang="en-US" sz="1400" dirty="0"/>
          </a:p>
        </p:txBody>
      </p:sp>
      <p:sp>
        <p:nvSpPr>
          <p:cNvPr id="44" name="Shape 41"/>
          <p:cNvSpPr/>
          <p:nvPr/>
        </p:nvSpPr>
        <p:spPr>
          <a:xfrm>
            <a:off x="658368" y="4790292"/>
            <a:ext cx="3529584" cy="1252728"/>
          </a:xfrm>
          <a:prstGeom prst="roundRect">
            <a:avLst>
              <a:gd name="adj" fmla="val 5839"/>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45" name="Shape 42"/>
          <p:cNvSpPr/>
          <p:nvPr/>
        </p:nvSpPr>
        <p:spPr>
          <a:xfrm>
            <a:off x="841248" y="4954884"/>
            <a:ext cx="310896" cy="310896"/>
          </a:xfrm>
          <a:prstGeom prst="ellipse">
            <a:avLst/>
          </a:prstGeom>
          <a:solidFill>
            <a:srgbClr val="5E2BC2"/>
          </a:solidFill>
          <a:ln w="12700">
            <a:solidFill>
              <a:srgbClr val="5E2BC2"/>
            </a:solidFill>
            <a:prstDash val="solid"/>
          </a:ln>
        </p:spPr>
        <p:txBody>
          <a:bodyPr/>
          <a:lstStyle/>
          <a:p>
            <a:endParaRPr lang="es-MX"/>
          </a:p>
        </p:txBody>
      </p:sp>
      <p:sp>
        <p:nvSpPr>
          <p:cNvPr id="46" name="Text 43"/>
          <p:cNvSpPr/>
          <p:nvPr/>
        </p:nvSpPr>
        <p:spPr>
          <a:xfrm>
            <a:off x="841248" y="5014320"/>
            <a:ext cx="310896"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47" name="Text 44"/>
          <p:cNvSpPr/>
          <p:nvPr/>
        </p:nvSpPr>
        <p:spPr>
          <a:xfrm>
            <a:off x="1252728" y="4945740"/>
            <a:ext cx="2752344" cy="210312"/>
          </a:xfrm>
          <a:prstGeom prst="rect">
            <a:avLst/>
          </a:prstGeom>
          <a:noFill/>
          <a:ln/>
        </p:spPr>
        <p:txBody>
          <a:bodyPr wrap="square" lIns="0" tIns="0" rIns="0" bIns="0" rtlCol="0" anchor="ctr"/>
          <a:lstStyle/>
          <a:p>
            <a:pPr marL="0" indent="0">
              <a:buNone/>
            </a:pPr>
            <a:r>
              <a:rPr lang="en-US" sz="1200" b="1" dirty="0">
                <a:solidFill>
                  <a:srgbClr val="5E2BC2"/>
                </a:solidFill>
                <a:latin typeface="Aptos" pitchFamily="34" charset="0"/>
                <a:ea typeface="Aptos" pitchFamily="34" charset="-122"/>
                <a:cs typeface="Aptos" pitchFamily="34" charset="-120"/>
              </a:rPr>
              <a:t>DIRECT ACQUISITION</a:t>
            </a:r>
            <a:endParaRPr lang="en-US" sz="1200" dirty="0"/>
          </a:p>
        </p:txBody>
      </p:sp>
      <p:sp>
        <p:nvSpPr>
          <p:cNvPr id="48" name="Text 45"/>
          <p:cNvSpPr/>
          <p:nvPr/>
        </p:nvSpPr>
        <p:spPr>
          <a:xfrm>
            <a:off x="886968" y="5314058"/>
            <a:ext cx="3072384" cy="411480"/>
          </a:xfrm>
          <a:prstGeom prst="rect">
            <a:avLst/>
          </a:prstGeom>
          <a:noFill/>
          <a:ln/>
        </p:spPr>
        <p:txBody>
          <a:bodyPr wrap="square" lIns="254" tIns="254" rIns="254" bIns="254" rtlCol="0" anchor="t">
            <a:normAutofit/>
          </a:bodyPr>
          <a:lstStyle/>
          <a:p>
            <a:pPr marL="0" indent="0">
              <a:buNone/>
            </a:pPr>
            <a:r>
              <a:rPr lang="en-US" sz="1000" dirty="0">
                <a:solidFill>
                  <a:srgbClr val="151428"/>
                </a:solidFill>
                <a:latin typeface="Aptos" pitchFamily="34" charset="0"/>
                <a:ea typeface="Aptos" pitchFamily="34" charset="-122"/>
                <a:cs typeface="Aptos" pitchFamily="34" charset="-120"/>
              </a:rPr>
              <a:t>Founder-led selling · WhatsApp outreach · ICP-based outbound · paid digital campaigns</a:t>
            </a:r>
            <a:endParaRPr lang="en-US" sz="1000" dirty="0"/>
          </a:p>
        </p:txBody>
      </p:sp>
      <p:sp>
        <p:nvSpPr>
          <p:cNvPr id="49" name="Shape 46"/>
          <p:cNvSpPr/>
          <p:nvPr/>
        </p:nvSpPr>
        <p:spPr>
          <a:xfrm>
            <a:off x="886968" y="5713836"/>
            <a:ext cx="3072384" cy="256032"/>
          </a:xfrm>
          <a:prstGeom prst="roundRect">
            <a:avLst>
              <a:gd name="adj" fmla="val 14286"/>
            </a:avLst>
          </a:prstGeom>
          <a:solidFill>
            <a:srgbClr val="FFF0D2"/>
          </a:solidFill>
          <a:ln w="8890">
            <a:solidFill>
              <a:srgbClr val="F59D23"/>
            </a:solidFill>
            <a:prstDash val="solid"/>
          </a:ln>
        </p:spPr>
        <p:txBody>
          <a:bodyPr/>
          <a:lstStyle/>
          <a:p>
            <a:endParaRPr lang="es-MX"/>
          </a:p>
        </p:txBody>
      </p:sp>
      <p:sp>
        <p:nvSpPr>
          <p:cNvPr id="50" name="Text 47"/>
          <p:cNvSpPr/>
          <p:nvPr/>
        </p:nvSpPr>
        <p:spPr>
          <a:xfrm>
            <a:off x="950976" y="5716227"/>
            <a:ext cx="2944368" cy="263580"/>
          </a:xfrm>
          <a:prstGeom prst="rect">
            <a:avLst/>
          </a:prstGeom>
          <a:noFill/>
          <a:ln/>
        </p:spPr>
        <p:txBody>
          <a:bodyPr wrap="square" lIns="0" tIns="0" rIns="0" bIns="0" rtlCol="0" anchor="ctr">
            <a:noAutofit/>
          </a:bodyPr>
          <a:lstStyle/>
          <a:p>
            <a:pPr marL="0" indent="0">
              <a:buNone/>
            </a:pPr>
            <a:r>
              <a:rPr lang="en-US" sz="900" b="1" dirty="0">
                <a:solidFill>
                  <a:srgbClr val="9B5F12"/>
                </a:solidFill>
                <a:latin typeface="Aptos" pitchFamily="34" charset="0"/>
                <a:ea typeface="Aptos" pitchFamily="34" charset="-122"/>
                <a:cs typeface="Aptos" pitchFamily="34" charset="-120"/>
              </a:rPr>
              <a:t>[XX reached → YY activated → ZZ paid → NN reloaded]</a:t>
            </a:r>
            <a:endParaRPr lang="en-US" sz="900" dirty="0"/>
          </a:p>
        </p:txBody>
      </p:sp>
      <p:sp>
        <p:nvSpPr>
          <p:cNvPr id="51" name="Shape 48"/>
          <p:cNvSpPr/>
          <p:nvPr/>
        </p:nvSpPr>
        <p:spPr>
          <a:xfrm>
            <a:off x="4334256" y="4790292"/>
            <a:ext cx="3529584" cy="1252728"/>
          </a:xfrm>
          <a:prstGeom prst="roundRect">
            <a:avLst>
              <a:gd name="adj" fmla="val 5839"/>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52" name="Shape 49"/>
          <p:cNvSpPr/>
          <p:nvPr/>
        </p:nvSpPr>
        <p:spPr>
          <a:xfrm>
            <a:off x="4517136" y="4954884"/>
            <a:ext cx="310896" cy="310896"/>
          </a:xfrm>
          <a:prstGeom prst="ellipse">
            <a:avLst/>
          </a:prstGeom>
          <a:solidFill>
            <a:srgbClr val="A94D7F"/>
          </a:solidFill>
          <a:ln w="12700">
            <a:solidFill>
              <a:srgbClr val="A94D7F"/>
            </a:solidFill>
            <a:prstDash val="solid"/>
          </a:ln>
        </p:spPr>
        <p:txBody>
          <a:bodyPr/>
          <a:lstStyle/>
          <a:p>
            <a:endParaRPr lang="es-MX"/>
          </a:p>
        </p:txBody>
      </p:sp>
      <p:sp>
        <p:nvSpPr>
          <p:cNvPr id="53" name="Text 50"/>
          <p:cNvSpPr/>
          <p:nvPr/>
        </p:nvSpPr>
        <p:spPr>
          <a:xfrm>
            <a:off x="4517136" y="5014320"/>
            <a:ext cx="310896"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54" name="Text 51"/>
          <p:cNvSpPr/>
          <p:nvPr/>
        </p:nvSpPr>
        <p:spPr>
          <a:xfrm>
            <a:off x="4928616" y="4945740"/>
            <a:ext cx="2752344" cy="210312"/>
          </a:xfrm>
          <a:prstGeom prst="rect">
            <a:avLst/>
          </a:prstGeom>
          <a:noFill/>
          <a:ln/>
        </p:spPr>
        <p:txBody>
          <a:bodyPr wrap="square" lIns="0" tIns="0" rIns="0" bIns="0" rtlCol="0" anchor="ctr"/>
          <a:lstStyle/>
          <a:p>
            <a:pPr marL="0" indent="0">
              <a:buNone/>
            </a:pPr>
            <a:r>
              <a:rPr lang="en-US" sz="1200" b="1" dirty="0">
                <a:solidFill>
                  <a:srgbClr val="A94D7F"/>
                </a:solidFill>
                <a:latin typeface="Aptos" pitchFamily="34" charset="0"/>
                <a:ea typeface="Aptos" pitchFamily="34" charset="-122"/>
                <a:cs typeface="Aptos" pitchFamily="34" charset="-120"/>
              </a:rPr>
              <a:t>INDUSTRY / CHANNEL DISTRIBUTION</a:t>
            </a:r>
            <a:endParaRPr lang="en-US" sz="1200" dirty="0"/>
          </a:p>
        </p:txBody>
      </p:sp>
      <p:sp>
        <p:nvSpPr>
          <p:cNvPr id="55" name="Text 52"/>
          <p:cNvSpPr/>
          <p:nvPr/>
        </p:nvSpPr>
        <p:spPr>
          <a:xfrm>
            <a:off x="4562856" y="5314058"/>
            <a:ext cx="3072384" cy="411480"/>
          </a:xfrm>
          <a:prstGeom prst="rect">
            <a:avLst/>
          </a:prstGeom>
          <a:noFill/>
          <a:ln/>
        </p:spPr>
        <p:txBody>
          <a:bodyPr wrap="square" lIns="254" tIns="254" rIns="254" bIns="254" rtlCol="0" anchor="t">
            <a:normAutofit/>
          </a:bodyPr>
          <a:lstStyle/>
          <a:p>
            <a:pPr marL="0" indent="0">
              <a:buNone/>
            </a:pPr>
            <a:r>
              <a:rPr lang="en-US" sz="1000" dirty="0">
                <a:solidFill>
                  <a:srgbClr val="151428"/>
                </a:solidFill>
                <a:latin typeface="Aptos" pitchFamily="34" charset="0"/>
                <a:ea typeface="Aptos" pitchFamily="34" charset="-122"/>
                <a:cs typeface="Aptos" pitchFamily="34" charset="-120"/>
              </a:rPr>
              <a:t>Associations · events · franchise / office relationships · partner-driven introductions</a:t>
            </a:r>
            <a:endParaRPr lang="en-US" sz="1000" dirty="0"/>
          </a:p>
        </p:txBody>
      </p:sp>
      <p:sp>
        <p:nvSpPr>
          <p:cNvPr id="56" name="Shape 53"/>
          <p:cNvSpPr/>
          <p:nvPr/>
        </p:nvSpPr>
        <p:spPr>
          <a:xfrm>
            <a:off x="8010144" y="4790292"/>
            <a:ext cx="3529584" cy="1252728"/>
          </a:xfrm>
          <a:prstGeom prst="roundRect">
            <a:avLst>
              <a:gd name="adj" fmla="val 5839"/>
            </a:avLst>
          </a:prstGeom>
          <a:solidFill>
            <a:srgbClr val="FFFFFF"/>
          </a:solidFill>
          <a:ln w="12700">
            <a:solidFill>
              <a:srgbClr val="DCCFF2"/>
            </a:solidFill>
            <a:prstDash val="solid"/>
          </a:ln>
          <a:effectLst>
            <a:outerShdw blurRad="12700" dist="50800" dir="2700000" algn="bl" rotWithShape="0">
              <a:srgbClr val="E8E1F0">
                <a:alpha val="35000"/>
              </a:srgbClr>
            </a:outerShdw>
          </a:effectLst>
        </p:spPr>
        <p:txBody>
          <a:bodyPr/>
          <a:lstStyle/>
          <a:p>
            <a:endParaRPr lang="es-MX"/>
          </a:p>
        </p:txBody>
      </p:sp>
      <p:sp>
        <p:nvSpPr>
          <p:cNvPr id="57" name="Shape 54"/>
          <p:cNvSpPr/>
          <p:nvPr/>
        </p:nvSpPr>
        <p:spPr>
          <a:xfrm>
            <a:off x="8193024" y="4954884"/>
            <a:ext cx="310896" cy="310896"/>
          </a:xfrm>
          <a:prstGeom prst="ellipse">
            <a:avLst/>
          </a:prstGeom>
          <a:solidFill>
            <a:srgbClr val="047A47"/>
          </a:solidFill>
          <a:ln w="12700">
            <a:solidFill>
              <a:srgbClr val="047A47"/>
            </a:solidFill>
            <a:prstDash val="solid"/>
          </a:ln>
        </p:spPr>
        <p:txBody>
          <a:bodyPr/>
          <a:lstStyle/>
          <a:p>
            <a:endParaRPr lang="es-MX"/>
          </a:p>
        </p:txBody>
      </p:sp>
      <p:sp>
        <p:nvSpPr>
          <p:cNvPr id="58" name="Text 55"/>
          <p:cNvSpPr/>
          <p:nvPr/>
        </p:nvSpPr>
        <p:spPr>
          <a:xfrm>
            <a:off x="8193024" y="5014320"/>
            <a:ext cx="310896"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59" name="Text 56"/>
          <p:cNvSpPr/>
          <p:nvPr/>
        </p:nvSpPr>
        <p:spPr>
          <a:xfrm>
            <a:off x="8604504" y="4945740"/>
            <a:ext cx="2752344" cy="210312"/>
          </a:xfrm>
          <a:prstGeom prst="rect">
            <a:avLst/>
          </a:prstGeom>
          <a:noFill/>
          <a:ln/>
        </p:spPr>
        <p:txBody>
          <a:bodyPr wrap="square" lIns="0" tIns="0" rIns="0" bIns="0" rtlCol="0" anchor="ctr"/>
          <a:lstStyle/>
          <a:p>
            <a:pPr marL="0" indent="0">
              <a:buNone/>
            </a:pPr>
            <a:r>
              <a:rPr lang="en-US" sz="1200" b="1" dirty="0">
                <a:solidFill>
                  <a:srgbClr val="047A47"/>
                </a:solidFill>
                <a:latin typeface="Aptos" pitchFamily="34" charset="0"/>
                <a:ea typeface="Aptos" pitchFamily="34" charset="-122"/>
                <a:cs typeface="Aptos" pitchFamily="34" charset="-120"/>
              </a:rPr>
              <a:t>LAND &amp; EXPAND</a:t>
            </a:r>
            <a:endParaRPr lang="en-US" sz="1200" dirty="0"/>
          </a:p>
        </p:txBody>
      </p:sp>
      <p:sp>
        <p:nvSpPr>
          <p:cNvPr id="60" name="Text 57"/>
          <p:cNvSpPr/>
          <p:nvPr/>
        </p:nvSpPr>
        <p:spPr>
          <a:xfrm>
            <a:off x="8238744" y="5314058"/>
            <a:ext cx="3072384" cy="411480"/>
          </a:xfrm>
          <a:prstGeom prst="rect">
            <a:avLst/>
          </a:prstGeom>
          <a:noFill/>
          <a:ln/>
        </p:spPr>
        <p:txBody>
          <a:bodyPr wrap="square" lIns="254" tIns="254" rIns="254" bIns="254" rtlCol="0" anchor="t">
            <a:normAutofit/>
          </a:bodyPr>
          <a:lstStyle/>
          <a:p>
            <a:pPr marL="0" indent="0">
              <a:buNone/>
            </a:pPr>
            <a:r>
              <a:rPr lang="en-US" sz="1000" dirty="0">
                <a:solidFill>
                  <a:srgbClr val="151428"/>
                </a:solidFill>
                <a:latin typeface="Aptos" pitchFamily="34" charset="0"/>
                <a:ea typeface="Aptos" pitchFamily="34" charset="-122"/>
                <a:cs typeface="Aptos" pitchFamily="34" charset="-120"/>
              </a:rPr>
              <a:t>Lead-conversion wedge → reload → broader work delegated to Gu / Gu OS</a:t>
            </a:r>
            <a:endParaRPr lang="en-US" sz="1000" dirty="0"/>
          </a:p>
        </p:txBody>
      </p:sp>
      <p:sp>
        <p:nvSpPr>
          <p:cNvPr id="61" name="Text 58"/>
          <p:cNvSpPr/>
          <p:nvPr/>
        </p:nvSpPr>
        <p:spPr>
          <a:xfrm>
            <a:off x="665625" y="6157104"/>
            <a:ext cx="5577840" cy="137160"/>
          </a:xfrm>
          <a:prstGeom prst="rect">
            <a:avLst/>
          </a:prstGeom>
          <a:noFill/>
          <a:ln/>
        </p:spPr>
        <p:txBody>
          <a:bodyPr wrap="square" lIns="0" tIns="0" rIns="0" bIns="0" rtlCol="0" anchor="ctr"/>
          <a:lstStyle/>
          <a:p>
            <a:pPr marL="0" indent="0">
              <a:buNone/>
            </a:pPr>
            <a:r>
              <a:rPr lang="en-US" sz="880" i="1" dirty="0">
                <a:solidFill>
                  <a:srgbClr val="746D88"/>
                </a:solidFill>
                <a:latin typeface="Aptos" pitchFamily="34" charset="0"/>
                <a:ea typeface="Aptos" pitchFamily="34" charset="-122"/>
                <a:cs typeface="Aptos" pitchFamily="34" charset="-120"/>
              </a:rPr>
              <a:t>ICP hypothesis: high operational intensity × high economic value per opportunity.</a:t>
            </a:r>
            <a:endParaRPr lang="en-US" sz="880" dirty="0"/>
          </a:p>
        </p:txBody>
      </p:sp>
      <p:sp>
        <p:nvSpPr>
          <p:cNvPr id="62" name="CuadroTexto 61">
            <a:extLst>
              <a:ext uri="{FF2B5EF4-FFF2-40B4-BE49-F238E27FC236}">
                <a16:creationId xmlns:a16="http://schemas.microsoft.com/office/drawing/2014/main" id="{816FDE67-6900-82B3-6564-56D00BA73D31}"/>
              </a:ext>
            </a:extLst>
          </p:cNvPr>
          <p:cNvSpPr txBox="1"/>
          <p:nvPr/>
        </p:nvSpPr>
        <p:spPr>
          <a:xfrm>
            <a:off x="10755086" y="4013200"/>
            <a:ext cx="184731" cy="369332"/>
          </a:xfrm>
          <a:prstGeom prst="rect">
            <a:avLst/>
          </a:prstGeom>
          <a:noFill/>
        </p:spPr>
        <p:txBody>
          <a:bodyPr wrap="none" rtlCol="0">
            <a:spAutoFit/>
          </a:bodyPr>
          <a:lstStyle/>
          <a:p>
            <a:endParaRPr lang="es-MX" dirty="0"/>
          </a:p>
        </p:txBody>
      </p:sp>
      <p:sp>
        <p:nvSpPr>
          <p:cNvPr id="64" name="Shape 37">
            <a:extLst>
              <a:ext uri="{FF2B5EF4-FFF2-40B4-BE49-F238E27FC236}">
                <a16:creationId xmlns:a16="http://schemas.microsoft.com/office/drawing/2014/main" id="{B708CA44-42E4-0E88-0CDA-8D1F5064F944}"/>
              </a:ext>
            </a:extLst>
          </p:cNvPr>
          <p:cNvSpPr/>
          <p:nvPr/>
        </p:nvSpPr>
        <p:spPr>
          <a:xfrm>
            <a:off x="5861304" y="2924184"/>
            <a:ext cx="1005840"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66" name="Text 38">
            <a:extLst>
              <a:ext uri="{FF2B5EF4-FFF2-40B4-BE49-F238E27FC236}">
                <a16:creationId xmlns:a16="http://schemas.microsoft.com/office/drawing/2014/main" id="{DFA72C8B-61AE-FE2D-588A-574C51645473}"/>
              </a:ext>
            </a:extLst>
          </p:cNvPr>
          <p:cNvSpPr/>
          <p:nvPr/>
        </p:nvSpPr>
        <p:spPr>
          <a:xfrm>
            <a:off x="5907024" y="2973396"/>
            <a:ext cx="914400" cy="19616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Starter credits · card on file</a:t>
            </a:r>
            <a:endParaRPr lang="en-US" sz="800" dirty="0"/>
          </a:p>
        </p:txBody>
      </p:sp>
      <p:grpSp>
        <p:nvGrpSpPr>
          <p:cNvPr id="79" name="Grupo 78">
            <a:extLst>
              <a:ext uri="{FF2B5EF4-FFF2-40B4-BE49-F238E27FC236}">
                <a16:creationId xmlns:a16="http://schemas.microsoft.com/office/drawing/2014/main" id="{B0B5250B-1AC3-5D12-AD39-D90C2B0881A5}"/>
              </a:ext>
            </a:extLst>
          </p:cNvPr>
          <p:cNvGrpSpPr/>
          <p:nvPr/>
        </p:nvGrpSpPr>
        <p:grpSpPr>
          <a:xfrm>
            <a:off x="6926091" y="2924184"/>
            <a:ext cx="910317" cy="292608"/>
            <a:chOff x="6926091" y="2924184"/>
            <a:chExt cx="910317" cy="292608"/>
          </a:xfrm>
        </p:grpSpPr>
        <p:sp>
          <p:nvSpPr>
            <p:cNvPr id="72" name="Shape 37">
              <a:extLst>
                <a:ext uri="{FF2B5EF4-FFF2-40B4-BE49-F238E27FC236}">
                  <a16:creationId xmlns:a16="http://schemas.microsoft.com/office/drawing/2014/main" id="{407E7E8E-1042-3E43-0C3B-0239B4AD3D3F}"/>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74" name="Text 38">
              <a:extLst>
                <a:ext uri="{FF2B5EF4-FFF2-40B4-BE49-F238E27FC236}">
                  <a16:creationId xmlns:a16="http://schemas.microsoft.com/office/drawing/2014/main" id="{B9919E42-B2ED-624C-CB88-2692EE4C7C0E}"/>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First paid credits  loaded</a:t>
              </a:r>
              <a:endParaRPr lang="en-US" sz="800" dirty="0"/>
            </a:p>
          </p:txBody>
        </p:sp>
      </p:grpSp>
      <p:grpSp>
        <p:nvGrpSpPr>
          <p:cNvPr id="80" name="Grupo 79">
            <a:extLst>
              <a:ext uri="{FF2B5EF4-FFF2-40B4-BE49-F238E27FC236}">
                <a16:creationId xmlns:a16="http://schemas.microsoft.com/office/drawing/2014/main" id="{1834B85B-F0CC-1F39-9FDE-C522178D2727}"/>
              </a:ext>
            </a:extLst>
          </p:cNvPr>
          <p:cNvGrpSpPr/>
          <p:nvPr/>
        </p:nvGrpSpPr>
        <p:grpSpPr>
          <a:xfrm>
            <a:off x="7920745" y="2934060"/>
            <a:ext cx="910317" cy="292608"/>
            <a:chOff x="6926091" y="2924184"/>
            <a:chExt cx="910317" cy="292608"/>
          </a:xfrm>
        </p:grpSpPr>
        <p:sp>
          <p:nvSpPr>
            <p:cNvPr id="81" name="Shape 37">
              <a:extLst>
                <a:ext uri="{FF2B5EF4-FFF2-40B4-BE49-F238E27FC236}">
                  <a16:creationId xmlns:a16="http://schemas.microsoft.com/office/drawing/2014/main" id="{70DABCB1-5E9D-E5EA-13BF-40271745EA85}"/>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82" name="Text 38">
              <a:extLst>
                <a:ext uri="{FF2B5EF4-FFF2-40B4-BE49-F238E27FC236}">
                  <a16:creationId xmlns:a16="http://schemas.microsoft.com/office/drawing/2014/main" id="{DDA1803E-EFD8-1354-3672-82D30915BA65}"/>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Paid credits used</a:t>
              </a:r>
              <a:endParaRPr lang="en-US" sz="800" dirty="0"/>
            </a:p>
          </p:txBody>
        </p:sp>
      </p:grpSp>
      <p:grpSp>
        <p:nvGrpSpPr>
          <p:cNvPr id="83" name="Grupo 82">
            <a:extLst>
              <a:ext uri="{FF2B5EF4-FFF2-40B4-BE49-F238E27FC236}">
                <a16:creationId xmlns:a16="http://schemas.microsoft.com/office/drawing/2014/main" id="{EAACEE72-B27C-A2DB-FD99-983BA1875D0E}"/>
              </a:ext>
            </a:extLst>
          </p:cNvPr>
          <p:cNvGrpSpPr/>
          <p:nvPr/>
        </p:nvGrpSpPr>
        <p:grpSpPr>
          <a:xfrm>
            <a:off x="8926585" y="2936774"/>
            <a:ext cx="910317" cy="292608"/>
            <a:chOff x="6926091" y="2924184"/>
            <a:chExt cx="910317" cy="292608"/>
          </a:xfrm>
        </p:grpSpPr>
        <p:sp>
          <p:nvSpPr>
            <p:cNvPr id="84" name="Shape 37">
              <a:extLst>
                <a:ext uri="{FF2B5EF4-FFF2-40B4-BE49-F238E27FC236}">
                  <a16:creationId xmlns:a16="http://schemas.microsoft.com/office/drawing/2014/main" id="{E250D735-5CCA-646C-48FD-4AFD8327A2D6}"/>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85" name="Text 38">
              <a:extLst>
                <a:ext uri="{FF2B5EF4-FFF2-40B4-BE49-F238E27FC236}">
                  <a16:creationId xmlns:a16="http://schemas.microsoft.com/office/drawing/2014/main" id="{DE7F966E-D545-C35D-5F1C-C580491D9D41}"/>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Repeat purchase</a:t>
              </a:r>
              <a:endParaRPr lang="en-US" sz="800" dirty="0"/>
            </a:p>
          </p:txBody>
        </p:sp>
      </p:grpSp>
      <p:grpSp>
        <p:nvGrpSpPr>
          <p:cNvPr id="86" name="Grupo 85">
            <a:extLst>
              <a:ext uri="{FF2B5EF4-FFF2-40B4-BE49-F238E27FC236}">
                <a16:creationId xmlns:a16="http://schemas.microsoft.com/office/drawing/2014/main" id="{E625F6A4-039D-D418-E920-98903F4BB7CE}"/>
              </a:ext>
            </a:extLst>
          </p:cNvPr>
          <p:cNvGrpSpPr/>
          <p:nvPr/>
        </p:nvGrpSpPr>
        <p:grpSpPr>
          <a:xfrm>
            <a:off x="9926045" y="2946146"/>
            <a:ext cx="910317" cy="292608"/>
            <a:chOff x="6926091" y="2924184"/>
            <a:chExt cx="910317" cy="292608"/>
          </a:xfrm>
        </p:grpSpPr>
        <p:sp>
          <p:nvSpPr>
            <p:cNvPr id="87" name="Shape 37">
              <a:extLst>
                <a:ext uri="{FF2B5EF4-FFF2-40B4-BE49-F238E27FC236}">
                  <a16:creationId xmlns:a16="http://schemas.microsoft.com/office/drawing/2014/main" id="{9781C5DB-1B92-D712-BF99-BA80D06CDB1D}"/>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88" name="Text 38">
              <a:extLst>
                <a:ext uri="{FF2B5EF4-FFF2-40B4-BE49-F238E27FC236}">
                  <a16:creationId xmlns:a16="http://schemas.microsoft.com/office/drawing/2014/main" id="{AC13E1AD-D2F9-E52C-7741-403E721B9F36}"/>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Continued active usage</a:t>
              </a:r>
              <a:endParaRPr lang="en-US" sz="800" dirty="0"/>
            </a:p>
          </p:txBody>
        </p:sp>
      </p:grpSp>
      <p:grpSp>
        <p:nvGrpSpPr>
          <p:cNvPr id="89" name="Grupo 88">
            <a:extLst>
              <a:ext uri="{FF2B5EF4-FFF2-40B4-BE49-F238E27FC236}">
                <a16:creationId xmlns:a16="http://schemas.microsoft.com/office/drawing/2014/main" id="{FB961B4A-EB19-9142-BB37-D0E0E30D6038}"/>
              </a:ext>
            </a:extLst>
          </p:cNvPr>
          <p:cNvGrpSpPr/>
          <p:nvPr/>
        </p:nvGrpSpPr>
        <p:grpSpPr>
          <a:xfrm>
            <a:off x="10953203" y="2937501"/>
            <a:ext cx="910317" cy="292608"/>
            <a:chOff x="6926091" y="2924184"/>
            <a:chExt cx="910317" cy="292608"/>
          </a:xfrm>
        </p:grpSpPr>
        <p:sp>
          <p:nvSpPr>
            <p:cNvPr id="90" name="Shape 37">
              <a:extLst>
                <a:ext uri="{FF2B5EF4-FFF2-40B4-BE49-F238E27FC236}">
                  <a16:creationId xmlns:a16="http://schemas.microsoft.com/office/drawing/2014/main" id="{BE8E30F2-D54C-1837-0A01-67E165B70F5F}"/>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91" name="Text 38">
              <a:extLst>
                <a:ext uri="{FF2B5EF4-FFF2-40B4-BE49-F238E27FC236}">
                  <a16:creationId xmlns:a16="http://schemas.microsoft.com/office/drawing/2014/main" id="{3BDC4EEC-12DF-C11C-1AC8-D0D69EB132A4}"/>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More work delegated</a:t>
              </a:r>
              <a:endParaRPr lang="en-US" sz="800" dirty="0"/>
            </a:p>
          </p:txBody>
        </p:sp>
      </p:grpSp>
      <p:grpSp>
        <p:nvGrpSpPr>
          <p:cNvPr id="94" name="Grupo 93">
            <a:extLst>
              <a:ext uri="{FF2B5EF4-FFF2-40B4-BE49-F238E27FC236}">
                <a16:creationId xmlns:a16="http://schemas.microsoft.com/office/drawing/2014/main" id="{037E3A52-7540-BCD0-2AC8-29B734A5026C}"/>
              </a:ext>
            </a:extLst>
          </p:cNvPr>
          <p:cNvGrpSpPr/>
          <p:nvPr/>
        </p:nvGrpSpPr>
        <p:grpSpPr>
          <a:xfrm>
            <a:off x="3926859" y="2908509"/>
            <a:ext cx="910317" cy="292608"/>
            <a:chOff x="6926091" y="2924184"/>
            <a:chExt cx="910317" cy="292608"/>
          </a:xfrm>
        </p:grpSpPr>
        <p:sp>
          <p:nvSpPr>
            <p:cNvPr id="95" name="Shape 37">
              <a:extLst>
                <a:ext uri="{FF2B5EF4-FFF2-40B4-BE49-F238E27FC236}">
                  <a16:creationId xmlns:a16="http://schemas.microsoft.com/office/drawing/2014/main" id="{0437AFE3-B960-4025-58F0-5E1CEB44D522}"/>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96" name="Text 38">
              <a:extLst>
                <a:ext uri="{FF2B5EF4-FFF2-40B4-BE49-F238E27FC236}">
                  <a16:creationId xmlns:a16="http://schemas.microsoft.com/office/drawing/2014/main" id="{28B23514-EB64-E084-7A51-03EECDD74DFF}"/>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Account created</a:t>
              </a:r>
              <a:endParaRPr lang="en-US" sz="800" dirty="0"/>
            </a:p>
          </p:txBody>
        </p:sp>
      </p:grpSp>
      <p:grpSp>
        <p:nvGrpSpPr>
          <p:cNvPr id="97" name="Grupo 96">
            <a:extLst>
              <a:ext uri="{FF2B5EF4-FFF2-40B4-BE49-F238E27FC236}">
                <a16:creationId xmlns:a16="http://schemas.microsoft.com/office/drawing/2014/main" id="{473BBFA5-21FE-C729-1786-4FBBC199121A}"/>
              </a:ext>
            </a:extLst>
          </p:cNvPr>
          <p:cNvGrpSpPr/>
          <p:nvPr/>
        </p:nvGrpSpPr>
        <p:grpSpPr>
          <a:xfrm>
            <a:off x="4896123" y="2919018"/>
            <a:ext cx="910317" cy="292608"/>
            <a:chOff x="6926091" y="2924184"/>
            <a:chExt cx="910317" cy="292608"/>
          </a:xfrm>
        </p:grpSpPr>
        <p:sp>
          <p:nvSpPr>
            <p:cNvPr id="98" name="Shape 37">
              <a:extLst>
                <a:ext uri="{FF2B5EF4-FFF2-40B4-BE49-F238E27FC236}">
                  <a16:creationId xmlns:a16="http://schemas.microsoft.com/office/drawing/2014/main" id="{B66B5023-9C0E-BA89-E681-1AEBE95FBA29}"/>
                </a:ext>
              </a:extLst>
            </p:cNvPr>
            <p:cNvSpPr/>
            <p:nvPr/>
          </p:nvSpPr>
          <p:spPr>
            <a:xfrm>
              <a:off x="6926091" y="2924184"/>
              <a:ext cx="910317" cy="292608"/>
            </a:xfrm>
            <a:prstGeom prst="roundRect">
              <a:avLst>
                <a:gd name="adj" fmla="val 15625"/>
              </a:avLst>
            </a:prstGeom>
            <a:solidFill>
              <a:srgbClr val="EFE8FF"/>
            </a:solidFill>
            <a:ln w="7620">
              <a:solidFill>
                <a:srgbClr val="DCCFF2"/>
              </a:solidFill>
              <a:prstDash val="solid"/>
            </a:ln>
          </p:spPr>
          <p:txBody>
            <a:bodyPr/>
            <a:lstStyle/>
            <a:p>
              <a:endParaRPr lang="es-MX"/>
            </a:p>
          </p:txBody>
        </p:sp>
        <p:sp>
          <p:nvSpPr>
            <p:cNvPr id="99" name="Text 38">
              <a:extLst>
                <a:ext uri="{FF2B5EF4-FFF2-40B4-BE49-F238E27FC236}">
                  <a16:creationId xmlns:a16="http://schemas.microsoft.com/office/drawing/2014/main" id="{D536D9DE-8CF1-C355-D198-312FB1FF64BF}"/>
                </a:ext>
              </a:extLst>
            </p:cNvPr>
            <p:cNvSpPr/>
            <p:nvPr/>
          </p:nvSpPr>
          <p:spPr>
            <a:xfrm>
              <a:off x="6977852" y="3047852"/>
              <a:ext cx="784202" cy="69445"/>
            </a:xfrm>
            <a:prstGeom prst="rect">
              <a:avLst/>
            </a:prstGeom>
            <a:noFill/>
            <a:ln/>
          </p:spPr>
          <p:txBody>
            <a:bodyPr wrap="square" lIns="0" tIns="0" rIns="0" bIns="0" rtlCol="0" anchor="ctr">
              <a:noAutofit/>
            </a:bodyPr>
            <a:lstStyle/>
            <a:p>
              <a:pPr marL="0" indent="0" algn="ctr">
                <a:buNone/>
              </a:pPr>
              <a:r>
                <a:rPr lang="en-US" sz="800" b="1" dirty="0">
                  <a:solidFill>
                    <a:srgbClr val="5E2BC2"/>
                  </a:solidFill>
                  <a:latin typeface="Aptos" pitchFamily="34" charset="0"/>
                </a:rPr>
                <a:t>Gu enabled</a:t>
              </a:r>
              <a:endParaRPr lang="en-US" sz="800" dirty="0"/>
            </a:p>
          </p:txBody>
        </p:sp>
      </p:grpSp>
      <p:pic>
        <p:nvPicPr>
          <p:cNvPr id="101" name="Image 0" descr="/mnt/data/ungga_logo_purple.png">
            <a:extLst>
              <a:ext uri="{FF2B5EF4-FFF2-40B4-BE49-F238E27FC236}">
                <a16:creationId xmlns:a16="http://schemas.microsoft.com/office/drawing/2014/main" id="{5F4E63EE-782F-C9CA-86E3-4C360D2C31E5}"/>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7" name="Shape 24"/>
          <p:cNvSpPr/>
          <p:nvPr/>
        </p:nvSpPr>
        <p:spPr>
          <a:xfrm>
            <a:off x="2985870" y="4336107"/>
            <a:ext cx="423175" cy="173529"/>
          </a:xfrm>
          <a:prstGeom prst="line">
            <a:avLst/>
          </a:prstGeom>
          <a:noFill/>
          <a:ln w="38100">
            <a:solidFill>
              <a:srgbClr val="B09ED3"/>
            </a:solidFill>
            <a:prstDash val="solid"/>
            <a:headEnd type="none"/>
            <a:tailEnd type="triangle"/>
          </a:ln>
        </p:spPr>
        <p:txBody>
          <a:bodyPr/>
          <a:lstStyle/>
          <a:p>
            <a:endParaRPr lang="es-MX" sz="1200"/>
          </a:p>
        </p:txBody>
      </p:sp>
      <p:grpSp>
        <p:nvGrpSpPr>
          <p:cNvPr id="54" name="Grupo 53">
            <a:extLst>
              <a:ext uri="{FF2B5EF4-FFF2-40B4-BE49-F238E27FC236}">
                <a16:creationId xmlns:a16="http://schemas.microsoft.com/office/drawing/2014/main" id="{E957634C-E939-8627-0489-6E316FC4EAE3}"/>
              </a:ext>
            </a:extLst>
          </p:cNvPr>
          <p:cNvGrpSpPr/>
          <p:nvPr/>
        </p:nvGrpSpPr>
        <p:grpSpPr>
          <a:xfrm>
            <a:off x="679719" y="3933299"/>
            <a:ext cx="2306151" cy="811858"/>
            <a:chOff x="670063" y="3550071"/>
            <a:chExt cx="2306151" cy="811858"/>
          </a:xfrm>
        </p:grpSpPr>
        <p:sp>
          <p:nvSpPr>
            <p:cNvPr id="49" name="Shape 22">
              <a:extLst>
                <a:ext uri="{FF2B5EF4-FFF2-40B4-BE49-F238E27FC236}">
                  <a16:creationId xmlns:a16="http://schemas.microsoft.com/office/drawing/2014/main" id="{CBAACAC2-D563-EA95-CE4C-94EB8D5AE8F8}"/>
                </a:ext>
              </a:extLst>
            </p:cNvPr>
            <p:cNvSpPr/>
            <p:nvPr/>
          </p:nvSpPr>
          <p:spPr>
            <a:xfrm>
              <a:off x="670063" y="3550071"/>
              <a:ext cx="2306151" cy="811858"/>
            </a:xfrm>
            <a:prstGeom prst="roundRect">
              <a:avLst>
                <a:gd name="adj" fmla="val 8824"/>
              </a:avLst>
            </a:prstGeom>
            <a:solidFill>
              <a:srgbClr val="F6F2FF"/>
            </a:solidFill>
            <a:ln w="12700">
              <a:solidFill>
                <a:srgbClr val="DDD1FB"/>
              </a:solidFill>
              <a:prstDash val="solid"/>
            </a:ln>
          </p:spPr>
          <p:txBody>
            <a:bodyPr/>
            <a:lstStyle/>
            <a:p>
              <a:endParaRPr lang="es-MX"/>
            </a:p>
          </p:txBody>
        </p:sp>
        <p:sp>
          <p:nvSpPr>
            <p:cNvPr id="26" name="Text 23"/>
            <p:cNvSpPr txBox="1"/>
            <p:nvPr/>
          </p:nvSpPr>
          <p:spPr>
            <a:xfrm>
              <a:off x="868680" y="3706339"/>
              <a:ext cx="1873742" cy="228597"/>
            </a:xfrm>
            <a:prstGeom prst="rect">
              <a:avLst/>
            </a:prstGeom>
            <a:noFill/>
            <a:ln/>
          </p:spPr>
          <p:txBody>
            <a:bodyPr wrap="square" lIns="0" tIns="0" rIns="0" bIns="0" rtlCol="0" anchor="ctr">
              <a:noAutofit/>
            </a:bodyPr>
            <a:lstStyle/>
            <a:p>
              <a:pPr marL="0" indent="0" algn="ctr">
                <a:lnSpc>
                  <a:spcPct val="100000"/>
                </a:lnSpc>
                <a:buNone/>
              </a:pPr>
              <a:r>
                <a:rPr lang="en-US" sz="1400" b="1" dirty="0">
                  <a:solidFill>
                    <a:srgbClr val="6F6882"/>
                  </a:solidFill>
                  <a:latin typeface="Inter" pitchFamily="34" charset="0"/>
                  <a:ea typeface="Inter" pitchFamily="34" charset="-122"/>
                  <a:cs typeface="Inter" pitchFamily="34" charset="-120"/>
                </a:rPr>
                <a:t>Foundation models</a:t>
              </a:r>
              <a:endParaRPr lang="en-US" sz="1400" dirty="0"/>
            </a:p>
          </p:txBody>
        </p:sp>
        <p:sp>
          <p:nvSpPr>
            <p:cNvPr id="31" name="Text 28"/>
            <p:cNvSpPr txBox="1"/>
            <p:nvPr/>
          </p:nvSpPr>
          <p:spPr>
            <a:xfrm>
              <a:off x="843800" y="3974180"/>
              <a:ext cx="1898622" cy="228598"/>
            </a:xfrm>
            <a:prstGeom prst="rect">
              <a:avLst/>
            </a:prstGeom>
            <a:noFill/>
            <a:ln/>
          </p:spPr>
          <p:txBody>
            <a:bodyPr wrap="square" lIns="0" tIns="0" rIns="0" bIns="0" rtlCol="0" anchor="ctr">
              <a:normAutofit/>
            </a:bodyPr>
            <a:lstStyle/>
            <a:p>
              <a:pPr marL="0" indent="0" algn="ctr">
                <a:lnSpc>
                  <a:spcPct val="100000"/>
                </a:lnSpc>
                <a:buNone/>
              </a:pPr>
              <a:r>
                <a:rPr lang="en-US" sz="1300" dirty="0">
                  <a:solidFill>
                    <a:srgbClr val="6F6882"/>
                  </a:solidFill>
                  <a:latin typeface="Inter" pitchFamily="34" charset="0"/>
                  <a:ea typeface="Inter" pitchFamily="34" charset="-122"/>
                  <a:cs typeface="Inter" pitchFamily="34" charset="-120"/>
                </a:rPr>
                <a:t>Underlying intelligence</a:t>
              </a:r>
              <a:endParaRPr lang="en-US" sz="1300" dirty="0"/>
            </a:p>
          </p:txBody>
        </p:sp>
      </p:grpSp>
      <p:grpSp>
        <p:nvGrpSpPr>
          <p:cNvPr id="53" name="Grupo 52">
            <a:extLst>
              <a:ext uri="{FF2B5EF4-FFF2-40B4-BE49-F238E27FC236}">
                <a16:creationId xmlns:a16="http://schemas.microsoft.com/office/drawing/2014/main" id="{117072F5-E409-4667-DC81-97C7F9F13716}"/>
              </a:ext>
            </a:extLst>
          </p:cNvPr>
          <p:cNvGrpSpPr/>
          <p:nvPr/>
        </p:nvGrpSpPr>
        <p:grpSpPr>
          <a:xfrm>
            <a:off x="3509431" y="3588266"/>
            <a:ext cx="2953511" cy="713681"/>
            <a:chOff x="8433727" y="5761608"/>
            <a:chExt cx="1979676" cy="931800"/>
          </a:xfrm>
        </p:grpSpPr>
        <p:sp>
          <p:nvSpPr>
            <p:cNvPr id="52" name="Shape 22">
              <a:extLst>
                <a:ext uri="{FF2B5EF4-FFF2-40B4-BE49-F238E27FC236}">
                  <a16:creationId xmlns:a16="http://schemas.microsoft.com/office/drawing/2014/main" id="{AB2C5583-018A-2C41-ADB1-A9F2480469B7}"/>
                </a:ext>
              </a:extLst>
            </p:cNvPr>
            <p:cNvSpPr/>
            <p:nvPr/>
          </p:nvSpPr>
          <p:spPr>
            <a:xfrm>
              <a:off x="8433727" y="5761608"/>
              <a:ext cx="1979676" cy="931800"/>
            </a:xfrm>
            <a:prstGeom prst="roundRect">
              <a:avLst>
                <a:gd name="adj" fmla="val 8824"/>
              </a:avLst>
            </a:prstGeom>
            <a:solidFill>
              <a:srgbClr val="F6F2FF"/>
            </a:solidFill>
            <a:ln w="12700">
              <a:solidFill>
                <a:srgbClr val="DDD1FB"/>
              </a:solidFill>
              <a:prstDash val="solid"/>
            </a:ln>
          </p:spPr>
          <p:txBody>
            <a:bodyPr/>
            <a:lstStyle/>
            <a:p>
              <a:endParaRPr lang="es-MX"/>
            </a:p>
          </p:txBody>
        </p:sp>
        <p:sp>
          <p:nvSpPr>
            <p:cNvPr id="28" name="Text 25"/>
            <p:cNvSpPr txBox="1"/>
            <p:nvPr/>
          </p:nvSpPr>
          <p:spPr>
            <a:xfrm>
              <a:off x="8541261" y="5925313"/>
              <a:ext cx="1733838" cy="247250"/>
            </a:xfrm>
            <a:prstGeom prst="rect">
              <a:avLst/>
            </a:prstGeom>
            <a:noFill/>
            <a:ln/>
          </p:spPr>
          <p:txBody>
            <a:bodyPr wrap="square" lIns="0" tIns="0" rIns="0" bIns="0" rtlCol="0" anchor="ctr">
              <a:noAutofit/>
            </a:bodyPr>
            <a:lstStyle/>
            <a:p>
              <a:pPr marL="0" indent="0" algn="ctr">
                <a:lnSpc>
                  <a:spcPct val="100000"/>
                </a:lnSpc>
                <a:buNone/>
              </a:pPr>
              <a:r>
                <a:rPr lang="en-US" sz="1400" b="1" dirty="0">
                  <a:solidFill>
                    <a:srgbClr val="6F6882"/>
                  </a:solidFill>
                  <a:latin typeface="Inter" pitchFamily="34" charset="0"/>
                  <a:ea typeface="Inter" pitchFamily="34" charset="-122"/>
                  <a:cs typeface="Inter" pitchFamily="34" charset="-120"/>
                </a:rPr>
                <a:t>General-purpose AI agents</a:t>
              </a:r>
              <a:endParaRPr lang="en-US" sz="1400" dirty="0"/>
            </a:p>
          </p:txBody>
        </p:sp>
        <p:sp>
          <p:nvSpPr>
            <p:cNvPr id="32" name="Text 29"/>
            <p:cNvSpPr txBox="1"/>
            <p:nvPr/>
          </p:nvSpPr>
          <p:spPr>
            <a:xfrm>
              <a:off x="8557794" y="6255035"/>
              <a:ext cx="1729207" cy="301214"/>
            </a:xfrm>
            <a:prstGeom prst="rect">
              <a:avLst/>
            </a:prstGeom>
            <a:noFill/>
            <a:ln/>
          </p:spPr>
          <p:txBody>
            <a:bodyPr wrap="square" lIns="0" tIns="0" rIns="0" bIns="0" rtlCol="0" anchor="ctr">
              <a:noAutofit/>
            </a:bodyPr>
            <a:lstStyle/>
            <a:p>
              <a:pPr marL="0" indent="0" algn="ctr">
                <a:lnSpc>
                  <a:spcPct val="100000"/>
                </a:lnSpc>
                <a:buNone/>
              </a:pPr>
              <a:r>
                <a:rPr lang="en-US" sz="1300" dirty="0">
                  <a:solidFill>
                    <a:srgbClr val="6F6882"/>
                  </a:solidFill>
                  <a:latin typeface="Inter" pitchFamily="34" charset="0"/>
                  <a:ea typeface="Inter" pitchFamily="34" charset="-122"/>
                  <a:cs typeface="Inter" pitchFamily="34" charset="-120"/>
                </a:rPr>
                <a:t>Broad execution across domains</a:t>
              </a:r>
              <a:endParaRPr lang="en-US" sz="1300" dirty="0"/>
            </a:p>
          </p:txBody>
        </p:sp>
      </p:grpSp>
      <p:sp>
        <p:nvSpPr>
          <p:cNvPr id="34" name="Text 31"/>
          <p:cNvSpPr txBox="1"/>
          <p:nvPr/>
        </p:nvSpPr>
        <p:spPr>
          <a:xfrm>
            <a:off x="7405927" y="3474542"/>
            <a:ext cx="2011680" cy="228600"/>
          </a:xfrm>
          <a:prstGeom prst="rect">
            <a:avLst/>
          </a:prstGeom>
          <a:noFill/>
          <a:ln/>
        </p:spPr>
        <p:txBody>
          <a:bodyPr wrap="square" lIns="0" tIns="0" rIns="0" bIns="0" rtlCol="0" anchor="ctr">
            <a:normAutofit/>
          </a:bodyPr>
          <a:lstStyle/>
          <a:p>
            <a:pPr marL="0" indent="0" algn="l">
              <a:lnSpc>
                <a:spcPct val="100000"/>
              </a:lnSpc>
              <a:buNone/>
            </a:pPr>
            <a:r>
              <a:rPr lang="en-US" sz="1400" b="1" kern="0" spc="100" dirty="0">
                <a:solidFill>
                  <a:srgbClr val="6F6882"/>
                </a:solidFill>
                <a:latin typeface="Inter" pitchFamily="34" charset="0"/>
                <a:ea typeface="Inter" pitchFamily="34" charset="-122"/>
                <a:cs typeface="Inter" pitchFamily="34" charset="-120"/>
              </a:rPr>
              <a:t>FOUNDING TEAM</a:t>
            </a:r>
            <a:endParaRPr lang="en-US" sz="1400" dirty="0"/>
          </a:p>
        </p:txBody>
      </p:sp>
      <p:pic>
        <p:nvPicPr>
          <p:cNvPr id="35" name="Image 1" descr="/mnt/data/alejandro_circle.png"/>
          <p:cNvPicPr>
            <a:picLocks noChangeAspect="1"/>
          </p:cNvPicPr>
          <p:nvPr/>
        </p:nvPicPr>
        <p:blipFill>
          <a:blip r:embed="rId3"/>
          <a:stretch>
            <a:fillRect/>
          </a:stretch>
        </p:blipFill>
        <p:spPr>
          <a:xfrm>
            <a:off x="7405393" y="3848914"/>
            <a:ext cx="795528" cy="795528"/>
          </a:xfrm>
          <a:prstGeom prst="rect">
            <a:avLst/>
          </a:prstGeom>
        </p:spPr>
      </p:pic>
      <p:sp>
        <p:nvSpPr>
          <p:cNvPr id="36" name="Text 32"/>
          <p:cNvSpPr txBox="1"/>
          <p:nvPr/>
        </p:nvSpPr>
        <p:spPr>
          <a:xfrm>
            <a:off x="7350529" y="4752042"/>
            <a:ext cx="905256" cy="210312"/>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Alejandro</a:t>
            </a:r>
            <a:endParaRPr lang="en-US" sz="1200" dirty="0"/>
          </a:p>
        </p:txBody>
      </p:sp>
      <p:sp>
        <p:nvSpPr>
          <p:cNvPr id="37" name="Text 33"/>
          <p:cNvSpPr txBox="1"/>
          <p:nvPr/>
        </p:nvSpPr>
        <p:spPr>
          <a:xfrm>
            <a:off x="7231657" y="5026096"/>
            <a:ext cx="1161288" cy="530352"/>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6F6882"/>
                </a:solidFill>
                <a:latin typeface="Inter" pitchFamily="34" charset="0"/>
                <a:ea typeface="Inter" pitchFamily="34" charset="-122"/>
                <a:cs typeface="Inter" pitchFamily="34" charset="-120"/>
              </a:rPr>
              <a:t>AI · systems · business</a:t>
            </a:r>
            <a:endParaRPr lang="en-US" sz="1200" dirty="0"/>
          </a:p>
        </p:txBody>
      </p:sp>
      <p:pic>
        <p:nvPicPr>
          <p:cNvPr id="38" name="Image 2" descr="/mnt/data/mariana_circle.png"/>
          <p:cNvPicPr>
            <a:picLocks noChangeAspect="1"/>
          </p:cNvPicPr>
          <p:nvPr/>
        </p:nvPicPr>
        <p:blipFill>
          <a:blip r:embed="rId4"/>
          <a:stretch>
            <a:fillRect/>
          </a:stretch>
        </p:blipFill>
        <p:spPr>
          <a:xfrm>
            <a:off x="8995724" y="3848914"/>
            <a:ext cx="795528" cy="795528"/>
          </a:xfrm>
          <a:prstGeom prst="rect">
            <a:avLst/>
          </a:prstGeom>
        </p:spPr>
      </p:pic>
      <p:sp>
        <p:nvSpPr>
          <p:cNvPr id="39" name="Text 34"/>
          <p:cNvSpPr txBox="1"/>
          <p:nvPr/>
        </p:nvSpPr>
        <p:spPr>
          <a:xfrm>
            <a:off x="8940860" y="4752042"/>
            <a:ext cx="905256" cy="210312"/>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Mariana</a:t>
            </a:r>
            <a:endParaRPr lang="en-US" sz="1200" dirty="0"/>
          </a:p>
        </p:txBody>
      </p:sp>
      <p:sp>
        <p:nvSpPr>
          <p:cNvPr id="40" name="Text 35"/>
          <p:cNvSpPr txBox="1"/>
          <p:nvPr/>
        </p:nvSpPr>
        <p:spPr>
          <a:xfrm>
            <a:off x="8681919" y="5026096"/>
            <a:ext cx="1518525" cy="530352"/>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6F6882"/>
                </a:solidFill>
                <a:latin typeface="Inter" pitchFamily="34" charset="0"/>
                <a:ea typeface="Inter" pitchFamily="34" charset="-122"/>
                <a:cs typeface="Inter" pitchFamily="34" charset="-120"/>
              </a:rPr>
              <a:t>Real estate brokerage operations · sales · legal</a:t>
            </a:r>
            <a:endParaRPr lang="en-US" sz="1200" dirty="0"/>
          </a:p>
        </p:txBody>
      </p:sp>
      <p:pic>
        <p:nvPicPr>
          <p:cNvPr id="41" name="Image 3" descr="/mnt/data/pablo_circle.png"/>
          <p:cNvPicPr>
            <a:picLocks noChangeAspect="1"/>
          </p:cNvPicPr>
          <p:nvPr/>
        </p:nvPicPr>
        <p:blipFill>
          <a:blip r:embed="rId5"/>
          <a:stretch>
            <a:fillRect/>
          </a:stretch>
        </p:blipFill>
        <p:spPr>
          <a:xfrm>
            <a:off x="10603816" y="3848914"/>
            <a:ext cx="795528" cy="795528"/>
          </a:xfrm>
          <a:prstGeom prst="rect">
            <a:avLst/>
          </a:prstGeom>
        </p:spPr>
      </p:pic>
      <p:sp>
        <p:nvSpPr>
          <p:cNvPr id="42" name="Text 36"/>
          <p:cNvSpPr txBox="1"/>
          <p:nvPr/>
        </p:nvSpPr>
        <p:spPr>
          <a:xfrm>
            <a:off x="10548952" y="4752042"/>
            <a:ext cx="905256" cy="210312"/>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Pablo</a:t>
            </a:r>
            <a:endParaRPr lang="en-US" sz="1200" dirty="0"/>
          </a:p>
        </p:txBody>
      </p:sp>
      <p:sp>
        <p:nvSpPr>
          <p:cNvPr id="43" name="Text 37"/>
          <p:cNvSpPr txBox="1"/>
          <p:nvPr/>
        </p:nvSpPr>
        <p:spPr>
          <a:xfrm>
            <a:off x="10430080" y="5026096"/>
            <a:ext cx="1316736" cy="530352"/>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6F6882"/>
                </a:solidFill>
                <a:latin typeface="Inter" pitchFamily="34" charset="0"/>
                <a:ea typeface="Inter" pitchFamily="34" charset="-122"/>
                <a:cs typeface="Inter" pitchFamily="34" charset="-120"/>
              </a:rPr>
              <a:t>PropTech · product · ecosystem</a:t>
            </a:r>
            <a:endParaRPr lang="en-US" sz="1200" dirty="0"/>
          </a:p>
        </p:txBody>
      </p:sp>
      <p:sp>
        <p:nvSpPr>
          <p:cNvPr id="44" name="Shape 38"/>
          <p:cNvSpPr/>
          <p:nvPr/>
        </p:nvSpPr>
        <p:spPr>
          <a:xfrm>
            <a:off x="674528" y="5388488"/>
            <a:ext cx="5788414" cy="1079167"/>
          </a:xfrm>
          <a:prstGeom prst="roundRect">
            <a:avLst>
              <a:gd name="adj" fmla="val 23529"/>
            </a:avLst>
          </a:prstGeom>
          <a:solidFill>
            <a:srgbClr val="1F1739"/>
          </a:solidFill>
          <a:ln w="12700">
            <a:solidFill>
              <a:srgbClr val="1F1739">
                <a:alpha val="0"/>
              </a:srgbClr>
            </a:solidFill>
            <a:prstDash val="solid"/>
          </a:ln>
        </p:spPr>
        <p:txBody>
          <a:bodyPr/>
          <a:lstStyle/>
          <a:p>
            <a:endParaRPr lang="es-MX"/>
          </a:p>
        </p:txBody>
      </p:sp>
      <p:sp>
        <p:nvSpPr>
          <p:cNvPr id="45" name="Text 39"/>
          <p:cNvSpPr txBox="1"/>
          <p:nvPr/>
        </p:nvSpPr>
        <p:spPr>
          <a:xfrm>
            <a:off x="939704" y="5576349"/>
            <a:ext cx="5334655" cy="718070"/>
          </a:xfrm>
          <a:prstGeom prst="rect">
            <a:avLst/>
          </a:prstGeom>
          <a:noFill/>
          <a:ln/>
        </p:spPr>
        <p:txBody>
          <a:bodyPr wrap="square" lIns="0" tIns="0" rIns="0" bIns="0" rtlCol="0" anchor="ctr">
            <a:normAutofit fontScale="92500" lnSpcReduction="10000"/>
          </a:bodyPr>
          <a:lstStyle/>
          <a:p>
            <a:pPr marL="285750" indent="-285750">
              <a:lnSpc>
                <a:spcPct val="100000"/>
              </a:lnSpc>
              <a:buFont typeface="Arial" panose="020B0604020202020204" pitchFamily="34" charset="0"/>
              <a:buChar char="•"/>
            </a:pPr>
            <a:r>
              <a:rPr lang="en-US" sz="1400" b="1" dirty="0">
                <a:solidFill>
                  <a:srgbClr val="FFFFFF"/>
                </a:solidFill>
                <a:latin typeface="Inter" pitchFamily="34" charset="0"/>
                <a:ea typeface="Inter" pitchFamily="34" charset="-122"/>
                <a:cs typeface="Inter" pitchFamily="34" charset="-120"/>
              </a:rPr>
              <a:t>Better foundation models </a:t>
            </a:r>
            <a:r>
              <a:rPr lang="en-US" sz="1400" dirty="0">
                <a:solidFill>
                  <a:srgbClr val="FFFFFF"/>
                </a:solidFill>
                <a:latin typeface="Inter" pitchFamily="34" charset="0"/>
                <a:ea typeface="Inter" pitchFamily="34" charset="-122"/>
                <a:cs typeface="Inter" pitchFamily="34" charset="-120"/>
              </a:rPr>
              <a:t>expand what Gu can do.</a:t>
            </a:r>
          </a:p>
          <a:p>
            <a:pPr marL="285750" indent="-285750">
              <a:lnSpc>
                <a:spcPct val="100000"/>
              </a:lnSpc>
              <a:buFont typeface="Arial" panose="020B0604020202020204" pitchFamily="34" charset="0"/>
              <a:buChar char="•"/>
            </a:pPr>
            <a:r>
              <a:rPr lang="en-US" sz="1400" b="1" dirty="0">
                <a:solidFill>
                  <a:srgbClr val="FFFFFF"/>
                </a:solidFill>
                <a:latin typeface="Inter" pitchFamily="34" charset="0"/>
                <a:ea typeface="Inter" pitchFamily="34" charset="-122"/>
                <a:cs typeface="Inter" pitchFamily="34" charset="-120"/>
              </a:rPr>
              <a:t>General-purpose agents </a:t>
            </a:r>
            <a:r>
              <a:rPr lang="en-US" sz="1400" dirty="0">
                <a:solidFill>
                  <a:srgbClr val="FFFFFF"/>
                </a:solidFill>
                <a:latin typeface="Inter" pitchFamily="34" charset="0"/>
                <a:ea typeface="Inter" pitchFamily="34" charset="-122"/>
                <a:cs typeface="Inter" pitchFamily="34" charset="-120"/>
              </a:rPr>
              <a:t>raise the baseline for broad AI execution.</a:t>
            </a:r>
          </a:p>
          <a:p>
            <a:pPr marL="285750" indent="-285750">
              <a:lnSpc>
                <a:spcPct val="100000"/>
              </a:lnSpc>
              <a:buFont typeface="Arial" panose="020B0604020202020204" pitchFamily="34" charset="0"/>
              <a:buChar char="•"/>
            </a:pPr>
            <a:r>
              <a:rPr lang="en-US" sz="1400" b="1" dirty="0">
                <a:solidFill>
                  <a:srgbClr val="FFFFFF"/>
                </a:solidFill>
                <a:latin typeface="Inter" pitchFamily="34" charset="0"/>
                <a:ea typeface="Inter" pitchFamily="34" charset="-122"/>
                <a:cs typeface="Inter" pitchFamily="34" charset="-120"/>
              </a:rPr>
              <a:t>Ungga differentiates</a:t>
            </a:r>
            <a:r>
              <a:rPr lang="en-US" sz="1400" dirty="0">
                <a:solidFill>
                  <a:srgbClr val="FFFFFF"/>
                </a:solidFill>
                <a:latin typeface="Inter" pitchFamily="34" charset="0"/>
                <a:ea typeface="Inter" pitchFamily="34" charset="-122"/>
                <a:cs typeface="Inter" pitchFamily="34" charset="-120"/>
              </a:rPr>
              <a:t> by embedding real-estate operating intelligence into durable, governed operations.</a:t>
            </a:r>
            <a:endParaRPr lang="en-US" sz="1400" dirty="0"/>
          </a:p>
        </p:txBody>
      </p:sp>
      <p:sp>
        <p:nvSpPr>
          <p:cNvPr id="56" name="Shape 24">
            <a:extLst>
              <a:ext uri="{FF2B5EF4-FFF2-40B4-BE49-F238E27FC236}">
                <a16:creationId xmlns:a16="http://schemas.microsoft.com/office/drawing/2014/main" id="{CA76FFF6-6C0A-4918-B8C6-794449F15195}"/>
              </a:ext>
            </a:extLst>
          </p:cNvPr>
          <p:cNvSpPr/>
          <p:nvPr/>
        </p:nvSpPr>
        <p:spPr>
          <a:xfrm flipV="1">
            <a:off x="2985870" y="4144634"/>
            <a:ext cx="423175" cy="173529"/>
          </a:xfrm>
          <a:prstGeom prst="line">
            <a:avLst/>
          </a:prstGeom>
          <a:noFill/>
          <a:ln w="38100">
            <a:solidFill>
              <a:srgbClr val="B09ED3"/>
            </a:solidFill>
            <a:prstDash val="solid"/>
            <a:headEnd type="none"/>
            <a:tailEnd type="triangle"/>
          </a:ln>
        </p:spPr>
        <p:txBody>
          <a:bodyPr/>
          <a:lstStyle/>
          <a:p>
            <a:endParaRPr lang="es-MX" sz="1200"/>
          </a:p>
        </p:txBody>
      </p:sp>
      <p:sp>
        <p:nvSpPr>
          <p:cNvPr id="58" name="Text 31">
            <a:extLst>
              <a:ext uri="{FF2B5EF4-FFF2-40B4-BE49-F238E27FC236}">
                <a16:creationId xmlns:a16="http://schemas.microsoft.com/office/drawing/2014/main" id="{F2EF2669-2D65-D828-C163-CA03E66406F0}"/>
              </a:ext>
            </a:extLst>
          </p:cNvPr>
          <p:cNvSpPr txBox="1"/>
          <p:nvPr/>
        </p:nvSpPr>
        <p:spPr>
          <a:xfrm>
            <a:off x="679718" y="3496519"/>
            <a:ext cx="2365233" cy="210170"/>
          </a:xfrm>
          <a:prstGeom prst="rect">
            <a:avLst/>
          </a:prstGeom>
          <a:noFill/>
          <a:ln/>
        </p:spPr>
        <p:txBody>
          <a:bodyPr wrap="square" lIns="0" tIns="0" rIns="0" bIns="0" rtlCol="0" anchor="ctr">
            <a:normAutofit lnSpcReduction="10000"/>
          </a:bodyPr>
          <a:lstStyle/>
          <a:p>
            <a:pPr marL="0" indent="0" algn="l">
              <a:lnSpc>
                <a:spcPct val="100000"/>
              </a:lnSpc>
              <a:buNone/>
            </a:pPr>
            <a:r>
              <a:rPr lang="en-US" sz="1400" b="1" kern="0" spc="100" dirty="0">
                <a:solidFill>
                  <a:srgbClr val="6F6882"/>
                </a:solidFill>
                <a:latin typeface="Inter" pitchFamily="34" charset="0"/>
                <a:ea typeface="Inter" pitchFamily="34" charset="-122"/>
                <a:cs typeface="Inter" pitchFamily="34" charset="-120"/>
              </a:rPr>
              <a:t>COMPETITIVE DISTINCTION</a:t>
            </a:r>
            <a:endParaRPr lang="en-US" sz="1400" dirty="0"/>
          </a:p>
        </p:txBody>
      </p:sp>
      <p:sp>
        <p:nvSpPr>
          <p:cNvPr id="5" name="Shape 2"/>
          <p:cNvSpPr/>
          <p:nvPr/>
        </p:nvSpPr>
        <p:spPr>
          <a:xfrm>
            <a:off x="603504" y="1758667"/>
            <a:ext cx="2084832" cy="1307592"/>
          </a:xfrm>
          <a:prstGeom prst="roundRect">
            <a:avLst>
              <a:gd name="adj" fmla="val 8392"/>
            </a:avLst>
          </a:prstGeom>
          <a:solidFill>
            <a:srgbClr val="FFFFFF"/>
          </a:solidFill>
          <a:ln w="12700">
            <a:solidFill>
              <a:srgbClr val="E5DDEF"/>
            </a:solidFill>
            <a:prstDash val="solid"/>
          </a:ln>
          <a:effectLst>
            <a:outerShdw blurRad="19050" dist="50800" dir="2700000" algn="bl" rotWithShape="0">
              <a:srgbClr val="C6BCD8">
                <a:alpha val="16000"/>
              </a:srgbClr>
            </a:outerShdw>
          </a:effectLst>
        </p:spPr>
        <p:txBody>
          <a:bodyPr/>
          <a:lstStyle/>
          <a:p>
            <a:endParaRPr lang="es-MX"/>
          </a:p>
        </p:txBody>
      </p:sp>
      <p:sp>
        <p:nvSpPr>
          <p:cNvPr id="6" name="Shape 3"/>
          <p:cNvSpPr/>
          <p:nvPr/>
        </p:nvSpPr>
        <p:spPr>
          <a:xfrm>
            <a:off x="603504" y="1758667"/>
            <a:ext cx="2084832" cy="54864"/>
          </a:xfrm>
          <a:prstGeom prst="rect">
            <a:avLst/>
          </a:prstGeom>
          <a:solidFill>
            <a:srgbClr val="5B2DB6"/>
          </a:solidFill>
          <a:ln w="12700">
            <a:solidFill>
              <a:srgbClr val="FFFFFF">
                <a:alpha val="0"/>
              </a:srgbClr>
            </a:solidFill>
            <a:prstDash val="solid"/>
          </a:ln>
        </p:spPr>
        <p:txBody>
          <a:bodyPr/>
          <a:lstStyle/>
          <a:p>
            <a:endParaRPr lang="es-MX"/>
          </a:p>
        </p:txBody>
      </p:sp>
      <p:sp>
        <p:nvSpPr>
          <p:cNvPr id="7" name="Text 4"/>
          <p:cNvSpPr txBox="1"/>
          <p:nvPr/>
        </p:nvSpPr>
        <p:spPr>
          <a:xfrm>
            <a:off x="740664" y="1987267"/>
            <a:ext cx="1810512" cy="36576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5B2DB6"/>
                </a:solidFill>
                <a:latin typeface="Inter" pitchFamily="34" charset="0"/>
                <a:ea typeface="Inter" pitchFamily="34" charset="-122"/>
                <a:cs typeface="Inter" pitchFamily="34" charset="-120"/>
              </a:rPr>
              <a:t>VERTICAL OPERATING INTELLIGENCE</a:t>
            </a:r>
            <a:endParaRPr lang="en-US" sz="1200" dirty="0"/>
          </a:p>
        </p:txBody>
      </p:sp>
      <p:sp>
        <p:nvSpPr>
          <p:cNvPr id="8" name="Text 5"/>
          <p:cNvSpPr txBox="1"/>
          <p:nvPr/>
        </p:nvSpPr>
        <p:spPr>
          <a:xfrm>
            <a:off x="740664" y="2426179"/>
            <a:ext cx="1810512" cy="44805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18152B"/>
                </a:solidFill>
                <a:latin typeface="Inter" pitchFamily="34" charset="0"/>
                <a:ea typeface="Inter" pitchFamily="34" charset="-122"/>
                <a:cs typeface="Inter" pitchFamily="34" charset="-120"/>
              </a:rPr>
              <a:t>workflows · exceptions · approvals · domain rules</a:t>
            </a:r>
            <a:endParaRPr lang="en-US" sz="1200" dirty="0"/>
          </a:p>
        </p:txBody>
      </p:sp>
      <p:sp>
        <p:nvSpPr>
          <p:cNvPr id="9" name="Shape 6"/>
          <p:cNvSpPr/>
          <p:nvPr/>
        </p:nvSpPr>
        <p:spPr>
          <a:xfrm>
            <a:off x="2907792" y="1758667"/>
            <a:ext cx="2084832" cy="1307592"/>
          </a:xfrm>
          <a:prstGeom prst="roundRect">
            <a:avLst>
              <a:gd name="adj" fmla="val 8392"/>
            </a:avLst>
          </a:prstGeom>
          <a:solidFill>
            <a:srgbClr val="FFFFFF"/>
          </a:solidFill>
          <a:ln w="12700">
            <a:solidFill>
              <a:srgbClr val="E5DDEF"/>
            </a:solidFill>
            <a:prstDash val="solid"/>
          </a:ln>
          <a:effectLst>
            <a:outerShdw blurRad="19050" dist="50800" dir="2700000" algn="bl" rotWithShape="0">
              <a:srgbClr val="C6BCD8">
                <a:alpha val="16000"/>
              </a:srgbClr>
            </a:outerShdw>
          </a:effectLst>
        </p:spPr>
        <p:txBody>
          <a:bodyPr/>
          <a:lstStyle/>
          <a:p>
            <a:endParaRPr lang="es-MX"/>
          </a:p>
        </p:txBody>
      </p:sp>
      <p:sp>
        <p:nvSpPr>
          <p:cNvPr id="10" name="Shape 7"/>
          <p:cNvSpPr/>
          <p:nvPr/>
        </p:nvSpPr>
        <p:spPr>
          <a:xfrm>
            <a:off x="2907792" y="1758667"/>
            <a:ext cx="2084832" cy="54864"/>
          </a:xfrm>
          <a:prstGeom prst="rect">
            <a:avLst/>
          </a:prstGeom>
          <a:solidFill>
            <a:srgbClr val="5F658E"/>
          </a:solidFill>
          <a:ln w="12700">
            <a:solidFill>
              <a:srgbClr val="FFFFFF">
                <a:alpha val="0"/>
              </a:srgbClr>
            </a:solidFill>
            <a:prstDash val="solid"/>
          </a:ln>
        </p:spPr>
        <p:txBody>
          <a:bodyPr/>
          <a:lstStyle/>
          <a:p>
            <a:endParaRPr lang="es-MX"/>
          </a:p>
        </p:txBody>
      </p:sp>
      <p:sp>
        <p:nvSpPr>
          <p:cNvPr id="11" name="Text 8"/>
          <p:cNvSpPr txBox="1"/>
          <p:nvPr/>
        </p:nvSpPr>
        <p:spPr>
          <a:xfrm>
            <a:off x="3044952" y="1907365"/>
            <a:ext cx="1810512" cy="36576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5F658E"/>
                </a:solidFill>
                <a:latin typeface="Inter" pitchFamily="34" charset="0"/>
                <a:ea typeface="Inter" pitchFamily="34" charset="-122"/>
                <a:cs typeface="Inter" pitchFamily="34" charset="-120"/>
              </a:rPr>
              <a:t>DURABLE OPERATION</a:t>
            </a:r>
            <a:endParaRPr lang="en-US" sz="1200" dirty="0"/>
          </a:p>
        </p:txBody>
      </p:sp>
      <p:sp>
        <p:nvSpPr>
          <p:cNvPr id="12" name="Text 9"/>
          <p:cNvSpPr txBox="1"/>
          <p:nvPr/>
        </p:nvSpPr>
        <p:spPr>
          <a:xfrm>
            <a:off x="3044952" y="2426179"/>
            <a:ext cx="1810512" cy="44805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18152B"/>
                </a:solidFill>
                <a:latin typeface="Inter" pitchFamily="34" charset="0"/>
                <a:ea typeface="Inter" pitchFamily="34" charset="-122"/>
                <a:cs typeface="Inter" pitchFamily="34" charset="-120"/>
              </a:rPr>
              <a:t>state · dependencies · waits · verification</a:t>
            </a:r>
            <a:endParaRPr lang="en-US" sz="1200" dirty="0"/>
          </a:p>
        </p:txBody>
      </p:sp>
      <p:sp>
        <p:nvSpPr>
          <p:cNvPr id="13" name="Shape 10"/>
          <p:cNvSpPr/>
          <p:nvPr/>
        </p:nvSpPr>
        <p:spPr>
          <a:xfrm>
            <a:off x="5212080" y="1758667"/>
            <a:ext cx="2084832" cy="1307592"/>
          </a:xfrm>
          <a:prstGeom prst="roundRect">
            <a:avLst>
              <a:gd name="adj" fmla="val 8392"/>
            </a:avLst>
          </a:prstGeom>
          <a:solidFill>
            <a:srgbClr val="FFFFFF"/>
          </a:solidFill>
          <a:ln w="12700">
            <a:solidFill>
              <a:srgbClr val="E5DDEF"/>
            </a:solidFill>
            <a:prstDash val="solid"/>
          </a:ln>
          <a:effectLst>
            <a:outerShdw blurRad="19050" dist="50800" dir="2700000" algn="bl" rotWithShape="0">
              <a:srgbClr val="C6BCD8">
                <a:alpha val="16000"/>
              </a:srgbClr>
            </a:outerShdw>
          </a:effectLst>
        </p:spPr>
        <p:txBody>
          <a:bodyPr/>
          <a:lstStyle/>
          <a:p>
            <a:endParaRPr lang="es-MX"/>
          </a:p>
        </p:txBody>
      </p:sp>
      <p:sp>
        <p:nvSpPr>
          <p:cNvPr id="14" name="Shape 11"/>
          <p:cNvSpPr/>
          <p:nvPr/>
        </p:nvSpPr>
        <p:spPr>
          <a:xfrm>
            <a:off x="5212080" y="1758667"/>
            <a:ext cx="2084832" cy="54864"/>
          </a:xfrm>
          <a:prstGeom prst="rect">
            <a:avLst/>
          </a:prstGeom>
          <a:solidFill>
            <a:srgbClr val="9A4D78"/>
          </a:solidFill>
          <a:ln w="12700">
            <a:solidFill>
              <a:srgbClr val="FFFFFF">
                <a:alpha val="0"/>
              </a:srgbClr>
            </a:solidFill>
            <a:prstDash val="solid"/>
          </a:ln>
        </p:spPr>
        <p:txBody>
          <a:bodyPr/>
          <a:lstStyle/>
          <a:p>
            <a:endParaRPr lang="es-MX"/>
          </a:p>
        </p:txBody>
      </p:sp>
      <p:sp>
        <p:nvSpPr>
          <p:cNvPr id="15" name="Text 12"/>
          <p:cNvSpPr txBox="1"/>
          <p:nvPr/>
        </p:nvSpPr>
        <p:spPr>
          <a:xfrm>
            <a:off x="5349240" y="1996145"/>
            <a:ext cx="1810512" cy="36576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9A4D78"/>
                </a:solidFill>
                <a:latin typeface="Inter" pitchFamily="34" charset="0"/>
                <a:ea typeface="Inter" pitchFamily="34" charset="-122"/>
                <a:cs typeface="Inter" pitchFamily="34" charset="-120"/>
              </a:rPr>
              <a:t>COMPANY-SPECIFIC INTELLIGENCE</a:t>
            </a:r>
            <a:endParaRPr lang="en-US" sz="1200" dirty="0"/>
          </a:p>
        </p:txBody>
      </p:sp>
      <p:sp>
        <p:nvSpPr>
          <p:cNvPr id="16" name="Text 13"/>
          <p:cNvSpPr txBox="1"/>
          <p:nvPr/>
        </p:nvSpPr>
        <p:spPr>
          <a:xfrm>
            <a:off x="5384752" y="2426179"/>
            <a:ext cx="1775000" cy="448056"/>
          </a:xfrm>
          <a:prstGeom prst="rect">
            <a:avLst/>
          </a:prstGeom>
          <a:noFill/>
          <a:ln/>
        </p:spPr>
        <p:txBody>
          <a:bodyPr wrap="square" lIns="0" tIns="0" rIns="0" bIns="0" rtlCol="0" anchor="t">
            <a:normAutofit fontScale="92500"/>
          </a:bodyPr>
          <a:lstStyle/>
          <a:p>
            <a:pPr algn="ctr"/>
            <a:r>
              <a:rPr lang="en-US" sz="1200" dirty="0">
                <a:solidFill>
                  <a:srgbClr val="18152B"/>
                </a:solidFill>
                <a:latin typeface="Inter" pitchFamily="34" charset="0"/>
                <a:ea typeface="Inter" pitchFamily="34" charset="-122"/>
                <a:cs typeface="Inter" pitchFamily="34" charset="-120"/>
              </a:rPr>
              <a:t>people · relationships · history · decisions ·  preferences</a:t>
            </a:r>
            <a:endParaRPr lang="en-US" sz="1200" dirty="0"/>
          </a:p>
        </p:txBody>
      </p:sp>
      <p:sp>
        <p:nvSpPr>
          <p:cNvPr id="17" name="Shape 14"/>
          <p:cNvSpPr/>
          <p:nvPr/>
        </p:nvSpPr>
        <p:spPr>
          <a:xfrm>
            <a:off x="7516368" y="1758667"/>
            <a:ext cx="2084832" cy="1307592"/>
          </a:xfrm>
          <a:prstGeom prst="roundRect">
            <a:avLst>
              <a:gd name="adj" fmla="val 8392"/>
            </a:avLst>
          </a:prstGeom>
          <a:solidFill>
            <a:srgbClr val="FFFFFF"/>
          </a:solidFill>
          <a:ln w="12700">
            <a:solidFill>
              <a:srgbClr val="E5DDEF"/>
            </a:solidFill>
            <a:prstDash val="solid"/>
          </a:ln>
          <a:effectLst>
            <a:outerShdw blurRad="19050" dist="50800" dir="2700000" algn="bl" rotWithShape="0">
              <a:srgbClr val="C6BCD8">
                <a:alpha val="16000"/>
              </a:srgbClr>
            </a:outerShdw>
          </a:effectLst>
        </p:spPr>
        <p:txBody>
          <a:bodyPr/>
          <a:lstStyle/>
          <a:p>
            <a:endParaRPr lang="es-MX"/>
          </a:p>
        </p:txBody>
      </p:sp>
      <p:sp>
        <p:nvSpPr>
          <p:cNvPr id="18" name="Shape 15"/>
          <p:cNvSpPr/>
          <p:nvPr/>
        </p:nvSpPr>
        <p:spPr>
          <a:xfrm>
            <a:off x="7516368" y="1758667"/>
            <a:ext cx="2084832" cy="54864"/>
          </a:xfrm>
          <a:prstGeom prst="rect">
            <a:avLst/>
          </a:prstGeom>
          <a:solidFill>
            <a:srgbClr val="18845A"/>
          </a:solidFill>
          <a:ln w="12700">
            <a:solidFill>
              <a:srgbClr val="FFFFFF">
                <a:alpha val="0"/>
              </a:srgbClr>
            </a:solidFill>
            <a:prstDash val="solid"/>
          </a:ln>
        </p:spPr>
        <p:txBody>
          <a:bodyPr/>
          <a:lstStyle/>
          <a:p>
            <a:endParaRPr lang="es-MX"/>
          </a:p>
        </p:txBody>
      </p:sp>
      <p:sp>
        <p:nvSpPr>
          <p:cNvPr id="19" name="Text 16"/>
          <p:cNvSpPr txBox="1"/>
          <p:nvPr/>
        </p:nvSpPr>
        <p:spPr>
          <a:xfrm>
            <a:off x="7653528" y="1942877"/>
            <a:ext cx="1810512" cy="36576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845A"/>
                </a:solidFill>
                <a:latin typeface="Inter" pitchFamily="34" charset="0"/>
                <a:ea typeface="Inter" pitchFamily="34" charset="-122"/>
                <a:cs typeface="Inter" pitchFamily="34" charset="-120"/>
              </a:rPr>
              <a:t>NETWORK &amp; ECOSYSTEM</a:t>
            </a:r>
            <a:endParaRPr lang="en-US" sz="1200" dirty="0"/>
          </a:p>
        </p:txBody>
      </p:sp>
      <p:sp>
        <p:nvSpPr>
          <p:cNvPr id="20" name="Text 17"/>
          <p:cNvSpPr txBox="1"/>
          <p:nvPr/>
        </p:nvSpPr>
        <p:spPr>
          <a:xfrm>
            <a:off x="7653528" y="2417301"/>
            <a:ext cx="1810512" cy="448056"/>
          </a:xfrm>
          <a:prstGeom prst="rect">
            <a:avLst/>
          </a:prstGeom>
          <a:noFill/>
          <a:ln/>
        </p:spPr>
        <p:txBody>
          <a:bodyPr wrap="square" lIns="0" tIns="0" rIns="0" bIns="0" rtlCol="0" anchor="t">
            <a:noAutofit/>
          </a:bodyPr>
          <a:lstStyle/>
          <a:p>
            <a:pPr marL="0" indent="0" algn="ctr">
              <a:lnSpc>
                <a:spcPct val="100000"/>
              </a:lnSpc>
              <a:buNone/>
            </a:pPr>
            <a:r>
              <a:rPr lang="en-US" sz="1200" dirty="0">
                <a:solidFill>
                  <a:srgbClr val="18152B"/>
                </a:solidFill>
                <a:latin typeface="Inter" pitchFamily="34" charset="0"/>
                <a:ea typeface="Inter" pitchFamily="34" charset="-122"/>
                <a:cs typeface="Inter" pitchFamily="34" charset="-120"/>
              </a:rPr>
              <a:t>shared inventory · cross-brokerage opportunities · services</a:t>
            </a:r>
            <a:endParaRPr lang="en-US" sz="1200" dirty="0"/>
          </a:p>
        </p:txBody>
      </p:sp>
      <p:sp>
        <p:nvSpPr>
          <p:cNvPr id="21" name="Shape 18"/>
          <p:cNvSpPr/>
          <p:nvPr/>
        </p:nvSpPr>
        <p:spPr>
          <a:xfrm>
            <a:off x="9820656" y="1758667"/>
            <a:ext cx="2084832" cy="1307592"/>
          </a:xfrm>
          <a:prstGeom prst="roundRect">
            <a:avLst>
              <a:gd name="adj" fmla="val 8392"/>
            </a:avLst>
          </a:prstGeom>
          <a:solidFill>
            <a:srgbClr val="FFFFFF"/>
          </a:solidFill>
          <a:ln w="12700">
            <a:solidFill>
              <a:srgbClr val="E5DDEF"/>
            </a:solidFill>
            <a:prstDash val="solid"/>
          </a:ln>
          <a:effectLst>
            <a:outerShdw blurRad="19050" dist="50800" dir="2700000" algn="bl" rotWithShape="0">
              <a:srgbClr val="C6BCD8">
                <a:alpha val="16000"/>
              </a:srgbClr>
            </a:outerShdw>
          </a:effectLst>
        </p:spPr>
        <p:txBody>
          <a:bodyPr/>
          <a:lstStyle/>
          <a:p>
            <a:endParaRPr lang="es-MX"/>
          </a:p>
        </p:txBody>
      </p:sp>
      <p:sp>
        <p:nvSpPr>
          <p:cNvPr id="22" name="Shape 19"/>
          <p:cNvSpPr/>
          <p:nvPr/>
        </p:nvSpPr>
        <p:spPr>
          <a:xfrm>
            <a:off x="9820656" y="1758667"/>
            <a:ext cx="2084832" cy="54864"/>
          </a:xfrm>
          <a:prstGeom prst="rect">
            <a:avLst/>
          </a:prstGeom>
          <a:solidFill>
            <a:srgbClr val="F0A44A"/>
          </a:solidFill>
          <a:ln w="12700">
            <a:solidFill>
              <a:srgbClr val="FFFFFF">
                <a:alpha val="0"/>
              </a:srgbClr>
            </a:solidFill>
            <a:prstDash val="solid"/>
          </a:ln>
        </p:spPr>
        <p:txBody>
          <a:bodyPr/>
          <a:lstStyle/>
          <a:p>
            <a:endParaRPr lang="es-MX"/>
          </a:p>
        </p:txBody>
      </p:sp>
      <p:sp>
        <p:nvSpPr>
          <p:cNvPr id="23" name="Text 20"/>
          <p:cNvSpPr txBox="1"/>
          <p:nvPr/>
        </p:nvSpPr>
        <p:spPr>
          <a:xfrm>
            <a:off x="9957816" y="1925121"/>
            <a:ext cx="1810512" cy="36576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F0A44A"/>
                </a:solidFill>
                <a:latin typeface="Inter" pitchFamily="34" charset="0"/>
                <a:ea typeface="Inter" pitchFamily="34" charset="-122"/>
                <a:cs typeface="Inter" pitchFamily="34" charset="-120"/>
              </a:rPr>
              <a:t>OUTCOME LOOP</a:t>
            </a:r>
            <a:endParaRPr lang="en-US" sz="1200" dirty="0"/>
          </a:p>
        </p:txBody>
      </p:sp>
      <p:sp>
        <p:nvSpPr>
          <p:cNvPr id="24" name="Text 21"/>
          <p:cNvSpPr txBox="1"/>
          <p:nvPr/>
        </p:nvSpPr>
        <p:spPr>
          <a:xfrm>
            <a:off x="9957816" y="2426179"/>
            <a:ext cx="1810512" cy="44805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18152B"/>
                </a:solidFill>
                <a:latin typeface="Inter" pitchFamily="34" charset="0"/>
                <a:ea typeface="Inter" pitchFamily="34" charset="-122"/>
                <a:cs typeface="Inter" pitchFamily="34" charset="-120"/>
              </a:rPr>
              <a:t>action → real-world result → future decision</a:t>
            </a:r>
            <a:endParaRPr lang="en-US" sz="1200" dirty="0"/>
          </a:p>
        </p:txBody>
      </p:sp>
      <p:pic>
        <p:nvPicPr>
          <p:cNvPr id="2" name="Image 0" descr="/mnt/data/ungga_logo_purple.png"/>
          <p:cNvPicPr>
            <a:picLocks noChangeAspect="1"/>
          </p:cNvPicPr>
          <p:nvPr/>
        </p:nvPicPr>
        <p:blipFill>
          <a:blip r:embed="rId6"/>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Aptos" panose="020B0004020202020204" pitchFamily="34" charset="0"/>
                <a:ea typeface="Inter" pitchFamily="34" charset="-122"/>
                <a:cs typeface="Inter" pitchFamily="34" charset="-120"/>
              </a:rPr>
              <a:t>WHY UNGGA CAN WIN</a:t>
            </a:r>
            <a:endParaRPr lang="en-US" sz="950" dirty="0">
              <a:latin typeface="Aptos" panose="020B0004020202020204" pitchFamily="34" charset="0"/>
            </a:endParaRPr>
          </a:p>
        </p:txBody>
      </p:sp>
      <p:sp>
        <p:nvSpPr>
          <p:cNvPr id="4" name="Text 1"/>
          <p:cNvSpPr txBox="1"/>
          <p:nvPr/>
        </p:nvSpPr>
        <p:spPr>
          <a:xfrm>
            <a:off x="540294" y="658368"/>
            <a:ext cx="9463242" cy="658368"/>
          </a:xfrm>
          <a:prstGeom prst="rect">
            <a:avLst/>
          </a:prstGeom>
          <a:noFill/>
          <a:ln/>
        </p:spPr>
        <p:txBody>
          <a:bodyPr wrap="square" lIns="0" tIns="0" rIns="0" bIns="0" rtlCol="0" anchor="t">
            <a:noAutofit/>
          </a:bodyPr>
          <a:lstStyle/>
          <a:p>
            <a:pPr marL="0" indent="0" algn="l">
              <a:lnSpc>
                <a:spcPct val="100000"/>
              </a:lnSpc>
              <a:buNone/>
            </a:pPr>
            <a:r>
              <a:rPr lang="en-US" sz="2700" b="1" dirty="0">
                <a:solidFill>
                  <a:srgbClr val="18152B"/>
                </a:solidFill>
                <a:latin typeface="Aptos" panose="020B0004020202020204" pitchFamily="34" charset="0"/>
                <a:ea typeface="Inter Display" pitchFamily="34" charset="-122"/>
                <a:cs typeface="Inter Display" pitchFamily="34" charset="-120"/>
              </a:rPr>
              <a:t>Ungga is turning real-estate operating experience into productized intelligence.</a:t>
            </a:r>
            <a:endParaRPr lang="en-US" sz="2700" dirty="0">
              <a:latin typeface="Aptos" panose="020B0004020202020204" pitchFamily="34" charset="0"/>
            </a:endParaRPr>
          </a:p>
        </p:txBody>
      </p:sp>
      <p:sp>
        <p:nvSpPr>
          <p:cNvPr id="47" name="Slide Number Placeholder 0"/>
          <p:cNvSpPr>
            <a:spLocks noGrp="1"/>
          </p:cNvSpPr>
          <p:nvPr>
            <p:ph type="sldNum" sz="quarter" idx="4294967295"/>
          </p:nvPr>
        </p:nvSpPr>
        <p:spPr>
          <a:xfrm>
            <a:off x="11631168" y="6510528"/>
            <a:ext cx="363608"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12</a:t>
            </a:fld>
            <a:endParaRPr lang="en-US" dirty="0"/>
          </a:p>
        </p:txBody>
      </p:sp>
      <p:grpSp>
        <p:nvGrpSpPr>
          <p:cNvPr id="51" name="Grupo 50">
            <a:extLst>
              <a:ext uri="{FF2B5EF4-FFF2-40B4-BE49-F238E27FC236}">
                <a16:creationId xmlns:a16="http://schemas.microsoft.com/office/drawing/2014/main" id="{8FCAE0AD-146F-836F-9A3F-272A2DE327AE}"/>
              </a:ext>
            </a:extLst>
          </p:cNvPr>
          <p:cNvGrpSpPr/>
          <p:nvPr/>
        </p:nvGrpSpPr>
        <p:grpSpPr>
          <a:xfrm>
            <a:off x="3505468" y="4410164"/>
            <a:ext cx="2957475" cy="713587"/>
            <a:chOff x="3505468" y="4410164"/>
            <a:chExt cx="2957475" cy="713587"/>
          </a:xfrm>
        </p:grpSpPr>
        <p:sp>
          <p:nvSpPr>
            <p:cNvPr id="25" name="Shape 22"/>
            <p:cNvSpPr/>
            <p:nvPr/>
          </p:nvSpPr>
          <p:spPr>
            <a:xfrm>
              <a:off x="3505468" y="4410164"/>
              <a:ext cx="2957475" cy="713587"/>
            </a:xfrm>
            <a:prstGeom prst="roundRect">
              <a:avLst>
                <a:gd name="adj" fmla="val 8824"/>
              </a:avLst>
            </a:prstGeom>
            <a:solidFill>
              <a:srgbClr val="F6F2FF"/>
            </a:solidFill>
            <a:ln w="12700">
              <a:solidFill>
                <a:srgbClr val="DDD1FB"/>
              </a:solidFill>
              <a:prstDash val="solid"/>
            </a:ln>
          </p:spPr>
          <p:txBody>
            <a:bodyPr/>
            <a:lstStyle/>
            <a:p>
              <a:endParaRPr lang="es-MX"/>
            </a:p>
          </p:txBody>
        </p:sp>
        <p:sp>
          <p:nvSpPr>
            <p:cNvPr id="30" name="Text 27"/>
            <p:cNvSpPr txBox="1"/>
            <p:nvPr/>
          </p:nvSpPr>
          <p:spPr>
            <a:xfrm>
              <a:off x="3688707" y="4461633"/>
              <a:ext cx="2567898" cy="325655"/>
            </a:xfrm>
            <a:prstGeom prst="rect">
              <a:avLst/>
            </a:prstGeom>
            <a:noFill/>
            <a:ln/>
          </p:spPr>
          <p:txBody>
            <a:bodyPr wrap="square" lIns="0" tIns="0" rIns="0" bIns="0" rtlCol="0" anchor="ctr">
              <a:normAutofit/>
            </a:bodyPr>
            <a:lstStyle/>
            <a:p>
              <a:pPr marL="0" indent="0" algn="ctr">
                <a:lnSpc>
                  <a:spcPct val="100000"/>
                </a:lnSpc>
                <a:buNone/>
              </a:pPr>
              <a:r>
                <a:rPr lang="en-US" sz="1800" b="1" dirty="0">
                  <a:solidFill>
                    <a:srgbClr val="5B2DB6"/>
                  </a:solidFill>
                  <a:ea typeface="Inter Display" pitchFamily="34" charset="-122"/>
                  <a:cs typeface="Inter Display" pitchFamily="34" charset="-120"/>
                </a:rPr>
                <a:t>GU + GU O</a:t>
              </a:r>
              <a:r>
                <a:rPr lang="en-US" b="1" dirty="0">
                  <a:solidFill>
                    <a:srgbClr val="5B2DB6"/>
                  </a:solidFill>
                  <a:ea typeface="Inter Display" pitchFamily="34" charset="-122"/>
                  <a:cs typeface="Inter Display" pitchFamily="34" charset="-120"/>
                </a:rPr>
                <a:t>S</a:t>
              </a:r>
              <a:endParaRPr lang="en-US" sz="1800" dirty="0"/>
            </a:p>
          </p:txBody>
        </p:sp>
        <p:sp>
          <p:nvSpPr>
            <p:cNvPr id="46" name="CuadroTexto 45">
              <a:extLst>
                <a:ext uri="{FF2B5EF4-FFF2-40B4-BE49-F238E27FC236}">
                  <a16:creationId xmlns:a16="http://schemas.microsoft.com/office/drawing/2014/main" id="{C9FD2B4E-DCD8-021C-9E5A-05DE3E8B787B}"/>
                </a:ext>
              </a:extLst>
            </p:cNvPr>
            <p:cNvSpPr txBox="1"/>
            <p:nvPr/>
          </p:nvSpPr>
          <p:spPr>
            <a:xfrm>
              <a:off x="3606729" y="4761763"/>
              <a:ext cx="2783134" cy="307777"/>
            </a:xfrm>
            <a:prstGeom prst="rect">
              <a:avLst/>
            </a:prstGeom>
            <a:noFill/>
          </p:spPr>
          <p:txBody>
            <a:bodyPr wrap="square" rtlCol="0">
              <a:spAutoFit/>
            </a:bodyPr>
            <a:lstStyle/>
            <a:p>
              <a:pPr algn="ctr"/>
              <a:r>
                <a:rPr lang="en-US" sz="1400" b="1" dirty="0">
                  <a:solidFill>
                    <a:schemeClr val="tx1">
                      <a:lumMod val="85000"/>
                      <a:lumOff val="15000"/>
                    </a:schemeClr>
                  </a:solidFill>
                </a:rPr>
                <a:t>Real-estate operating environment</a:t>
              </a:r>
              <a:endParaRPr lang="es-MX" sz="1400" b="1" dirty="0">
                <a:solidFill>
                  <a:schemeClr val="tx1">
                    <a:lumMod val="75000"/>
                    <a:lumOff val="25000"/>
                  </a:schemeClr>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ungga_logo_white.png"/>
          <p:cNvPicPr>
            <a:picLocks noChangeAspect="1"/>
          </p:cNvPicPr>
          <p:nvPr/>
        </p:nvPicPr>
        <p:blipFill>
          <a:blip r:embed="rId3"/>
          <a:stretch>
            <a:fillRect/>
          </a:stretch>
        </p:blipFill>
        <p:spPr>
          <a:xfrm>
            <a:off x="10904532" y="372527"/>
            <a:ext cx="650188" cy="541513"/>
          </a:xfrm>
          <a:prstGeom prst="rect">
            <a:avLst/>
          </a:prstGeom>
        </p:spPr>
      </p:pic>
      <p:sp>
        <p:nvSpPr>
          <p:cNvPr id="3" name="Text 0"/>
          <p:cNvSpPr txBox="1"/>
          <p:nvPr/>
        </p:nvSpPr>
        <p:spPr>
          <a:xfrm>
            <a:off x="603504" y="413088"/>
            <a:ext cx="9218228" cy="640080"/>
          </a:xfrm>
          <a:prstGeom prst="rect">
            <a:avLst/>
          </a:prstGeom>
          <a:noFill/>
          <a:ln/>
        </p:spPr>
        <p:txBody>
          <a:bodyPr wrap="square" lIns="0" tIns="0" rIns="0" bIns="0" rtlCol="0" anchor="t">
            <a:normAutofit/>
          </a:bodyPr>
          <a:lstStyle/>
          <a:p>
            <a:pPr marL="0" indent="0" algn="l">
              <a:lnSpc>
                <a:spcPct val="100000"/>
              </a:lnSpc>
              <a:buNone/>
            </a:pPr>
            <a:r>
              <a:rPr lang="en-US" sz="2700" b="1" dirty="0">
                <a:solidFill>
                  <a:srgbClr val="FFFFFF"/>
                </a:solidFill>
                <a:latin typeface="Aptos" panose="020B0004020202020204" pitchFamily="34" charset="0"/>
                <a:ea typeface="Inter Display" pitchFamily="34" charset="-122"/>
                <a:cs typeface="Inter Display" pitchFamily="34" charset="-120"/>
              </a:rPr>
              <a:t>Enabling the AI-native real-estate company</a:t>
            </a:r>
            <a:endParaRPr lang="en-US" sz="2700" dirty="0">
              <a:latin typeface="Aptos" panose="020B0004020202020204" pitchFamily="34" charset="0"/>
            </a:endParaRPr>
          </a:p>
        </p:txBody>
      </p:sp>
      <p:sp>
        <p:nvSpPr>
          <p:cNvPr id="4" name="Text 1"/>
          <p:cNvSpPr txBox="1"/>
          <p:nvPr/>
        </p:nvSpPr>
        <p:spPr>
          <a:xfrm>
            <a:off x="597048" y="1070383"/>
            <a:ext cx="6460575" cy="987552"/>
          </a:xfrm>
          <a:prstGeom prst="rect">
            <a:avLst/>
          </a:prstGeom>
          <a:noFill/>
          <a:ln/>
        </p:spPr>
        <p:txBody>
          <a:bodyPr wrap="square" lIns="0" tIns="0" rIns="0" bIns="0" rtlCol="0" anchor="t">
            <a:normAutofit/>
          </a:bodyPr>
          <a:lstStyle/>
          <a:p>
            <a:pPr marL="0" indent="0" algn="l">
              <a:lnSpc>
                <a:spcPct val="100000"/>
              </a:lnSpc>
              <a:buNone/>
            </a:pPr>
            <a:r>
              <a:rPr lang="en-US" dirty="0">
                <a:solidFill>
                  <a:srgbClr val="E2DAEF"/>
                </a:solidFill>
                <a:latin typeface="Inter" pitchFamily="34" charset="0"/>
                <a:ea typeface="Inter" pitchFamily="34" charset="-122"/>
                <a:cs typeface="Inter" pitchFamily="34" charset="-120"/>
              </a:rPr>
              <a:t>We envision real-estate companies becoming AI-native organizations in which humans lead and Gu gets an increasing share of the operational work done.</a:t>
            </a:r>
            <a:endParaRPr lang="en-US" dirty="0"/>
          </a:p>
        </p:txBody>
      </p:sp>
      <p:sp>
        <p:nvSpPr>
          <p:cNvPr id="5" name="Shape 2"/>
          <p:cNvSpPr/>
          <p:nvPr/>
        </p:nvSpPr>
        <p:spPr>
          <a:xfrm>
            <a:off x="637926" y="2236928"/>
            <a:ext cx="6254496" cy="731520"/>
          </a:xfrm>
          <a:prstGeom prst="roundRect">
            <a:avLst>
              <a:gd name="adj" fmla="val 10000"/>
            </a:avLst>
          </a:prstGeom>
          <a:solidFill>
            <a:srgbClr val="FFFFFF"/>
          </a:solidFill>
          <a:ln w="12700">
            <a:solidFill>
              <a:srgbClr val="FFFFFF">
                <a:alpha val="20000"/>
              </a:srgbClr>
            </a:solidFill>
            <a:prstDash val="solid"/>
          </a:ln>
        </p:spPr>
        <p:txBody>
          <a:bodyPr/>
          <a:lstStyle/>
          <a:p>
            <a:endParaRPr lang="es-MX"/>
          </a:p>
        </p:txBody>
      </p:sp>
      <p:sp>
        <p:nvSpPr>
          <p:cNvPr id="6" name="Text 3"/>
          <p:cNvSpPr txBox="1"/>
          <p:nvPr/>
        </p:nvSpPr>
        <p:spPr>
          <a:xfrm>
            <a:off x="857382" y="2328368"/>
            <a:ext cx="5815584" cy="256032"/>
          </a:xfrm>
          <a:prstGeom prst="rect">
            <a:avLst/>
          </a:prstGeom>
          <a:noFill/>
          <a:ln/>
        </p:spPr>
        <p:txBody>
          <a:bodyPr wrap="square" lIns="0" tIns="0" rIns="0" bIns="0" rtlCol="0" anchor="ctr">
            <a:normAutofit/>
          </a:bodyPr>
          <a:lstStyle/>
          <a:p>
            <a:pPr marL="0" indent="0" algn="ctr">
              <a:lnSpc>
                <a:spcPct val="100000"/>
              </a:lnSpc>
              <a:buNone/>
            </a:pPr>
            <a:r>
              <a:rPr lang="en-US" sz="1400" b="1" kern="0" spc="30" dirty="0">
                <a:solidFill>
                  <a:srgbClr val="18152B"/>
                </a:solidFill>
                <a:latin typeface="Inter" pitchFamily="34" charset="0"/>
                <a:ea typeface="Inter" pitchFamily="34" charset="-122"/>
                <a:cs typeface="Inter" pitchFamily="34" charset="-120"/>
              </a:rPr>
              <a:t>HUMANS</a:t>
            </a:r>
            <a:endParaRPr lang="en-US" sz="1400" dirty="0"/>
          </a:p>
        </p:txBody>
      </p:sp>
      <p:sp>
        <p:nvSpPr>
          <p:cNvPr id="7" name="Text 4"/>
          <p:cNvSpPr txBox="1"/>
          <p:nvPr/>
        </p:nvSpPr>
        <p:spPr>
          <a:xfrm>
            <a:off x="866526" y="2602688"/>
            <a:ext cx="5797296" cy="31089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6F6882"/>
                </a:solidFill>
                <a:latin typeface="Inter" pitchFamily="34" charset="0"/>
                <a:ea typeface="Inter" pitchFamily="34" charset="-122"/>
                <a:cs typeface="Inter" pitchFamily="34" charset="-120"/>
              </a:rPr>
              <a:t>leadership · relationships · negotiation · judgment · accountability</a:t>
            </a:r>
            <a:endParaRPr lang="en-US" sz="1200" dirty="0"/>
          </a:p>
        </p:txBody>
      </p:sp>
      <p:sp>
        <p:nvSpPr>
          <p:cNvPr id="8" name="Shape 5"/>
          <p:cNvSpPr/>
          <p:nvPr/>
        </p:nvSpPr>
        <p:spPr>
          <a:xfrm>
            <a:off x="3765174" y="3014168"/>
            <a:ext cx="0" cy="27432"/>
          </a:xfrm>
          <a:prstGeom prst="line">
            <a:avLst/>
          </a:prstGeom>
          <a:noFill/>
          <a:ln w="12700">
            <a:solidFill>
              <a:srgbClr val="9077BE"/>
            </a:solidFill>
            <a:prstDash val="solid"/>
            <a:headEnd type="none"/>
            <a:tailEnd type="triangle"/>
          </a:ln>
        </p:spPr>
        <p:txBody>
          <a:bodyPr/>
          <a:lstStyle/>
          <a:p>
            <a:endParaRPr lang="es-MX"/>
          </a:p>
        </p:txBody>
      </p:sp>
      <p:sp>
        <p:nvSpPr>
          <p:cNvPr id="9" name="Shape 6"/>
          <p:cNvSpPr/>
          <p:nvPr/>
        </p:nvSpPr>
        <p:spPr>
          <a:xfrm>
            <a:off x="637926" y="3087320"/>
            <a:ext cx="6254496" cy="731520"/>
          </a:xfrm>
          <a:prstGeom prst="roundRect">
            <a:avLst>
              <a:gd name="adj" fmla="val 10000"/>
            </a:avLst>
          </a:prstGeom>
          <a:solidFill>
            <a:srgbClr val="6F45DB"/>
          </a:solidFill>
          <a:ln w="12700">
            <a:solidFill>
              <a:srgbClr val="4E3A6D"/>
            </a:solidFill>
            <a:prstDash val="solid"/>
          </a:ln>
        </p:spPr>
        <p:txBody>
          <a:bodyPr/>
          <a:lstStyle/>
          <a:p>
            <a:endParaRPr lang="es-MX"/>
          </a:p>
        </p:txBody>
      </p:sp>
      <p:sp>
        <p:nvSpPr>
          <p:cNvPr id="10" name="Text 7"/>
          <p:cNvSpPr txBox="1"/>
          <p:nvPr/>
        </p:nvSpPr>
        <p:spPr>
          <a:xfrm>
            <a:off x="857382" y="3178760"/>
            <a:ext cx="5815584" cy="256032"/>
          </a:xfrm>
          <a:prstGeom prst="rect">
            <a:avLst/>
          </a:prstGeom>
          <a:noFill/>
          <a:ln/>
        </p:spPr>
        <p:txBody>
          <a:bodyPr wrap="square" lIns="0" tIns="0" rIns="0" bIns="0" rtlCol="0" anchor="ctr">
            <a:normAutofit/>
          </a:bodyPr>
          <a:lstStyle/>
          <a:p>
            <a:pPr marL="0" indent="0" algn="ctr">
              <a:lnSpc>
                <a:spcPct val="100000"/>
              </a:lnSpc>
              <a:buNone/>
            </a:pPr>
            <a:r>
              <a:rPr lang="en-US" sz="1400" b="1" kern="0" spc="30" dirty="0">
                <a:solidFill>
                  <a:srgbClr val="FFFFFF"/>
                </a:solidFill>
                <a:latin typeface="Inter" pitchFamily="34" charset="0"/>
                <a:ea typeface="Inter" pitchFamily="34" charset="-122"/>
                <a:cs typeface="Inter" pitchFamily="34" charset="-120"/>
              </a:rPr>
              <a:t>GU — AI COWORKER</a:t>
            </a:r>
            <a:endParaRPr lang="en-US" sz="1400" dirty="0"/>
          </a:p>
        </p:txBody>
      </p:sp>
      <p:sp>
        <p:nvSpPr>
          <p:cNvPr id="11" name="Text 8"/>
          <p:cNvSpPr txBox="1"/>
          <p:nvPr/>
        </p:nvSpPr>
        <p:spPr>
          <a:xfrm>
            <a:off x="866526" y="3453080"/>
            <a:ext cx="5797296" cy="31089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E6DFFF"/>
                </a:solidFill>
                <a:latin typeface="Inter" pitchFamily="34" charset="0"/>
                <a:ea typeface="Inter" pitchFamily="34" charset="-122"/>
                <a:cs typeface="Inter" pitchFamily="34" charset="-120"/>
              </a:rPr>
              <a:t>understand · reason · communicate · act</a:t>
            </a:r>
            <a:endParaRPr lang="en-US" sz="1200" dirty="0"/>
          </a:p>
        </p:txBody>
      </p:sp>
      <p:sp>
        <p:nvSpPr>
          <p:cNvPr id="12" name="Shape 9"/>
          <p:cNvSpPr/>
          <p:nvPr/>
        </p:nvSpPr>
        <p:spPr>
          <a:xfrm>
            <a:off x="3765174" y="3864560"/>
            <a:ext cx="0" cy="27432"/>
          </a:xfrm>
          <a:prstGeom prst="line">
            <a:avLst/>
          </a:prstGeom>
          <a:noFill/>
          <a:ln w="12700">
            <a:solidFill>
              <a:srgbClr val="9077BE"/>
            </a:solidFill>
            <a:prstDash val="solid"/>
            <a:headEnd type="none"/>
            <a:tailEnd type="triangle"/>
          </a:ln>
        </p:spPr>
        <p:txBody>
          <a:bodyPr/>
          <a:lstStyle/>
          <a:p>
            <a:endParaRPr lang="es-MX"/>
          </a:p>
        </p:txBody>
      </p:sp>
      <p:sp>
        <p:nvSpPr>
          <p:cNvPr id="13" name="Shape 10"/>
          <p:cNvSpPr/>
          <p:nvPr/>
        </p:nvSpPr>
        <p:spPr>
          <a:xfrm>
            <a:off x="637926" y="3937712"/>
            <a:ext cx="6254496" cy="868680"/>
          </a:xfrm>
          <a:prstGeom prst="roundRect">
            <a:avLst>
              <a:gd name="adj" fmla="val 8421"/>
            </a:avLst>
          </a:prstGeom>
          <a:solidFill>
            <a:srgbClr val="332651"/>
          </a:solidFill>
          <a:ln w="12700">
            <a:solidFill>
              <a:srgbClr val="4E3A6D"/>
            </a:solidFill>
            <a:prstDash val="solid"/>
          </a:ln>
        </p:spPr>
        <p:txBody>
          <a:bodyPr/>
          <a:lstStyle/>
          <a:p>
            <a:endParaRPr lang="es-MX"/>
          </a:p>
        </p:txBody>
      </p:sp>
      <p:sp>
        <p:nvSpPr>
          <p:cNvPr id="14" name="Text 11"/>
          <p:cNvSpPr txBox="1"/>
          <p:nvPr/>
        </p:nvSpPr>
        <p:spPr>
          <a:xfrm>
            <a:off x="857382" y="4029152"/>
            <a:ext cx="5815584" cy="256032"/>
          </a:xfrm>
          <a:prstGeom prst="rect">
            <a:avLst/>
          </a:prstGeom>
          <a:noFill/>
          <a:ln/>
        </p:spPr>
        <p:txBody>
          <a:bodyPr wrap="square" lIns="0" tIns="0" rIns="0" bIns="0" rtlCol="0" anchor="ctr">
            <a:normAutofit/>
          </a:bodyPr>
          <a:lstStyle/>
          <a:p>
            <a:pPr marL="0" indent="0" algn="ctr">
              <a:lnSpc>
                <a:spcPct val="100000"/>
              </a:lnSpc>
              <a:buNone/>
            </a:pPr>
            <a:r>
              <a:rPr lang="en-US" sz="1400" b="1" kern="0" spc="30" dirty="0">
                <a:solidFill>
                  <a:srgbClr val="FFFFFF"/>
                </a:solidFill>
                <a:latin typeface="Inter" pitchFamily="34" charset="0"/>
                <a:ea typeface="Inter" pitchFamily="34" charset="-122"/>
                <a:cs typeface="Inter" pitchFamily="34" charset="-120"/>
              </a:rPr>
              <a:t>GU OS — OPERATING INTELLIGENCE</a:t>
            </a:r>
            <a:endParaRPr lang="en-US" sz="1400" dirty="0"/>
          </a:p>
        </p:txBody>
      </p:sp>
      <p:sp>
        <p:nvSpPr>
          <p:cNvPr id="15" name="Text 12"/>
          <p:cNvSpPr txBox="1"/>
          <p:nvPr/>
        </p:nvSpPr>
        <p:spPr>
          <a:xfrm>
            <a:off x="1255776" y="4303472"/>
            <a:ext cx="5029114" cy="448056"/>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D8CDEA"/>
                </a:solidFill>
                <a:latin typeface="Inter" pitchFamily="34" charset="0"/>
                <a:ea typeface="Inter" pitchFamily="34" charset="-122"/>
                <a:cs typeface="Inter" pitchFamily="34" charset="-120"/>
              </a:rPr>
              <a:t>business context &amp; relationships · durable work · workflows · coordination · governance · evidence</a:t>
            </a:r>
            <a:endParaRPr lang="en-US" sz="1200" dirty="0"/>
          </a:p>
        </p:txBody>
      </p:sp>
      <p:sp>
        <p:nvSpPr>
          <p:cNvPr id="16" name="Shape 13"/>
          <p:cNvSpPr/>
          <p:nvPr/>
        </p:nvSpPr>
        <p:spPr>
          <a:xfrm>
            <a:off x="3765174" y="4852112"/>
            <a:ext cx="0" cy="27432"/>
          </a:xfrm>
          <a:prstGeom prst="line">
            <a:avLst/>
          </a:prstGeom>
          <a:noFill/>
          <a:ln w="12700">
            <a:solidFill>
              <a:srgbClr val="9077BE"/>
            </a:solidFill>
            <a:prstDash val="solid"/>
            <a:headEnd type="none"/>
            <a:tailEnd type="triangle"/>
          </a:ln>
        </p:spPr>
        <p:txBody>
          <a:bodyPr/>
          <a:lstStyle/>
          <a:p>
            <a:endParaRPr lang="es-MX"/>
          </a:p>
        </p:txBody>
      </p:sp>
      <p:sp>
        <p:nvSpPr>
          <p:cNvPr id="17" name="Shape 14"/>
          <p:cNvSpPr/>
          <p:nvPr/>
        </p:nvSpPr>
        <p:spPr>
          <a:xfrm>
            <a:off x="637926" y="4925264"/>
            <a:ext cx="6254496" cy="493776"/>
          </a:xfrm>
          <a:prstGeom prst="roundRect">
            <a:avLst>
              <a:gd name="adj" fmla="val 14815"/>
            </a:avLst>
          </a:prstGeom>
          <a:solidFill>
            <a:srgbClr val="241A3B"/>
          </a:solidFill>
          <a:ln w="12700">
            <a:solidFill>
              <a:srgbClr val="4E3A6D"/>
            </a:solidFill>
            <a:prstDash val="solid"/>
          </a:ln>
        </p:spPr>
        <p:txBody>
          <a:bodyPr/>
          <a:lstStyle/>
          <a:p>
            <a:endParaRPr lang="es-MX"/>
          </a:p>
        </p:txBody>
      </p:sp>
      <p:sp>
        <p:nvSpPr>
          <p:cNvPr id="18" name="Text 15"/>
          <p:cNvSpPr txBox="1"/>
          <p:nvPr/>
        </p:nvSpPr>
        <p:spPr>
          <a:xfrm>
            <a:off x="857382" y="5016704"/>
            <a:ext cx="5815584" cy="228600"/>
          </a:xfrm>
          <a:prstGeom prst="rect">
            <a:avLst/>
          </a:prstGeom>
          <a:noFill/>
          <a:ln/>
        </p:spPr>
        <p:txBody>
          <a:bodyPr wrap="square" lIns="0" tIns="0" rIns="0" bIns="0" rtlCol="0" anchor="ctr">
            <a:normAutofit/>
          </a:bodyPr>
          <a:lstStyle/>
          <a:p>
            <a:pPr marL="0" indent="0" algn="ctr">
              <a:lnSpc>
                <a:spcPct val="100000"/>
              </a:lnSpc>
              <a:buNone/>
            </a:pPr>
            <a:r>
              <a:rPr lang="en-US" sz="1400" b="1" kern="0" spc="80" dirty="0">
                <a:solidFill>
                  <a:srgbClr val="CFC5E4"/>
                </a:solidFill>
                <a:latin typeface="Inter" pitchFamily="34" charset="0"/>
                <a:ea typeface="Inter" pitchFamily="34" charset="-122"/>
                <a:cs typeface="Inter" pitchFamily="34" charset="-120"/>
              </a:rPr>
              <a:t>SYSTEMS · SERVICES · NETWORK</a:t>
            </a:r>
            <a:endParaRPr lang="en-US" sz="1400" dirty="0"/>
          </a:p>
        </p:txBody>
      </p:sp>
      <p:sp>
        <p:nvSpPr>
          <p:cNvPr id="19" name="Text 16"/>
          <p:cNvSpPr txBox="1"/>
          <p:nvPr/>
        </p:nvSpPr>
        <p:spPr>
          <a:xfrm>
            <a:off x="729366" y="5691767"/>
            <a:ext cx="6080760" cy="274320"/>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D6C8EE"/>
                </a:solidFill>
                <a:latin typeface="Inter" pitchFamily="34" charset="0"/>
                <a:ea typeface="Inter" pitchFamily="34" charset="-122"/>
                <a:cs typeface="Inter" pitchFamily="34" charset="-120"/>
              </a:rPr>
              <a:t>More output without operational headcount growing proportionally.</a:t>
            </a:r>
            <a:endParaRPr lang="en-US" sz="1400" dirty="0"/>
          </a:p>
        </p:txBody>
      </p:sp>
      <p:sp>
        <p:nvSpPr>
          <p:cNvPr id="20" name="Shape 17"/>
          <p:cNvSpPr/>
          <p:nvPr/>
        </p:nvSpPr>
        <p:spPr>
          <a:xfrm>
            <a:off x="7363608" y="2257376"/>
            <a:ext cx="4344688" cy="4187536"/>
          </a:xfrm>
          <a:prstGeom prst="roundRect">
            <a:avLst>
              <a:gd name="adj" fmla="val 3093"/>
            </a:avLst>
          </a:prstGeom>
          <a:solidFill>
            <a:srgbClr val="FBFAFE"/>
          </a:solidFill>
          <a:ln w="12700">
            <a:solidFill>
              <a:srgbClr val="E6DDF3"/>
            </a:solidFill>
            <a:prstDash val="solid"/>
          </a:ln>
          <a:effectLst>
            <a:outerShdw blurRad="19050" dist="50800" dir="2700000" algn="bl" rotWithShape="0">
              <a:srgbClr val="C6BCD8">
                <a:alpha val="16000"/>
              </a:srgbClr>
            </a:outerShdw>
          </a:effectLst>
        </p:spPr>
        <p:txBody>
          <a:bodyPr/>
          <a:lstStyle/>
          <a:p>
            <a:endParaRPr lang="es-MX"/>
          </a:p>
        </p:txBody>
      </p:sp>
      <p:sp>
        <p:nvSpPr>
          <p:cNvPr id="21" name="Text 18"/>
          <p:cNvSpPr txBox="1"/>
          <p:nvPr/>
        </p:nvSpPr>
        <p:spPr>
          <a:xfrm>
            <a:off x="7717536" y="2415816"/>
            <a:ext cx="1225296" cy="228600"/>
          </a:xfrm>
          <a:prstGeom prst="rect">
            <a:avLst/>
          </a:prstGeom>
          <a:noFill/>
          <a:ln/>
        </p:spPr>
        <p:txBody>
          <a:bodyPr wrap="square" lIns="0" tIns="0" rIns="0" bIns="0" rtlCol="0" anchor="ctr">
            <a:normAutofit/>
          </a:bodyPr>
          <a:lstStyle/>
          <a:p>
            <a:pPr marL="0" indent="0" algn="l">
              <a:lnSpc>
                <a:spcPct val="100000"/>
              </a:lnSpc>
              <a:buNone/>
            </a:pPr>
            <a:r>
              <a:rPr lang="en-US" sz="1400" b="1" kern="0" spc="100" dirty="0">
                <a:solidFill>
                  <a:srgbClr val="5B2DB6"/>
                </a:solidFill>
                <a:latin typeface="Inter" pitchFamily="34" charset="0"/>
                <a:ea typeface="Inter" pitchFamily="34" charset="-122"/>
                <a:cs typeface="Inter" pitchFamily="34" charset="-120"/>
              </a:rPr>
              <a:t>THE RAISE</a:t>
            </a:r>
            <a:endParaRPr lang="en-US" sz="1400" dirty="0"/>
          </a:p>
        </p:txBody>
      </p:sp>
      <p:sp>
        <p:nvSpPr>
          <p:cNvPr id="22" name="Shape 19"/>
          <p:cNvSpPr/>
          <p:nvPr/>
        </p:nvSpPr>
        <p:spPr>
          <a:xfrm>
            <a:off x="7708392" y="2790720"/>
            <a:ext cx="3617082" cy="566928"/>
          </a:xfrm>
          <a:prstGeom prst="roundRect">
            <a:avLst>
              <a:gd name="adj" fmla="val 11290"/>
            </a:avLst>
          </a:prstGeom>
          <a:solidFill>
            <a:srgbClr val="FFF2DA"/>
          </a:solidFill>
          <a:ln w="12700">
            <a:solidFill>
              <a:srgbClr val="F0A44A"/>
            </a:solidFill>
            <a:prstDash val="solid"/>
          </a:ln>
        </p:spPr>
        <p:txBody>
          <a:bodyPr/>
          <a:lstStyle/>
          <a:p>
            <a:endParaRPr lang="es-MX"/>
          </a:p>
        </p:txBody>
      </p:sp>
      <p:sp>
        <p:nvSpPr>
          <p:cNvPr id="23" name="Text 20"/>
          <p:cNvSpPr txBox="1"/>
          <p:nvPr/>
        </p:nvSpPr>
        <p:spPr>
          <a:xfrm>
            <a:off x="7781544" y="2809008"/>
            <a:ext cx="3364992" cy="530352"/>
          </a:xfrm>
          <a:prstGeom prst="rect">
            <a:avLst/>
          </a:prstGeom>
          <a:noFill/>
          <a:ln/>
        </p:spPr>
        <p:txBody>
          <a:bodyPr wrap="square" lIns="0" tIns="0" rIns="0" bIns="0" rtlCol="0" anchor="ctr">
            <a:normAutofit/>
          </a:bodyPr>
          <a:lstStyle/>
          <a:p>
            <a:pPr marL="0" indent="0" algn="ctr">
              <a:lnSpc>
                <a:spcPct val="100000"/>
              </a:lnSpc>
              <a:buNone/>
            </a:pPr>
            <a:r>
              <a:rPr lang="en-US" b="1" dirty="0">
                <a:solidFill>
                  <a:srgbClr val="9A5F1E"/>
                </a:solidFill>
                <a:latin typeface="Inter" pitchFamily="34" charset="0"/>
                <a:ea typeface="Inter" pitchFamily="34" charset="-122"/>
                <a:cs typeface="Inter" pitchFamily="34" charset="-120"/>
              </a:rPr>
              <a:t>Raising [US$ XX]</a:t>
            </a:r>
            <a:endParaRPr lang="en-US" dirty="0"/>
          </a:p>
        </p:txBody>
      </p:sp>
      <p:sp>
        <p:nvSpPr>
          <p:cNvPr id="24" name="Text 21"/>
          <p:cNvSpPr txBox="1"/>
          <p:nvPr/>
        </p:nvSpPr>
        <p:spPr>
          <a:xfrm>
            <a:off x="7717536" y="3488048"/>
            <a:ext cx="3639312" cy="403943"/>
          </a:xfrm>
          <a:prstGeom prst="rect">
            <a:avLst/>
          </a:prstGeom>
          <a:noFill/>
          <a:ln/>
        </p:spPr>
        <p:txBody>
          <a:bodyPr wrap="square" lIns="0" tIns="0" rIns="0" bIns="0" rtlCol="0" anchor="ctr">
            <a:normAutofit/>
          </a:bodyPr>
          <a:lstStyle/>
          <a:p>
            <a:pPr marL="0" indent="0" algn="ctr">
              <a:lnSpc>
                <a:spcPct val="100000"/>
              </a:lnSpc>
              <a:buNone/>
            </a:pPr>
            <a:r>
              <a:rPr lang="en-US" sz="1600" b="1" dirty="0">
                <a:solidFill>
                  <a:srgbClr val="6F6882"/>
                </a:solidFill>
                <a:latin typeface="Inter" pitchFamily="34" charset="0"/>
                <a:ea typeface="Inter" pitchFamily="34" charset="-122"/>
                <a:cs typeface="Inter" pitchFamily="34" charset="-120"/>
              </a:rPr>
              <a:t>[SAFE / Equity] · [XX-month runway]</a:t>
            </a:r>
            <a:endParaRPr lang="en-US" sz="1600" dirty="0"/>
          </a:p>
        </p:txBody>
      </p:sp>
      <p:sp>
        <p:nvSpPr>
          <p:cNvPr id="25" name="Text 22"/>
          <p:cNvSpPr txBox="1"/>
          <p:nvPr/>
        </p:nvSpPr>
        <p:spPr>
          <a:xfrm>
            <a:off x="7726680" y="3965127"/>
            <a:ext cx="3630168" cy="423791"/>
          </a:xfrm>
          <a:prstGeom prst="rect">
            <a:avLst/>
          </a:prstGeom>
          <a:noFill/>
          <a:ln/>
        </p:spPr>
        <p:txBody>
          <a:bodyPr wrap="square" lIns="0" tIns="0" rIns="0" bIns="0" rtlCol="0" anchor="ctr">
            <a:normAutofit/>
          </a:bodyPr>
          <a:lstStyle/>
          <a:p>
            <a:pPr marL="0" indent="0" algn="l">
              <a:lnSpc>
                <a:spcPct val="100000"/>
              </a:lnSpc>
              <a:buNone/>
            </a:pPr>
            <a:r>
              <a:rPr lang="en-US" sz="1500" b="1" dirty="0">
                <a:solidFill>
                  <a:srgbClr val="18152B"/>
                </a:solidFill>
                <a:latin typeface="Inter" pitchFamily="34" charset="0"/>
                <a:ea typeface="Inter" pitchFamily="34" charset="-122"/>
                <a:cs typeface="Inter" pitchFamily="34" charset="-120"/>
              </a:rPr>
              <a:t>Round designed to build and prove:</a:t>
            </a:r>
            <a:endParaRPr lang="en-US" sz="1500" dirty="0"/>
          </a:p>
        </p:txBody>
      </p:sp>
      <p:sp>
        <p:nvSpPr>
          <p:cNvPr id="26" name="Shape 23"/>
          <p:cNvSpPr/>
          <p:nvPr/>
        </p:nvSpPr>
        <p:spPr>
          <a:xfrm>
            <a:off x="7772400" y="4543985"/>
            <a:ext cx="109728" cy="109728"/>
          </a:xfrm>
          <a:prstGeom prst="ellipse">
            <a:avLst/>
          </a:prstGeom>
          <a:solidFill>
            <a:srgbClr val="7446E8"/>
          </a:solidFill>
          <a:ln w="12700">
            <a:solidFill>
              <a:srgbClr val="FFFFFF">
                <a:alpha val="0"/>
              </a:srgbClr>
            </a:solidFill>
            <a:prstDash val="solid"/>
          </a:ln>
        </p:spPr>
        <p:txBody>
          <a:bodyPr/>
          <a:lstStyle/>
          <a:p>
            <a:endParaRPr lang="es-MX" sz="1400"/>
          </a:p>
        </p:txBody>
      </p:sp>
      <p:sp>
        <p:nvSpPr>
          <p:cNvPr id="27" name="Text 24"/>
          <p:cNvSpPr txBox="1"/>
          <p:nvPr/>
        </p:nvSpPr>
        <p:spPr>
          <a:xfrm>
            <a:off x="7982711" y="4514562"/>
            <a:ext cx="3374137" cy="373712"/>
          </a:xfrm>
          <a:prstGeom prst="rect">
            <a:avLst/>
          </a:prstGeom>
          <a:noFill/>
          <a:ln/>
        </p:spPr>
        <p:txBody>
          <a:bodyPr wrap="square" lIns="0" tIns="0" rIns="0" bIns="0" rtlCol="0" anchor="ctr">
            <a:no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Repeatable product deployment</a:t>
            </a:r>
          </a:p>
          <a:p>
            <a:pPr marL="0" indent="0" algn="l">
              <a:lnSpc>
                <a:spcPct val="100000"/>
              </a:lnSpc>
              <a:buNone/>
            </a:pPr>
            <a:r>
              <a:rPr lang="en-US" sz="1400" dirty="0"/>
              <a:t>Productize Gu OS across customers</a:t>
            </a:r>
          </a:p>
        </p:txBody>
      </p:sp>
      <p:sp>
        <p:nvSpPr>
          <p:cNvPr id="28" name="Shape 25"/>
          <p:cNvSpPr/>
          <p:nvPr/>
        </p:nvSpPr>
        <p:spPr>
          <a:xfrm>
            <a:off x="7772400" y="5145896"/>
            <a:ext cx="109728" cy="109728"/>
          </a:xfrm>
          <a:prstGeom prst="ellipse">
            <a:avLst/>
          </a:prstGeom>
          <a:solidFill>
            <a:srgbClr val="9A4D78"/>
          </a:solidFill>
          <a:ln w="12700">
            <a:solidFill>
              <a:srgbClr val="FFFFFF">
                <a:alpha val="0"/>
              </a:srgbClr>
            </a:solidFill>
            <a:prstDash val="solid"/>
          </a:ln>
        </p:spPr>
        <p:txBody>
          <a:bodyPr/>
          <a:lstStyle/>
          <a:p>
            <a:endParaRPr lang="es-MX" sz="1400"/>
          </a:p>
        </p:txBody>
      </p:sp>
      <p:sp>
        <p:nvSpPr>
          <p:cNvPr id="29" name="Text 26"/>
          <p:cNvSpPr txBox="1"/>
          <p:nvPr/>
        </p:nvSpPr>
        <p:spPr>
          <a:xfrm>
            <a:off x="7982712" y="5072744"/>
            <a:ext cx="3374136" cy="457424"/>
          </a:xfrm>
          <a:prstGeom prst="rect">
            <a:avLst/>
          </a:prstGeom>
          <a:noFill/>
          <a:ln/>
        </p:spPr>
        <p:txBody>
          <a:bodyPr wrap="square" lIns="0" tIns="0" rIns="0" bIns="0" rtlCol="0" anchor="ctr">
            <a:no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Repeatable commercial growth</a:t>
            </a:r>
          </a:p>
          <a:p>
            <a:r>
              <a:rPr lang="es-MX" sz="1400" dirty="0" err="1"/>
              <a:t>Acquisition</a:t>
            </a:r>
            <a:r>
              <a:rPr lang="es-MX" sz="1400" dirty="0"/>
              <a:t> · </a:t>
            </a:r>
            <a:r>
              <a:rPr lang="es-MX" sz="1400" dirty="0" err="1"/>
              <a:t>paid</a:t>
            </a:r>
            <a:r>
              <a:rPr lang="es-MX" sz="1400" dirty="0"/>
              <a:t> </a:t>
            </a:r>
            <a:r>
              <a:rPr lang="es-MX" sz="1400" dirty="0" err="1"/>
              <a:t>usage</a:t>
            </a:r>
            <a:r>
              <a:rPr lang="es-MX" sz="1400" dirty="0"/>
              <a:t> · </a:t>
            </a:r>
            <a:r>
              <a:rPr lang="es-MX" sz="1400" dirty="0" err="1"/>
              <a:t>reload</a:t>
            </a:r>
            <a:r>
              <a:rPr lang="es-MX" sz="1400" dirty="0"/>
              <a:t> · </a:t>
            </a:r>
            <a:r>
              <a:rPr lang="es-MX" sz="1400" dirty="0" err="1"/>
              <a:t>retention</a:t>
            </a:r>
            <a:endParaRPr lang="en-US" sz="1400" dirty="0"/>
          </a:p>
        </p:txBody>
      </p:sp>
      <p:sp>
        <p:nvSpPr>
          <p:cNvPr id="30" name="Shape 27"/>
          <p:cNvSpPr/>
          <p:nvPr/>
        </p:nvSpPr>
        <p:spPr>
          <a:xfrm>
            <a:off x="7772400" y="5777624"/>
            <a:ext cx="109728" cy="109728"/>
          </a:xfrm>
          <a:prstGeom prst="ellipse">
            <a:avLst/>
          </a:prstGeom>
          <a:solidFill>
            <a:srgbClr val="7446E8"/>
          </a:solidFill>
          <a:ln w="12700">
            <a:solidFill>
              <a:srgbClr val="FFFFFF">
                <a:alpha val="0"/>
              </a:srgbClr>
            </a:solidFill>
            <a:prstDash val="solid"/>
          </a:ln>
        </p:spPr>
        <p:txBody>
          <a:bodyPr/>
          <a:lstStyle/>
          <a:p>
            <a:endParaRPr lang="es-MX" sz="1400"/>
          </a:p>
        </p:txBody>
      </p:sp>
      <p:sp>
        <p:nvSpPr>
          <p:cNvPr id="31" name="Text 28"/>
          <p:cNvSpPr txBox="1"/>
          <p:nvPr/>
        </p:nvSpPr>
        <p:spPr>
          <a:xfrm>
            <a:off x="7982712" y="5704472"/>
            <a:ext cx="3374136" cy="457424"/>
          </a:xfrm>
          <a:prstGeom prst="rect">
            <a:avLst/>
          </a:prstGeom>
          <a:noFill/>
          <a:ln/>
        </p:spPr>
        <p:txBody>
          <a:bodyPr wrap="square" lIns="0" tIns="0" rIns="0" bIns="0" rtlCol="0" anchor="ctr">
            <a:noAutofit/>
          </a:bodyPr>
          <a:lstStyle/>
          <a:p>
            <a:pPr marL="0" indent="0" algn="l">
              <a:lnSpc>
                <a:spcPct val="100000"/>
              </a:lnSpc>
              <a:buNone/>
            </a:pPr>
            <a:r>
              <a:rPr lang="en-US" sz="1400" b="1" dirty="0">
                <a:solidFill>
                  <a:srgbClr val="18152B"/>
                </a:solidFill>
                <a:latin typeface="Inter" pitchFamily="34" charset="0"/>
                <a:ea typeface="Inter" pitchFamily="34" charset="-122"/>
                <a:cs typeface="Inter" pitchFamily="34" charset="-120"/>
              </a:rPr>
              <a:t>Expand work delegation</a:t>
            </a:r>
          </a:p>
          <a:p>
            <a:r>
              <a:rPr lang="es-MX" sz="1400" dirty="0"/>
              <a:t>More </a:t>
            </a:r>
            <a:r>
              <a:rPr lang="es-MX" sz="1400" dirty="0" err="1"/>
              <a:t>high-value</a:t>
            </a:r>
            <a:r>
              <a:rPr lang="es-MX" sz="1400" dirty="0"/>
              <a:t> </a:t>
            </a:r>
            <a:r>
              <a:rPr lang="es-MX" sz="1400" dirty="0" err="1"/>
              <a:t>workflows</a:t>
            </a:r>
            <a:r>
              <a:rPr lang="es-MX" sz="1400" dirty="0"/>
              <a:t> </a:t>
            </a:r>
            <a:r>
              <a:rPr lang="es-MX" sz="1400" dirty="0" err="1"/>
              <a:t>executed</a:t>
            </a:r>
            <a:r>
              <a:rPr lang="es-MX" sz="1400" dirty="0"/>
              <a:t> </a:t>
            </a:r>
            <a:r>
              <a:rPr lang="es-MX" sz="1400" dirty="0" err="1"/>
              <a:t>by</a:t>
            </a:r>
            <a:r>
              <a:rPr lang="es-MX" sz="1400" dirty="0"/>
              <a:t> </a:t>
            </a:r>
            <a:r>
              <a:rPr lang="es-MX" sz="1400" dirty="0" err="1"/>
              <a:t>Gu</a:t>
            </a:r>
            <a:endParaRPr lang="en-US" sz="1400" dirty="0"/>
          </a:p>
        </p:txBody>
      </p:sp>
      <p:sp>
        <p:nvSpPr>
          <p:cNvPr id="32" name="Text 29"/>
          <p:cNvSpPr txBox="1"/>
          <p:nvPr/>
        </p:nvSpPr>
        <p:spPr>
          <a:xfrm>
            <a:off x="857382" y="6030095"/>
            <a:ext cx="5952743" cy="512064"/>
          </a:xfrm>
          <a:prstGeom prst="rect">
            <a:avLst/>
          </a:prstGeom>
          <a:noFill/>
          <a:ln/>
        </p:spPr>
        <p:txBody>
          <a:bodyPr wrap="square" lIns="0" tIns="0" rIns="0" bIns="0" rtlCol="0" anchor="t">
            <a:noAutofit/>
          </a:bodyPr>
          <a:lstStyle/>
          <a:p>
            <a:pPr marL="0" indent="0" algn="ctr">
              <a:lnSpc>
                <a:spcPct val="100000"/>
              </a:lnSpc>
              <a:buNone/>
            </a:pPr>
            <a:r>
              <a:rPr lang="en-US" sz="1400" dirty="0">
                <a:solidFill>
                  <a:srgbClr val="6F6882"/>
                </a:solidFill>
                <a:latin typeface="Inter" pitchFamily="34" charset="0"/>
                <a:ea typeface="Inter" pitchFamily="34" charset="-122"/>
                <a:cs typeface="Inter" pitchFamily="34" charset="-120"/>
              </a:rPr>
              <a:t>Extreme manifestation: “La Inmobiliaria de Uno” — a real estate entrepreneur backed by digital organizational capacity that historically required an entire team.</a:t>
            </a:r>
            <a:endParaRPr lang="en-US" sz="1400" dirty="0"/>
          </a:p>
        </p:txBody>
      </p:sp>
      <p:sp>
        <p:nvSpPr>
          <p:cNvPr id="34" name="Text 31"/>
          <p:cNvSpPr txBox="1"/>
          <p:nvPr/>
        </p:nvSpPr>
        <p:spPr>
          <a:xfrm>
            <a:off x="7513983" y="1259490"/>
            <a:ext cx="3842865" cy="329616"/>
          </a:xfrm>
          <a:prstGeom prst="rect">
            <a:avLst/>
          </a:prstGeom>
          <a:noFill/>
          <a:ln/>
        </p:spPr>
        <p:txBody>
          <a:bodyPr wrap="square" lIns="0" tIns="0" rIns="0" bIns="0" rtlCol="0" anchor="ctr">
            <a:normAutofit/>
          </a:bodyPr>
          <a:lstStyle/>
          <a:p>
            <a:pPr marL="0" indent="0" algn="ctr">
              <a:lnSpc>
                <a:spcPct val="100000"/>
              </a:lnSpc>
              <a:buNone/>
            </a:pPr>
            <a:r>
              <a:rPr lang="en-US" sz="2000" b="1" dirty="0">
                <a:solidFill>
                  <a:srgbClr val="FFFFFF"/>
                </a:solidFill>
                <a:latin typeface="Inter Display" pitchFamily="34" charset="0"/>
                <a:ea typeface="Inter Display" pitchFamily="34" charset="-122"/>
                <a:cs typeface="Inter Display" pitchFamily="34" charset="-120"/>
              </a:rPr>
              <a:t>Humans lead. Gu gets work done.</a:t>
            </a:r>
            <a:endParaRPr lang="en-US" sz="2000" dirty="0"/>
          </a:p>
        </p:txBody>
      </p:sp>
      <p:sp>
        <p:nvSpPr>
          <p:cNvPr id="35" name="Slide Number Placeholder 0"/>
          <p:cNvSpPr>
            <a:spLocks noGrp="1"/>
          </p:cNvSpPr>
          <p:nvPr>
            <p:ph type="sldNum" sz="quarter" idx="4294967295"/>
          </p:nvPr>
        </p:nvSpPr>
        <p:spPr>
          <a:xfrm>
            <a:off x="11631168" y="6510528"/>
            <a:ext cx="3098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BFB5D8"/>
                </a:solidFill>
                <a:latin typeface="Inter"/>
                <a:ea typeface="Inter"/>
                <a:cs typeface="Inter"/>
              </a:defRPr>
            </a:lvl1pPr>
          </a:lstStyle>
          <a:p>
            <a:pPr algn="r"/>
            <a:fld id="{F7021451-1387-4CA6-816F-3879F97B5CBC}" type="slidenum">
              <a:rPr lang="en-US" b="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8">
          <a:extLst>
            <a:ext uri="{FF2B5EF4-FFF2-40B4-BE49-F238E27FC236}">
              <a16:creationId xmlns:a16="http://schemas.microsoft.com/office/drawing/2014/main" id="{E6938B77-064A-EA6B-C651-28C5B97D7850}"/>
            </a:ext>
          </a:extLst>
        </p:cNvPr>
        <p:cNvGrpSpPr/>
        <p:nvPr/>
      </p:nvGrpSpPr>
      <p:grpSpPr>
        <a:xfrm>
          <a:off x="0" y="0"/>
          <a:ext cx="0" cy="0"/>
          <a:chOff x="0" y="0"/>
          <a:chExt cx="0" cy="0"/>
        </a:xfrm>
      </p:grpSpPr>
      <p:sp>
        <p:nvSpPr>
          <p:cNvPr id="589" name="Google Shape;589;p27">
            <a:extLst>
              <a:ext uri="{FF2B5EF4-FFF2-40B4-BE49-F238E27FC236}">
                <a16:creationId xmlns:a16="http://schemas.microsoft.com/office/drawing/2014/main" id="{C2D58E4F-3920-3EFF-2EA1-70B1C46320C0}"/>
              </a:ext>
            </a:extLst>
          </p:cNvPr>
          <p:cNvSpPr/>
          <p:nvPr/>
        </p:nvSpPr>
        <p:spPr>
          <a:xfrm>
            <a:off x="0" y="0"/>
            <a:ext cx="12192000" cy="6858000"/>
          </a:xfrm>
          <a:prstGeom prst="roundRect">
            <a:avLst>
              <a:gd name="adj" fmla="val 0"/>
            </a:avLst>
          </a:prstGeom>
          <a:gradFill>
            <a:gsLst>
              <a:gs pos="0">
                <a:srgbClr val="5B3BC3"/>
              </a:gs>
              <a:gs pos="100000">
                <a:srgbClr val="B89AE8"/>
              </a:gs>
            </a:gsLst>
            <a:lin ang="18900044" scaled="0"/>
          </a:gradFill>
          <a:ln>
            <a:noFill/>
          </a:ln>
          <a:effectLst>
            <a:outerShdw blurRad="128588" dist="76200" algn="bl" rotWithShape="0">
              <a:srgbClr val="000000">
                <a:alpha val="12000"/>
              </a:srgbClr>
            </a:outerShdw>
          </a:effectLst>
        </p:spPr>
        <p:txBody>
          <a:bodyPr spcFirstLastPara="1" wrap="square" lIns="121900" tIns="121900" rIns="121900" bIns="121900" anchor="ctr" anchorCtr="0">
            <a:noAutofit/>
          </a:bodyPr>
          <a:lstStyle/>
          <a:p>
            <a:pPr algn="ctr">
              <a:lnSpc>
                <a:spcPct val="115000"/>
              </a:lnSpc>
            </a:pPr>
            <a:endParaRPr sz="1000" i="1">
              <a:solidFill>
                <a:srgbClr val="FFFFFF"/>
              </a:solidFill>
            </a:endParaRPr>
          </a:p>
        </p:txBody>
      </p:sp>
      <p:sp>
        <p:nvSpPr>
          <p:cNvPr id="590" name="Google Shape;590;p27">
            <a:extLst>
              <a:ext uri="{FF2B5EF4-FFF2-40B4-BE49-F238E27FC236}">
                <a16:creationId xmlns:a16="http://schemas.microsoft.com/office/drawing/2014/main" id="{28DB7E66-89D1-2211-8EC7-A4DDCCC4A313}"/>
              </a:ext>
            </a:extLst>
          </p:cNvPr>
          <p:cNvSpPr txBox="1"/>
          <p:nvPr/>
        </p:nvSpPr>
        <p:spPr>
          <a:xfrm>
            <a:off x="5080100" y="960084"/>
            <a:ext cx="3199600" cy="861734"/>
          </a:xfrm>
          <a:prstGeom prst="rect">
            <a:avLst/>
          </a:prstGeom>
          <a:noFill/>
          <a:ln>
            <a:noFill/>
          </a:ln>
        </p:spPr>
        <p:txBody>
          <a:bodyPr spcFirstLastPara="1" wrap="square" lIns="121900" tIns="121900" rIns="121900" bIns="121900" anchor="t" anchorCtr="0">
            <a:spAutoFit/>
          </a:bodyPr>
          <a:lstStyle/>
          <a:p>
            <a:r>
              <a:rPr lang="en" sz="4000" b="1" dirty="0">
                <a:solidFill>
                  <a:schemeClr val="lt1"/>
                </a:solidFill>
                <a:latin typeface="Aptos" panose="020B0004020202020204" pitchFamily="34" charset="0"/>
                <a:ea typeface="Lexend"/>
                <a:cs typeface="Lexend"/>
                <a:sym typeface="Lexend"/>
              </a:rPr>
              <a:t>Thank you!</a:t>
            </a:r>
            <a:endParaRPr sz="4000" b="1" dirty="0">
              <a:solidFill>
                <a:schemeClr val="lt1"/>
              </a:solidFill>
              <a:latin typeface="Aptos" panose="020B0004020202020204" pitchFamily="34" charset="0"/>
              <a:ea typeface="Lexend"/>
              <a:cs typeface="Lexend"/>
              <a:sym typeface="Lexend"/>
            </a:endParaRPr>
          </a:p>
        </p:txBody>
      </p:sp>
      <p:sp>
        <p:nvSpPr>
          <p:cNvPr id="591" name="Google Shape;591;p27">
            <a:extLst>
              <a:ext uri="{FF2B5EF4-FFF2-40B4-BE49-F238E27FC236}">
                <a16:creationId xmlns:a16="http://schemas.microsoft.com/office/drawing/2014/main" id="{6413C26B-1805-AB6E-B1CB-B20B85040245}"/>
              </a:ext>
            </a:extLst>
          </p:cNvPr>
          <p:cNvSpPr txBox="1"/>
          <p:nvPr/>
        </p:nvSpPr>
        <p:spPr>
          <a:xfrm>
            <a:off x="5080100" y="2105118"/>
            <a:ext cx="1466400" cy="615513"/>
          </a:xfrm>
          <a:prstGeom prst="rect">
            <a:avLst/>
          </a:prstGeom>
          <a:noFill/>
          <a:ln>
            <a:noFill/>
          </a:ln>
        </p:spPr>
        <p:txBody>
          <a:bodyPr spcFirstLastPara="1" wrap="square" lIns="121900" tIns="121900" rIns="121900" bIns="121900" anchor="t" anchorCtr="0">
            <a:spAutoFit/>
          </a:bodyPr>
          <a:lstStyle/>
          <a:p>
            <a:r>
              <a:rPr lang="en" sz="2400" dirty="0">
                <a:solidFill>
                  <a:schemeClr val="lt1"/>
                </a:solidFill>
                <a:latin typeface="Aptos" panose="020B0004020202020204" pitchFamily="34" charset="0"/>
                <a:ea typeface="Lexend SemiBold"/>
                <a:cs typeface="Lexend SemiBold"/>
                <a:sym typeface="Lexend SemiBold"/>
              </a:rPr>
              <a:t>Contact</a:t>
            </a:r>
            <a:endParaRPr sz="2400" dirty="0">
              <a:solidFill>
                <a:schemeClr val="lt1"/>
              </a:solidFill>
              <a:latin typeface="Aptos" panose="020B0004020202020204" pitchFamily="34" charset="0"/>
              <a:ea typeface="Lexend SemiBold"/>
              <a:cs typeface="Lexend SemiBold"/>
              <a:sym typeface="Lexend SemiBold"/>
            </a:endParaRPr>
          </a:p>
        </p:txBody>
      </p:sp>
      <p:pic>
        <p:nvPicPr>
          <p:cNvPr id="592" name="Google Shape;592;p27">
            <a:extLst>
              <a:ext uri="{FF2B5EF4-FFF2-40B4-BE49-F238E27FC236}">
                <a16:creationId xmlns:a16="http://schemas.microsoft.com/office/drawing/2014/main" id="{A554D804-2D46-8895-7154-D240931F77EC}"/>
              </a:ext>
            </a:extLst>
          </p:cNvPr>
          <p:cNvPicPr preferRelativeResize="0"/>
          <p:nvPr/>
        </p:nvPicPr>
        <p:blipFill>
          <a:blip r:embed="rId3">
            <a:alphaModFix/>
          </a:blip>
          <a:stretch>
            <a:fillRect/>
          </a:stretch>
        </p:blipFill>
        <p:spPr>
          <a:xfrm>
            <a:off x="9119700" y="2312884"/>
            <a:ext cx="1775200" cy="1728467"/>
          </a:xfrm>
          <a:prstGeom prst="rect">
            <a:avLst/>
          </a:prstGeom>
          <a:noFill/>
          <a:ln>
            <a:noFill/>
          </a:ln>
        </p:spPr>
      </p:pic>
      <p:sp>
        <p:nvSpPr>
          <p:cNvPr id="593" name="Google Shape;593;p27">
            <a:extLst>
              <a:ext uri="{FF2B5EF4-FFF2-40B4-BE49-F238E27FC236}">
                <a16:creationId xmlns:a16="http://schemas.microsoft.com/office/drawing/2014/main" id="{BBA58FF8-C8E9-9F5D-A346-4C3B11C44DD1}"/>
              </a:ext>
            </a:extLst>
          </p:cNvPr>
          <p:cNvSpPr txBox="1"/>
          <p:nvPr/>
        </p:nvSpPr>
        <p:spPr>
          <a:xfrm>
            <a:off x="6546500" y="2125518"/>
            <a:ext cx="2573200" cy="615513"/>
          </a:xfrm>
          <a:prstGeom prst="rect">
            <a:avLst/>
          </a:prstGeom>
          <a:noFill/>
          <a:ln>
            <a:noFill/>
          </a:ln>
        </p:spPr>
        <p:txBody>
          <a:bodyPr spcFirstLastPara="1" wrap="square" lIns="121900" tIns="121900" rIns="121900" bIns="121900" anchor="t" anchorCtr="0">
            <a:spAutoFit/>
          </a:bodyPr>
          <a:lstStyle/>
          <a:p>
            <a:r>
              <a:rPr lang="en" sz="2400" dirty="0">
                <a:solidFill>
                  <a:srgbClr val="EFEFEF"/>
                </a:solidFill>
                <a:latin typeface="Aptos" panose="020B0004020202020204" pitchFamily="34" charset="0"/>
                <a:ea typeface="Lexend Light"/>
                <a:cs typeface="Lexend Light"/>
                <a:sym typeface="Lexend Light"/>
              </a:rPr>
              <a:t>Alejandro Torres</a:t>
            </a:r>
            <a:endParaRPr sz="2400" dirty="0">
              <a:solidFill>
                <a:srgbClr val="EFEFEF"/>
              </a:solidFill>
              <a:latin typeface="Aptos" panose="020B0004020202020204" pitchFamily="34" charset="0"/>
              <a:ea typeface="Lexend Light"/>
              <a:cs typeface="Lexend Light"/>
              <a:sym typeface="Lexend Light"/>
            </a:endParaRPr>
          </a:p>
        </p:txBody>
      </p:sp>
      <p:sp>
        <p:nvSpPr>
          <p:cNvPr id="594" name="Google Shape;594;p27">
            <a:extLst>
              <a:ext uri="{FF2B5EF4-FFF2-40B4-BE49-F238E27FC236}">
                <a16:creationId xmlns:a16="http://schemas.microsoft.com/office/drawing/2014/main" id="{FE6A64F4-0DD7-77CD-B05F-BB0306067555}"/>
              </a:ext>
            </a:extLst>
          </p:cNvPr>
          <p:cNvSpPr txBox="1"/>
          <p:nvPr/>
        </p:nvSpPr>
        <p:spPr>
          <a:xfrm>
            <a:off x="5080100" y="2645151"/>
            <a:ext cx="1466400" cy="615513"/>
          </a:xfrm>
          <a:prstGeom prst="rect">
            <a:avLst/>
          </a:prstGeom>
          <a:noFill/>
          <a:ln>
            <a:noFill/>
          </a:ln>
        </p:spPr>
        <p:txBody>
          <a:bodyPr spcFirstLastPara="1" wrap="square" lIns="121900" tIns="121900" rIns="121900" bIns="121900" anchor="t" anchorCtr="0">
            <a:spAutoFit/>
          </a:bodyPr>
          <a:lstStyle/>
          <a:p>
            <a:r>
              <a:rPr lang="en" sz="2400">
                <a:solidFill>
                  <a:schemeClr val="lt1"/>
                </a:solidFill>
                <a:latin typeface="Aptos" panose="020B0004020202020204" pitchFamily="34" charset="0"/>
                <a:ea typeface="Lexend SemiBold"/>
                <a:cs typeface="Lexend SemiBold"/>
                <a:sym typeface="Lexend SemiBold"/>
              </a:rPr>
              <a:t>Email</a:t>
            </a:r>
            <a:endParaRPr sz="2400">
              <a:solidFill>
                <a:schemeClr val="lt1"/>
              </a:solidFill>
              <a:latin typeface="Aptos" panose="020B0004020202020204" pitchFamily="34" charset="0"/>
              <a:ea typeface="Lexend SemiBold"/>
              <a:cs typeface="Lexend SemiBold"/>
              <a:sym typeface="Lexend SemiBold"/>
            </a:endParaRPr>
          </a:p>
        </p:txBody>
      </p:sp>
      <p:sp>
        <p:nvSpPr>
          <p:cNvPr id="595" name="Google Shape;595;p27">
            <a:extLst>
              <a:ext uri="{FF2B5EF4-FFF2-40B4-BE49-F238E27FC236}">
                <a16:creationId xmlns:a16="http://schemas.microsoft.com/office/drawing/2014/main" id="{6A8F2FEC-09CD-BECA-E167-BAE8C3AA5004}"/>
              </a:ext>
            </a:extLst>
          </p:cNvPr>
          <p:cNvSpPr txBox="1"/>
          <p:nvPr/>
        </p:nvSpPr>
        <p:spPr>
          <a:xfrm>
            <a:off x="5080100" y="3163184"/>
            <a:ext cx="1466400" cy="615513"/>
          </a:xfrm>
          <a:prstGeom prst="rect">
            <a:avLst/>
          </a:prstGeom>
          <a:noFill/>
          <a:ln>
            <a:noFill/>
          </a:ln>
        </p:spPr>
        <p:txBody>
          <a:bodyPr spcFirstLastPara="1" wrap="square" lIns="121900" tIns="121900" rIns="121900" bIns="121900" anchor="t" anchorCtr="0">
            <a:spAutoFit/>
          </a:bodyPr>
          <a:lstStyle/>
          <a:p>
            <a:r>
              <a:rPr lang="en" sz="2400">
                <a:solidFill>
                  <a:schemeClr val="lt1"/>
                </a:solidFill>
                <a:latin typeface="Aptos" panose="020B0004020202020204" pitchFamily="34" charset="0"/>
                <a:ea typeface="Lexend SemiBold"/>
                <a:cs typeface="Lexend SemiBold"/>
                <a:sym typeface="Lexend SemiBold"/>
              </a:rPr>
              <a:t>Mobile</a:t>
            </a:r>
            <a:endParaRPr sz="2400">
              <a:solidFill>
                <a:schemeClr val="lt1"/>
              </a:solidFill>
              <a:latin typeface="Aptos" panose="020B0004020202020204" pitchFamily="34" charset="0"/>
              <a:ea typeface="Lexend SemiBold"/>
              <a:cs typeface="Lexend SemiBold"/>
              <a:sym typeface="Lexend SemiBold"/>
            </a:endParaRPr>
          </a:p>
        </p:txBody>
      </p:sp>
      <p:sp>
        <p:nvSpPr>
          <p:cNvPr id="596" name="Google Shape;596;p27">
            <a:extLst>
              <a:ext uri="{FF2B5EF4-FFF2-40B4-BE49-F238E27FC236}">
                <a16:creationId xmlns:a16="http://schemas.microsoft.com/office/drawing/2014/main" id="{91DA1D69-BD82-66C4-2907-5EA3EF1FE93A}"/>
              </a:ext>
            </a:extLst>
          </p:cNvPr>
          <p:cNvSpPr txBox="1"/>
          <p:nvPr/>
        </p:nvSpPr>
        <p:spPr>
          <a:xfrm>
            <a:off x="5080100" y="3662917"/>
            <a:ext cx="1466400" cy="615513"/>
          </a:xfrm>
          <a:prstGeom prst="rect">
            <a:avLst/>
          </a:prstGeom>
          <a:noFill/>
          <a:ln>
            <a:noFill/>
          </a:ln>
        </p:spPr>
        <p:txBody>
          <a:bodyPr spcFirstLastPara="1" wrap="square" lIns="121900" tIns="121900" rIns="121900" bIns="121900" anchor="t" anchorCtr="0">
            <a:spAutoFit/>
          </a:bodyPr>
          <a:lstStyle/>
          <a:p>
            <a:r>
              <a:rPr lang="en" sz="2400">
                <a:solidFill>
                  <a:schemeClr val="lt1"/>
                </a:solidFill>
                <a:latin typeface="Aptos" panose="020B0004020202020204" pitchFamily="34" charset="0"/>
                <a:ea typeface="Lexend SemiBold"/>
                <a:cs typeface="Lexend SemiBold"/>
                <a:sym typeface="Lexend SemiBold"/>
              </a:rPr>
              <a:t>Office</a:t>
            </a:r>
            <a:endParaRPr sz="2400">
              <a:solidFill>
                <a:schemeClr val="lt1"/>
              </a:solidFill>
              <a:latin typeface="Aptos" panose="020B0004020202020204" pitchFamily="34" charset="0"/>
              <a:ea typeface="Lexend SemiBold"/>
              <a:cs typeface="Lexend SemiBold"/>
              <a:sym typeface="Lexend SemiBold"/>
            </a:endParaRPr>
          </a:p>
        </p:txBody>
      </p:sp>
      <p:sp>
        <p:nvSpPr>
          <p:cNvPr id="597" name="Google Shape;597;p27">
            <a:extLst>
              <a:ext uri="{FF2B5EF4-FFF2-40B4-BE49-F238E27FC236}">
                <a16:creationId xmlns:a16="http://schemas.microsoft.com/office/drawing/2014/main" id="{2FF15A05-D824-225C-E6CB-52389F4812E9}"/>
              </a:ext>
            </a:extLst>
          </p:cNvPr>
          <p:cNvSpPr txBox="1"/>
          <p:nvPr/>
        </p:nvSpPr>
        <p:spPr>
          <a:xfrm>
            <a:off x="5080100" y="4141718"/>
            <a:ext cx="1466400" cy="984845"/>
          </a:xfrm>
          <a:prstGeom prst="rect">
            <a:avLst/>
          </a:prstGeom>
          <a:noFill/>
          <a:ln>
            <a:noFill/>
          </a:ln>
        </p:spPr>
        <p:txBody>
          <a:bodyPr spcFirstLastPara="1" wrap="square" lIns="121900" tIns="121900" rIns="121900" bIns="121900" anchor="t" anchorCtr="0">
            <a:spAutoFit/>
          </a:bodyPr>
          <a:lstStyle/>
          <a:p>
            <a:r>
              <a:rPr lang="en" sz="2400">
                <a:solidFill>
                  <a:schemeClr val="lt1"/>
                </a:solidFill>
                <a:latin typeface="Aptos" panose="020B0004020202020204" pitchFamily="34" charset="0"/>
                <a:ea typeface="Lexend SemiBold"/>
                <a:cs typeface="Lexend SemiBold"/>
                <a:sym typeface="Lexend SemiBold"/>
              </a:rPr>
              <a:t>Address	</a:t>
            </a:r>
            <a:endParaRPr sz="2400">
              <a:solidFill>
                <a:schemeClr val="lt1"/>
              </a:solidFill>
              <a:latin typeface="Aptos" panose="020B0004020202020204" pitchFamily="34" charset="0"/>
              <a:ea typeface="Lexend SemiBold"/>
              <a:cs typeface="Lexend SemiBold"/>
              <a:sym typeface="Lexend SemiBold"/>
            </a:endParaRPr>
          </a:p>
        </p:txBody>
      </p:sp>
      <p:sp>
        <p:nvSpPr>
          <p:cNvPr id="598" name="Google Shape;598;p27">
            <a:extLst>
              <a:ext uri="{FF2B5EF4-FFF2-40B4-BE49-F238E27FC236}">
                <a16:creationId xmlns:a16="http://schemas.microsoft.com/office/drawing/2014/main" id="{47DF13CC-0052-A505-9D61-3BBDBBA12261}"/>
              </a:ext>
            </a:extLst>
          </p:cNvPr>
          <p:cNvSpPr txBox="1"/>
          <p:nvPr/>
        </p:nvSpPr>
        <p:spPr>
          <a:xfrm>
            <a:off x="5080100" y="5361829"/>
            <a:ext cx="1775200" cy="615513"/>
          </a:xfrm>
          <a:prstGeom prst="rect">
            <a:avLst/>
          </a:prstGeom>
          <a:noFill/>
          <a:ln>
            <a:noFill/>
          </a:ln>
        </p:spPr>
        <p:txBody>
          <a:bodyPr spcFirstLastPara="1" wrap="square" lIns="121900" tIns="121900" rIns="121900" bIns="121900" anchor="t" anchorCtr="0">
            <a:spAutoFit/>
          </a:bodyPr>
          <a:lstStyle/>
          <a:p>
            <a:r>
              <a:rPr lang="en" sz="2400" dirty="0">
                <a:solidFill>
                  <a:schemeClr val="lt1"/>
                </a:solidFill>
                <a:latin typeface="Aptos" panose="020B0004020202020204" pitchFamily="34" charset="0"/>
                <a:ea typeface="Lexend SemiBold"/>
                <a:cs typeface="Lexend SemiBold"/>
                <a:sym typeface="Lexend SemiBold"/>
              </a:rPr>
              <a:t>Website</a:t>
            </a:r>
            <a:endParaRPr sz="2400" dirty="0">
              <a:solidFill>
                <a:schemeClr val="lt1"/>
              </a:solidFill>
              <a:latin typeface="Aptos" panose="020B0004020202020204" pitchFamily="34" charset="0"/>
              <a:ea typeface="Lexend SemiBold"/>
              <a:cs typeface="Lexend SemiBold"/>
              <a:sym typeface="Lexend SemiBold"/>
            </a:endParaRPr>
          </a:p>
        </p:txBody>
      </p:sp>
      <p:sp>
        <p:nvSpPr>
          <p:cNvPr id="599" name="Google Shape;599;p27">
            <a:extLst>
              <a:ext uri="{FF2B5EF4-FFF2-40B4-BE49-F238E27FC236}">
                <a16:creationId xmlns:a16="http://schemas.microsoft.com/office/drawing/2014/main" id="{8D4DA563-1555-0E6C-93D4-351615DC3965}"/>
              </a:ext>
            </a:extLst>
          </p:cNvPr>
          <p:cNvSpPr txBox="1"/>
          <p:nvPr/>
        </p:nvSpPr>
        <p:spPr>
          <a:xfrm>
            <a:off x="6546500" y="2665552"/>
            <a:ext cx="2573200" cy="615513"/>
          </a:xfrm>
          <a:prstGeom prst="rect">
            <a:avLst/>
          </a:prstGeom>
          <a:noFill/>
          <a:ln>
            <a:noFill/>
          </a:ln>
        </p:spPr>
        <p:txBody>
          <a:bodyPr spcFirstLastPara="1" wrap="square" lIns="121900" tIns="121900" rIns="121900" bIns="121900" anchor="t" anchorCtr="0">
            <a:spAutoFit/>
          </a:bodyPr>
          <a:lstStyle/>
          <a:p>
            <a:r>
              <a:rPr lang="en" sz="2400" dirty="0">
                <a:solidFill>
                  <a:srgbClr val="EFEFEF"/>
                </a:solidFill>
                <a:latin typeface="Aptos" panose="020B0004020202020204" pitchFamily="34" charset="0"/>
                <a:ea typeface="Lexend Light"/>
                <a:cs typeface="Lexend Light"/>
                <a:sym typeface="Lexend Light"/>
              </a:rPr>
              <a:t>alex@ungga.com</a:t>
            </a:r>
            <a:endParaRPr sz="2400" dirty="0">
              <a:solidFill>
                <a:srgbClr val="EFEFEF"/>
              </a:solidFill>
              <a:latin typeface="Aptos" panose="020B0004020202020204" pitchFamily="34" charset="0"/>
              <a:ea typeface="Lexend Light"/>
              <a:cs typeface="Lexend Light"/>
              <a:sym typeface="Lexend Light"/>
            </a:endParaRPr>
          </a:p>
        </p:txBody>
      </p:sp>
      <p:sp>
        <p:nvSpPr>
          <p:cNvPr id="600" name="Google Shape;600;p27">
            <a:extLst>
              <a:ext uri="{FF2B5EF4-FFF2-40B4-BE49-F238E27FC236}">
                <a16:creationId xmlns:a16="http://schemas.microsoft.com/office/drawing/2014/main" id="{3C66A2F6-5481-4B7D-C7D4-23D7CF73E88D}"/>
              </a:ext>
            </a:extLst>
          </p:cNvPr>
          <p:cNvSpPr txBox="1"/>
          <p:nvPr/>
        </p:nvSpPr>
        <p:spPr>
          <a:xfrm>
            <a:off x="6546500" y="3163185"/>
            <a:ext cx="2573200" cy="615513"/>
          </a:xfrm>
          <a:prstGeom prst="rect">
            <a:avLst/>
          </a:prstGeom>
          <a:noFill/>
          <a:ln>
            <a:noFill/>
          </a:ln>
        </p:spPr>
        <p:txBody>
          <a:bodyPr spcFirstLastPara="1" wrap="square" lIns="121900" tIns="121900" rIns="121900" bIns="121900" anchor="t" anchorCtr="0">
            <a:spAutoFit/>
          </a:bodyPr>
          <a:lstStyle/>
          <a:p>
            <a:r>
              <a:rPr lang="en" sz="2400" dirty="0">
                <a:solidFill>
                  <a:srgbClr val="EFEFEF"/>
                </a:solidFill>
                <a:latin typeface="Aptos" panose="020B0004020202020204" pitchFamily="34" charset="0"/>
                <a:ea typeface="Lexend Light"/>
                <a:cs typeface="Lexend Light"/>
                <a:sym typeface="Lexend Light"/>
              </a:rPr>
              <a:t>+52 55 4244 2888</a:t>
            </a:r>
            <a:endParaRPr sz="2400" dirty="0">
              <a:solidFill>
                <a:srgbClr val="EFEFEF"/>
              </a:solidFill>
              <a:latin typeface="Aptos" panose="020B0004020202020204" pitchFamily="34" charset="0"/>
              <a:ea typeface="Lexend Light"/>
              <a:cs typeface="Lexend Light"/>
              <a:sym typeface="Lexend Light"/>
            </a:endParaRPr>
          </a:p>
        </p:txBody>
      </p:sp>
      <p:sp>
        <p:nvSpPr>
          <p:cNvPr id="601" name="Google Shape;601;p27">
            <a:extLst>
              <a:ext uri="{FF2B5EF4-FFF2-40B4-BE49-F238E27FC236}">
                <a16:creationId xmlns:a16="http://schemas.microsoft.com/office/drawing/2014/main" id="{D14E435C-9D33-22FF-598D-9E89BA736377}"/>
              </a:ext>
            </a:extLst>
          </p:cNvPr>
          <p:cNvSpPr txBox="1"/>
          <p:nvPr/>
        </p:nvSpPr>
        <p:spPr>
          <a:xfrm>
            <a:off x="6546500" y="3683318"/>
            <a:ext cx="2573200" cy="615513"/>
          </a:xfrm>
          <a:prstGeom prst="rect">
            <a:avLst/>
          </a:prstGeom>
          <a:noFill/>
          <a:ln>
            <a:noFill/>
          </a:ln>
        </p:spPr>
        <p:txBody>
          <a:bodyPr spcFirstLastPara="1" wrap="square" lIns="121900" tIns="121900" rIns="121900" bIns="121900" anchor="t" anchorCtr="0">
            <a:spAutoFit/>
          </a:bodyPr>
          <a:lstStyle/>
          <a:p>
            <a:r>
              <a:rPr lang="en" sz="2400" dirty="0">
                <a:solidFill>
                  <a:srgbClr val="EFEFEF"/>
                </a:solidFill>
                <a:latin typeface="Aptos" panose="020B0004020202020204" pitchFamily="34" charset="0"/>
                <a:ea typeface="Lexend Light"/>
                <a:cs typeface="Lexend Light"/>
                <a:sym typeface="Lexend Light"/>
              </a:rPr>
              <a:t>+52 33 3110 0083</a:t>
            </a:r>
            <a:endParaRPr sz="2400" dirty="0">
              <a:solidFill>
                <a:srgbClr val="EFEFEF"/>
              </a:solidFill>
              <a:latin typeface="Aptos" panose="020B0004020202020204" pitchFamily="34" charset="0"/>
              <a:ea typeface="Lexend Light"/>
              <a:cs typeface="Lexend Light"/>
              <a:sym typeface="Lexend Light"/>
            </a:endParaRPr>
          </a:p>
        </p:txBody>
      </p:sp>
      <p:sp>
        <p:nvSpPr>
          <p:cNvPr id="602" name="Google Shape;602;p27">
            <a:extLst>
              <a:ext uri="{FF2B5EF4-FFF2-40B4-BE49-F238E27FC236}">
                <a16:creationId xmlns:a16="http://schemas.microsoft.com/office/drawing/2014/main" id="{245C20B9-633A-6111-F0AE-B3D53B94EAA9}"/>
              </a:ext>
            </a:extLst>
          </p:cNvPr>
          <p:cNvSpPr txBox="1"/>
          <p:nvPr/>
        </p:nvSpPr>
        <p:spPr>
          <a:xfrm>
            <a:off x="6546500" y="4171952"/>
            <a:ext cx="4254400" cy="1354176"/>
          </a:xfrm>
          <a:prstGeom prst="rect">
            <a:avLst/>
          </a:prstGeom>
          <a:noFill/>
          <a:ln>
            <a:noFill/>
          </a:ln>
        </p:spPr>
        <p:txBody>
          <a:bodyPr spcFirstLastPara="1" wrap="square" lIns="121900" tIns="121900" rIns="121900" bIns="121900" anchor="t" anchorCtr="0">
            <a:spAutoFit/>
          </a:bodyPr>
          <a:lstStyle/>
          <a:p>
            <a:r>
              <a:rPr lang="es-ES" dirty="0">
                <a:solidFill>
                  <a:srgbClr val="EFEFEF"/>
                </a:solidFill>
                <a:latin typeface="Aptos" panose="020B0004020202020204" pitchFamily="34" charset="0"/>
                <a:ea typeface="Lexend Light"/>
                <a:cs typeface="Lexend Light"/>
                <a:sym typeface="Lexend Light"/>
              </a:rPr>
              <a:t>Av. Del Tule 839 L-11, </a:t>
            </a:r>
          </a:p>
          <a:p>
            <a:r>
              <a:rPr lang="es-ES" dirty="0">
                <a:solidFill>
                  <a:srgbClr val="EFEFEF"/>
                </a:solidFill>
                <a:latin typeface="Aptos" panose="020B0004020202020204" pitchFamily="34" charset="0"/>
                <a:ea typeface="Lexend Light"/>
                <a:cs typeface="Lexend Light"/>
                <a:sym typeface="Lexend Light"/>
              </a:rPr>
              <a:t>Col. Puertas del Tule, </a:t>
            </a:r>
          </a:p>
          <a:p>
            <a:r>
              <a:rPr lang="es-ES" dirty="0">
                <a:solidFill>
                  <a:srgbClr val="EFEFEF"/>
                </a:solidFill>
                <a:latin typeface="Aptos" panose="020B0004020202020204" pitchFamily="34" charset="0"/>
                <a:ea typeface="Lexend Light"/>
                <a:cs typeface="Lexend Light"/>
                <a:sym typeface="Lexend Light"/>
              </a:rPr>
              <a:t>45017 Zapopan, Jalisco, </a:t>
            </a:r>
          </a:p>
          <a:p>
            <a:r>
              <a:rPr lang="es-ES" dirty="0" err="1">
                <a:solidFill>
                  <a:srgbClr val="EFEFEF"/>
                </a:solidFill>
                <a:latin typeface="Aptos" panose="020B0004020202020204" pitchFamily="34" charset="0"/>
                <a:ea typeface="Lexend Light"/>
                <a:cs typeface="Lexend Light"/>
                <a:sym typeface="Lexend Light"/>
              </a:rPr>
              <a:t>Mexico</a:t>
            </a:r>
            <a:endParaRPr lang="en" dirty="0">
              <a:solidFill>
                <a:srgbClr val="EFEFEF"/>
              </a:solidFill>
              <a:latin typeface="Aptos" panose="020B0004020202020204" pitchFamily="34" charset="0"/>
              <a:ea typeface="Lexend Light"/>
              <a:cs typeface="Lexend Light"/>
              <a:sym typeface="Lexend Light"/>
            </a:endParaRPr>
          </a:p>
        </p:txBody>
      </p:sp>
      <p:sp>
        <p:nvSpPr>
          <p:cNvPr id="603" name="Google Shape;603;p27">
            <a:hlinkClick r:id="rId4"/>
            <a:extLst>
              <a:ext uri="{FF2B5EF4-FFF2-40B4-BE49-F238E27FC236}">
                <a16:creationId xmlns:a16="http://schemas.microsoft.com/office/drawing/2014/main" id="{CABA0E4C-2218-D5F7-A55A-E4318E0C0EFA}"/>
              </a:ext>
            </a:extLst>
          </p:cNvPr>
          <p:cNvSpPr txBox="1"/>
          <p:nvPr/>
        </p:nvSpPr>
        <p:spPr>
          <a:xfrm>
            <a:off x="6546500" y="5353134"/>
            <a:ext cx="2573200" cy="615513"/>
          </a:xfrm>
          <a:prstGeom prst="rect">
            <a:avLst/>
          </a:prstGeom>
          <a:noFill/>
          <a:ln>
            <a:noFill/>
          </a:ln>
        </p:spPr>
        <p:txBody>
          <a:bodyPr spcFirstLastPara="1" wrap="square" lIns="121900" tIns="121900" rIns="121900" bIns="121900" anchor="t" anchorCtr="0">
            <a:spAutoFit/>
          </a:bodyPr>
          <a:lstStyle/>
          <a:p>
            <a:r>
              <a:rPr lang="en" sz="2400" dirty="0">
                <a:solidFill>
                  <a:srgbClr val="EFEFEF"/>
                </a:solidFill>
                <a:latin typeface="Aptos" panose="020B0004020202020204" pitchFamily="34" charset="0"/>
                <a:ea typeface="Lexend Light"/>
                <a:cs typeface="Lexend Light"/>
                <a:sym typeface="Lexend Light"/>
              </a:rPr>
              <a:t>ungga.com</a:t>
            </a:r>
            <a:endParaRPr sz="2400" dirty="0">
              <a:solidFill>
                <a:srgbClr val="EFEFEF"/>
              </a:solidFill>
              <a:latin typeface="Aptos" panose="020B0004020202020204" pitchFamily="34" charset="0"/>
              <a:ea typeface="Lexend Light"/>
              <a:cs typeface="Lexend Light"/>
              <a:sym typeface="Lexend Light"/>
            </a:endParaRPr>
          </a:p>
        </p:txBody>
      </p:sp>
      <p:pic>
        <p:nvPicPr>
          <p:cNvPr id="604" name="Google Shape;604;p27">
            <a:extLst>
              <a:ext uri="{FF2B5EF4-FFF2-40B4-BE49-F238E27FC236}">
                <a16:creationId xmlns:a16="http://schemas.microsoft.com/office/drawing/2014/main" id="{DCD2E567-AD08-7F21-41BC-042560FE8964}"/>
              </a:ext>
            </a:extLst>
          </p:cNvPr>
          <p:cNvPicPr preferRelativeResize="0"/>
          <p:nvPr/>
        </p:nvPicPr>
        <p:blipFill rotWithShape="1">
          <a:blip r:embed="rId5">
            <a:alphaModFix/>
          </a:blip>
          <a:srcRect l="11535" b="9877"/>
          <a:stretch/>
        </p:blipFill>
        <p:spPr>
          <a:xfrm>
            <a:off x="0" y="3429000"/>
            <a:ext cx="3360800" cy="3424000"/>
          </a:xfrm>
          <a:prstGeom prst="rect">
            <a:avLst/>
          </a:prstGeom>
          <a:noFill/>
          <a:ln>
            <a:noFill/>
          </a:ln>
        </p:spPr>
      </p:pic>
      <p:pic>
        <p:nvPicPr>
          <p:cNvPr id="605" name="Google Shape;605;p27">
            <a:extLst>
              <a:ext uri="{FF2B5EF4-FFF2-40B4-BE49-F238E27FC236}">
                <a16:creationId xmlns:a16="http://schemas.microsoft.com/office/drawing/2014/main" id="{BBBDEBC9-F7D0-6641-8B0B-603E935672A9}"/>
              </a:ext>
            </a:extLst>
          </p:cNvPr>
          <p:cNvPicPr preferRelativeResize="0"/>
          <p:nvPr/>
        </p:nvPicPr>
        <p:blipFill>
          <a:blip r:embed="rId6">
            <a:alphaModFix/>
          </a:blip>
          <a:stretch>
            <a:fillRect/>
          </a:stretch>
        </p:blipFill>
        <p:spPr>
          <a:xfrm>
            <a:off x="9320667" y="2312902"/>
            <a:ext cx="1890672" cy="1828816"/>
          </a:xfrm>
          <a:prstGeom prst="rect">
            <a:avLst/>
          </a:prstGeom>
          <a:noFill/>
          <a:ln>
            <a:noFill/>
          </a:ln>
          <a:effectLst>
            <a:outerShdw blurRad="128588" dist="76200" algn="bl" rotWithShape="0">
              <a:srgbClr val="000000">
                <a:alpha val="12000"/>
              </a:srgbClr>
            </a:outerShdw>
          </a:effectLst>
        </p:spPr>
      </p:pic>
    </p:spTree>
    <p:extLst>
      <p:ext uri="{BB962C8B-B14F-4D97-AF65-F5344CB8AC3E}">
        <p14:creationId xmlns:p14="http://schemas.microsoft.com/office/powerpoint/2010/main" val="2181642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76656" y="2331720"/>
            <a:ext cx="5669280" cy="685800"/>
          </a:xfrm>
          <a:prstGeom prst="rect">
            <a:avLst/>
          </a:prstGeom>
          <a:noFill/>
          <a:ln/>
        </p:spPr>
        <p:txBody>
          <a:bodyPr wrap="square" lIns="0" tIns="0" rIns="0" bIns="0" rtlCol="0" anchor="ctr">
            <a:normAutofit/>
          </a:bodyPr>
          <a:lstStyle/>
          <a:p>
            <a:pPr marL="0" indent="0" algn="l">
              <a:lnSpc>
                <a:spcPct val="100000"/>
              </a:lnSpc>
              <a:buNone/>
            </a:pPr>
            <a:r>
              <a:rPr lang="en-US" sz="3800" b="1" dirty="0">
                <a:solidFill>
                  <a:srgbClr val="FFFFFF"/>
                </a:solidFill>
                <a:latin typeface="Inter Display" pitchFamily="34" charset="0"/>
                <a:ea typeface="Inter Display" pitchFamily="34" charset="-122"/>
                <a:cs typeface="Inter Display" pitchFamily="34" charset="-120"/>
              </a:rPr>
              <a:t>Appendix</a:t>
            </a:r>
            <a:endParaRPr lang="en-US" sz="3800" dirty="0"/>
          </a:p>
        </p:txBody>
      </p:sp>
      <p:sp>
        <p:nvSpPr>
          <p:cNvPr id="4" name="Text 1"/>
          <p:cNvSpPr txBox="1"/>
          <p:nvPr/>
        </p:nvSpPr>
        <p:spPr>
          <a:xfrm>
            <a:off x="694944" y="3072384"/>
            <a:ext cx="5760720" cy="411480"/>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D8CFEA"/>
                </a:solidFill>
                <a:latin typeface="Inter" pitchFamily="34" charset="0"/>
                <a:ea typeface="Inter" pitchFamily="34" charset="-122"/>
                <a:cs typeface="Inter" pitchFamily="34" charset="-120"/>
              </a:rPr>
              <a:t>Evidence, economics and product detail</a:t>
            </a:r>
            <a:endParaRPr lang="en-US" sz="1500" dirty="0"/>
          </a:p>
        </p:txBody>
      </p:sp>
      <p:pic>
        <p:nvPicPr>
          <p:cNvPr id="5" name="Image 1" descr="/mnt/data/olddeck_media/ppt/media/image10.png"/>
          <p:cNvPicPr>
            <a:picLocks noChangeAspect="1"/>
          </p:cNvPicPr>
          <p:nvPr/>
        </p:nvPicPr>
        <p:blipFill>
          <a:blip r:embed="rId3"/>
          <a:stretch>
            <a:fillRect/>
          </a:stretch>
        </p:blipFill>
        <p:spPr>
          <a:xfrm>
            <a:off x="7452360" y="1376172"/>
            <a:ext cx="4151376" cy="4151376"/>
          </a:xfrm>
          <a:prstGeom prst="rect">
            <a:avLst/>
          </a:prstGeom>
        </p:spPr>
      </p:pic>
      <p:sp>
        <p:nvSpPr>
          <p:cNvPr id="25" name="Slide Number Placeholder 0"/>
          <p:cNvSpPr>
            <a:spLocks noGrp="1"/>
          </p:cNvSpPr>
          <p:nvPr>
            <p:ph type="sldNum" sz="quarter" idx="4294967295"/>
          </p:nvPr>
        </p:nvSpPr>
        <p:spPr>
          <a:xfrm>
            <a:off x="11631168" y="6510528"/>
            <a:ext cx="320578"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BFB5D8"/>
                </a:solidFill>
                <a:latin typeface="Inter"/>
                <a:ea typeface="Inter"/>
                <a:cs typeface="Inter"/>
              </a:defRPr>
            </a:lvl1pPr>
          </a:lstStyle>
          <a:p>
            <a:pPr algn="r"/>
            <a:fld id="{F7021451-1387-4CA6-816F-3879F97B5CBC}" type="slidenum">
              <a:rPr lang="en-US" b="0"/>
              <a:t>15</a:t>
            </a:fld>
            <a:endParaRPr lang="en-US" dirty="0"/>
          </a:p>
        </p:txBody>
      </p:sp>
      <p:pic>
        <p:nvPicPr>
          <p:cNvPr id="7" name="Image 0" descr="/mnt/data/ungga_logo_white.png">
            <a:extLst>
              <a:ext uri="{FF2B5EF4-FFF2-40B4-BE49-F238E27FC236}">
                <a16:creationId xmlns:a16="http://schemas.microsoft.com/office/drawing/2014/main" id="{836950F4-4514-D599-09B0-86ACBE2B4DEB}"/>
              </a:ext>
            </a:extLst>
          </p:cNvPr>
          <p:cNvPicPr>
            <a:picLocks noChangeAspect="1"/>
          </p:cNvPicPr>
          <p:nvPr/>
        </p:nvPicPr>
        <p:blipFill>
          <a:blip r:embed="rId4"/>
          <a:stretch>
            <a:fillRect/>
          </a:stretch>
        </p:blipFill>
        <p:spPr>
          <a:xfrm>
            <a:off x="10771349" y="432161"/>
            <a:ext cx="713798" cy="5944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3820"/>
          </a:xfrm>
          <a:prstGeom prst="rect">
            <a:avLst/>
          </a:prstGeom>
          <a:solidFill>
            <a:srgbClr val="5C2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pic>
        <p:nvPicPr>
          <p:cNvPr id="3" name="Picture 2" descr="ungga_logo_purple.png"/>
          <p:cNvPicPr>
            <a:picLocks noChangeAspect="1"/>
          </p:cNvPicPr>
          <p:nvPr/>
        </p:nvPicPr>
        <p:blipFill>
          <a:blip r:embed="rId3"/>
          <a:stretch>
            <a:fillRect/>
          </a:stretch>
        </p:blipFill>
        <p:spPr>
          <a:xfrm>
            <a:off x="10934700" y="419100"/>
            <a:ext cx="685800" cy="571173"/>
          </a:xfrm>
          <a:prstGeom prst="rect">
            <a:avLst/>
          </a:prstGeom>
        </p:spPr>
      </p:pic>
      <p:sp>
        <p:nvSpPr>
          <p:cNvPr id="4" name="TextBox 3"/>
          <p:cNvSpPr txBox="1"/>
          <p:nvPr/>
        </p:nvSpPr>
        <p:spPr>
          <a:xfrm>
            <a:off x="571500" y="419100"/>
            <a:ext cx="4953000" cy="176972"/>
          </a:xfrm>
          <a:prstGeom prst="rect">
            <a:avLst/>
          </a:prstGeom>
          <a:noFill/>
        </p:spPr>
        <p:txBody>
          <a:bodyPr wrap="square" lIns="22860" tIns="15240" rIns="22860" bIns="15240">
            <a:spAutoFit/>
          </a:bodyPr>
          <a:lstStyle/>
          <a:p>
            <a:pPr algn="l"/>
            <a:r>
              <a:rPr sz="950" b="1" dirty="0">
                <a:solidFill>
                  <a:srgbClr val="5C2DC6"/>
                </a:solidFill>
              </a:rPr>
              <a:t>COMPETITIVE LANDSCAPE</a:t>
            </a:r>
          </a:p>
        </p:txBody>
      </p:sp>
      <p:sp>
        <p:nvSpPr>
          <p:cNvPr id="5" name="TextBox 4"/>
          <p:cNvSpPr txBox="1"/>
          <p:nvPr/>
        </p:nvSpPr>
        <p:spPr>
          <a:xfrm>
            <a:off x="571500" y="746760"/>
            <a:ext cx="10262152" cy="430887"/>
          </a:xfrm>
          <a:prstGeom prst="rect">
            <a:avLst/>
          </a:prstGeom>
          <a:noFill/>
        </p:spPr>
        <p:txBody>
          <a:bodyPr wrap="square" lIns="22860" tIns="15240" rIns="22860" bIns="15240">
            <a:spAutoFit/>
          </a:bodyPr>
          <a:lstStyle/>
          <a:p>
            <a:pPr algn="l"/>
            <a:r>
              <a:rPr sz="2600" b="1" dirty="0">
                <a:solidFill>
                  <a:srgbClr val="1F1C2E"/>
                </a:solidFill>
                <a:latin typeface="Aptos" panose="020B0004020202020204" pitchFamily="34" charset="0"/>
              </a:rPr>
              <a:t>“AI Operating System” is a category — not a unique differentiator.</a:t>
            </a:r>
          </a:p>
        </p:txBody>
      </p:sp>
      <p:sp>
        <p:nvSpPr>
          <p:cNvPr id="6" name="TextBox 5"/>
          <p:cNvSpPr txBox="1"/>
          <p:nvPr/>
        </p:nvSpPr>
        <p:spPr>
          <a:xfrm>
            <a:off x="571500" y="1260612"/>
            <a:ext cx="10919460" cy="553998"/>
          </a:xfrm>
          <a:prstGeom prst="rect">
            <a:avLst/>
          </a:prstGeom>
          <a:noFill/>
        </p:spPr>
        <p:txBody>
          <a:bodyPr wrap="square" lIns="22860" tIns="15240" rIns="22860" bIns="15240">
            <a:spAutoFit/>
          </a:bodyPr>
          <a:lstStyle/>
          <a:p>
            <a:pPr algn="l"/>
            <a:r>
              <a:rPr sz="1700" dirty="0" err="1">
                <a:solidFill>
                  <a:srgbClr val="6E6785"/>
                </a:solidFill>
                <a:latin typeface="Aptos" panose="020B0004020202020204" pitchFamily="34" charset="0"/>
              </a:rPr>
              <a:t>Ungga’s</a:t>
            </a:r>
            <a:r>
              <a:rPr sz="1700" dirty="0">
                <a:solidFill>
                  <a:srgbClr val="6E6785"/>
                </a:solidFill>
                <a:latin typeface="Aptos" panose="020B0004020202020204" pitchFamily="34" charset="0"/>
              </a:rPr>
              <a:t> thesis is not simply better AI agents</a:t>
            </a:r>
            <a:r>
              <a:rPr lang="es-MX" sz="1700" dirty="0">
                <a:solidFill>
                  <a:srgbClr val="6E6785"/>
                </a:solidFill>
                <a:latin typeface="Aptos" panose="020B0004020202020204" pitchFamily="34" charset="0"/>
              </a:rPr>
              <a:t>.</a:t>
            </a:r>
            <a:r>
              <a:rPr sz="1700" dirty="0">
                <a:solidFill>
                  <a:srgbClr val="6E6785"/>
                </a:solidFill>
                <a:latin typeface="Aptos" panose="020B0004020202020204" pitchFamily="34" charset="0"/>
              </a:rPr>
              <a:t> </a:t>
            </a:r>
            <a:endParaRPr lang="es-MX" sz="1700" dirty="0">
              <a:solidFill>
                <a:srgbClr val="6E6785"/>
              </a:solidFill>
              <a:latin typeface="Aptos" panose="020B0004020202020204" pitchFamily="34" charset="0"/>
            </a:endParaRPr>
          </a:p>
          <a:p>
            <a:pPr algn="l"/>
            <a:r>
              <a:rPr lang="es-MX" sz="1700" dirty="0">
                <a:solidFill>
                  <a:srgbClr val="6E6785"/>
                </a:solidFill>
                <a:latin typeface="Aptos" panose="020B0004020202020204" pitchFamily="34" charset="0"/>
              </a:rPr>
              <a:t>I</a:t>
            </a:r>
            <a:r>
              <a:rPr sz="1700" dirty="0">
                <a:solidFill>
                  <a:srgbClr val="6E6785"/>
                </a:solidFill>
                <a:latin typeface="Aptos" panose="020B0004020202020204" pitchFamily="34" charset="0"/>
              </a:rPr>
              <a:t>t is productized operating intelligence</a:t>
            </a:r>
            <a:r>
              <a:rPr lang="es-MX" sz="1700" dirty="0">
                <a:solidFill>
                  <a:srgbClr val="6E6785"/>
                </a:solidFill>
                <a:latin typeface="Aptos" panose="020B0004020202020204" pitchFamily="34" charset="0"/>
              </a:rPr>
              <a:t> and </a:t>
            </a:r>
            <a:r>
              <a:rPr lang="es-MX" sz="1700" dirty="0" err="1">
                <a:solidFill>
                  <a:srgbClr val="6E6785"/>
                </a:solidFill>
                <a:latin typeface="Aptos" panose="020B0004020202020204" pitchFamily="34" charset="0"/>
              </a:rPr>
              <a:t>execution</a:t>
            </a:r>
            <a:r>
              <a:rPr sz="1700" dirty="0">
                <a:solidFill>
                  <a:srgbClr val="6E6785"/>
                </a:solidFill>
                <a:latin typeface="Aptos" panose="020B0004020202020204" pitchFamily="34" charset="0"/>
              </a:rPr>
              <a:t> across </a:t>
            </a:r>
            <a:r>
              <a:rPr lang="es-MX" sz="1700" dirty="0">
                <a:solidFill>
                  <a:srgbClr val="6E6785"/>
                </a:solidFill>
                <a:latin typeface="Aptos" panose="020B0004020202020204" pitchFamily="34" charset="0"/>
              </a:rPr>
              <a:t>the </a:t>
            </a:r>
            <a:r>
              <a:rPr sz="1700" dirty="0">
                <a:solidFill>
                  <a:srgbClr val="6E6785"/>
                </a:solidFill>
                <a:latin typeface="Aptos" panose="020B0004020202020204" pitchFamily="34" charset="0"/>
              </a:rPr>
              <a:t>real-estate</a:t>
            </a:r>
            <a:r>
              <a:rPr lang="es-MX" sz="1700" dirty="0">
                <a:solidFill>
                  <a:srgbClr val="6E6785"/>
                </a:solidFill>
                <a:latin typeface="Aptos" panose="020B0004020202020204" pitchFamily="34" charset="0"/>
              </a:rPr>
              <a:t> </a:t>
            </a:r>
            <a:r>
              <a:rPr lang="es-MX" sz="1700" dirty="0" err="1">
                <a:solidFill>
                  <a:srgbClr val="6E6785"/>
                </a:solidFill>
                <a:latin typeface="Aptos" panose="020B0004020202020204" pitchFamily="34" charset="0"/>
              </a:rPr>
              <a:t>operation</a:t>
            </a:r>
            <a:r>
              <a:rPr sz="1700" dirty="0">
                <a:solidFill>
                  <a:srgbClr val="6E6785"/>
                </a:solidFill>
                <a:latin typeface="Aptos" panose="020B0004020202020204" pitchFamily="34" charset="0"/>
              </a:rPr>
              <a:t>.</a:t>
            </a:r>
          </a:p>
        </p:txBody>
      </p:sp>
      <p:sp>
        <p:nvSpPr>
          <p:cNvPr id="7" name="Rounded Rectangle 6"/>
          <p:cNvSpPr/>
          <p:nvPr/>
        </p:nvSpPr>
        <p:spPr>
          <a:xfrm>
            <a:off x="495300" y="2098808"/>
            <a:ext cx="2095500" cy="2863087"/>
          </a:xfrm>
          <a:prstGeom prst="roundRect">
            <a:avLst/>
          </a:prstGeom>
          <a:solidFill>
            <a:srgbClr val="FFFFFF"/>
          </a:solidFill>
          <a:ln w="13970">
            <a:solidFill>
              <a:srgbClr val="DECF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 name="Rounded Rectangle 7"/>
          <p:cNvSpPr/>
          <p:nvPr/>
        </p:nvSpPr>
        <p:spPr>
          <a:xfrm>
            <a:off x="662940" y="2296929"/>
            <a:ext cx="1760220" cy="400110"/>
          </a:xfrm>
          <a:prstGeom prst="roundRect">
            <a:avLst/>
          </a:prstGeom>
          <a:solidFill>
            <a:srgbClr val="F1EAFF"/>
          </a:solidFill>
          <a:ln w="13970">
            <a:solidFill>
              <a:srgbClr val="F1E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 name="TextBox 8"/>
          <p:cNvSpPr txBox="1"/>
          <p:nvPr/>
        </p:nvSpPr>
        <p:spPr>
          <a:xfrm>
            <a:off x="708660" y="2357889"/>
            <a:ext cx="1668780" cy="184666"/>
          </a:xfrm>
          <a:prstGeom prst="rect">
            <a:avLst/>
          </a:prstGeom>
          <a:noFill/>
        </p:spPr>
        <p:txBody>
          <a:bodyPr wrap="square" lIns="22860" tIns="15240" rIns="22860" bIns="15240">
            <a:spAutoFit/>
          </a:bodyPr>
          <a:lstStyle/>
          <a:p>
            <a:pPr algn="ctr"/>
            <a:r>
              <a:rPr sz="1000" b="1" dirty="0">
                <a:solidFill>
                  <a:srgbClr val="5C2DC6"/>
                </a:solidFill>
              </a:rPr>
              <a:t>STATUS QUO</a:t>
            </a:r>
          </a:p>
        </p:txBody>
      </p:sp>
      <p:sp>
        <p:nvSpPr>
          <p:cNvPr id="10" name="TextBox 9"/>
          <p:cNvSpPr txBox="1"/>
          <p:nvPr/>
        </p:nvSpPr>
        <p:spPr>
          <a:xfrm>
            <a:off x="685800" y="2807469"/>
            <a:ext cx="1714500" cy="461665"/>
          </a:xfrm>
          <a:prstGeom prst="rect">
            <a:avLst/>
          </a:prstGeom>
          <a:noFill/>
        </p:spPr>
        <p:txBody>
          <a:bodyPr wrap="square" lIns="22860" tIns="15240" rIns="22860" bIns="15240">
            <a:spAutoFit/>
          </a:bodyPr>
          <a:lstStyle/>
          <a:p>
            <a:pPr algn="ctr"/>
            <a:r>
              <a:rPr sz="1400" b="1" dirty="0">
                <a:solidFill>
                  <a:srgbClr val="1F1C2E"/>
                </a:solidFill>
              </a:rPr>
              <a:t>Humans + fragmented tools</a:t>
            </a:r>
          </a:p>
        </p:txBody>
      </p:sp>
      <p:sp>
        <p:nvSpPr>
          <p:cNvPr id="11" name="TextBox 10"/>
          <p:cNvSpPr txBox="1"/>
          <p:nvPr/>
        </p:nvSpPr>
        <p:spPr>
          <a:xfrm>
            <a:off x="685800" y="3356109"/>
            <a:ext cx="1714500" cy="400110"/>
          </a:xfrm>
          <a:prstGeom prst="rect">
            <a:avLst/>
          </a:prstGeom>
          <a:noFill/>
        </p:spPr>
        <p:txBody>
          <a:bodyPr wrap="square" lIns="22860" tIns="15240" rIns="22860" bIns="15240">
            <a:spAutoFit/>
          </a:bodyPr>
          <a:lstStyle/>
          <a:p>
            <a:pPr algn="ctr"/>
            <a:r>
              <a:rPr sz="1200" dirty="0">
                <a:solidFill>
                  <a:srgbClr val="6E6785"/>
                </a:solidFill>
              </a:rPr>
              <a:t>People still coordinate the operation manually.</a:t>
            </a:r>
          </a:p>
        </p:txBody>
      </p:sp>
      <p:sp>
        <p:nvSpPr>
          <p:cNvPr id="12" name="TextBox 11"/>
          <p:cNvSpPr txBox="1"/>
          <p:nvPr/>
        </p:nvSpPr>
        <p:spPr>
          <a:xfrm>
            <a:off x="685800" y="4019049"/>
            <a:ext cx="1714500" cy="584775"/>
          </a:xfrm>
          <a:prstGeom prst="rect">
            <a:avLst/>
          </a:prstGeom>
          <a:noFill/>
        </p:spPr>
        <p:txBody>
          <a:bodyPr wrap="square" lIns="22860" tIns="15240" rIns="22860" bIns="15240">
            <a:spAutoFit/>
          </a:bodyPr>
          <a:lstStyle/>
          <a:p>
            <a:pPr algn="ctr"/>
            <a:r>
              <a:rPr sz="1200" i="1" dirty="0">
                <a:solidFill>
                  <a:srgbClr val="1F1C2E"/>
                </a:solidFill>
              </a:rPr>
              <a:t>Tradeoff</a:t>
            </a:r>
            <a:r>
              <a:rPr sz="1200" dirty="0">
                <a:solidFill>
                  <a:srgbClr val="1F1C2E"/>
                </a:solidFill>
              </a:rPr>
              <a:t>: capacity and consistency depend on human attention.</a:t>
            </a:r>
          </a:p>
        </p:txBody>
      </p:sp>
      <p:sp>
        <p:nvSpPr>
          <p:cNvPr id="13" name="Rounded Rectangle 12"/>
          <p:cNvSpPr/>
          <p:nvPr/>
        </p:nvSpPr>
        <p:spPr>
          <a:xfrm>
            <a:off x="2720340" y="2098809"/>
            <a:ext cx="2095500" cy="2863086"/>
          </a:xfrm>
          <a:prstGeom prst="roundRect">
            <a:avLst/>
          </a:prstGeom>
          <a:solidFill>
            <a:srgbClr val="FFFFFF"/>
          </a:solidFill>
          <a:ln w="13970">
            <a:solidFill>
              <a:srgbClr val="DECF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4" name="Rounded Rectangle 13"/>
          <p:cNvSpPr/>
          <p:nvPr/>
        </p:nvSpPr>
        <p:spPr>
          <a:xfrm>
            <a:off x="2887980" y="2296929"/>
            <a:ext cx="1760220" cy="400110"/>
          </a:xfrm>
          <a:prstGeom prst="roundRect">
            <a:avLst/>
          </a:prstGeom>
          <a:solidFill>
            <a:srgbClr val="F1EAFF"/>
          </a:solidFill>
          <a:ln w="13970">
            <a:solidFill>
              <a:srgbClr val="F1E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p:cNvSpPr txBox="1"/>
          <p:nvPr/>
        </p:nvSpPr>
        <p:spPr>
          <a:xfrm>
            <a:off x="3240157" y="2347950"/>
            <a:ext cx="1063486" cy="338554"/>
          </a:xfrm>
          <a:prstGeom prst="rect">
            <a:avLst/>
          </a:prstGeom>
          <a:noFill/>
        </p:spPr>
        <p:txBody>
          <a:bodyPr wrap="square" lIns="22860" tIns="15240" rIns="22860" bIns="15240">
            <a:spAutoFit/>
          </a:bodyPr>
          <a:lstStyle/>
          <a:p>
            <a:pPr algn="ctr"/>
            <a:r>
              <a:rPr sz="1000" b="1" dirty="0">
                <a:solidFill>
                  <a:srgbClr val="5C2DC6"/>
                </a:solidFill>
              </a:rPr>
              <a:t>VERTICAL SaaS  + </a:t>
            </a:r>
            <a:r>
              <a:rPr lang="es-MX" sz="1000" b="1" dirty="0">
                <a:solidFill>
                  <a:srgbClr val="5C2DC6"/>
                </a:solidFill>
              </a:rPr>
              <a:t>AI </a:t>
            </a:r>
            <a:r>
              <a:rPr sz="1000" b="1" dirty="0">
                <a:solidFill>
                  <a:srgbClr val="5C2DC6"/>
                </a:solidFill>
              </a:rPr>
              <a:t>COPILOTS</a:t>
            </a:r>
          </a:p>
        </p:txBody>
      </p:sp>
      <p:sp>
        <p:nvSpPr>
          <p:cNvPr id="16" name="TextBox 15"/>
          <p:cNvSpPr txBox="1"/>
          <p:nvPr/>
        </p:nvSpPr>
        <p:spPr>
          <a:xfrm>
            <a:off x="2910840" y="2807469"/>
            <a:ext cx="1714500" cy="461665"/>
          </a:xfrm>
          <a:prstGeom prst="rect">
            <a:avLst/>
          </a:prstGeom>
          <a:noFill/>
        </p:spPr>
        <p:txBody>
          <a:bodyPr wrap="square" lIns="22860" tIns="15240" rIns="22860" bIns="15240">
            <a:spAutoFit/>
          </a:bodyPr>
          <a:lstStyle/>
          <a:p>
            <a:pPr algn="ctr"/>
            <a:r>
              <a:rPr lang="es-MX" sz="1400" b="1" dirty="0" err="1">
                <a:solidFill>
                  <a:srgbClr val="1F1C2E"/>
                </a:solidFill>
              </a:rPr>
              <a:t>CRMs</a:t>
            </a:r>
            <a:r>
              <a:rPr sz="1400" b="1" dirty="0">
                <a:solidFill>
                  <a:srgbClr val="1F1C2E"/>
                </a:solidFill>
              </a:rPr>
              <a:t> and </a:t>
            </a:r>
            <a:r>
              <a:rPr lang="es-MX" sz="1400" b="1" dirty="0" err="1">
                <a:solidFill>
                  <a:srgbClr val="1F1C2E"/>
                </a:solidFill>
              </a:rPr>
              <a:t>other</a:t>
            </a:r>
            <a:r>
              <a:rPr lang="es-MX" sz="1400" b="1" dirty="0">
                <a:solidFill>
                  <a:srgbClr val="1F1C2E"/>
                </a:solidFill>
              </a:rPr>
              <a:t> SaaS </a:t>
            </a:r>
            <a:r>
              <a:rPr sz="1400" b="1" dirty="0">
                <a:solidFill>
                  <a:srgbClr val="1F1C2E"/>
                </a:solidFill>
              </a:rPr>
              <a:t>incumbents</a:t>
            </a:r>
          </a:p>
        </p:txBody>
      </p:sp>
      <p:sp>
        <p:nvSpPr>
          <p:cNvPr id="17" name="TextBox 16"/>
          <p:cNvSpPr txBox="1"/>
          <p:nvPr/>
        </p:nvSpPr>
        <p:spPr>
          <a:xfrm>
            <a:off x="2910840" y="3356109"/>
            <a:ext cx="1714500" cy="584775"/>
          </a:xfrm>
          <a:prstGeom prst="rect">
            <a:avLst/>
          </a:prstGeom>
          <a:noFill/>
        </p:spPr>
        <p:txBody>
          <a:bodyPr wrap="square" lIns="22860" tIns="15240" rIns="22860" bIns="15240">
            <a:spAutoFit/>
          </a:bodyPr>
          <a:lstStyle/>
          <a:p>
            <a:pPr algn="ctr"/>
            <a:r>
              <a:rPr sz="1200">
                <a:solidFill>
                  <a:srgbClr val="6E6785"/>
                </a:solidFill>
              </a:rPr>
              <a:t>Systems of record + workflows + growing AI assistance.</a:t>
            </a:r>
          </a:p>
        </p:txBody>
      </p:sp>
      <p:sp>
        <p:nvSpPr>
          <p:cNvPr id="18" name="TextBox 17"/>
          <p:cNvSpPr txBox="1"/>
          <p:nvPr/>
        </p:nvSpPr>
        <p:spPr>
          <a:xfrm>
            <a:off x="2910840" y="4019049"/>
            <a:ext cx="1714500" cy="584775"/>
          </a:xfrm>
          <a:prstGeom prst="rect">
            <a:avLst/>
          </a:prstGeom>
          <a:noFill/>
        </p:spPr>
        <p:txBody>
          <a:bodyPr wrap="square" lIns="22860" tIns="15240" rIns="22860" bIns="15240">
            <a:spAutoFit/>
          </a:bodyPr>
          <a:lstStyle/>
          <a:p>
            <a:pPr algn="ctr"/>
            <a:r>
              <a:rPr sz="1200" i="1" dirty="0">
                <a:solidFill>
                  <a:srgbClr val="1F1C2E"/>
                </a:solidFill>
              </a:rPr>
              <a:t>Tradeoff</a:t>
            </a:r>
            <a:r>
              <a:rPr sz="1200" dirty="0">
                <a:solidFill>
                  <a:srgbClr val="1F1C2E"/>
                </a:solidFill>
              </a:rPr>
              <a:t>: people still largely operate and coordinate the software.</a:t>
            </a:r>
          </a:p>
        </p:txBody>
      </p:sp>
      <p:sp>
        <p:nvSpPr>
          <p:cNvPr id="19" name="Rounded Rectangle 18"/>
          <p:cNvSpPr/>
          <p:nvPr/>
        </p:nvSpPr>
        <p:spPr>
          <a:xfrm>
            <a:off x="4945380" y="2098809"/>
            <a:ext cx="2095500" cy="2863086"/>
          </a:xfrm>
          <a:prstGeom prst="roundRect">
            <a:avLst/>
          </a:prstGeom>
          <a:solidFill>
            <a:srgbClr val="FFFFFF"/>
          </a:solidFill>
          <a:ln w="13970">
            <a:solidFill>
              <a:srgbClr val="DECF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0" name="Rounded Rectangle 19"/>
          <p:cNvSpPr/>
          <p:nvPr/>
        </p:nvSpPr>
        <p:spPr>
          <a:xfrm>
            <a:off x="5113020" y="2296929"/>
            <a:ext cx="1760220" cy="400110"/>
          </a:xfrm>
          <a:prstGeom prst="roundRect">
            <a:avLst/>
          </a:prstGeom>
          <a:solidFill>
            <a:srgbClr val="F1EAFF"/>
          </a:solidFill>
          <a:ln w="13970">
            <a:solidFill>
              <a:srgbClr val="F1E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1" name="TextBox 20"/>
          <p:cNvSpPr txBox="1"/>
          <p:nvPr/>
        </p:nvSpPr>
        <p:spPr>
          <a:xfrm>
            <a:off x="5158740" y="2357889"/>
            <a:ext cx="1668780" cy="184666"/>
          </a:xfrm>
          <a:prstGeom prst="rect">
            <a:avLst/>
          </a:prstGeom>
          <a:noFill/>
        </p:spPr>
        <p:txBody>
          <a:bodyPr wrap="square" lIns="22860" tIns="15240" rIns="22860" bIns="15240">
            <a:spAutoFit/>
          </a:bodyPr>
          <a:lstStyle/>
          <a:p>
            <a:pPr algn="ctr"/>
            <a:r>
              <a:rPr sz="1000" b="1" dirty="0">
                <a:solidFill>
                  <a:srgbClr val="5C2DC6"/>
                </a:solidFill>
              </a:rPr>
              <a:t>GENERAL-PURPOSE AI AGENTS</a:t>
            </a:r>
          </a:p>
        </p:txBody>
      </p:sp>
      <p:sp>
        <p:nvSpPr>
          <p:cNvPr id="22" name="TextBox 21"/>
          <p:cNvSpPr txBox="1"/>
          <p:nvPr/>
        </p:nvSpPr>
        <p:spPr>
          <a:xfrm>
            <a:off x="5135880" y="2807469"/>
            <a:ext cx="1714500" cy="461665"/>
          </a:xfrm>
          <a:prstGeom prst="rect">
            <a:avLst/>
          </a:prstGeom>
          <a:noFill/>
        </p:spPr>
        <p:txBody>
          <a:bodyPr wrap="square" lIns="22860" tIns="15240" rIns="22860" bIns="15240">
            <a:spAutoFit/>
          </a:bodyPr>
          <a:lstStyle/>
          <a:p>
            <a:pPr algn="ctr"/>
            <a:r>
              <a:rPr sz="1400" b="1" dirty="0">
                <a:solidFill>
                  <a:srgbClr val="1F1C2E"/>
                </a:solidFill>
              </a:rPr>
              <a:t>Broad </a:t>
            </a:r>
            <a:r>
              <a:rPr lang="es-MX" sz="1400" b="1" dirty="0">
                <a:solidFill>
                  <a:srgbClr val="1F1C2E"/>
                </a:solidFill>
              </a:rPr>
              <a:t>digital </a:t>
            </a:r>
            <a:r>
              <a:rPr sz="1400" b="1" dirty="0">
                <a:solidFill>
                  <a:srgbClr val="1F1C2E"/>
                </a:solidFill>
              </a:rPr>
              <a:t>coworkers / agents</a:t>
            </a:r>
          </a:p>
        </p:txBody>
      </p:sp>
      <p:sp>
        <p:nvSpPr>
          <p:cNvPr id="23" name="TextBox 22"/>
          <p:cNvSpPr txBox="1"/>
          <p:nvPr/>
        </p:nvSpPr>
        <p:spPr>
          <a:xfrm>
            <a:off x="5135880" y="3356109"/>
            <a:ext cx="1714500" cy="400110"/>
          </a:xfrm>
          <a:prstGeom prst="rect">
            <a:avLst/>
          </a:prstGeom>
          <a:noFill/>
        </p:spPr>
        <p:txBody>
          <a:bodyPr wrap="square" lIns="22860" tIns="15240" rIns="22860" bIns="15240">
            <a:spAutoFit/>
          </a:bodyPr>
          <a:lstStyle/>
          <a:p>
            <a:pPr algn="ctr"/>
            <a:r>
              <a:rPr sz="1200">
                <a:solidFill>
                  <a:srgbClr val="6E6785"/>
                </a:solidFill>
              </a:rPr>
              <a:t>Powerful cross-domain reasoning and execution.</a:t>
            </a:r>
          </a:p>
        </p:txBody>
      </p:sp>
      <p:sp>
        <p:nvSpPr>
          <p:cNvPr id="24" name="TextBox 23"/>
          <p:cNvSpPr txBox="1"/>
          <p:nvPr/>
        </p:nvSpPr>
        <p:spPr>
          <a:xfrm>
            <a:off x="5005014" y="4019049"/>
            <a:ext cx="1950720" cy="584775"/>
          </a:xfrm>
          <a:prstGeom prst="rect">
            <a:avLst/>
          </a:prstGeom>
          <a:noFill/>
        </p:spPr>
        <p:txBody>
          <a:bodyPr wrap="square" lIns="22860" tIns="15240" rIns="22860" bIns="15240">
            <a:spAutoFit/>
          </a:bodyPr>
          <a:lstStyle/>
          <a:p>
            <a:pPr algn="ctr"/>
            <a:r>
              <a:rPr sz="1200" i="1" dirty="0">
                <a:solidFill>
                  <a:srgbClr val="1F1C2E"/>
                </a:solidFill>
              </a:rPr>
              <a:t>Tradeoff</a:t>
            </a:r>
            <a:r>
              <a:rPr sz="1200" dirty="0">
                <a:solidFill>
                  <a:srgbClr val="1F1C2E"/>
                </a:solidFill>
              </a:rPr>
              <a:t>: </a:t>
            </a:r>
            <a:r>
              <a:rPr lang="en-US" sz="1200" dirty="0">
                <a:solidFill>
                  <a:srgbClr val="1F1C2E"/>
                </a:solidFill>
              </a:rPr>
              <a:t>customers must assemble the real-estate operating &amp; governance layer</a:t>
            </a:r>
            <a:r>
              <a:rPr sz="1200" dirty="0">
                <a:solidFill>
                  <a:srgbClr val="1F1C2E"/>
                </a:solidFill>
              </a:rPr>
              <a:t>.</a:t>
            </a:r>
          </a:p>
        </p:txBody>
      </p:sp>
      <p:sp>
        <p:nvSpPr>
          <p:cNvPr id="25" name="Rounded Rectangle 24"/>
          <p:cNvSpPr/>
          <p:nvPr/>
        </p:nvSpPr>
        <p:spPr>
          <a:xfrm>
            <a:off x="7170420" y="2098809"/>
            <a:ext cx="2095500" cy="2863086"/>
          </a:xfrm>
          <a:prstGeom prst="roundRect">
            <a:avLst/>
          </a:prstGeom>
          <a:solidFill>
            <a:srgbClr val="FFFFFF"/>
          </a:solidFill>
          <a:ln w="13970">
            <a:solidFill>
              <a:srgbClr val="DECF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6" name="Rounded Rectangle 25"/>
          <p:cNvSpPr/>
          <p:nvPr/>
        </p:nvSpPr>
        <p:spPr>
          <a:xfrm>
            <a:off x="7338060" y="2296929"/>
            <a:ext cx="1760220" cy="400110"/>
          </a:xfrm>
          <a:prstGeom prst="roundRect">
            <a:avLst/>
          </a:prstGeom>
          <a:solidFill>
            <a:srgbClr val="F7E9F1"/>
          </a:solidFill>
          <a:ln w="13970">
            <a:solidFill>
              <a:srgbClr val="F7E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TextBox 26"/>
          <p:cNvSpPr txBox="1"/>
          <p:nvPr/>
        </p:nvSpPr>
        <p:spPr>
          <a:xfrm>
            <a:off x="7559040" y="2318133"/>
            <a:ext cx="1324223" cy="338554"/>
          </a:xfrm>
          <a:prstGeom prst="rect">
            <a:avLst/>
          </a:prstGeom>
          <a:noFill/>
        </p:spPr>
        <p:txBody>
          <a:bodyPr wrap="square" lIns="22860" tIns="15240" rIns="22860" bIns="15240">
            <a:spAutoFit/>
          </a:bodyPr>
          <a:lstStyle/>
          <a:p>
            <a:pPr algn="ctr"/>
            <a:r>
              <a:rPr sz="1000" b="1" dirty="0">
                <a:solidFill>
                  <a:srgbClr val="A04676"/>
                </a:solidFill>
              </a:rPr>
              <a:t>VERTICAL AGENTIC PLATFORMS</a:t>
            </a:r>
          </a:p>
        </p:txBody>
      </p:sp>
      <p:sp>
        <p:nvSpPr>
          <p:cNvPr id="28" name="TextBox 27"/>
          <p:cNvSpPr txBox="1"/>
          <p:nvPr/>
        </p:nvSpPr>
        <p:spPr>
          <a:xfrm>
            <a:off x="7360920" y="2807469"/>
            <a:ext cx="1714500" cy="246221"/>
          </a:xfrm>
          <a:prstGeom prst="rect">
            <a:avLst/>
          </a:prstGeom>
          <a:noFill/>
        </p:spPr>
        <p:txBody>
          <a:bodyPr wrap="square" lIns="22860" tIns="15240" rIns="22860" bIns="15240">
            <a:spAutoFit/>
          </a:bodyPr>
          <a:lstStyle/>
          <a:p>
            <a:pPr algn="ctr"/>
            <a:r>
              <a:rPr sz="1400" b="1" dirty="0">
                <a:solidFill>
                  <a:srgbClr val="1F1C2E"/>
                </a:solidFill>
              </a:rPr>
              <a:t>KOVA · Uniti · others</a:t>
            </a:r>
          </a:p>
        </p:txBody>
      </p:sp>
      <p:sp>
        <p:nvSpPr>
          <p:cNvPr id="29" name="TextBox 28"/>
          <p:cNvSpPr txBox="1"/>
          <p:nvPr/>
        </p:nvSpPr>
        <p:spPr>
          <a:xfrm>
            <a:off x="7360920" y="3356109"/>
            <a:ext cx="1714500" cy="400110"/>
          </a:xfrm>
          <a:prstGeom prst="rect">
            <a:avLst/>
          </a:prstGeom>
          <a:noFill/>
        </p:spPr>
        <p:txBody>
          <a:bodyPr wrap="square" lIns="22860" tIns="15240" rIns="22860" bIns="15240">
            <a:spAutoFit/>
          </a:bodyPr>
          <a:lstStyle/>
          <a:p>
            <a:pPr algn="ctr"/>
            <a:r>
              <a:rPr sz="1200" dirty="0">
                <a:solidFill>
                  <a:srgbClr val="6E6785"/>
                </a:solidFill>
              </a:rPr>
              <a:t>Real-estate-specific AI agents and workflows.</a:t>
            </a:r>
          </a:p>
        </p:txBody>
      </p:sp>
      <p:sp>
        <p:nvSpPr>
          <p:cNvPr id="30" name="TextBox 29"/>
          <p:cNvSpPr txBox="1"/>
          <p:nvPr/>
        </p:nvSpPr>
        <p:spPr>
          <a:xfrm>
            <a:off x="7245626" y="4019049"/>
            <a:ext cx="1959334" cy="584775"/>
          </a:xfrm>
          <a:prstGeom prst="rect">
            <a:avLst/>
          </a:prstGeom>
          <a:noFill/>
        </p:spPr>
        <p:txBody>
          <a:bodyPr wrap="square" lIns="22860" tIns="15240" rIns="22860" bIns="15240">
            <a:spAutoFit/>
          </a:bodyPr>
          <a:lstStyle/>
          <a:p>
            <a:pPr algn="ctr"/>
            <a:r>
              <a:rPr lang="es-MX" sz="1200" i="1" dirty="0" err="1">
                <a:solidFill>
                  <a:srgbClr val="1F1C2E"/>
                </a:solidFill>
              </a:rPr>
              <a:t>Closest</a:t>
            </a:r>
            <a:r>
              <a:rPr lang="es-MX" sz="1200" i="1" dirty="0">
                <a:solidFill>
                  <a:srgbClr val="1F1C2E"/>
                </a:solidFill>
              </a:rPr>
              <a:t> </a:t>
            </a:r>
            <a:r>
              <a:rPr lang="es-MX" sz="1200" i="1" dirty="0" err="1">
                <a:solidFill>
                  <a:srgbClr val="1F1C2E"/>
                </a:solidFill>
              </a:rPr>
              <a:t>category</a:t>
            </a:r>
            <a:r>
              <a:rPr sz="1200" dirty="0">
                <a:solidFill>
                  <a:srgbClr val="1F1C2E"/>
                </a:solidFill>
              </a:rPr>
              <a:t>: </a:t>
            </a:r>
            <a:r>
              <a:rPr lang="es-MX" sz="1200" dirty="0" err="1"/>
              <a:t>battleground</a:t>
            </a:r>
            <a:r>
              <a:rPr lang="es-MX" sz="1200" dirty="0"/>
              <a:t> </a:t>
            </a:r>
            <a:r>
              <a:rPr lang="es-MX" sz="1200" dirty="0" err="1"/>
              <a:t>is</a:t>
            </a:r>
            <a:r>
              <a:rPr lang="es-MX" sz="1200" dirty="0"/>
              <a:t> </a:t>
            </a:r>
            <a:r>
              <a:rPr lang="es-MX" sz="1200" dirty="0" err="1"/>
              <a:t>cross-workflow</a:t>
            </a:r>
            <a:r>
              <a:rPr lang="es-MX" sz="1200" dirty="0"/>
              <a:t> </a:t>
            </a:r>
            <a:r>
              <a:rPr lang="es-MX" sz="1200" dirty="0" err="1"/>
              <a:t>operating</a:t>
            </a:r>
            <a:r>
              <a:rPr lang="es-MX" sz="1200" dirty="0"/>
              <a:t> </a:t>
            </a:r>
            <a:r>
              <a:rPr lang="es-MX" sz="1200" dirty="0" err="1"/>
              <a:t>intelligence</a:t>
            </a:r>
            <a:r>
              <a:rPr lang="es-MX" sz="1200" dirty="0"/>
              <a:t> &amp; </a:t>
            </a:r>
            <a:r>
              <a:rPr lang="es-MX" sz="1200" dirty="0" err="1"/>
              <a:t>execution</a:t>
            </a:r>
            <a:r>
              <a:rPr sz="1200" dirty="0">
                <a:solidFill>
                  <a:srgbClr val="1F1C2E"/>
                </a:solidFill>
              </a:rPr>
              <a:t>.</a:t>
            </a:r>
          </a:p>
        </p:txBody>
      </p:sp>
      <p:sp>
        <p:nvSpPr>
          <p:cNvPr id="31" name="Rounded Rectangle 30"/>
          <p:cNvSpPr/>
          <p:nvPr/>
        </p:nvSpPr>
        <p:spPr>
          <a:xfrm>
            <a:off x="9395460" y="2098808"/>
            <a:ext cx="2332714" cy="2863085"/>
          </a:xfrm>
          <a:prstGeom prst="roundRect">
            <a:avLst/>
          </a:prstGeom>
          <a:solidFill>
            <a:srgbClr val="1F1637"/>
          </a:solidFill>
          <a:ln w="13970">
            <a:solidFill>
              <a:srgbClr val="1F1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2" name="TextBox 31"/>
          <p:cNvSpPr txBox="1"/>
          <p:nvPr/>
        </p:nvSpPr>
        <p:spPr>
          <a:xfrm>
            <a:off x="9509760" y="2289309"/>
            <a:ext cx="1866900" cy="312843"/>
          </a:xfrm>
          <a:prstGeom prst="rect">
            <a:avLst/>
          </a:prstGeom>
          <a:noFill/>
        </p:spPr>
        <p:txBody>
          <a:bodyPr wrap="square" lIns="22860" tIns="15240" rIns="22860" bIns="15240">
            <a:spAutoFit/>
          </a:bodyPr>
          <a:lstStyle/>
          <a:p>
            <a:pPr algn="ctr"/>
            <a:r>
              <a:rPr sz="1833" b="1">
                <a:solidFill>
                  <a:srgbClr val="FFFFFF"/>
                </a:solidFill>
              </a:rPr>
              <a:t>UNGGA</a:t>
            </a:r>
          </a:p>
        </p:txBody>
      </p:sp>
      <p:sp>
        <p:nvSpPr>
          <p:cNvPr id="33" name="TextBox 32"/>
          <p:cNvSpPr txBox="1"/>
          <p:nvPr/>
        </p:nvSpPr>
        <p:spPr>
          <a:xfrm>
            <a:off x="9547860" y="2793222"/>
            <a:ext cx="1790700" cy="246221"/>
          </a:xfrm>
          <a:prstGeom prst="rect">
            <a:avLst/>
          </a:prstGeom>
          <a:noFill/>
        </p:spPr>
        <p:txBody>
          <a:bodyPr wrap="square" lIns="22860" tIns="15240" rIns="22860" bIns="15240">
            <a:spAutoFit/>
          </a:bodyPr>
          <a:lstStyle/>
          <a:p>
            <a:pPr algn="ctr"/>
            <a:r>
              <a:rPr lang="es-MX" sz="1400" b="1" dirty="0" err="1">
                <a:solidFill>
                  <a:srgbClr val="E6E0F5"/>
                </a:solidFill>
              </a:rPr>
              <a:t>Gu</a:t>
            </a:r>
            <a:r>
              <a:rPr lang="es-MX" sz="1400" b="1" dirty="0">
                <a:solidFill>
                  <a:srgbClr val="E6E0F5"/>
                </a:solidFill>
              </a:rPr>
              <a:t> + </a:t>
            </a:r>
            <a:r>
              <a:rPr lang="es-MX" sz="1400" b="1" dirty="0" err="1">
                <a:solidFill>
                  <a:srgbClr val="E6E0F5"/>
                </a:solidFill>
              </a:rPr>
              <a:t>Gu</a:t>
            </a:r>
            <a:r>
              <a:rPr lang="es-MX" sz="1400" b="1" dirty="0">
                <a:solidFill>
                  <a:srgbClr val="E6E0F5"/>
                </a:solidFill>
              </a:rPr>
              <a:t> OS</a:t>
            </a:r>
            <a:endParaRPr sz="1400" b="1" dirty="0">
              <a:solidFill>
                <a:srgbClr val="E6E0F5"/>
              </a:solidFill>
            </a:endParaRPr>
          </a:p>
        </p:txBody>
      </p:sp>
      <p:sp>
        <p:nvSpPr>
          <p:cNvPr id="34" name="TextBox 33"/>
          <p:cNvSpPr txBox="1"/>
          <p:nvPr/>
        </p:nvSpPr>
        <p:spPr>
          <a:xfrm>
            <a:off x="9509759" y="3356440"/>
            <a:ext cx="2180313" cy="1323439"/>
          </a:xfrm>
          <a:prstGeom prst="rect">
            <a:avLst/>
          </a:prstGeom>
          <a:noFill/>
        </p:spPr>
        <p:txBody>
          <a:bodyPr wrap="square" lIns="22860" tIns="15240" rIns="22860" bIns="15240">
            <a:spAutoFit/>
          </a:bodyPr>
          <a:lstStyle/>
          <a:p>
            <a:r>
              <a:rPr lang="es-MX" sz="1200" b="1" dirty="0">
                <a:solidFill>
                  <a:srgbClr val="E6E0F5"/>
                </a:solidFill>
              </a:rPr>
              <a:t>O</a:t>
            </a:r>
            <a:r>
              <a:rPr sz="1200" b="1" dirty="0">
                <a:solidFill>
                  <a:srgbClr val="E6E0F5"/>
                </a:solidFill>
              </a:rPr>
              <a:t>ne</a:t>
            </a:r>
            <a:r>
              <a:rPr lang="es-MX" sz="1200" b="1" dirty="0">
                <a:solidFill>
                  <a:srgbClr val="E6E0F5"/>
                </a:solidFill>
              </a:rPr>
              <a:t> </a:t>
            </a:r>
            <a:r>
              <a:rPr lang="es-MX" sz="1200" b="1" dirty="0" err="1">
                <a:solidFill>
                  <a:srgbClr val="E6E0F5"/>
                </a:solidFill>
              </a:rPr>
              <a:t>Gu</a:t>
            </a:r>
            <a:r>
              <a:rPr lang="es-MX" sz="1200" b="1" dirty="0">
                <a:solidFill>
                  <a:srgbClr val="E6E0F5"/>
                </a:solidFill>
              </a:rPr>
              <a:t> </a:t>
            </a:r>
            <a:r>
              <a:rPr sz="1200" b="1" dirty="0">
                <a:solidFill>
                  <a:srgbClr val="E6E0F5"/>
                </a:solidFill>
              </a:rPr>
              <a:t>experience</a:t>
            </a:r>
            <a:r>
              <a:rPr lang="es-MX" sz="1200" b="1" dirty="0">
                <a:solidFill>
                  <a:srgbClr val="E6E0F5"/>
                </a:solidFill>
              </a:rPr>
              <a:t> </a:t>
            </a:r>
            <a:r>
              <a:rPr lang="es-MX" sz="1200" b="1" dirty="0" err="1">
                <a:solidFill>
                  <a:srgbClr val="E6E0F5"/>
                </a:solidFill>
              </a:rPr>
              <a:t>across</a:t>
            </a:r>
            <a:r>
              <a:rPr lang="es-MX" sz="1200" b="1" dirty="0">
                <a:solidFill>
                  <a:srgbClr val="E6E0F5"/>
                </a:solidFill>
              </a:rPr>
              <a:t> </a:t>
            </a:r>
            <a:r>
              <a:rPr lang="es-MX" sz="1200" b="1" dirty="0" err="1">
                <a:solidFill>
                  <a:srgbClr val="E6E0F5"/>
                </a:solidFill>
              </a:rPr>
              <a:t>workflows</a:t>
            </a:r>
            <a:endParaRPr lang="es-MX" sz="1200" b="1" dirty="0">
              <a:solidFill>
                <a:srgbClr val="E6E0F5"/>
              </a:solidFill>
            </a:endParaRPr>
          </a:p>
          <a:p>
            <a:r>
              <a:rPr lang="es-MX" sz="1200" b="1" dirty="0">
                <a:solidFill>
                  <a:srgbClr val="E6E0F5"/>
                </a:solidFill>
              </a:rPr>
              <a:t>+ </a:t>
            </a:r>
            <a:r>
              <a:rPr sz="1200" b="1" dirty="0">
                <a:solidFill>
                  <a:srgbClr val="E6E0F5"/>
                </a:solidFill>
              </a:rPr>
              <a:t>durable operations</a:t>
            </a:r>
            <a:endParaRPr lang="es-MX" sz="1200" b="1" dirty="0">
              <a:solidFill>
                <a:srgbClr val="E6E0F5"/>
              </a:solidFill>
            </a:endParaRPr>
          </a:p>
          <a:p>
            <a:r>
              <a:rPr lang="es-MX" sz="1200" b="1" dirty="0">
                <a:solidFill>
                  <a:srgbClr val="E6E0F5"/>
                </a:solidFill>
              </a:rPr>
              <a:t>+ </a:t>
            </a:r>
            <a:r>
              <a:rPr sz="1200" b="1" dirty="0">
                <a:solidFill>
                  <a:srgbClr val="E6E0F5"/>
                </a:solidFill>
              </a:rPr>
              <a:t>company-specific</a:t>
            </a:r>
            <a:r>
              <a:rPr lang="es-MX" sz="1200" b="1" dirty="0">
                <a:solidFill>
                  <a:srgbClr val="E6E0F5"/>
                </a:solidFill>
              </a:rPr>
              <a:t> </a:t>
            </a:r>
            <a:r>
              <a:rPr sz="1200" b="1" dirty="0">
                <a:solidFill>
                  <a:srgbClr val="E6E0F5"/>
                </a:solidFill>
              </a:rPr>
              <a:t>intelligence</a:t>
            </a:r>
            <a:endParaRPr lang="es-MX" sz="1200" b="1" dirty="0">
              <a:solidFill>
                <a:srgbClr val="E6E0F5"/>
              </a:solidFill>
            </a:endParaRPr>
          </a:p>
          <a:p>
            <a:r>
              <a:rPr lang="es-MX" sz="1200" b="1" dirty="0">
                <a:solidFill>
                  <a:srgbClr val="E6E0F5"/>
                </a:solidFill>
              </a:rPr>
              <a:t>+ </a:t>
            </a:r>
            <a:r>
              <a:rPr sz="1200" b="1" dirty="0">
                <a:solidFill>
                  <a:srgbClr val="E6E0F5"/>
                </a:solidFill>
              </a:rPr>
              <a:t>outcome loop</a:t>
            </a:r>
            <a:endParaRPr lang="es-MX" sz="1200" b="1" dirty="0">
              <a:solidFill>
                <a:srgbClr val="E6E0F5"/>
              </a:solidFill>
            </a:endParaRPr>
          </a:p>
          <a:p>
            <a:r>
              <a:rPr lang="es-MX" sz="1200" b="1" dirty="0">
                <a:solidFill>
                  <a:srgbClr val="E6E0F5"/>
                </a:solidFill>
              </a:rPr>
              <a:t>+ </a:t>
            </a:r>
            <a:r>
              <a:rPr lang="es-MX" sz="1200" b="1" dirty="0" err="1">
                <a:solidFill>
                  <a:srgbClr val="E6E0F5"/>
                </a:solidFill>
              </a:rPr>
              <a:t>shared</a:t>
            </a:r>
            <a:r>
              <a:rPr lang="es-MX" sz="1200" b="1" dirty="0">
                <a:solidFill>
                  <a:srgbClr val="E6E0F5"/>
                </a:solidFill>
              </a:rPr>
              <a:t> </a:t>
            </a:r>
            <a:r>
              <a:rPr lang="es-MX" sz="1200" b="1" dirty="0" err="1">
                <a:solidFill>
                  <a:srgbClr val="E6E0F5"/>
                </a:solidFill>
              </a:rPr>
              <a:t>inventory</a:t>
            </a:r>
            <a:r>
              <a:rPr sz="1200" b="1" dirty="0">
                <a:solidFill>
                  <a:srgbClr val="E6E0F5"/>
                </a:solidFill>
              </a:rPr>
              <a:t> </a:t>
            </a:r>
            <a:endParaRPr lang="es-MX" sz="1200" b="1" dirty="0">
              <a:solidFill>
                <a:srgbClr val="E6E0F5"/>
              </a:solidFill>
            </a:endParaRPr>
          </a:p>
          <a:p>
            <a:r>
              <a:rPr lang="es-MX" sz="1200" b="1" dirty="0">
                <a:solidFill>
                  <a:srgbClr val="E6E0F5"/>
                </a:solidFill>
              </a:rPr>
              <a:t>+</a:t>
            </a:r>
            <a:r>
              <a:rPr sz="1200" b="1" dirty="0">
                <a:solidFill>
                  <a:srgbClr val="E6E0F5"/>
                </a:solidFill>
              </a:rPr>
              <a:t> </a:t>
            </a:r>
            <a:r>
              <a:rPr lang="es-MX" sz="1200" b="1" dirty="0" err="1">
                <a:solidFill>
                  <a:srgbClr val="E6E0F5"/>
                </a:solidFill>
              </a:rPr>
              <a:t>integrated</a:t>
            </a:r>
            <a:r>
              <a:rPr lang="es-MX" sz="1200" b="1" dirty="0">
                <a:solidFill>
                  <a:srgbClr val="E6E0F5"/>
                </a:solidFill>
              </a:rPr>
              <a:t> </a:t>
            </a:r>
            <a:r>
              <a:rPr lang="es-MX" sz="1200" b="1" dirty="0" err="1">
                <a:solidFill>
                  <a:srgbClr val="E6E0F5"/>
                </a:solidFill>
              </a:rPr>
              <a:t>services</a:t>
            </a:r>
            <a:r>
              <a:rPr lang="es-MX" sz="1200" b="1" dirty="0">
                <a:solidFill>
                  <a:srgbClr val="E6E0F5"/>
                </a:solidFill>
              </a:rPr>
              <a:t> </a:t>
            </a:r>
            <a:r>
              <a:rPr sz="1200" b="1" dirty="0">
                <a:solidFill>
                  <a:srgbClr val="E6E0F5"/>
                </a:solidFill>
              </a:rPr>
              <a:t>ecosystem</a:t>
            </a:r>
          </a:p>
        </p:txBody>
      </p:sp>
      <p:sp>
        <p:nvSpPr>
          <p:cNvPr id="35" name="Rounded Rectangle 34"/>
          <p:cNvSpPr/>
          <p:nvPr/>
        </p:nvSpPr>
        <p:spPr>
          <a:xfrm>
            <a:off x="407504" y="5337308"/>
            <a:ext cx="11320670" cy="579447"/>
          </a:xfrm>
          <a:prstGeom prst="roundRect">
            <a:avLst/>
          </a:prstGeom>
          <a:solidFill>
            <a:srgbClr val="F1EAFF"/>
          </a:solidFill>
          <a:ln w="13970">
            <a:solidFill>
              <a:srgbClr val="F1E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p>
        </p:txBody>
      </p:sp>
      <p:sp>
        <p:nvSpPr>
          <p:cNvPr id="36" name="TextBox 35"/>
          <p:cNvSpPr txBox="1"/>
          <p:nvPr/>
        </p:nvSpPr>
        <p:spPr>
          <a:xfrm>
            <a:off x="477077" y="5459229"/>
            <a:ext cx="11212996" cy="276999"/>
          </a:xfrm>
          <a:prstGeom prst="rect">
            <a:avLst/>
          </a:prstGeom>
          <a:noFill/>
        </p:spPr>
        <p:txBody>
          <a:bodyPr wrap="square" lIns="22860" tIns="15240" rIns="22860" bIns="15240">
            <a:spAutoFit/>
          </a:bodyPr>
          <a:lstStyle/>
          <a:p>
            <a:pPr algn="ctr"/>
            <a:r>
              <a:rPr sz="1600" b="1" dirty="0">
                <a:solidFill>
                  <a:srgbClr val="5C2DC6"/>
                </a:solidFill>
              </a:rPr>
              <a:t>Software digitize</a:t>
            </a:r>
            <a:r>
              <a:rPr lang="es-MX" sz="1600" b="1" dirty="0">
                <a:solidFill>
                  <a:srgbClr val="5C2DC6"/>
                </a:solidFill>
              </a:rPr>
              <a:t>s</a:t>
            </a:r>
            <a:r>
              <a:rPr sz="1600" b="1" dirty="0">
                <a:solidFill>
                  <a:srgbClr val="5C2DC6"/>
                </a:solidFill>
              </a:rPr>
              <a:t> work </a:t>
            </a:r>
            <a:r>
              <a:rPr lang="es-MX" sz="1600" b="1" dirty="0">
                <a:solidFill>
                  <a:srgbClr val="5C2DC6"/>
                </a:solidFill>
                <a:latin typeface="Arial"/>
              </a:rPr>
              <a:t>→</a:t>
            </a:r>
            <a:r>
              <a:rPr sz="1600" b="1" dirty="0">
                <a:solidFill>
                  <a:srgbClr val="5C2DC6"/>
                </a:solidFill>
              </a:rPr>
              <a:t> Copilots assist </a:t>
            </a:r>
            <a:r>
              <a:rPr lang="es-MX" sz="1600" b="1" dirty="0">
                <a:solidFill>
                  <a:srgbClr val="5C2DC6"/>
                </a:solidFill>
                <a:latin typeface="Arial"/>
              </a:rPr>
              <a:t>→</a:t>
            </a:r>
            <a:r>
              <a:rPr sz="1600" b="1" dirty="0">
                <a:solidFill>
                  <a:srgbClr val="5C2DC6"/>
                </a:solidFill>
              </a:rPr>
              <a:t> Agents execute work </a:t>
            </a:r>
            <a:r>
              <a:rPr lang="es-MX" sz="1600" b="1" dirty="0">
                <a:solidFill>
                  <a:srgbClr val="5C2DC6"/>
                </a:solidFill>
                <a:latin typeface="Arial"/>
              </a:rPr>
              <a:t>→</a:t>
            </a:r>
            <a:r>
              <a:rPr sz="1600" b="1" dirty="0">
                <a:solidFill>
                  <a:srgbClr val="5C2DC6"/>
                </a:solidFill>
              </a:rPr>
              <a:t> Gu OS aims to coordinate</a:t>
            </a:r>
            <a:r>
              <a:rPr lang="es-MX" sz="1600" b="1" dirty="0">
                <a:solidFill>
                  <a:srgbClr val="5C2DC6"/>
                </a:solidFill>
              </a:rPr>
              <a:t> &amp; </a:t>
            </a:r>
            <a:r>
              <a:rPr lang="es-MX" sz="1600" b="1" dirty="0" err="1">
                <a:solidFill>
                  <a:srgbClr val="5C2DC6"/>
                </a:solidFill>
              </a:rPr>
              <a:t>execute</a:t>
            </a:r>
            <a:r>
              <a:rPr sz="1600" b="1" dirty="0">
                <a:solidFill>
                  <a:srgbClr val="5C2DC6"/>
                </a:solidFill>
              </a:rPr>
              <a:t> </a:t>
            </a:r>
            <a:r>
              <a:rPr lang="es-MX" sz="1600" b="1" dirty="0" err="1">
                <a:solidFill>
                  <a:srgbClr val="5C2DC6"/>
                </a:solidFill>
              </a:rPr>
              <a:t>work</a:t>
            </a:r>
            <a:r>
              <a:rPr lang="es-MX" sz="1600" b="1" dirty="0">
                <a:solidFill>
                  <a:srgbClr val="5C2DC6"/>
                </a:solidFill>
              </a:rPr>
              <a:t> </a:t>
            </a:r>
            <a:r>
              <a:rPr lang="es-MX" sz="1600" b="1" dirty="0" err="1">
                <a:solidFill>
                  <a:srgbClr val="5C2DC6"/>
                </a:solidFill>
              </a:rPr>
              <a:t>across</a:t>
            </a:r>
            <a:r>
              <a:rPr lang="es-MX" sz="1600" b="1" dirty="0">
                <a:solidFill>
                  <a:srgbClr val="5C2DC6"/>
                </a:solidFill>
              </a:rPr>
              <a:t> </a:t>
            </a:r>
            <a:r>
              <a:rPr sz="1600" b="1" dirty="0">
                <a:solidFill>
                  <a:srgbClr val="5C2DC6"/>
                </a:solidFill>
              </a:rPr>
              <a:t>the operation.</a:t>
            </a:r>
          </a:p>
        </p:txBody>
      </p:sp>
      <p:sp>
        <p:nvSpPr>
          <p:cNvPr id="37" name="TextBox 36"/>
          <p:cNvSpPr txBox="1"/>
          <p:nvPr/>
        </p:nvSpPr>
        <p:spPr>
          <a:xfrm>
            <a:off x="571500" y="6515100"/>
            <a:ext cx="1066800" cy="120482"/>
          </a:xfrm>
          <a:prstGeom prst="rect">
            <a:avLst/>
          </a:prstGeom>
          <a:noFill/>
        </p:spPr>
        <p:txBody>
          <a:bodyPr wrap="square" lIns="22860" tIns="15240" rIns="22860" bIns="15240">
            <a:spAutoFit/>
          </a:bodyPr>
          <a:lstStyle/>
          <a:p>
            <a:pPr algn="l"/>
            <a:r>
              <a:rPr sz="583" dirty="0">
                <a:solidFill>
                  <a:srgbClr val="6E6785"/>
                </a:solidFill>
                <a:latin typeface="Arial"/>
              </a:rPr>
              <a:t>CONFIDENTIAL</a:t>
            </a:r>
          </a:p>
        </p:txBody>
      </p:sp>
      <p:sp>
        <p:nvSpPr>
          <p:cNvPr id="38" name="TextBox 37"/>
          <p:cNvSpPr txBox="1"/>
          <p:nvPr/>
        </p:nvSpPr>
        <p:spPr>
          <a:xfrm>
            <a:off x="11063247" y="6499198"/>
            <a:ext cx="647700" cy="153888"/>
          </a:xfrm>
          <a:prstGeom prst="rect">
            <a:avLst/>
          </a:prstGeom>
          <a:noFill/>
        </p:spPr>
        <p:txBody>
          <a:bodyPr wrap="square" lIns="22860" tIns="15240" rIns="22860" bIns="15240">
            <a:spAutoFit/>
          </a:bodyPr>
          <a:lstStyle/>
          <a:p>
            <a:pPr algn="r"/>
            <a:r>
              <a:rPr sz="800" dirty="0">
                <a:solidFill>
                  <a:srgbClr val="6E6785"/>
                </a:solidFill>
              </a:rPr>
              <a:t>ungga.com</a:t>
            </a:r>
          </a:p>
        </p:txBody>
      </p:sp>
      <p:sp>
        <p:nvSpPr>
          <p:cNvPr id="39" name="TextBox 38"/>
          <p:cNvSpPr txBox="1"/>
          <p:nvPr/>
        </p:nvSpPr>
        <p:spPr>
          <a:xfrm>
            <a:off x="11772900" y="6515100"/>
            <a:ext cx="190500" cy="153888"/>
          </a:xfrm>
          <a:prstGeom prst="rect">
            <a:avLst/>
          </a:prstGeom>
          <a:noFill/>
        </p:spPr>
        <p:txBody>
          <a:bodyPr wrap="square" lIns="22860" tIns="15240" rIns="22860" bIns="15240">
            <a:spAutoFit/>
          </a:bodyPr>
          <a:lstStyle/>
          <a:p>
            <a:pPr algn="r"/>
            <a:r>
              <a:rPr sz="800" dirty="0">
                <a:solidFill>
                  <a:srgbClr val="6E6785"/>
                </a:solidFill>
              </a:rPr>
              <a:t>1</a:t>
            </a:r>
            <a:r>
              <a:rPr lang="es-MX" sz="800" dirty="0">
                <a:solidFill>
                  <a:srgbClr val="6E6785"/>
                </a:solidFill>
              </a:rPr>
              <a:t>6</a:t>
            </a:r>
            <a:endParaRPr sz="800" dirty="0">
              <a:solidFill>
                <a:srgbClr val="6E6785"/>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APPENDIX · CLOSED-LOOP ECONOMICS</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2850" b="1" dirty="0">
                <a:solidFill>
                  <a:srgbClr val="18152B"/>
                </a:solidFill>
                <a:latin typeface="Inter Display" pitchFamily="34" charset="0"/>
                <a:ea typeface="Inter Display" pitchFamily="34" charset="-122"/>
                <a:cs typeface="Inter Display" pitchFamily="34" charset="-120"/>
              </a:rPr>
              <a:t>Optimizing for leads can be very different from optimizing for business outcomes.</a:t>
            </a:r>
            <a:endParaRPr lang="en-US" sz="2850" dirty="0"/>
          </a:p>
        </p:txBody>
      </p:sp>
      <p:sp>
        <p:nvSpPr>
          <p:cNvPr id="5" name="Text 2"/>
          <p:cNvSpPr txBox="1"/>
          <p:nvPr/>
        </p:nvSpPr>
        <p:spPr>
          <a:xfrm>
            <a:off x="566928" y="1307592"/>
            <a:ext cx="10881360" cy="475488"/>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6F6882"/>
                </a:solidFill>
                <a:latin typeface="Inter" pitchFamily="34" charset="0"/>
                <a:ea typeface="Inter" pitchFamily="34" charset="-122"/>
                <a:cs typeface="Inter" pitchFamily="34" charset="-120"/>
              </a:rPr>
              <a:t>Illustrative example — not customer data.</a:t>
            </a:r>
            <a:endParaRPr lang="en-US" sz="1350" dirty="0"/>
          </a:p>
        </p:txBody>
      </p:sp>
      <p:sp>
        <p:nvSpPr>
          <p:cNvPr id="6" name="Shape 3"/>
          <p:cNvSpPr/>
          <p:nvPr/>
        </p:nvSpPr>
        <p:spPr>
          <a:xfrm>
            <a:off x="932688" y="1901952"/>
            <a:ext cx="4754880" cy="3273552"/>
          </a:xfrm>
          <a:prstGeom prst="roundRect">
            <a:avLst>
              <a:gd name="adj" fmla="val 3352"/>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7" name="Shape 4"/>
          <p:cNvSpPr/>
          <p:nvPr/>
        </p:nvSpPr>
        <p:spPr>
          <a:xfrm>
            <a:off x="6510528" y="1901952"/>
            <a:ext cx="4754880" cy="3273552"/>
          </a:xfrm>
          <a:prstGeom prst="roundRect">
            <a:avLst>
              <a:gd name="adj" fmla="val 3352"/>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8" name="Shape 5"/>
          <p:cNvSpPr/>
          <p:nvPr/>
        </p:nvSpPr>
        <p:spPr>
          <a:xfrm>
            <a:off x="2359152" y="2148840"/>
            <a:ext cx="1051560" cy="310896"/>
          </a:xfrm>
          <a:prstGeom prst="roundRect">
            <a:avLst>
              <a:gd name="adj" fmla="val 17647"/>
            </a:avLst>
          </a:prstGeom>
          <a:solidFill>
            <a:srgbClr val="EEEAF1"/>
          </a:solidFill>
          <a:ln w="12700">
            <a:solidFill>
              <a:srgbClr val="FFFFFF">
                <a:alpha val="0"/>
              </a:srgbClr>
            </a:solidFill>
            <a:prstDash val="solid"/>
          </a:ln>
        </p:spPr>
        <p:txBody>
          <a:bodyPr/>
          <a:lstStyle/>
          <a:p>
            <a:endParaRPr lang="es-MX"/>
          </a:p>
        </p:txBody>
      </p:sp>
      <p:sp>
        <p:nvSpPr>
          <p:cNvPr id="9" name="Text 6"/>
          <p:cNvSpPr txBox="1"/>
          <p:nvPr/>
        </p:nvSpPr>
        <p:spPr>
          <a:xfrm>
            <a:off x="2359152" y="2151583"/>
            <a:ext cx="1051560" cy="310896"/>
          </a:xfrm>
          <a:prstGeom prst="rect">
            <a:avLst/>
          </a:prstGeom>
          <a:noFill/>
          <a:ln/>
        </p:spPr>
        <p:txBody>
          <a:bodyPr wrap="square" lIns="0" tIns="0" rIns="0" bIns="0" rtlCol="0" anchor="ctr">
            <a:normAutofit/>
          </a:bodyPr>
          <a:lstStyle/>
          <a:p>
            <a:pPr marL="0" indent="0" algn="ctr">
              <a:lnSpc>
                <a:spcPct val="100000"/>
              </a:lnSpc>
              <a:buNone/>
            </a:pPr>
            <a:r>
              <a:rPr lang="en-US" sz="850" b="1" kern="0" spc="80" dirty="0">
                <a:solidFill>
                  <a:srgbClr val="18152B"/>
                </a:solidFill>
                <a:latin typeface="Inter" pitchFamily="34" charset="0"/>
                <a:ea typeface="Inter" pitchFamily="34" charset="-122"/>
                <a:cs typeface="Inter" pitchFamily="34" charset="-120"/>
              </a:rPr>
              <a:t>CAMPAIGN A</a:t>
            </a:r>
            <a:endParaRPr lang="en-US" sz="850" dirty="0"/>
          </a:p>
        </p:txBody>
      </p:sp>
      <p:sp>
        <p:nvSpPr>
          <p:cNvPr id="10" name="Shape 7"/>
          <p:cNvSpPr/>
          <p:nvPr/>
        </p:nvSpPr>
        <p:spPr>
          <a:xfrm>
            <a:off x="7936992" y="2148840"/>
            <a:ext cx="1051560" cy="310896"/>
          </a:xfrm>
          <a:prstGeom prst="roundRect">
            <a:avLst>
              <a:gd name="adj" fmla="val 17647"/>
            </a:avLst>
          </a:prstGeom>
          <a:solidFill>
            <a:srgbClr val="5B2DB6"/>
          </a:solidFill>
          <a:ln w="12700">
            <a:solidFill>
              <a:srgbClr val="FFFFFF">
                <a:alpha val="0"/>
              </a:srgbClr>
            </a:solidFill>
            <a:prstDash val="solid"/>
          </a:ln>
        </p:spPr>
        <p:txBody>
          <a:bodyPr/>
          <a:lstStyle/>
          <a:p>
            <a:endParaRPr lang="es-MX"/>
          </a:p>
        </p:txBody>
      </p:sp>
      <p:sp>
        <p:nvSpPr>
          <p:cNvPr id="11" name="Text 8"/>
          <p:cNvSpPr txBox="1"/>
          <p:nvPr/>
        </p:nvSpPr>
        <p:spPr>
          <a:xfrm>
            <a:off x="7936992" y="2151583"/>
            <a:ext cx="1051560" cy="310896"/>
          </a:xfrm>
          <a:prstGeom prst="rect">
            <a:avLst/>
          </a:prstGeom>
          <a:noFill/>
          <a:ln/>
        </p:spPr>
        <p:txBody>
          <a:bodyPr wrap="square" lIns="0" tIns="0" rIns="0" bIns="0" rtlCol="0" anchor="ctr">
            <a:normAutofit/>
          </a:bodyPr>
          <a:lstStyle/>
          <a:p>
            <a:pPr marL="0" indent="0" algn="ctr">
              <a:lnSpc>
                <a:spcPct val="100000"/>
              </a:lnSpc>
              <a:buNone/>
            </a:pPr>
            <a:r>
              <a:rPr lang="en-US" sz="850" b="1" kern="0" spc="80" dirty="0">
                <a:solidFill>
                  <a:srgbClr val="FFFFFF"/>
                </a:solidFill>
                <a:latin typeface="Inter" pitchFamily="34" charset="0"/>
                <a:ea typeface="Inter" pitchFamily="34" charset="-122"/>
                <a:cs typeface="Inter" pitchFamily="34" charset="-120"/>
              </a:rPr>
              <a:t>CAMPAIGN B</a:t>
            </a:r>
            <a:endParaRPr lang="en-US" sz="850" dirty="0"/>
          </a:p>
        </p:txBody>
      </p:sp>
      <p:sp>
        <p:nvSpPr>
          <p:cNvPr id="12" name="Text 9"/>
          <p:cNvSpPr txBox="1"/>
          <p:nvPr/>
        </p:nvSpPr>
        <p:spPr>
          <a:xfrm>
            <a:off x="1316736" y="2724912"/>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Cost / lead</a:t>
            </a:r>
            <a:endParaRPr lang="en-US" sz="1070" dirty="0"/>
          </a:p>
        </p:txBody>
      </p:sp>
      <p:sp>
        <p:nvSpPr>
          <p:cNvPr id="13" name="Text 10"/>
          <p:cNvSpPr txBox="1"/>
          <p:nvPr/>
        </p:nvSpPr>
        <p:spPr>
          <a:xfrm>
            <a:off x="3218688" y="2724912"/>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MXN $70</a:t>
            </a:r>
            <a:endParaRPr lang="en-US" sz="1300" dirty="0"/>
          </a:p>
        </p:txBody>
      </p:sp>
      <p:sp>
        <p:nvSpPr>
          <p:cNvPr id="14" name="Text 11"/>
          <p:cNvSpPr txBox="1"/>
          <p:nvPr/>
        </p:nvSpPr>
        <p:spPr>
          <a:xfrm>
            <a:off x="1316736" y="3255264"/>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Leads</a:t>
            </a:r>
            <a:endParaRPr lang="en-US" sz="1070" dirty="0"/>
          </a:p>
        </p:txBody>
      </p:sp>
      <p:sp>
        <p:nvSpPr>
          <p:cNvPr id="15" name="Text 12"/>
          <p:cNvSpPr txBox="1"/>
          <p:nvPr/>
        </p:nvSpPr>
        <p:spPr>
          <a:xfrm>
            <a:off x="3218688" y="3255264"/>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100</a:t>
            </a:r>
            <a:endParaRPr lang="en-US" sz="1300" dirty="0"/>
          </a:p>
        </p:txBody>
      </p:sp>
      <p:sp>
        <p:nvSpPr>
          <p:cNvPr id="16" name="Text 13"/>
          <p:cNvSpPr txBox="1"/>
          <p:nvPr/>
        </p:nvSpPr>
        <p:spPr>
          <a:xfrm>
            <a:off x="1316736" y="3785616"/>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Visit rate</a:t>
            </a:r>
            <a:endParaRPr lang="en-US" sz="1070" dirty="0"/>
          </a:p>
        </p:txBody>
      </p:sp>
      <p:sp>
        <p:nvSpPr>
          <p:cNvPr id="17" name="Text 14"/>
          <p:cNvSpPr txBox="1"/>
          <p:nvPr/>
        </p:nvSpPr>
        <p:spPr>
          <a:xfrm>
            <a:off x="3218688" y="3785616"/>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2%</a:t>
            </a:r>
            <a:endParaRPr lang="en-US" sz="1300" dirty="0"/>
          </a:p>
        </p:txBody>
      </p:sp>
      <p:sp>
        <p:nvSpPr>
          <p:cNvPr id="18" name="Text 15"/>
          <p:cNvSpPr txBox="1"/>
          <p:nvPr/>
        </p:nvSpPr>
        <p:spPr>
          <a:xfrm>
            <a:off x="1316736" y="4315968"/>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Cost / visit</a:t>
            </a:r>
            <a:endParaRPr lang="en-US" sz="1070" dirty="0"/>
          </a:p>
        </p:txBody>
      </p:sp>
      <p:sp>
        <p:nvSpPr>
          <p:cNvPr id="19" name="Text 16"/>
          <p:cNvSpPr txBox="1"/>
          <p:nvPr/>
        </p:nvSpPr>
        <p:spPr>
          <a:xfrm>
            <a:off x="3218688" y="4315968"/>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MXN $3,500</a:t>
            </a:r>
            <a:endParaRPr lang="en-US" sz="1300" dirty="0"/>
          </a:p>
        </p:txBody>
      </p:sp>
      <p:sp>
        <p:nvSpPr>
          <p:cNvPr id="20" name="Text 17"/>
          <p:cNvSpPr txBox="1"/>
          <p:nvPr/>
        </p:nvSpPr>
        <p:spPr>
          <a:xfrm>
            <a:off x="6894576" y="2724912"/>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Cost / lead</a:t>
            </a:r>
            <a:endParaRPr lang="en-US" sz="1070" dirty="0"/>
          </a:p>
        </p:txBody>
      </p:sp>
      <p:sp>
        <p:nvSpPr>
          <p:cNvPr id="21" name="Text 18"/>
          <p:cNvSpPr txBox="1"/>
          <p:nvPr/>
        </p:nvSpPr>
        <p:spPr>
          <a:xfrm>
            <a:off x="8796528" y="2724912"/>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5B2DB6"/>
                </a:solidFill>
                <a:latin typeface="Inter Display" pitchFamily="34" charset="0"/>
                <a:ea typeface="Inter Display" pitchFamily="34" charset="-122"/>
                <a:cs typeface="Inter Display" pitchFamily="34" charset="-120"/>
              </a:rPr>
              <a:t>MXN $130</a:t>
            </a:r>
            <a:endParaRPr lang="en-US" sz="1300" dirty="0"/>
          </a:p>
        </p:txBody>
      </p:sp>
      <p:sp>
        <p:nvSpPr>
          <p:cNvPr id="22" name="Text 19"/>
          <p:cNvSpPr txBox="1"/>
          <p:nvPr/>
        </p:nvSpPr>
        <p:spPr>
          <a:xfrm>
            <a:off x="6894576" y="3255264"/>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Leads</a:t>
            </a:r>
            <a:endParaRPr lang="en-US" sz="1070" dirty="0"/>
          </a:p>
        </p:txBody>
      </p:sp>
      <p:sp>
        <p:nvSpPr>
          <p:cNvPr id="23" name="Text 20"/>
          <p:cNvSpPr txBox="1"/>
          <p:nvPr/>
        </p:nvSpPr>
        <p:spPr>
          <a:xfrm>
            <a:off x="8796528" y="3255264"/>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5B2DB6"/>
                </a:solidFill>
                <a:latin typeface="Inter Display" pitchFamily="34" charset="0"/>
                <a:ea typeface="Inter Display" pitchFamily="34" charset="-122"/>
                <a:cs typeface="Inter Display" pitchFamily="34" charset="-120"/>
              </a:rPr>
              <a:t>100</a:t>
            </a:r>
            <a:endParaRPr lang="en-US" sz="1300" dirty="0"/>
          </a:p>
        </p:txBody>
      </p:sp>
      <p:sp>
        <p:nvSpPr>
          <p:cNvPr id="24" name="Text 21"/>
          <p:cNvSpPr txBox="1"/>
          <p:nvPr/>
        </p:nvSpPr>
        <p:spPr>
          <a:xfrm>
            <a:off x="6894576" y="3785616"/>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Visit rate</a:t>
            </a:r>
            <a:endParaRPr lang="en-US" sz="1070" dirty="0"/>
          </a:p>
        </p:txBody>
      </p:sp>
      <p:sp>
        <p:nvSpPr>
          <p:cNvPr id="25" name="Text 22"/>
          <p:cNvSpPr txBox="1"/>
          <p:nvPr/>
        </p:nvSpPr>
        <p:spPr>
          <a:xfrm>
            <a:off x="8796528" y="3785616"/>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5B2DB6"/>
                </a:solidFill>
                <a:latin typeface="Inter Display" pitchFamily="34" charset="0"/>
                <a:ea typeface="Inter Display" pitchFamily="34" charset="-122"/>
                <a:cs typeface="Inter Display" pitchFamily="34" charset="-120"/>
              </a:rPr>
              <a:t>14%</a:t>
            </a:r>
            <a:endParaRPr lang="en-US" sz="1300" dirty="0"/>
          </a:p>
        </p:txBody>
      </p:sp>
      <p:sp>
        <p:nvSpPr>
          <p:cNvPr id="26" name="Text 23"/>
          <p:cNvSpPr txBox="1"/>
          <p:nvPr/>
        </p:nvSpPr>
        <p:spPr>
          <a:xfrm>
            <a:off x="6894576" y="4315968"/>
            <a:ext cx="1828800" cy="237744"/>
          </a:xfrm>
          <a:prstGeom prst="rect">
            <a:avLst/>
          </a:prstGeom>
          <a:noFill/>
          <a:ln/>
        </p:spPr>
        <p:txBody>
          <a:bodyPr wrap="square" lIns="0" tIns="0" rIns="0" bIns="0" rtlCol="0" anchor="ctr">
            <a:normAutofit/>
          </a:bodyPr>
          <a:lstStyle/>
          <a:p>
            <a:pPr marL="0" indent="0" algn="l">
              <a:lnSpc>
                <a:spcPct val="100000"/>
              </a:lnSpc>
              <a:buNone/>
            </a:pPr>
            <a:r>
              <a:rPr lang="en-US" sz="1070" dirty="0">
                <a:solidFill>
                  <a:srgbClr val="6F6882"/>
                </a:solidFill>
                <a:latin typeface="Inter" pitchFamily="34" charset="0"/>
                <a:ea typeface="Inter" pitchFamily="34" charset="-122"/>
                <a:cs typeface="Inter" pitchFamily="34" charset="-120"/>
              </a:rPr>
              <a:t>Cost / visit</a:t>
            </a:r>
            <a:endParaRPr lang="en-US" sz="1070" dirty="0"/>
          </a:p>
        </p:txBody>
      </p:sp>
      <p:sp>
        <p:nvSpPr>
          <p:cNvPr id="27" name="Text 24"/>
          <p:cNvSpPr txBox="1"/>
          <p:nvPr/>
        </p:nvSpPr>
        <p:spPr>
          <a:xfrm>
            <a:off x="8796528" y="4315968"/>
            <a:ext cx="1874520" cy="237744"/>
          </a:xfrm>
          <a:prstGeom prst="rect">
            <a:avLst/>
          </a:prstGeom>
          <a:noFill/>
          <a:ln/>
        </p:spPr>
        <p:txBody>
          <a:bodyPr wrap="square" lIns="0" tIns="0" rIns="0" bIns="0" rtlCol="0" anchor="ctr">
            <a:normAutofit/>
          </a:bodyPr>
          <a:lstStyle/>
          <a:p>
            <a:pPr marL="0" indent="0" algn="r">
              <a:lnSpc>
                <a:spcPct val="100000"/>
              </a:lnSpc>
              <a:buNone/>
            </a:pPr>
            <a:r>
              <a:rPr lang="en-US" sz="1300" b="1" dirty="0">
                <a:solidFill>
                  <a:srgbClr val="5B2DB6"/>
                </a:solidFill>
                <a:latin typeface="Inter Display" pitchFamily="34" charset="0"/>
                <a:ea typeface="Inter Display" pitchFamily="34" charset="-122"/>
                <a:cs typeface="Inter Display" pitchFamily="34" charset="-120"/>
              </a:rPr>
              <a:t>≈ MXN $929</a:t>
            </a:r>
            <a:endParaRPr lang="en-US" sz="1300" dirty="0"/>
          </a:p>
        </p:txBody>
      </p:sp>
      <p:sp>
        <p:nvSpPr>
          <p:cNvPr id="28" name="Text 25"/>
          <p:cNvSpPr txBox="1"/>
          <p:nvPr/>
        </p:nvSpPr>
        <p:spPr>
          <a:xfrm>
            <a:off x="2935224" y="5477256"/>
            <a:ext cx="6327648" cy="393192"/>
          </a:xfrm>
          <a:prstGeom prst="rect">
            <a:avLst/>
          </a:prstGeom>
          <a:noFill/>
          <a:ln/>
        </p:spPr>
        <p:txBody>
          <a:bodyPr wrap="square" lIns="0" tIns="0" rIns="0" bIns="0" rtlCol="0" anchor="ctr">
            <a:normAutofit/>
          </a:bodyPr>
          <a:lstStyle/>
          <a:p>
            <a:pPr marL="0" indent="0" algn="ctr">
              <a:lnSpc>
                <a:spcPct val="100000"/>
              </a:lnSpc>
              <a:buNone/>
            </a:pPr>
            <a:r>
              <a:rPr lang="en-US" sz="2000" b="1" dirty="0">
                <a:solidFill>
                  <a:srgbClr val="18152B"/>
                </a:solidFill>
                <a:latin typeface="Inter Display" pitchFamily="34" charset="0"/>
                <a:ea typeface="Inter Display" pitchFamily="34" charset="-122"/>
                <a:cs typeface="Inter Display" pitchFamily="34" charset="-120"/>
              </a:rPr>
              <a:t>Which campaign is actually better?</a:t>
            </a:r>
            <a:endParaRPr lang="en-US" sz="2000" dirty="0"/>
          </a:p>
        </p:txBody>
      </p:sp>
      <p:sp>
        <p:nvSpPr>
          <p:cNvPr id="29" name="Shape 26"/>
          <p:cNvSpPr/>
          <p:nvPr/>
        </p:nvSpPr>
        <p:spPr>
          <a:xfrm>
            <a:off x="2788920" y="5934456"/>
            <a:ext cx="6656832" cy="310896"/>
          </a:xfrm>
          <a:prstGeom prst="roundRect">
            <a:avLst>
              <a:gd name="adj" fmla="val 23529"/>
            </a:avLst>
          </a:prstGeom>
          <a:solidFill>
            <a:srgbClr val="F0EAFF"/>
          </a:solidFill>
          <a:ln w="12700">
            <a:solidFill>
              <a:srgbClr val="F0EAFF">
                <a:alpha val="0"/>
              </a:srgbClr>
            </a:solidFill>
            <a:prstDash val="solid"/>
          </a:ln>
        </p:spPr>
        <p:txBody>
          <a:bodyPr/>
          <a:lstStyle/>
          <a:p>
            <a:endParaRPr lang="es-MX"/>
          </a:p>
        </p:txBody>
      </p:sp>
      <p:sp>
        <p:nvSpPr>
          <p:cNvPr id="30" name="Text 27"/>
          <p:cNvSpPr txBox="1"/>
          <p:nvPr/>
        </p:nvSpPr>
        <p:spPr>
          <a:xfrm>
            <a:off x="2788920" y="5939028"/>
            <a:ext cx="6656832" cy="310896"/>
          </a:xfrm>
          <a:prstGeom prst="rect">
            <a:avLst/>
          </a:prstGeom>
          <a:noFill/>
          <a:ln/>
        </p:spPr>
        <p:txBody>
          <a:bodyPr wrap="square" lIns="0" tIns="0" rIns="0" bIns="0" rtlCol="0" anchor="ctr">
            <a:normAutofit/>
          </a:bodyPr>
          <a:lstStyle/>
          <a:p>
            <a:pPr marL="0" indent="0" algn="ctr">
              <a:lnSpc>
                <a:spcPct val="100000"/>
              </a:lnSpc>
              <a:buNone/>
            </a:pPr>
            <a:r>
              <a:rPr lang="en-US" sz="950" b="1" dirty="0">
                <a:solidFill>
                  <a:srgbClr val="5B2DB6"/>
                </a:solidFill>
                <a:latin typeface="Inter" pitchFamily="34" charset="0"/>
                <a:ea typeface="Inter" pitchFamily="34" charset="-122"/>
                <a:cs typeface="Inter" pitchFamily="34" charset="-120"/>
              </a:rPr>
              <a:t>Lower CPL does not necessarily mean a better downstream business outcome.</a:t>
            </a:r>
            <a:endParaRPr lang="en-US" sz="950" dirty="0"/>
          </a:p>
        </p:txBody>
      </p:sp>
      <p:sp>
        <p:nvSpPr>
          <p:cNvPr id="31" name="Slide Number Placeholder 0"/>
          <p:cNvSpPr>
            <a:spLocks noGrp="1"/>
          </p:cNvSpPr>
          <p:nvPr>
            <p:ph type="sldNum" sz="quarter" idx="4294967295"/>
          </p:nvPr>
        </p:nvSpPr>
        <p:spPr>
          <a:xfrm>
            <a:off x="11631168" y="6510528"/>
            <a:ext cx="3098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APPENDIX · MARKET EVIDENCE</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2850" b="1" dirty="0">
                <a:solidFill>
                  <a:srgbClr val="18152B"/>
                </a:solidFill>
                <a:latin typeface="Inter Display" pitchFamily="34" charset="0"/>
                <a:ea typeface="Inter Display" pitchFamily="34" charset="-122"/>
                <a:cs typeface="Inter Display" pitchFamily="34" charset="-120"/>
              </a:rPr>
              <a:t>Market sizing will be built bottom-up from target organizations × realistic annual Gu spend.</a:t>
            </a:r>
            <a:endParaRPr lang="en-US" sz="2850" dirty="0"/>
          </a:p>
        </p:txBody>
      </p:sp>
      <p:sp>
        <p:nvSpPr>
          <p:cNvPr id="5" name="Text 2"/>
          <p:cNvSpPr txBox="1"/>
          <p:nvPr/>
        </p:nvSpPr>
        <p:spPr>
          <a:xfrm>
            <a:off x="566928" y="1347348"/>
            <a:ext cx="10881360" cy="475488"/>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6F6882"/>
                </a:solidFill>
                <a:latin typeface="Inter" pitchFamily="34" charset="0"/>
                <a:ea typeface="Inter" pitchFamily="34" charset="-122"/>
                <a:cs typeface="Inter" pitchFamily="34" charset="-120"/>
              </a:rPr>
              <a:t>Broad market references help frame the opportunity, but they are not automatically Ungga’s TAM.</a:t>
            </a:r>
            <a:endParaRPr lang="en-US" sz="1350" dirty="0"/>
          </a:p>
        </p:txBody>
      </p:sp>
      <p:sp>
        <p:nvSpPr>
          <p:cNvPr id="6" name="Shape 3"/>
          <p:cNvSpPr/>
          <p:nvPr/>
        </p:nvSpPr>
        <p:spPr>
          <a:xfrm>
            <a:off x="694944" y="1874520"/>
            <a:ext cx="2532888" cy="1371600"/>
          </a:xfrm>
          <a:prstGeom prst="roundRect">
            <a:avLst>
              <a:gd name="adj" fmla="val 8000"/>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7" name="Text 4"/>
          <p:cNvSpPr txBox="1"/>
          <p:nvPr/>
        </p:nvSpPr>
        <p:spPr>
          <a:xfrm>
            <a:off x="859536" y="1993392"/>
            <a:ext cx="2203704" cy="384048"/>
          </a:xfrm>
          <a:prstGeom prst="rect">
            <a:avLst/>
          </a:prstGeom>
          <a:noFill/>
          <a:ln/>
        </p:spPr>
        <p:txBody>
          <a:bodyPr wrap="square" lIns="0" tIns="0" rIns="0" bIns="0" rtlCol="0" anchor="ctr">
            <a:normAutofit lnSpcReduction="10000"/>
          </a:bodyPr>
          <a:lstStyle/>
          <a:p>
            <a:pPr marL="0" indent="0" algn="l">
              <a:lnSpc>
                <a:spcPct val="100000"/>
              </a:lnSpc>
              <a:buNone/>
            </a:pPr>
            <a:r>
              <a:rPr lang="en-US" sz="2600" b="1" dirty="0">
                <a:solidFill>
                  <a:srgbClr val="5B2DB6"/>
                </a:solidFill>
                <a:latin typeface="Inter Display" pitchFamily="34" charset="0"/>
                <a:ea typeface="Inter Display" pitchFamily="34" charset="-122"/>
                <a:cs typeface="Inter Display" pitchFamily="34" charset="-120"/>
              </a:rPr>
              <a:t>8,243</a:t>
            </a:r>
            <a:endParaRPr lang="en-US" sz="2600" dirty="0"/>
          </a:p>
        </p:txBody>
      </p:sp>
      <p:sp>
        <p:nvSpPr>
          <p:cNvPr id="8" name="Text 5"/>
          <p:cNvSpPr txBox="1"/>
          <p:nvPr/>
        </p:nvSpPr>
        <p:spPr>
          <a:xfrm>
            <a:off x="859536" y="2432304"/>
            <a:ext cx="2203704" cy="713232"/>
          </a:xfrm>
          <a:prstGeom prst="rect">
            <a:avLst/>
          </a:prstGeom>
          <a:noFill/>
          <a:ln/>
        </p:spPr>
        <p:txBody>
          <a:bodyPr wrap="square" lIns="0" tIns="0" rIns="0" bIns="0" rtlCol="0" anchor="t">
            <a:normAutofit/>
          </a:bodyPr>
          <a:lstStyle/>
          <a:p>
            <a:pPr marL="0" indent="0" algn="l">
              <a:lnSpc>
                <a:spcPct val="100000"/>
              </a:lnSpc>
              <a:buNone/>
            </a:pPr>
            <a:r>
              <a:rPr lang="en-US" sz="1050" dirty="0">
                <a:solidFill>
                  <a:srgbClr val="6F6882"/>
                </a:solidFill>
                <a:latin typeface="Inter" pitchFamily="34" charset="0"/>
                <a:ea typeface="Inter" pitchFamily="34" charset="-122"/>
                <a:cs typeface="Inter" pitchFamily="34" charset="-120"/>
              </a:rPr>
              <a:t>Economic units in Mexico: “Inmobiliarias y corredores de bienes raíces” (broad DENUE reference).</a:t>
            </a:r>
            <a:endParaRPr lang="en-US" sz="1050" dirty="0"/>
          </a:p>
        </p:txBody>
      </p:sp>
      <p:sp>
        <p:nvSpPr>
          <p:cNvPr id="9" name="Shape 6"/>
          <p:cNvSpPr/>
          <p:nvPr/>
        </p:nvSpPr>
        <p:spPr>
          <a:xfrm>
            <a:off x="3465576" y="1874520"/>
            <a:ext cx="2532888" cy="1371600"/>
          </a:xfrm>
          <a:prstGeom prst="roundRect">
            <a:avLst>
              <a:gd name="adj" fmla="val 8000"/>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10" name="Text 7"/>
          <p:cNvSpPr txBox="1"/>
          <p:nvPr/>
        </p:nvSpPr>
        <p:spPr>
          <a:xfrm>
            <a:off x="3630168" y="1993392"/>
            <a:ext cx="2203704" cy="384048"/>
          </a:xfrm>
          <a:prstGeom prst="rect">
            <a:avLst/>
          </a:prstGeom>
          <a:noFill/>
          <a:ln/>
        </p:spPr>
        <p:txBody>
          <a:bodyPr wrap="square" lIns="0" tIns="0" rIns="0" bIns="0" rtlCol="0" anchor="ctr">
            <a:normAutofit lnSpcReduction="10000"/>
          </a:bodyPr>
          <a:lstStyle/>
          <a:p>
            <a:pPr marL="0" indent="0" algn="l">
              <a:lnSpc>
                <a:spcPct val="100000"/>
              </a:lnSpc>
              <a:buNone/>
            </a:pPr>
            <a:r>
              <a:rPr lang="en-US" sz="2600" b="1" dirty="0">
                <a:solidFill>
                  <a:srgbClr val="9A4D78"/>
                </a:solidFill>
                <a:latin typeface="Inter Display" pitchFamily="34" charset="0"/>
                <a:ea typeface="Inter Display" pitchFamily="34" charset="-122"/>
                <a:cs typeface="Inter Display" pitchFamily="34" charset="-120"/>
              </a:rPr>
              <a:t>7,079</a:t>
            </a:r>
            <a:endParaRPr lang="en-US" sz="2600" dirty="0"/>
          </a:p>
        </p:txBody>
      </p:sp>
      <p:sp>
        <p:nvSpPr>
          <p:cNvPr id="11" name="Text 8"/>
          <p:cNvSpPr txBox="1"/>
          <p:nvPr/>
        </p:nvSpPr>
        <p:spPr>
          <a:xfrm>
            <a:off x="3630168" y="2432304"/>
            <a:ext cx="2203704" cy="713232"/>
          </a:xfrm>
          <a:prstGeom prst="rect">
            <a:avLst/>
          </a:prstGeom>
          <a:noFill/>
          <a:ln/>
        </p:spPr>
        <p:txBody>
          <a:bodyPr wrap="square" lIns="0" tIns="0" rIns="0" bIns="0" rtlCol="0" anchor="t">
            <a:normAutofit/>
          </a:bodyPr>
          <a:lstStyle/>
          <a:p>
            <a:pPr marL="0" indent="0" algn="l">
              <a:lnSpc>
                <a:spcPct val="100000"/>
              </a:lnSpc>
              <a:buNone/>
            </a:pPr>
            <a:r>
              <a:rPr lang="en-US" sz="1050" dirty="0">
                <a:solidFill>
                  <a:srgbClr val="6F6882"/>
                </a:solidFill>
                <a:latin typeface="Inter" pitchFamily="34" charset="0"/>
                <a:ea typeface="Inter" pitchFamily="34" charset="-122"/>
                <a:cs typeface="Inter" pitchFamily="34" charset="-120"/>
              </a:rPr>
              <a:t>of those economic units have 0–10 employees — evidence of an SMB-skewed market.</a:t>
            </a:r>
            <a:endParaRPr lang="en-US" sz="1050" dirty="0"/>
          </a:p>
        </p:txBody>
      </p:sp>
      <p:sp>
        <p:nvSpPr>
          <p:cNvPr id="12" name="Shape 9"/>
          <p:cNvSpPr/>
          <p:nvPr/>
        </p:nvSpPr>
        <p:spPr>
          <a:xfrm>
            <a:off x="6236208" y="1874520"/>
            <a:ext cx="2532888" cy="1371600"/>
          </a:xfrm>
          <a:prstGeom prst="roundRect">
            <a:avLst>
              <a:gd name="adj" fmla="val 8000"/>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13" name="Text 10"/>
          <p:cNvSpPr txBox="1"/>
          <p:nvPr/>
        </p:nvSpPr>
        <p:spPr>
          <a:xfrm>
            <a:off x="6400800" y="1993392"/>
            <a:ext cx="2203704" cy="384048"/>
          </a:xfrm>
          <a:prstGeom prst="rect">
            <a:avLst/>
          </a:prstGeom>
          <a:noFill/>
          <a:ln/>
        </p:spPr>
        <p:txBody>
          <a:bodyPr wrap="square" lIns="0" tIns="0" rIns="0" bIns="0" rtlCol="0" anchor="ctr">
            <a:normAutofit lnSpcReduction="10000"/>
          </a:bodyPr>
          <a:lstStyle/>
          <a:p>
            <a:pPr marL="0" indent="0" algn="l">
              <a:lnSpc>
                <a:spcPct val="100000"/>
              </a:lnSpc>
              <a:buNone/>
            </a:pPr>
            <a:r>
              <a:rPr lang="en-US" sz="2600" b="1" dirty="0">
                <a:solidFill>
                  <a:srgbClr val="5F658E"/>
                </a:solidFill>
                <a:latin typeface="Inter Display" pitchFamily="34" charset="0"/>
                <a:ea typeface="Inter Display" pitchFamily="34" charset="-122"/>
                <a:cs typeface="Inter Display" pitchFamily="34" charset="-120"/>
              </a:rPr>
              <a:t>15,000+</a:t>
            </a:r>
            <a:endParaRPr lang="en-US" sz="2600" dirty="0"/>
          </a:p>
        </p:txBody>
      </p:sp>
      <p:sp>
        <p:nvSpPr>
          <p:cNvPr id="14" name="Text 11"/>
          <p:cNvSpPr txBox="1"/>
          <p:nvPr/>
        </p:nvSpPr>
        <p:spPr>
          <a:xfrm>
            <a:off x="6400800" y="2432304"/>
            <a:ext cx="2203704" cy="713232"/>
          </a:xfrm>
          <a:prstGeom prst="rect">
            <a:avLst/>
          </a:prstGeom>
          <a:noFill/>
          <a:ln/>
        </p:spPr>
        <p:txBody>
          <a:bodyPr wrap="square" lIns="0" tIns="0" rIns="0" bIns="0" rtlCol="0" anchor="t">
            <a:normAutofit/>
          </a:bodyPr>
          <a:lstStyle/>
          <a:p>
            <a:pPr marL="0" indent="0" algn="l">
              <a:lnSpc>
                <a:spcPct val="100000"/>
              </a:lnSpc>
              <a:buNone/>
            </a:pPr>
            <a:r>
              <a:rPr lang="en-US" sz="1050" dirty="0">
                <a:solidFill>
                  <a:srgbClr val="6F6882"/>
                </a:solidFill>
                <a:latin typeface="Inter" pitchFamily="34" charset="0"/>
                <a:ea typeface="Inter" pitchFamily="34" charset="-122"/>
                <a:cs typeface="Inter" pitchFamily="34" charset="-120"/>
              </a:rPr>
              <a:t>agents served, company-reported by EasyBroker — an adoption proxy, not market size.</a:t>
            </a:r>
            <a:endParaRPr lang="en-US" sz="1050" dirty="0"/>
          </a:p>
        </p:txBody>
      </p:sp>
      <p:sp>
        <p:nvSpPr>
          <p:cNvPr id="15" name="Shape 12"/>
          <p:cNvSpPr/>
          <p:nvPr/>
        </p:nvSpPr>
        <p:spPr>
          <a:xfrm>
            <a:off x="9006840" y="1874520"/>
            <a:ext cx="2532888" cy="1371600"/>
          </a:xfrm>
          <a:prstGeom prst="roundRect">
            <a:avLst>
              <a:gd name="adj" fmla="val 8000"/>
            </a:avLst>
          </a:prstGeom>
          <a:solidFill>
            <a:srgbClr val="FFFFFF"/>
          </a:solidFill>
          <a:ln w="12700">
            <a:solidFill>
              <a:srgbClr val="E6E0F0"/>
            </a:solidFill>
            <a:prstDash val="solid"/>
          </a:ln>
          <a:effectLst>
            <a:outerShdw blurRad="19050" dist="50800" dir="2700000" algn="bl" rotWithShape="0">
              <a:srgbClr val="C6BCD8">
                <a:alpha val="16000"/>
              </a:srgbClr>
            </a:outerShdw>
          </a:effectLst>
        </p:spPr>
        <p:txBody>
          <a:bodyPr/>
          <a:lstStyle/>
          <a:p>
            <a:endParaRPr lang="es-MX"/>
          </a:p>
        </p:txBody>
      </p:sp>
      <p:sp>
        <p:nvSpPr>
          <p:cNvPr id="16" name="Text 13"/>
          <p:cNvSpPr txBox="1"/>
          <p:nvPr/>
        </p:nvSpPr>
        <p:spPr>
          <a:xfrm>
            <a:off x="9171432" y="1993392"/>
            <a:ext cx="2203704" cy="384048"/>
          </a:xfrm>
          <a:prstGeom prst="rect">
            <a:avLst/>
          </a:prstGeom>
          <a:noFill/>
          <a:ln/>
        </p:spPr>
        <p:txBody>
          <a:bodyPr wrap="square" lIns="0" tIns="0" rIns="0" bIns="0" rtlCol="0" anchor="ctr">
            <a:normAutofit/>
          </a:bodyPr>
          <a:lstStyle/>
          <a:p>
            <a:pPr marL="0" indent="0" algn="l">
              <a:lnSpc>
                <a:spcPct val="100000"/>
              </a:lnSpc>
              <a:buNone/>
            </a:pPr>
            <a:r>
              <a:rPr lang="en-US" sz="2400" b="1" dirty="0">
                <a:solidFill>
                  <a:srgbClr val="18845A"/>
                </a:solidFill>
                <a:latin typeface="Inter Display" pitchFamily="34" charset="0"/>
                <a:ea typeface="Inter Display" pitchFamily="34" charset="-122"/>
                <a:cs typeface="Inter Display" pitchFamily="34" charset="-120"/>
              </a:rPr>
              <a:t>MXN 2.2K+</a:t>
            </a:r>
            <a:endParaRPr lang="en-US" sz="2400" dirty="0"/>
          </a:p>
        </p:txBody>
      </p:sp>
      <p:sp>
        <p:nvSpPr>
          <p:cNvPr id="17" name="Text 14"/>
          <p:cNvSpPr txBox="1"/>
          <p:nvPr/>
        </p:nvSpPr>
        <p:spPr>
          <a:xfrm>
            <a:off x="9171432" y="2432304"/>
            <a:ext cx="2203704" cy="713232"/>
          </a:xfrm>
          <a:prstGeom prst="rect">
            <a:avLst/>
          </a:prstGeom>
          <a:noFill/>
          <a:ln/>
        </p:spPr>
        <p:txBody>
          <a:bodyPr wrap="square" lIns="0" tIns="0" rIns="0" bIns="0" rtlCol="0" anchor="t">
            <a:normAutofit/>
          </a:bodyPr>
          <a:lstStyle/>
          <a:p>
            <a:pPr marL="0" indent="0" algn="l">
              <a:lnSpc>
                <a:spcPct val="100000"/>
              </a:lnSpc>
              <a:buNone/>
            </a:pPr>
            <a:r>
              <a:rPr lang="en-US" sz="1050" dirty="0">
                <a:solidFill>
                  <a:srgbClr val="6F6882"/>
                </a:solidFill>
                <a:latin typeface="Inter" pitchFamily="34" charset="0"/>
                <a:ea typeface="Inter" pitchFamily="34" charset="-122"/>
                <a:cs typeface="Inter" pitchFamily="34" charset="-120"/>
              </a:rPr>
              <a:t>monthly public portal-spend example (Inmuebles24 5-listing Simple plan, +VAT).</a:t>
            </a:r>
            <a:endParaRPr lang="en-US" sz="1050" dirty="0"/>
          </a:p>
        </p:txBody>
      </p:sp>
      <p:sp>
        <p:nvSpPr>
          <p:cNvPr id="18" name="Shape 15"/>
          <p:cNvSpPr/>
          <p:nvPr/>
        </p:nvSpPr>
        <p:spPr>
          <a:xfrm>
            <a:off x="694944" y="3730752"/>
            <a:ext cx="10844784" cy="1627632"/>
          </a:xfrm>
          <a:prstGeom prst="roundRect">
            <a:avLst>
              <a:gd name="adj" fmla="val 6742"/>
            </a:avLst>
          </a:prstGeom>
          <a:solidFill>
            <a:srgbClr val="F8F5FF"/>
          </a:solidFill>
          <a:ln w="12700">
            <a:solidFill>
              <a:srgbClr val="DDD2FA"/>
            </a:solidFill>
            <a:prstDash val="solid"/>
          </a:ln>
        </p:spPr>
        <p:txBody>
          <a:bodyPr/>
          <a:lstStyle/>
          <a:p>
            <a:endParaRPr lang="es-MX"/>
          </a:p>
        </p:txBody>
      </p:sp>
      <p:sp>
        <p:nvSpPr>
          <p:cNvPr id="19" name="Text 16"/>
          <p:cNvSpPr txBox="1"/>
          <p:nvPr/>
        </p:nvSpPr>
        <p:spPr>
          <a:xfrm>
            <a:off x="932688" y="3986784"/>
            <a:ext cx="1371600" cy="256032"/>
          </a:xfrm>
          <a:prstGeom prst="rect">
            <a:avLst/>
          </a:prstGeom>
          <a:noFill/>
          <a:ln/>
        </p:spPr>
        <p:txBody>
          <a:bodyPr wrap="square" lIns="0" tIns="0" rIns="0" bIns="0" rtlCol="0" anchor="ctr">
            <a:normAutofit/>
          </a:bodyPr>
          <a:lstStyle/>
          <a:p>
            <a:pPr marL="0" indent="0" algn="l">
              <a:lnSpc>
                <a:spcPct val="100000"/>
              </a:lnSpc>
              <a:buNone/>
            </a:pPr>
            <a:r>
              <a:rPr lang="en-US" sz="1000" b="1" kern="0" spc="80" dirty="0">
                <a:solidFill>
                  <a:srgbClr val="5B2DB6"/>
                </a:solidFill>
                <a:latin typeface="Inter" pitchFamily="34" charset="0"/>
                <a:ea typeface="Inter" pitchFamily="34" charset="-122"/>
                <a:cs typeface="Inter" pitchFamily="34" charset="-120"/>
              </a:rPr>
              <a:t>Sizing method</a:t>
            </a:r>
            <a:endParaRPr lang="en-US" sz="1000" dirty="0"/>
          </a:p>
        </p:txBody>
      </p:sp>
      <p:sp>
        <p:nvSpPr>
          <p:cNvPr id="20" name="Text 17"/>
          <p:cNvSpPr txBox="1"/>
          <p:nvPr/>
        </p:nvSpPr>
        <p:spPr>
          <a:xfrm>
            <a:off x="941832" y="4425696"/>
            <a:ext cx="1828800" cy="27432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Target brokerages</a:t>
            </a:r>
            <a:endParaRPr lang="en-US" sz="1200" dirty="0"/>
          </a:p>
        </p:txBody>
      </p:sp>
      <p:sp>
        <p:nvSpPr>
          <p:cNvPr id="21" name="Shape 18"/>
          <p:cNvSpPr/>
          <p:nvPr/>
        </p:nvSpPr>
        <p:spPr>
          <a:xfrm>
            <a:off x="2889504" y="4562856"/>
            <a:ext cx="512064" cy="0"/>
          </a:xfrm>
          <a:prstGeom prst="line">
            <a:avLst/>
          </a:prstGeom>
          <a:noFill/>
          <a:ln w="12700">
            <a:solidFill>
              <a:srgbClr val="B6A4D5"/>
            </a:solidFill>
            <a:prstDash val="solid"/>
            <a:headEnd type="none"/>
            <a:tailEnd type="triangle"/>
          </a:ln>
        </p:spPr>
        <p:txBody>
          <a:bodyPr/>
          <a:lstStyle/>
          <a:p>
            <a:endParaRPr lang="es-MX"/>
          </a:p>
        </p:txBody>
      </p:sp>
      <p:sp>
        <p:nvSpPr>
          <p:cNvPr id="22" name="Text 19"/>
          <p:cNvSpPr txBox="1"/>
          <p:nvPr/>
        </p:nvSpPr>
        <p:spPr>
          <a:xfrm>
            <a:off x="3136392" y="4370832"/>
            <a:ext cx="219456"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5B2DB6"/>
                </a:solidFill>
                <a:latin typeface="Inter" pitchFamily="34" charset="0"/>
                <a:ea typeface="Inter" pitchFamily="34" charset="-122"/>
                <a:cs typeface="Inter" pitchFamily="34" charset="-120"/>
              </a:rPr>
              <a:t>×</a:t>
            </a:r>
            <a:endParaRPr lang="en-US" sz="1700" dirty="0"/>
          </a:p>
        </p:txBody>
      </p:sp>
      <p:sp>
        <p:nvSpPr>
          <p:cNvPr id="23" name="Text 20"/>
          <p:cNvSpPr txBox="1"/>
          <p:nvPr/>
        </p:nvSpPr>
        <p:spPr>
          <a:xfrm>
            <a:off x="3511296" y="4288536"/>
            <a:ext cx="2039112" cy="548640"/>
          </a:xfrm>
          <a:prstGeom prst="rect">
            <a:avLst/>
          </a:prstGeom>
          <a:noFill/>
          <a:ln/>
        </p:spPr>
        <p:txBody>
          <a:bodyPr wrap="square" lIns="0" tIns="0" rIns="0" bIns="0" rtlCol="0" anchor="ctr">
            <a:normAutofit/>
          </a:bodyPr>
          <a:lstStyle/>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Realistic annual Gu spend</a:t>
            </a:r>
            <a:endParaRPr lang="en-US" sz="1200" dirty="0"/>
          </a:p>
          <a:p>
            <a:pPr marL="0" indent="0" algn="ctr">
              <a:lnSpc>
                <a:spcPct val="100000"/>
              </a:lnSpc>
              <a:buNone/>
            </a:pPr>
            <a:r>
              <a:rPr lang="en-US" sz="1200" b="1" dirty="0">
                <a:solidFill>
                  <a:srgbClr val="18152B"/>
                </a:solidFill>
                <a:latin typeface="Inter" pitchFamily="34" charset="0"/>
                <a:ea typeface="Inter" pitchFamily="34" charset="-122"/>
                <a:cs typeface="Inter" pitchFamily="34" charset="-120"/>
              </a:rPr>
              <a:t>by segment</a:t>
            </a:r>
            <a:endParaRPr lang="en-US" sz="1200" dirty="0"/>
          </a:p>
        </p:txBody>
      </p:sp>
      <p:sp>
        <p:nvSpPr>
          <p:cNvPr id="24" name="Shape 21"/>
          <p:cNvSpPr/>
          <p:nvPr/>
        </p:nvSpPr>
        <p:spPr>
          <a:xfrm>
            <a:off x="5742432" y="4562856"/>
            <a:ext cx="512064" cy="0"/>
          </a:xfrm>
          <a:prstGeom prst="line">
            <a:avLst/>
          </a:prstGeom>
          <a:noFill/>
          <a:ln w="12700">
            <a:solidFill>
              <a:srgbClr val="B6A4D5"/>
            </a:solidFill>
            <a:prstDash val="solid"/>
            <a:headEnd type="none"/>
            <a:tailEnd type="triangle"/>
          </a:ln>
        </p:spPr>
        <p:txBody>
          <a:bodyPr/>
          <a:lstStyle/>
          <a:p>
            <a:endParaRPr lang="es-MX"/>
          </a:p>
        </p:txBody>
      </p:sp>
      <p:sp>
        <p:nvSpPr>
          <p:cNvPr id="25" name="Text 22"/>
          <p:cNvSpPr txBox="1"/>
          <p:nvPr/>
        </p:nvSpPr>
        <p:spPr>
          <a:xfrm>
            <a:off x="5980176" y="4370832"/>
            <a:ext cx="219456"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5B2DB6"/>
                </a:solidFill>
                <a:latin typeface="Inter" pitchFamily="34" charset="0"/>
                <a:ea typeface="Inter" pitchFamily="34" charset="-122"/>
                <a:cs typeface="Inter" pitchFamily="34" charset="-120"/>
              </a:rPr>
              <a:t>=</a:t>
            </a:r>
            <a:endParaRPr lang="en-US" sz="1700" dirty="0"/>
          </a:p>
        </p:txBody>
      </p:sp>
      <p:sp>
        <p:nvSpPr>
          <p:cNvPr id="26" name="Text 23"/>
          <p:cNvSpPr txBox="1"/>
          <p:nvPr/>
        </p:nvSpPr>
        <p:spPr>
          <a:xfrm>
            <a:off x="6437376" y="4425696"/>
            <a:ext cx="1901952" cy="274320"/>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5B2DB6"/>
                </a:solidFill>
                <a:latin typeface="Inter Display" pitchFamily="34" charset="0"/>
                <a:ea typeface="Inter Display" pitchFamily="34" charset="-122"/>
                <a:cs typeface="Inter Display" pitchFamily="34" charset="-120"/>
              </a:rPr>
              <a:t>Bottom-up SAM</a:t>
            </a:r>
            <a:endParaRPr lang="en-US" sz="1500" dirty="0"/>
          </a:p>
        </p:txBody>
      </p:sp>
      <p:sp>
        <p:nvSpPr>
          <p:cNvPr id="27" name="Shape 24"/>
          <p:cNvSpPr/>
          <p:nvPr/>
        </p:nvSpPr>
        <p:spPr>
          <a:xfrm>
            <a:off x="8842248" y="4251960"/>
            <a:ext cx="1572768" cy="594360"/>
          </a:xfrm>
          <a:prstGeom prst="roundRect">
            <a:avLst>
              <a:gd name="adj" fmla="val 10769"/>
            </a:avLst>
          </a:prstGeom>
          <a:solidFill>
            <a:srgbClr val="FFF2DA"/>
          </a:solidFill>
          <a:ln w="12700">
            <a:solidFill>
              <a:srgbClr val="F0A44A"/>
            </a:solidFill>
            <a:prstDash val="solid"/>
          </a:ln>
        </p:spPr>
        <p:txBody>
          <a:bodyPr/>
          <a:lstStyle/>
          <a:p>
            <a:endParaRPr lang="es-MX"/>
          </a:p>
        </p:txBody>
      </p:sp>
      <p:sp>
        <p:nvSpPr>
          <p:cNvPr id="28" name="Text 25"/>
          <p:cNvSpPr txBox="1"/>
          <p:nvPr/>
        </p:nvSpPr>
        <p:spPr>
          <a:xfrm>
            <a:off x="8915400" y="4270248"/>
            <a:ext cx="1426464" cy="557784"/>
          </a:xfrm>
          <a:prstGeom prst="rect">
            <a:avLst/>
          </a:prstGeom>
          <a:noFill/>
          <a:ln/>
        </p:spPr>
        <p:txBody>
          <a:bodyPr wrap="square" lIns="0" tIns="0" rIns="0" bIns="0" rtlCol="0" anchor="ctr">
            <a:normAutofit/>
          </a:bodyPr>
          <a:lstStyle/>
          <a:p>
            <a:pPr marL="0" indent="0" algn="ctr">
              <a:lnSpc>
                <a:spcPct val="100000"/>
              </a:lnSpc>
              <a:buNone/>
            </a:pPr>
            <a:r>
              <a:rPr lang="en-US" sz="1600" b="1" dirty="0">
                <a:solidFill>
                  <a:srgbClr val="9A5F1E"/>
                </a:solidFill>
                <a:latin typeface="Inter" pitchFamily="34" charset="0"/>
                <a:ea typeface="Inter" pitchFamily="34" charset="-122"/>
                <a:cs typeface="Inter" pitchFamily="34" charset="-120"/>
              </a:rPr>
              <a:t>[$XX]</a:t>
            </a:r>
            <a:endParaRPr lang="en-US" sz="1600" dirty="0"/>
          </a:p>
        </p:txBody>
      </p:sp>
      <p:sp>
        <p:nvSpPr>
          <p:cNvPr id="29" name="Text 26"/>
          <p:cNvSpPr txBox="1"/>
          <p:nvPr/>
        </p:nvSpPr>
        <p:spPr>
          <a:xfrm>
            <a:off x="950976" y="5029200"/>
            <a:ext cx="10012680" cy="228600"/>
          </a:xfrm>
          <a:prstGeom prst="rect">
            <a:avLst/>
          </a:prstGeom>
          <a:noFill/>
          <a:ln/>
        </p:spPr>
        <p:txBody>
          <a:bodyPr wrap="square" lIns="0" tIns="0" rIns="0" bIns="0" rtlCol="0" anchor="ctr">
            <a:normAutofit/>
          </a:bodyPr>
          <a:lstStyle/>
          <a:p>
            <a:pPr marL="0" indent="0" algn="ctr">
              <a:lnSpc>
                <a:spcPct val="100000"/>
              </a:lnSpc>
              <a:buNone/>
            </a:pPr>
            <a:r>
              <a:rPr lang="en-US" sz="960" dirty="0">
                <a:solidFill>
                  <a:srgbClr val="6F6882"/>
                </a:solidFill>
                <a:latin typeface="Inter" pitchFamily="34" charset="0"/>
                <a:ea typeface="Inter" pitchFamily="34" charset="-122"/>
                <a:cs typeface="Inter" pitchFamily="34" charset="-120"/>
              </a:rPr>
              <a:t>Then separate: what customers spend today · what Gu can economically influence · what Ungga can realistically capture.</a:t>
            </a:r>
            <a:endParaRPr lang="en-US" sz="960" dirty="0"/>
          </a:p>
        </p:txBody>
      </p:sp>
      <p:sp>
        <p:nvSpPr>
          <p:cNvPr id="30" name="Slide Number Placeholder 0"/>
          <p:cNvSpPr>
            <a:spLocks noGrp="1"/>
          </p:cNvSpPr>
          <p:nvPr>
            <p:ph type="sldNum" sz="quarter" idx="4294967295"/>
          </p:nvPr>
        </p:nvSpPr>
        <p:spPr>
          <a:xfrm>
            <a:off x="11631168" y="6510528"/>
            <a:ext cx="33133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47472"/>
            <a:ext cx="3108960" cy="228600"/>
          </a:xfrm>
          <a:prstGeom prst="rect">
            <a:avLst/>
          </a:prstGeom>
          <a:noFill/>
          <a:ln/>
        </p:spPr>
        <p:txBody>
          <a:bodyPr wrap="square" lIns="0" tIns="0" rIns="0" bIns="0" rtlCol="0" anchor="ctr">
            <a:normAutofit/>
          </a:bodyPr>
          <a:lstStyle/>
          <a:p>
            <a:pPr marL="0" indent="0" algn="l">
              <a:lnSpc>
                <a:spcPct val="100000"/>
              </a:lnSpc>
              <a:buNone/>
            </a:pPr>
            <a:r>
              <a:rPr lang="en-US" sz="950" b="1" kern="0" spc="140" dirty="0">
                <a:solidFill>
                  <a:srgbClr val="5B2DB6"/>
                </a:solidFill>
                <a:latin typeface="Inter" pitchFamily="34" charset="0"/>
                <a:ea typeface="Inter" pitchFamily="34" charset="-122"/>
                <a:cs typeface="Inter" pitchFamily="34" charset="-120"/>
              </a:rPr>
              <a:t>APPENDIX · PRODUCT ARCHITECTURE</a:t>
            </a:r>
            <a:endParaRPr lang="en-US" sz="950" dirty="0"/>
          </a:p>
        </p:txBody>
      </p:sp>
      <p:sp>
        <p:nvSpPr>
          <p:cNvPr id="4" name="Text 1"/>
          <p:cNvSpPr txBox="1"/>
          <p:nvPr/>
        </p:nvSpPr>
        <p:spPr>
          <a:xfrm>
            <a:off x="566928" y="658368"/>
            <a:ext cx="10104120" cy="658368"/>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2850" b="1" dirty="0">
                <a:solidFill>
                  <a:srgbClr val="18152B"/>
                </a:solidFill>
                <a:latin typeface="Inter Display" pitchFamily="34" charset="0"/>
                <a:ea typeface="Inter Display" pitchFamily="34" charset="-122"/>
                <a:cs typeface="Inter Display" pitchFamily="34" charset="-120"/>
              </a:rPr>
              <a:t>Gu OS: durable intelligence between the coworker and the real world.</a:t>
            </a:r>
            <a:endParaRPr lang="en-US" sz="2850" dirty="0"/>
          </a:p>
        </p:txBody>
      </p:sp>
      <p:sp>
        <p:nvSpPr>
          <p:cNvPr id="5" name="Shape 2"/>
          <p:cNvSpPr/>
          <p:nvPr/>
        </p:nvSpPr>
        <p:spPr>
          <a:xfrm>
            <a:off x="1115568" y="1682496"/>
            <a:ext cx="9966960" cy="694944"/>
          </a:xfrm>
          <a:prstGeom prst="roundRect">
            <a:avLst>
              <a:gd name="adj" fmla="val 10526"/>
            </a:avLst>
          </a:prstGeom>
          <a:solidFill>
            <a:srgbClr val="5B2DB6"/>
          </a:solidFill>
          <a:ln w="12700">
            <a:solidFill>
              <a:srgbClr val="5B2DB6"/>
            </a:solidFill>
            <a:prstDash val="solid"/>
          </a:ln>
        </p:spPr>
        <p:txBody>
          <a:bodyPr/>
          <a:lstStyle/>
          <a:p>
            <a:endParaRPr lang="es-MX"/>
          </a:p>
        </p:txBody>
      </p:sp>
      <p:sp>
        <p:nvSpPr>
          <p:cNvPr id="6" name="Text 3"/>
          <p:cNvSpPr txBox="1"/>
          <p:nvPr/>
        </p:nvSpPr>
        <p:spPr>
          <a:xfrm>
            <a:off x="1435608" y="1792224"/>
            <a:ext cx="2907792" cy="228600"/>
          </a:xfrm>
          <a:prstGeom prst="rect">
            <a:avLst/>
          </a:prstGeom>
          <a:noFill/>
          <a:ln/>
        </p:spPr>
        <p:txBody>
          <a:bodyPr wrap="square" lIns="0" tIns="0" rIns="0" bIns="0" rtlCol="0" anchor="ctr">
            <a:normAutofit/>
          </a:bodyPr>
          <a:lstStyle/>
          <a:p>
            <a:pPr marL="0" indent="0" algn="l">
              <a:lnSpc>
                <a:spcPct val="100000"/>
              </a:lnSpc>
              <a:buNone/>
            </a:pPr>
            <a:r>
              <a:rPr lang="en-US" sz="1050" b="1" kern="0" spc="50" dirty="0">
                <a:solidFill>
                  <a:srgbClr val="FFFFFF"/>
                </a:solidFill>
                <a:latin typeface="Inter" pitchFamily="34" charset="0"/>
                <a:ea typeface="Inter" pitchFamily="34" charset="-122"/>
                <a:cs typeface="Inter" pitchFamily="34" charset="-120"/>
              </a:rPr>
              <a:t>GU — AI COWORKER</a:t>
            </a:r>
            <a:endParaRPr lang="en-US" sz="1050" dirty="0"/>
          </a:p>
        </p:txBody>
      </p:sp>
      <p:sp>
        <p:nvSpPr>
          <p:cNvPr id="7" name="Text 4"/>
          <p:cNvSpPr txBox="1"/>
          <p:nvPr/>
        </p:nvSpPr>
        <p:spPr>
          <a:xfrm>
            <a:off x="4224528" y="1773936"/>
            <a:ext cx="6382512" cy="347472"/>
          </a:xfrm>
          <a:prstGeom prst="rect">
            <a:avLst/>
          </a:prstGeom>
          <a:noFill/>
          <a:ln/>
        </p:spPr>
        <p:txBody>
          <a:bodyPr wrap="square" lIns="0" tIns="0" rIns="0" bIns="0" rtlCol="0" anchor="ctr">
            <a:normAutofit/>
          </a:bodyPr>
          <a:lstStyle/>
          <a:p>
            <a:pPr marL="0" indent="0" algn="r">
              <a:lnSpc>
                <a:spcPct val="100000"/>
              </a:lnSpc>
              <a:buNone/>
            </a:pPr>
            <a:r>
              <a:rPr lang="en-US" sz="950" dirty="0">
                <a:solidFill>
                  <a:srgbClr val="E0D7EE"/>
                </a:solidFill>
                <a:latin typeface="Inter" pitchFamily="34" charset="0"/>
                <a:ea typeface="Inter" pitchFamily="34" charset="-122"/>
                <a:cs typeface="Inter" pitchFamily="34" charset="-120"/>
              </a:rPr>
              <a:t>understand · reason · communicate · act</a:t>
            </a:r>
            <a:endParaRPr lang="en-US" sz="950" dirty="0"/>
          </a:p>
        </p:txBody>
      </p:sp>
      <p:sp>
        <p:nvSpPr>
          <p:cNvPr id="8" name="Shape 5"/>
          <p:cNvSpPr/>
          <p:nvPr/>
        </p:nvSpPr>
        <p:spPr>
          <a:xfrm>
            <a:off x="6089904" y="2404872"/>
            <a:ext cx="0" cy="182880"/>
          </a:xfrm>
          <a:prstGeom prst="line">
            <a:avLst/>
          </a:prstGeom>
          <a:noFill/>
          <a:ln w="12700">
            <a:solidFill>
              <a:srgbClr val="A99AC1"/>
            </a:solidFill>
            <a:prstDash val="solid"/>
            <a:headEnd type="none"/>
            <a:tailEnd type="triangle"/>
          </a:ln>
        </p:spPr>
        <p:txBody>
          <a:bodyPr/>
          <a:lstStyle/>
          <a:p>
            <a:endParaRPr lang="es-MX"/>
          </a:p>
        </p:txBody>
      </p:sp>
      <p:sp>
        <p:nvSpPr>
          <p:cNvPr id="9" name="Shape 6"/>
          <p:cNvSpPr/>
          <p:nvPr/>
        </p:nvSpPr>
        <p:spPr>
          <a:xfrm>
            <a:off x="1115568" y="2615184"/>
            <a:ext cx="9966960" cy="694944"/>
          </a:xfrm>
          <a:prstGeom prst="roundRect">
            <a:avLst>
              <a:gd name="adj" fmla="val 10526"/>
            </a:avLst>
          </a:prstGeom>
          <a:solidFill>
            <a:srgbClr val="EEE8FF"/>
          </a:solidFill>
          <a:ln w="12700">
            <a:solidFill>
              <a:srgbClr val="DDD4EA"/>
            </a:solidFill>
            <a:prstDash val="solid"/>
          </a:ln>
        </p:spPr>
        <p:txBody>
          <a:bodyPr/>
          <a:lstStyle/>
          <a:p>
            <a:endParaRPr lang="es-MX"/>
          </a:p>
        </p:txBody>
      </p:sp>
      <p:sp>
        <p:nvSpPr>
          <p:cNvPr id="10" name="Text 7"/>
          <p:cNvSpPr txBox="1"/>
          <p:nvPr/>
        </p:nvSpPr>
        <p:spPr>
          <a:xfrm>
            <a:off x="1435608" y="2724912"/>
            <a:ext cx="2907792" cy="228600"/>
          </a:xfrm>
          <a:prstGeom prst="rect">
            <a:avLst/>
          </a:prstGeom>
          <a:noFill/>
          <a:ln/>
        </p:spPr>
        <p:txBody>
          <a:bodyPr wrap="square" lIns="0" tIns="0" rIns="0" bIns="0" rtlCol="0" anchor="ctr">
            <a:normAutofit/>
          </a:bodyPr>
          <a:lstStyle/>
          <a:p>
            <a:pPr marL="0" indent="0" algn="l">
              <a:lnSpc>
                <a:spcPct val="100000"/>
              </a:lnSpc>
              <a:buNone/>
            </a:pPr>
            <a:r>
              <a:rPr lang="en-US" sz="1050" b="1" kern="0" spc="50" dirty="0">
                <a:solidFill>
                  <a:srgbClr val="18152B"/>
                </a:solidFill>
                <a:latin typeface="Inter" pitchFamily="34" charset="0"/>
                <a:ea typeface="Inter" pitchFamily="34" charset="-122"/>
                <a:cs typeface="Inter" pitchFamily="34" charset="-120"/>
              </a:rPr>
              <a:t>OPERATING INTELLIGENCE</a:t>
            </a:r>
            <a:endParaRPr lang="en-US" sz="1050" dirty="0"/>
          </a:p>
        </p:txBody>
      </p:sp>
      <p:sp>
        <p:nvSpPr>
          <p:cNvPr id="11" name="Text 8"/>
          <p:cNvSpPr txBox="1"/>
          <p:nvPr/>
        </p:nvSpPr>
        <p:spPr>
          <a:xfrm>
            <a:off x="4224528" y="2706624"/>
            <a:ext cx="6382512" cy="347472"/>
          </a:xfrm>
          <a:prstGeom prst="rect">
            <a:avLst/>
          </a:prstGeom>
          <a:noFill/>
          <a:ln/>
        </p:spPr>
        <p:txBody>
          <a:bodyPr wrap="square" lIns="0" tIns="0" rIns="0" bIns="0" rtlCol="0" anchor="ctr">
            <a:normAutofit/>
          </a:bodyPr>
          <a:lstStyle/>
          <a:p>
            <a:pPr marL="0" indent="0" algn="r">
              <a:lnSpc>
                <a:spcPct val="100000"/>
              </a:lnSpc>
              <a:buNone/>
            </a:pPr>
            <a:r>
              <a:rPr lang="en-US" sz="950" dirty="0">
                <a:solidFill>
                  <a:srgbClr val="6F6882"/>
                </a:solidFill>
                <a:latin typeface="Inter" pitchFamily="34" charset="0"/>
                <a:ea typeface="Inter" pitchFamily="34" charset="-122"/>
                <a:cs typeface="Inter" pitchFamily="34" charset="-120"/>
              </a:rPr>
              <a:t>business context &amp; relationships · durable state · cases · workflows</a:t>
            </a:r>
            <a:endParaRPr lang="en-US" sz="950" dirty="0"/>
          </a:p>
        </p:txBody>
      </p:sp>
      <p:sp>
        <p:nvSpPr>
          <p:cNvPr id="12" name="Shape 9"/>
          <p:cNvSpPr/>
          <p:nvPr/>
        </p:nvSpPr>
        <p:spPr>
          <a:xfrm>
            <a:off x="6089904" y="3337560"/>
            <a:ext cx="0" cy="164592"/>
          </a:xfrm>
          <a:prstGeom prst="line">
            <a:avLst/>
          </a:prstGeom>
          <a:noFill/>
          <a:ln w="12700">
            <a:solidFill>
              <a:srgbClr val="A99AC1"/>
            </a:solidFill>
            <a:prstDash val="solid"/>
            <a:headEnd type="none"/>
            <a:tailEnd type="triangle"/>
          </a:ln>
        </p:spPr>
        <p:txBody>
          <a:bodyPr/>
          <a:lstStyle/>
          <a:p>
            <a:endParaRPr lang="es-MX"/>
          </a:p>
        </p:txBody>
      </p:sp>
      <p:sp>
        <p:nvSpPr>
          <p:cNvPr id="13" name="Shape 10"/>
          <p:cNvSpPr/>
          <p:nvPr/>
        </p:nvSpPr>
        <p:spPr>
          <a:xfrm>
            <a:off x="1115568" y="3529584"/>
            <a:ext cx="9966960" cy="694944"/>
          </a:xfrm>
          <a:prstGeom prst="roundRect">
            <a:avLst>
              <a:gd name="adj" fmla="val 10526"/>
            </a:avLst>
          </a:prstGeom>
          <a:solidFill>
            <a:srgbClr val="F5F1FF"/>
          </a:solidFill>
          <a:ln w="12700">
            <a:solidFill>
              <a:srgbClr val="DDD4EA"/>
            </a:solidFill>
            <a:prstDash val="solid"/>
          </a:ln>
        </p:spPr>
        <p:txBody>
          <a:bodyPr/>
          <a:lstStyle/>
          <a:p>
            <a:endParaRPr lang="es-MX"/>
          </a:p>
        </p:txBody>
      </p:sp>
      <p:sp>
        <p:nvSpPr>
          <p:cNvPr id="14" name="Text 11"/>
          <p:cNvSpPr txBox="1"/>
          <p:nvPr/>
        </p:nvSpPr>
        <p:spPr>
          <a:xfrm>
            <a:off x="1435608" y="3639312"/>
            <a:ext cx="2907792" cy="228600"/>
          </a:xfrm>
          <a:prstGeom prst="rect">
            <a:avLst/>
          </a:prstGeom>
          <a:noFill/>
          <a:ln/>
        </p:spPr>
        <p:txBody>
          <a:bodyPr wrap="square" lIns="0" tIns="0" rIns="0" bIns="0" rtlCol="0" anchor="ctr">
            <a:normAutofit/>
          </a:bodyPr>
          <a:lstStyle/>
          <a:p>
            <a:pPr marL="0" indent="0" algn="l">
              <a:lnSpc>
                <a:spcPct val="100000"/>
              </a:lnSpc>
              <a:buNone/>
            </a:pPr>
            <a:r>
              <a:rPr lang="en-US" sz="1050" b="1" kern="0" spc="50" dirty="0">
                <a:solidFill>
                  <a:srgbClr val="18152B"/>
                </a:solidFill>
                <a:latin typeface="Inter" pitchFamily="34" charset="0"/>
                <a:ea typeface="Inter" pitchFamily="34" charset="-122"/>
                <a:cs typeface="Inter" pitchFamily="34" charset="-120"/>
              </a:rPr>
              <a:t>SKILLS &amp; TOOLS</a:t>
            </a:r>
            <a:endParaRPr lang="en-US" sz="1050" dirty="0"/>
          </a:p>
        </p:txBody>
      </p:sp>
      <p:sp>
        <p:nvSpPr>
          <p:cNvPr id="15" name="Text 12"/>
          <p:cNvSpPr txBox="1"/>
          <p:nvPr/>
        </p:nvSpPr>
        <p:spPr>
          <a:xfrm>
            <a:off x="4224528" y="3621024"/>
            <a:ext cx="6382512" cy="347472"/>
          </a:xfrm>
          <a:prstGeom prst="rect">
            <a:avLst/>
          </a:prstGeom>
          <a:noFill/>
          <a:ln/>
        </p:spPr>
        <p:txBody>
          <a:bodyPr wrap="square" lIns="0" tIns="0" rIns="0" bIns="0" rtlCol="0" anchor="ctr">
            <a:normAutofit/>
          </a:bodyPr>
          <a:lstStyle/>
          <a:p>
            <a:pPr marL="0" indent="0" algn="r">
              <a:lnSpc>
                <a:spcPct val="100000"/>
              </a:lnSpc>
              <a:buNone/>
            </a:pPr>
            <a:r>
              <a:rPr lang="en-US" sz="950" dirty="0">
                <a:solidFill>
                  <a:srgbClr val="6F6882"/>
                </a:solidFill>
                <a:latin typeface="Inter" pitchFamily="34" charset="0"/>
                <a:ea typeface="Inter" pitchFamily="34" charset="-122"/>
                <a:cs typeface="Inter" pitchFamily="34" charset="-120"/>
              </a:rPr>
              <a:t>reusable procedures · APIs · CRMs · calendars · valuations · external services</a:t>
            </a:r>
            <a:endParaRPr lang="en-US" sz="950" dirty="0"/>
          </a:p>
        </p:txBody>
      </p:sp>
      <p:sp>
        <p:nvSpPr>
          <p:cNvPr id="16" name="Shape 13"/>
          <p:cNvSpPr/>
          <p:nvPr/>
        </p:nvSpPr>
        <p:spPr>
          <a:xfrm>
            <a:off x="6089904" y="4251960"/>
            <a:ext cx="0" cy="164592"/>
          </a:xfrm>
          <a:prstGeom prst="line">
            <a:avLst/>
          </a:prstGeom>
          <a:noFill/>
          <a:ln w="12700">
            <a:solidFill>
              <a:srgbClr val="A99AC1"/>
            </a:solidFill>
            <a:prstDash val="solid"/>
            <a:headEnd type="none"/>
            <a:tailEnd type="triangle"/>
          </a:ln>
        </p:spPr>
        <p:txBody>
          <a:bodyPr/>
          <a:lstStyle/>
          <a:p>
            <a:endParaRPr lang="es-MX"/>
          </a:p>
        </p:txBody>
      </p:sp>
      <p:sp>
        <p:nvSpPr>
          <p:cNvPr id="17" name="Shape 14"/>
          <p:cNvSpPr/>
          <p:nvPr/>
        </p:nvSpPr>
        <p:spPr>
          <a:xfrm>
            <a:off x="1115568" y="4443984"/>
            <a:ext cx="9966960" cy="694944"/>
          </a:xfrm>
          <a:prstGeom prst="roundRect">
            <a:avLst>
              <a:gd name="adj" fmla="val 10526"/>
            </a:avLst>
          </a:prstGeom>
          <a:solidFill>
            <a:srgbClr val="F8EAF1"/>
          </a:solidFill>
          <a:ln w="12700">
            <a:solidFill>
              <a:srgbClr val="DDD4EA"/>
            </a:solidFill>
            <a:prstDash val="solid"/>
          </a:ln>
        </p:spPr>
        <p:txBody>
          <a:bodyPr/>
          <a:lstStyle/>
          <a:p>
            <a:endParaRPr lang="es-MX"/>
          </a:p>
        </p:txBody>
      </p:sp>
      <p:sp>
        <p:nvSpPr>
          <p:cNvPr id="18" name="Text 15"/>
          <p:cNvSpPr txBox="1"/>
          <p:nvPr/>
        </p:nvSpPr>
        <p:spPr>
          <a:xfrm>
            <a:off x="1435608" y="4553712"/>
            <a:ext cx="2907792" cy="228600"/>
          </a:xfrm>
          <a:prstGeom prst="rect">
            <a:avLst/>
          </a:prstGeom>
          <a:noFill/>
          <a:ln/>
        </p:spPr>
        <p:txBody>
          <a:bodyPr wrap="square" lIns="0" tIns="0" rIns="0" bIns="0" rtlCol="0" anchor="ctr">
            <a:normAutofit/>
          </a:bodyPr>
          <a:lstStyle/>
          <a:p>
            <a:pPr marL="0" indent="0" algn="l">
              <a:lnSpc>
                <a:spcPct val="100000"/>
              </a:lnSpc>
              <a:buNone/>
            </a:pPr>
            <a:r>
              <a:rPr lang="en-US" sz="1050" b="1" kern="0" spc="50" dirty="0">
                <a:solidFill>
                  <a:srgbClr val="18152B"/>
                </a:solidFill>
                <a:latin typeface="Inter" pitchFamily="34" charset="0"/>
                <a:ea typeface="Inter" pitchFamily="34" charset="-122"/>
                <a:cs typeface="Inter" pitchFamily="34" charset="-120"/>
              </a:rPr>
              <a:t>GOVERNANCE &amp; VERIFICATION</a:t>
            </a:r>
            <a:endParaRPr lang="en-US" sz="1050" dirty="0"/>
          </a:p>
        </p:txBody>
      </p:sp>
      <p:sp>
        <p:nvSpPr>
          <p:cNvPr id="19" name="Text 16"/>
          <p:cNvSpPr txBox="1"/>
          <p:nvPr/>
        </p:nvSpPr>
        <p:spPr>
          <a:xfrm>
            <a:off x="4224528" y="4535424"/>
            <a:ext cx="6382512" cy="347472"/>
          </a:xfrm>
          <a:prstGeom prst="rect">
            <a:avLst/>
          </a:prstGeom>
          <a:noFill/>
          <a:ln/>
        </p:spPr>
        <p:txBody>
          <a:bodyPr wrap="square" lIns="0" tIns="0" rIns="0" bIns="0" rtlCol="0" anchor="ctr">
            <a:normAutofit/>
          </a:bodyPr>
          <a:lstStyle/>
          <a:p>
            <a:pPr marL="0" indent="0" algn="r">
              <a:lnSpc>
                <a:spcPct val="100000"/>
              </a:lnSpc>
              <a:buNone/>
            </a:pPr>
            <a:r>
              <a:rPr lang="en-US" sz="950" dirty="0">
                <a:solidFill>
                  <a:srgbClr val="6F6882"/>
                </a:solidFill>
                <a:latin typeface="Inter" pitchFamily="34" charset="0"/>
                <a:ea typeface="Inter" pitchFamily="34" charset="-122"/>
                <a:cs typeface="Inter" pitchFamily="34" charset="-120"/>
              </a:rPr>
              <a:t>permissions · human decisions · evidence · acceptance criteria · changed-fact repair</a:t>
            </a:r>
            <a:endParaRPr lang="en-US" sz="950" dirty="0"/>
          </a:p>
        </p:txBody>
      </p:sp>
      <p:sp>
        <p:nvSpPr>
          <p:cNvPr id="20" name="Shape 17"/>
          <p:cNvSpPr/>
          <p:nvPr/>
        </p:nvSpPr>
        <p:spPr>
          <a:xfrm>
            <a:off x="6089904" y="5166360"/>
            <a:ext cx="0" cy="164592"/>
          </a:xfrm>
          <a:prstGeom prst="line">
            <a:avLst/>
          </a:prstGeom>
          <a:noFill/>
          <a:ln w="12700">
            <a:solidFill>
              <a:srgbClr val="A99AC1"/>
            </a:solidFill>
            <a:prstDash val="solid"/>
            <a:headEnd type="none"/>
            <a:tailEnd type="triangle"/>
          </a:ln>
        </p:spPr>
        <p:txBody>
          <a:bodyPr/>
          <a:lstStyle/>
          <a:p>
            <a:endParaRPr lang="es-MX"/>
          </a:p>
        </p:txBody>
      </p:sp>
      <p:sp>
        <p:nvSpPr>
          <p:cNvPr id="21" name="Shape 18"/>
          <p:cNvSpPr/>
          <p:nvPr/>
        </p:nvSpPr>
        <p:spPr>
          <a:xfrm>
            <a:off x="1115568" y="5358384"/>
            <a:ext cx="9966960" cy="694944"/>
          </a:xfrm>
          <a:prstGeom prst="roundRect">
            <a:avLst>
              <a:gd name="adj" fmla="val 10526"/>
            </a:avLst>
          </a:prstGeom>
          <a:solidFill>
            <a:srgbClr val="1F1739"/>
          </a:solidFill>
          <a:ln w="12700">
            <a:solidFill>
              <a:srgbClr val="1F1739"/>
            </a:solidFill>
            <a:prstDash val="solid"/>
          </a:ln>
        </p:spPr>
        <p:txBody>
          <a:bodyPr/>
          <a:lstStyle/>
          <a:p>
            <a:endParaRPr lang="es-MX"/>
          </a:p>
        </p:txBody>
      </p:sp>
      <p:sp>
        <p:nvSpPr>
          <p:cNvPr id="22" name="Text 19"/>
          <p:cNvSpPr txBox="1"/>
          <p:nvPr/>
        </p:nvSpPr>
        <p:spPr>
          <a:xfrm>
            <a:off x="1435608" y="5468112"/>
            <a:ext cx="2907792" cy="228600"/>
          </a:xfrm>
          <a:prstGeom prst="rect">
            <a:avLst/>
          </a:prstGeom>
          <a:noFill/>
          <a:ln/>
        </p:spPr>
        <p:txBody>
          <a:bodyPr wrap="square" lIns="0" tIns="0" rIns="0" bIns="0" rtlCol="0" anchor="ctr">
            <a:normAutofit/>
          </a:bodyPr>
          <a:lstStyle/>
          <a:p>
            <a:pPr marL="0" indent="0" algn="l">
              <a:lnSpc>
                <a:spcPct val="100000"/>
              </a:lnSpc>
              <a:buNone/>
            </a:pPr>
            <a:r>
              <a:rPr lang="en-US" sz="1050" b="1" kern="0" spc="50" dirty="0">
                <a:solidFill>
                  <a:srgbClr val="FFFFFF"/>
                </a:solidFill>
                <a:latin typeface="Inter" pitchFamily="34" charset="0"/>
                <a:ea typeface="Inter" pitchFamily="34" charset="-122"/>
                <a:cs typeface="Inter" pitchFamily="34" charset="-120"/>
              </a:rPr>
              <a:t>REAL WORLD</a:t>
            </a:r>
            <a:endParaRPr lang="en-US" sz="1050" dirty="0"/>
          </a:p>
        </p:txBody>
      </p:sp>
      <p:sp>
        <p:nvSpPr>
          <p:cNvPr id="23" name="Text 20"/>
          <p:cNvSpPr txBox="1"/>
          <p:nvPr/>
        </p:nvSpPr>
        <p:spPr>
          <a:xfrm>
            <a:off x="4224528" y="5449824"/>
            <a:ext cx="6382512" cy="347472"/>
          </a:xfrm>
          <a:prstGeom prst="rect">
            <a:avLst/>
          </a:prstGeom>
          <a:noFill/>
          <a:ln/>
        </p:spPr>
        <p:txBody>
          <a:bodyPr wrap="square" lIns="0" tIns="0" rIns="0" bIns="0" rtlCol="0" anchor="ctr">
            <a:normAutofit/>
          </a:bodyPr>
          <a:lstStyle/>
          <a:p>
            <a:pPr marL="0" indent="0" algn="r">
              <a:lnSpc>
                <a:spcPct val="100000"/>
              </a:lnSpc>
              <a:buNone/>
            </a:pPr>
            <a:r>
              <a:rPr lang="en-US" sz="950" dirty="0">
                <a:solidFill>
                  <a:srgbClr val="E0D7EE"/>
                </a:solidFill>
                <a:latin typeface="Inter" pitchFamily="34" charset="0"/>
                <a:ea typeface="Inter" pitchFamily="34" charset="-122"/>
                <a:cs typeface="Inter" pitchFamily="34" charset="-120"/>
              </a:rPr>
              <a:t>people · inventory · CRM · calendars · documents · service providers</a:t>
            </a:r>
            <a:endParaRPr lang="en-US" sz="950" dirty="0"/>
          </a:p>
        </p:txBody>
      </p:sp>
      <p:sp>
        <p:nvSpPr>
          <p:cNvPr id="25" name="Slide Number Placeholder 0"/>
          <p:cNvSpPr>
            <a:spLocks noGrp="1"/>
          </p:cNvSpPr>
          <p:nvPr>
            <p:ph type="sldNum" sz="quarter" idx="4294967295"/>
          </p:nvPr>
        </p:nvSpPr>
        <p:spPr>
          <a:xfrm>
            <a:off x="11631167" y="6510528"/>
            <a:ext cx="352851"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19</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5257</TotalTime>
  <Words>8449</Words>
  <Application>Microsoft Office PowerPoint</Application>
  <PresentationFormat>Panorámica</PresentationFormat>
  <Paragraphs>876</Paragraphs>
  <Slides>19</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Aptos</vt:lpstr>
      <vt:lpstr>Aptos Display</vt:lpstr>
      <vt:lpstr>Arial</vt:lpstr>
      <vt:lpstr>Inter</vt:lpstr>
      <vt:lpstr>Inter Display</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Ungga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Ungga — The AI Operating System for Real Estate</dc:title>
  <dc:subject>Investor Pitch Deck</dc:subject>
  <dc:creator>Ungga</dc:creator>
  <cp:lastModifiedBy>Alejandro Torres</cp:lastModifiedBy>
  <cp:revision>162</cp:revision>
  <dcterms:created xsi:type="dcterms:W3CDTF">2026-08-16T18:25:39Z</dcterms:created>
  <dcterms:modified xsi:type="dcterms:W3CDTF">2026-08-22T18:30:18Z</dcterms:modified>
</cp:coreProperties>
</file>